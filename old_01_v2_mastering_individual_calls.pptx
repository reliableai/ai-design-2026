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312" r:id="rId2"/>
    <p:sldId id="352" r:id="rId3"/>
    <p:sldId id="314" r:id="rId4"/>
    <p:sldId id="315" r:id="rId5"/>
    <p:sldId id="353" r:id="rId6"/>
    <p:sldId id="317" r:id="rId7"/>
    <p:sldId id="354" r:id="rId8"/>
    <p:sldId id="319" r:id="rId9"/>
    <p:sldId id="355" r:id="rId10"/>
    <p:sldId id="321" r:id="rId11"/>
    <p:sldId id="322" r:id="rId12"/>
    <p:sldId id="356" r:id="rId13"/>
    <p:sldId id="360" r:id="rId14"/>
    <p:sldId id="327" r:id="rId15"/>
    <p:sldId id="330" r:id="rId16"/>
    <p:sldId id="363" r:id="rId17"/>
    <p:sldId id="332" r:id="rId18"/>
    <p:sldId id="364" r:id="rId19"/>
    <p:sldId id="371" r:id="rId20"/>
    <p:sldId id="372" r:id="rId21"/>
    <p:sldId id="373" r:id="rId22"/>
    <p:sldId id="334" r:id="rId23"/>
    <p:sldId id="374" r:id="rId24"/>
    <p:sldId id="375" r:id="rId25"/>
    <p:sldId id="347" r:id="rId26"/>
    <p:sldId id="336" r:id="rId27"/>
    <p:sldId id="348" r:id="rId28"/>
    <p:sldId id="350" r:id="rId2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70274"/>
  </p:normalViewPr>
  <p:slideViewPr>
    <p:cSldViewPr snapToGrid="0" snapToObjects="1">
      <p:cViewPr varScale="1">
        <p:scale>
          <a:sx n="110" d="100"/>
          <a:sy n="110" d="100"/>
        </p:scale>
        <p:origin x="72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50381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6A39B6-4248-4F26-A2F3-921337ACD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9C021-7000-FB6D-F13B-591A0B0A9E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21164F-3933-CD54-1F05-AF592AAFF3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8171A8A-C049-8B07-1468-F3E4058F3D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53452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PREFILLING — Explaining the table row</a:t>
            </a:r>
          </a:p>
          <a:p>
            <a:endParaRPr lang="en-US" dirty="0"/>
          </a:p>
          <a:p>
            <a:r>
              <a:rPr lang="en-US" dirty="0"/>
              <a:t>Prefilling is a technique unique to the API where you pre-populate the beginning of the assistant's response before the model generates the rest.</a:t>
            </a:r>
          </a:p>
          <a:p>
            <a:endParaRPr lang="en-US" dirty="0"/>
          </a:p>
          <a:p>
            <a:r>
              <a:rPr lang="en-US" dirty="0"/>
              <a:t>How it works: Normally, the model generates its entire reply from scratch. With prefilling, you provide the start of the assistant message in the messages array, and the model continues from where you left off.</a:t>
            </a:r>
          </a:p>
          <a:p>
            <a:endParaRPr lang="en-US" dirty="0"/>
          </a:p>
          <a:p>
            <a:r>
              <a:rPr lang="en-US" dirty="0"/>
              <a:t>Why it's useful:</a:t>
            </a:r>
          </a:p>
          <a:p>
            <a:r>
              <a:rPr lang="en-US" dirty="0"/>
              <a:t>- Control output format: prefill with "{" to force JSON output, or a code fence to force code.</a:t>
            </a:r>
          </a:p>
          <a:p>
            <a:r>
              <a:rPr lang="en-US" dirty="0"/>
              <a:t>- Steer tone/style: start the response in a certain voice and the model continues accordingly.</a:t>
            </a:r>
          </a:p>
          <a:p>
            <a:r>
              <a:rPr lang="en-US" dirty="0"/>
              <a:t>- Reduce preamble: skip filler like "Sure, I'd be happy to help!" and get straight to the answer.</a:t>
            </a:r>
          </a:p>
          <a:p>
            <a:r>
              <a:rPr lang="en-US" dirty="0"/>
              <a:t>- Guide reasoning: nudge the model toward a specific line of thinking.</a:t>
            </a:r>
          </a:p>
          <a:p>
            <a:endParaRPr lang="en-US" dirty="0"/>
          </a:p>
          <a:p>
            <a:r>
              <a:rPr lang="en-US" dirty="0"/>
              <a:t>Example: If you set the assistant turn to start with "The answer is:" the model continues directly with the answer rather than generating its own intro.</a:t>
            </a:r>
          </a:p>
          <a:p>
            <a:endParaRPr lang="en-US" dirty="0"/>
          </a:p>
          <a:p>
            <a:r>
              <a:rPr lang="en-US" dirty="0"/>
              <a:t>Why is this "Not available" in the Chat UI? Because the product controls the full message flow — there is no way for end users to inject a partial assistant turn. In the API, developers have full control over the messages array, including setting a partial assistant message that the model will complete.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1028749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CAC8E5-4CA3-2600-7579-F83FAC520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3E4F8B-29E2-50A1-4181-11065C44AC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29B56-5D3F-ED6B-8F35-17C89EBEA1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3B555F-67D1-09EA-EDE9-6CFC29BFB462}"/>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1118838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FE762-D2C4-7EFD-6C80-34D9A45E0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D7A622-993A-E6C6-898E-0EC2CD6069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2E8617-5AE7-C8A3-1509-C93EDF445E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494865A-28CC-A4C3-05C2-3DEFEE91118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069801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B0671-053C-137E-B27E-F2276E65C7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A88E6-DA6A-6076-152C-25F9EB18B7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765A86-887B-F62E-6CB4-2B107AC850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8B7EA9-566A-F263-B3D5-590482A3B076}"/>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85014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0A44-5F45-1CA4-4A96-FE56B65A6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9E8F8D-1F62-9950-6342-70557217EC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D4DE0-1E28-DE74-5C4D-AB6B061F9C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Sample from the smallest set of tokens whose probability sums to p. Use either </a:t>
            </a:r>
            <a:r>
              <a:rPr kumimoji="0" lang="en-US" sz="1200" b="0" i="0" u="none" strike="noStrike" kern="1200" cap="none" spc="0" normalizeH="0" baseline="0" noProof="0" dirty="0" err="1">
                <a:ln>
                  <a:noFill/>
                </a:ln>
                <a:solidFill>
                  <a:srgbClr val="64748B"/>
                </a:solidFill>
                <a:effectLst/>
                <a:uLnTx/>
                <a:uFillTx/>
                <a:latin typeface="Segoe UI" pitchFamily="34" charset="0"/>
                <a:ea typeface="Segoe UI" pitchFamily="34" charset="-122"/>
                <a:cs typeface="Segoe UI" pitchFamily="34" charset="-120"/>
              </a:rPr>
              <a:t>top_p</a:t>
            </a: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 or temperature, not both.</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Hard cap on output length. Set it high </a:t>
            </a:r>
            <a:r>
              <a:rPr kumimoji="0" lang="en-US" sz="1200" b="0" i="0" u="none" strike="noStrike" kern="1200" cap="none" spc="0" normalizeH="0" baseline="0" noProof="0" dirty="0" err="1">
                <a:ln>
                  <a:noFill/>
                </a:ln>
                <a:solidFill>
                  <a:srgbClr val="64748B"/>
                </a:solidFill>
                <a:effectLst/>
                <a:uLnTx/>
                <a:uFillTx/>
                <a:latin typeface="Segoe UI" pitchFamily="34" charset="0"/>
                <a:ea typeface="Segoe UI" pitchFamily="34" charset="-122"/>
                <a:cs typeface="Segoe UI" pitchFamily="34" charset="-120"/>
              </a:rPr>
              <a:t>nough</a:t>
            </a: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 to avoid truncation, low enough to control cost. Always check </a:t>
            </a:r>
            <a:r>
              <a:rPr kumimoji="0" lang="en-US" sz="1200" b="0" i="0" u="none" strike="noStrike" kern="1200" cap="none" spc="0" normalizeH="0" baseline="0" noProof="0" dirty="0" err="1">
                <a:ln>
                  <a:noFill/>
                </a:ln>
                <a:solidFill>
                  <a:srgbClr val="64748B"/>
                </a:solidFill>
                <a:effectLst/>
                <a:uLnTx/>
                <a:uFillTx/>
                <a:latin typeface="Segoe UI" pitchFamily="34" charset="0"/>
                <a:ea typeface="Segoe UI" pitchFamily="34" charset="-122"/>
                <a:cs typeface="Segoe UI" pitchFamily="34" charset="-120"/>
              </a:rPr>
              <a:t>finish_reason</a:t>
            </a: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Strings that halt generation (e.g., "\n\n", "END"). Essential for structured output and preventing runaway completions.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rPr>
              <a:t>Fixed seed + low temperature = near-deterministic outputs. Critical for reproducible evals and debugging.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64748B"/>
              </a:solidFill>
              <a:effectLst/>
              <a:uLnTx/>
              <a:uFillTx/>
              <a:latin typeface="Segoe UI" pitchFamily="34" charset="0"/>
              <a:ea typeface="Segoe UI" pitchFamily="34" charset="-122"/>
              <a:cs typeface="Segoe UI" pitchFamily="34" charset="-120"/>
            </a:endParaRPr>
          </a:p>
          <a:p>
            <a:endParaRPr lang="en-US" dirty="0"/>
          </a:p>
          <a:p>
            <a:endParaRPr lang="en-US" dirty="0"/>
          </a:p>
        </p:txBody>
      </p:sp>
      <p:sp>
        <p:nvSpPr>
          <p:cNvPr id="4" name="Slide Number Placeholder 3">
            <a:extLst>
              <a:ext uri="{FF2B5EF4-FFF2-40B4-BE49-F238E27FC236}">
                <a16:creationId xmlns:a16="http://schemas.microsoft.com/office/drawing/2014/main" id="{E2BCE821-4774-39C2-394B-99639FC33043}"/>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621804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7D815-60D8-BB01-F603-E5BD58CAF6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C7C375-83F7-760F-F317-7CDFDB1F64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6C7D20-C743-76DC-F28D-886FCB8731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1B0F2C-EDEA-B0DD-F1A9-CD8449DB2ED2}"/>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2420563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A5241F8F-EDD8-9CE3-BD72-D7A4ECBCE96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C4A51BD-241B-C9FF-C22F-65BC4BE1B1E5}"/>
              </a:ext>
            </a:extLst>
          </p:cNvPr>
          <p:cNvSpPr/>
          <p:nvPr/>
        </p:nvSpPr>
        <p:spPr>
          <a:xfrm>
            <a:off x="0" y="0"/>
            <a:ext cx="914400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76E8BA19-6762-77EA-B4DA-92206B306694}"/>
              </a:ext>
            </a:extLst>
          </p:cNvPr>
          <p:cNvSpPr/>
          <p:nvPr/>
        </p:nvSpPr>
        <p:spPr>
          <a:xfrm>
            <a:off x="640080" y="731520"/>
            <a:ext cx="7772400" cy="2377440"/>
          </a:xfrm>
          <a:prstGeom prst="rect">
            <a:avLst/>
          </a:prstGeom>
          <a:noFill/>
          <a:ln/>
        </p:spPr>
        <p:txBody>
          <a:bodyPr wrap="square" lIns="0" tIns="0" rIns="0" bIns="0" rtlCol="0" anchor="ct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Mastering</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Individual Calls</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48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to LLMs</a:t>
            </a:r>
          </a:p>
        </p:txBody>
      </p:sp>
      <p:sp>
        <p:nvSpPr>
          <p:cNvPr id="4" name="Text 2">
            <a:extLst>
              <a:ext uri="{FF2B5EF4-FFF2-40B4-BE49-F238E27FC236}">
                <a16:creationId xmlns:a16="http://schemas.microsoft.com/office/drawing/2014/main" id="{B63330BC-2099-954A-A8E3-E07F1241A032}"/>
              </a:ext>
            </a:extLst>
          </p:cNvPr>
          <p:cNvSpPr/>
          <p:nvPr/>
        </p:nvSpPr>
        <p:spPr>
          <a:xfrm>
            <a:off x="640080" y="3108960"/>
            <a:ext cx="7772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1" u="none" strike="noStrike" kern="1200" cap="none" spc="0" normalizeH="0" baseline="0" noProof="0" dirty="0">
              <a:ln>
                <a:noFill/>
              </a:ln>
              <a:solidFill>
                <a:srgbClr val="00BFA6"/>
              </a:solidFill>
              <a:effectLst/>
              <a:uLnTx/>
              <a:uFillTx/>
              <a:latin typeface="Segoe UI" pitchFamily="34" charset="0"/>
              <a:ea typeface="Segoe UI" pitchFamily="34" charset="-122"/>
              <a:cs typeface="Segoe UI" pitchFamily="34" charset="-120"/>
            </a:endParaRPr>
          </a:p>
        </p:txBody>
      </p:sp>
      <p:sp>
        <p:nvSpPr>
          <p:cNvPr id="6" name="Text 4">
            <a:extLst>
              <a:ext uri="{FF2B5EF4-FFF2-40B4-BE49-F238E27FC236}">
                <a16:creationId xmlns:a16="http://schemas.microsoft.com/office/drawing/2014/main" id="{4803E927-0578-FFE0-92C5-C14D661C09E2}"/>
              </a:ext>
            </a:extLst>
          </p:cNvPr>
          <p:cNvSpPr/>
          <p:nvPr/>
        </p:nvSpPr>
        <p:spPr>
          <a:xfrm>
            <a:off x="640080" y="4297680"/>
            <a:ext cx="4572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Fabio Casati  ·  University of Trento</a:t>
            </a:r>
          </a:p>
        </p:txBody>
      </p:sp>
    </p:spTree>
    <p:extLst>
      <p:ext uri="{BB962C8B-B14F-4D97-AF65-F5344CB8AC3E}">
        <p14:creationId xmlns:p14="http://schemas.microsoft.com/office/powerpoint/2010/main" val="22516148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40080" y="320040"/>
            <a:ext cx="7772400" cy="731520"/>
          </a:xfrm>
          <a:prstGeom prst="rect">
            <a:avLst/>
          </a:prstGeom>
          <a:noFill/>
          <a:ln/>
        </p:spPr>
        <p:txBody>
          <a:bodyPr wrap="square" lIns="0" tIns="0" rIns="0" bIns="0" rtlCol="0" anchor="ctr"/>
          <a:lstStyle/>
          <a:p>
            <a:pPr marL="0" indent="0">
              <a:buNone/>
            </a:pPr>
            <a:r>
              <a:rPr lang="en-US" sz="4200" b="1" dirty="0">
                <a:solidFill>
                  <a:srgbClr val="1A2744"/>
                </a:solidFill>
                <a:latin typeface="Segoe UI Black" pitchFamily="34" charset="0"/>
                <a:ea typeface="Segoe UI Black" pitchFamily="34" charset="-122"/>
                <a:cs typeface="Segoe UI Black" pitchFamily="34" charset="-120"/>
              </a:rPr>
              <a:t>UI vs API</a:t>
            </a:r>
            <a:endParaRPr lang="en-US" sz="4200" dirty="0"/>
          </a:p>
        </p:txBody>
      </p:sp>
      <p:sp>
        <p:nvSpPr>
          <p:cNvPr id="3" name="Text 1"/>
          <p:cNvSpPr/>
          <p:nvPr/>
        </p:nvSpPr>
        <p:spPr>
          <a:xfrm>
            <a:off x="593780" y="1211869"/>
            <a:ext cx="7772400" cy="929447"/>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2000" i="1" dirty="0">
                <a:solidFill>
                  <a:srgbClr val="1A2744"/>
                </a:solidFill>
                <a:latin typeface="Segoe UI" pitchFamily="34" charset="0"/>
                <a:ea typeface="Segoe UI" pitchFamily="34" charset="-122"/>
                <a:cs typeface="Segoe UI" pitchFamily="34" charset="-120"/>
              </a:rPr>
              <a:t>With both, you have 1. defaults and 2. controls.</a:t>
            </a:r>
          </a:p>
          <a:p>
            <a:pPr marL="285750" indent="-285750">
              <a:buFont typeface="Arial" panose="020B0604020202020204" pitchFamily="34" charset="0"/>
              <a:buChar char="•"/>
            </a:pPr>
            <a:r>
              <a:rPr lang="en-US" sz="2000" i="1" dirty="0">
                <a:solidFill>
                  <a:srgbClr val="1A2744"/>
                </a:solidFill>
                <a:latin typeface="Segoe UI" pitchFamily="34" charset="0"/>
                <a:cs typeface="Segoe UI" pitchFamily="34" charset="-120"/>
              </a:rPr>
              <a:t>But – they vary. And you must make choices intentionally</a:t>
            </a:r>
          </a:p>
          <a:p>
            <a:pPr marL="285750" indent="-285750">
              <a:buFont typeface="Arial" panose="020B0604020202020204" pitchFamily="34" charset="0"/>
              <a:buChar char="•"/>
            </a:pPr>
            <a:r>
              <a:rPr lang="en-US" sz="2000" i="1" dirty="0">
                <a:solidFill>
                  <a:srgbClr val="1A2744"/>
                </a:solidFill>
                <a:latin typeface="Segoe UI" pitchFamily="34" charset="0"/>
                <a:cs typeface="Segoe UI" pitchFamily="34" charset="-120"/>
              </a:rPr>
              <a:t>New features come out EVERY DAY</a:t>
            </a:r>
            <a:endParaRPr lang="en-US" sz="2000" dirty="0"/>
          </a:p>
        </p:txBody>
      </p:sp>
      <p:graphicFrame>
        <p:nvGraphicFramePr>
          <p:cNvPr id="5" name="Table 0"/>
          <p:cNvGraphicFramePr>
            <a:graphicFrameLocks noGrp="1"/>
          </p:cNvGraphicFramePr>
          <p:nvPr/>
        </p:nvGraphicFramePr>
        <p:xfrm>
          <a:off x="243068" y="2809754"/>
          <a:ext cx="8646287" cy="2028078"/>
        </p:xfrm>
        <a:graphic>
          <a:graphicData uri="http://schemas.openxmlformats.org/drawingml/2006/table">
            <a:tbl>
              <a:tblPr/>
              <a:tblGrid>
                <a:gridCol w="2211841">
                  <a:extLst>
                    <a:ext uri="{9D8B030D-6E8A-4147-A177-3AD203B41FA5}">
                      <a16:colId xmlns:a16="http://schemas.microsoft.com/office/drawing/2014/main" val="20000"/>
                    </a:ext>
                  </a:extLst>
                </a:gridCol>
                <a:gridCol w="3217223">
                  <a:extLst>
                    <a:ext uri="{9D8B030D-6E8A-4147-A177-3AD203B41FA5}">
                      <a16:colId xmlns:a16="http://schemas.microsoft.com/office/drawing/2014/main" val="20001"/>
                    </a:ext>
                  </a:extLst>
                </a:gridCol>
                <a:gridCol w="3217223">
                  <a:extLst>
                    <a:ext uri="{9D8B030D-6E8A-4147-A177-3AD203B41FA5}">
                      <a16:colId xmlns:a16="http://schemas.microsoft.com/office/drawing/2014/main" val="20002"/>
                    </a:ext>
                  </a:extLst>
                </a:gridCol>
              </a:tblGrid>
              <a:tr h="497480">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Capability</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Chat UI</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600" b="1" dirty="0">
                          <a:solidFill>
                            <a:srgbClr val="FFFFFF"/>
                          </a:solidFill>
                          <a:latin typeface="Segoe UI" pitchFamily="34" charset="0"/>
                          <a:ea typeface="Segoe UI" pitchFamily="34" charset="-122"/>
                          <a:cs typeface="Segoe UI" pitchFamily="34" charset="-120"/>
                        </a:rPr>
                        <a:t>API</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408239">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Tools</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Product-managed</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Developer-defined</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81965">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Memory</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Product-managed</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Developer-managed (if you want)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05114">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Structured outputs</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Best-effort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Enforced via JSON Schema</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12516">
                <a:tc>
                  <a:txBody>
                    <a:bodyPr/>
                    <a:lstStyle/>
                    <a:p>
                      <a:pPr marL="0" indent="0">
                        <a:buNone/>
                      </a:pPr>
                      <a:r>
                        <a:rPr lang="en-US" sz="1600" b="1" dirty="0">
                          <a:solidFill>
                            <a:srgbClr val="1A2744"/>
                          </a:solidFill>
                          <a:latin typeface="Segoe UI" pitchFamily="34" charset="0"/>
                          <a:ea typeface="Segoe UI" pitchFamily="34" charset="-122"/>
                          <a:cs typeface="Segoe UI" pitchFamily="34" charset="-120"/>
                        </a:rPr>
                        <a: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600" dirty="0">
                          <a:solidFill>
                            <a:srgbClr val="1A2744"/>
                          </a:solidFill>
                          <a:latin typeface="Segoe UI" pitchFamily="34" charset="0"/>
                          <a:ea typeface="Segoe UI" pitchFamily="34" charset="-122"/>
                          <a:cs typeface="Segoe UI" pitchFamily="34" charset="-120"/>
                        </a:rPr>
                        <a:t>…</a:t>
                      </a:r>
                      <a:endParaRPr lang="en-US" sz="16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99553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Anatomy of an API Call</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a:extLst>
              <a:ext uri="{FF2B5EF4-FFF2-40B4-BE49-F238E27FC236}">
                <a16:creationId xmlns:a16="http://schemas.microsoft.com/office/drawing/2014/main" id="{22AE8DF7-D195-6327-2E04-EA4AE98A4B35}"/>
              </a:ext>
            </a:extLst>
          </p:cNvPr>
          <p:cNvSpPr/>
          <p:nvPr/>
        </p:nvSpPr>
        <p:spPr>
          <a:xfrm>
            <a:off x="640080" y="2011680"/>
            <a:ext cx="594360" cy="50292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C4815066-66A1-59FC-7349-946E9C4402DC}"/>
              </a:ext>
            </a:extLst>
          </p:cNvPr>
          <p:cNvSpPr/>
          <p:nvPr/>
        </p:nvSpPr>
        <p:spPr>
          <a:xfrm>
            <a:off x="640080" y="201168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01</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a:extLst>
              <a:ext uri="{FF2B5EF4-FFF2-40B4-BE49-F238E27FC236}">
                <a16:creationId xmlns:a16="http://schemas.microsoft.com/office/drawing/2014/main" id="{4512780C-AA96-81A6-6AFD-CC870C41D6E5}"/>
              </a:ext>
            </a:extLst>
          </p:cNvPr>
          <p:cNvSpPr/>
          <p:nvPr/>
        </p:nvSpPr>
        <p:spPr>
          <a:xfrm>
            <a:off x="1417320" y="1965960"/>
            <a:ext cx="6858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System Message</a:t>
            </a:r>
          </a:p>
        </p:txBody>
      </p:sp>
      <p:sp>
        <p:nvSpPr>
          <p:cNvPr id="7" name="Text 5">
            <a:extLst>
              <a:ext uri="{FF2B5EF4-FFF2-40B4-BE49-F238E27FC236}">
                <a16:creationId xmlns:a16="http://schemas.microsoft.com/office/drawing/2014/main" id="{25CAB123-4FE1-DB89-629F-5D6E18170171}"/>
              </a:ext>
            </a:extLst>
          </p:cNvPr>
          <p:cNvSpPr/>
          <p:nvPr/>
        </p:nvSpPr>
        <p:spPr>
          <a:xfrm>
            <a:off x="1417320" y="2286000"/>
            <a:ext cx="6858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Sets the persona, rules, and constraints the model follows throughout the conversation. Think of it as the model's "job description."</a:t>
            </a:r>
          </a:p>
        </p:txBody>
      </p:sp>
      <p:sp>
        <p:nvSpPr>
          <p:cNvPr id="8" name="Shape 6">
            <a:extLst>
              <a:ext uri="{FF2B5EF4-FFF2-40B4-BE49-F238E27FC236}">
                <a16:creationId xmlns:a16="http://schemas.microsoft.com/office/drawing/2014/main" id="{ABFFC6FB-0B13-8F29-DD9D-196590B8FFA0}"/>
              </a:ext>
            </a:extLst>
          </p:cNvPr>
          <p:cNvSpPr/>
          <p:nvPr/>
        </p:nvSpPr>
        <p:spPr>
          <a:xfrm>
            <a:off x="640080" y="3017520"/>
            <a:ext cx="594360" cy="50292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a:extLst>
              <a:ext uri="{FF2B5EF4-FFF2-40B4-BE49-F238E27FC236}">
                <a16:creationId xmlns:a16="http://schemas.microsoft.com/office/drawing/2014/main" id="{25003E05-5BA1-6961-6269-B17BA975B0AE}"/>
              </a:ext>
            </a:extLst>
          </p:cNvPr>
          <p:cNvSpPr/>
          <p:nvPr/>
        </p:nvSpPr>
        <p:spPr>
          <a:xfrm>
            <a:off x="640080" y="301752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02</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a:extLst>
              <a:ext uri="{FF2B5EF4-FFF2-40B4-BE49-F238E27FC236}">
                <a16:creationId xmlns:a16="http://schemas.microsoft.com/office/drawing/2014/main" id="{0C49A927-356F-2767-527C-ED591F693561}"/>
              </a:ext>
            </a:extLst>
          </p:cNvPr>
          <p:cNvSpPr/>
          <p:nvPr/>
        </p:nvSpPr>
        <p:spPr>
          <a:xfrm>
            <a:off x="1417320" y="2971800"/>
            <a:ext cx="6858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User Message</a:t>
            </a:r>
          </a:p>
        </p:txBody>
      </p:sp>
      <p:sp>
        <p:nvSpPr>
          <p:cNvPr id="11" name="Text 9">
            <a:extLst>
              <a:ext uri="{FF2B5EF4-FFF2-40B4-BE49-F238E27FC236}">
                <a16:creationId xmlns:a16="http://schemas.microsoft.com/office/drawing/2014/main" id="{FEACD849-5B34-A795-3AB0-1F9D13B1A128}"/>
              </a:ext>
            </a:extLst>
          </p:cNvPr>
          <p:cNvSpPr/>
          <p:nvPr/>
        </p:nvSpPr>
        <p:spPr>
          <a:xfrm>
            <a:off x="1417320" y="3291840"/>
            <a:ext cx="6858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The actual task or question. Includes the input data, instructions, and any examples (few-shot) you want the model to follow.</a:t>
            </a:r>
          </a:p>
        </p:txBody>
      </p:sp>
      <p:sp>
        <p:nvSpPr>
          <p:cNvPr id="12" name="Shape 10">
            <a:extLst>
              <a:ext uri="{FF2B5EF4-FFF2-40B4-BE49-F238E27FC236}">
                <a16:creationId xmlns:a16="http://schemas.microsoft.com/office/drawing/2014/main" id="{EA109285-1727-47EE-C4B8-E697F3E85715}"/>
              </a:ext>
            </a:extLst>
          </p:cNvPr>
          <p:cNvSpPr/>
          <p:nvPr/>
        </p:nvSpPr>
        <p:spPr>
          <a:xfrm>
            <a:off x="640080" y="4023360"/>
            <a:ext cx="594360" cy="50292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1">
            <a:extLst>
              <a:ext uri="{FF2B5EF4-FFF2-40B4-BE49-F238E27FC236}">
                <a16:creationId xmlns:a16="http://schemas.microsoft.com/office/drawing/2014/main" id="{4BE354B5-2949-CB76-4EE8-AC130CC561B1}"/>
              </a:ext>
            </a:extLst>
          </p:cNvPr>
          <p:cNvSpPr/>
          <p:nvPr/>
        </p:nvSpPr>
        <p:spPr>
          <a:xfrm>
            <a:off x="640080" y="4023360"/>
            <a:ext cx="5943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03</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a:extLst>
              <a:ext uri="{FF2B5EF4-FFF2-40B4-BE49-F238E27FC236}">
                <a16:creationId xmlns:a16="http://schemas.microsoft.com/office/drawing/2014/main" id="{8BE4EE10-AE50-F05D-BDFF-AE7DF48A5E66}"/>
              </a:ext>
            </a:extLst>
          </p:cNvPr>
          <p:cNvSpPr/>
          <p:nvPr/>
        </p:nvSpPr>
        <p:spPr>
          <a:xfrm>
            <a:off x="1417320" y="3977640"/>
            <a:ext cx="6858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Parameters</a:t>
            </a:r>
          </a:p>
        </p:txBody>
      </p:sp>
      <p:sp>
        <p:nvSpPr>
          <p:cNvPr id="15" name="Text 13">
            <a:extLst>
              <a:ext uri="{FF2B5EF4-FFF2-40B4-BE49-F238E27FC236}">
                <a16:creationId xmlns:a16="http://schemas.microsoft.com/office/drawing/2014/main" id="{93A140BD-46B2-DF48-011B-23D435027558}"/>
              </a:ext>
            </a:extLst>
          </p:cNvPr>
          <p:cNvSpPr/>
          <p:nvPr/>
        </p:nvSpPr>
        <p:spPr>
          <a:xfrm>
            <a:off x="1417320" y="4297680"/>
            <a:ext cx="685800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B8C4D6"/>
                </a:solidFill>
                <a:effectLst/>
                <a:uLnTx/>
                <a:uFillTx/>
                <a:latin typeface="Segoe UI" pitchFamily="34" charset="0"/>
                <a:ea typeface="Segoe UI" pitchFamily="34" charset="-122"/>
                <a:cs typeface="Segoe UI" pitchFamily="34" charset="-120"/>
              </a:rPr>
              <a:t>Temperature, top_p, max_tokens, stop sequences, and more. These knobs control how the model generates its response.</a:t>
            </a:r>
          </a:p>
        </p:txBody>
      </p:sp>
    </p:spTree>
    <p:extLst>
      <p:ext uri="{BB962C8B-B14F-4D97-AF65-F5344CB8AC3E}">
        <p14:creationId xmlns:p14="http://schemas.microsoft.com/office/powerpoint/2010/main" val="610547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Your First API Call</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CodeBg"/>
          <p:cNvSpPr/>
          <p:nvPr/>
        </p:nvSpPr>
        <p:spPr>
          <a:xfrm>
            <a:off x="457200" y="1143000"/>
            <a:ext cx="8229600" cy="3657600"/>
          </a:xfrm>
          <a:prstGeom prst="roundRect">
            <a:avLst>
              <a:gd name="adj" fmla="val 3000"/>
            </a:avLst>
          </a:prstGeom>
          <a:solidFill>
            <a:srgbClr val="0D1117"/>
          </a:solidFill>
          <a:ln w="12700">
            <a:solidFill>
              <a:srgbClr val="2D333B"/>
            </a:solidFill>
          </a:ln>
        </p:spPr>
        <p:txBody>
          <a:bodyPr/>
          <a:lstStyle/>
          <a:p>
            <a:endParaRPr lang="en-US"/>
          </a:p>
        </p:txBody>
      </p:sp>
      <p:sp>
        <p:nvSpPr>
          <p:cNvPr id="21" name="CodeText"/>
          <p:cNvSpPr/>
          <p:nvPr/>
        </p:nvSpPr>
        <p:spPr>
          <a:xfrm>
            <a:off x="594360" y="1280160"/>
            <a:ext cx="7955280" cy="3383280"/>
          </a:xfrm>
          <a:prstGeom prst="rect">
            <a:avLst/>
          </a:prstGeom>
          <a:noFill/>
          <a:ln>
            <a:noFill/>
          </a:ln>
        </p:spPr>
        <p:txBody>
          <a:bodyPr wrap="square" lIns="91440" tIns="45720" rIns="91440" bIns="45720" rtlCol="0" anchor="t"/>
          <a:lstStyle/>
          <a:p>
            <a:pPr algn="l">
              <a:lnSpc>
                <a:spcPts val="1800"/>
              </a:lnSpc>
              <a:buNone/>
            </a:pPr>
            <a:r>
              <a:rPr lang="en-US" sz="1100" b="1" dirty="0">
                <a:solidFill>
                  <a:srgbClr val="FF7B72"/>
                </a:solidFill>
                <a:latin typeface="Consolas"/>
                <a:cs typeface="Consolas"/>
              </a:rPr>
              <a:t>from</a:t>
            </a:r>
            <a:r>
              <a:rPr lang="en-US" sz="1100" dirty="0">
                <a:solidFill>
                  <a:srgbClr val="C9D1D9"/>
                </a:solidFill>
                <a:latin typeface="Consolas"/>
                <a:cs typeface="Consolas"/>
              </a:rPr>
              <a:t> openai </a:t>
            </a:r>
            <a:r>
              <a:rPr lang="en-US" sz="1100" b="1" dirty="0">
                <a:solidFill>
                  <a:srgbClr val="FF7B72"/>
                </a:solidFill>
                <a:latin typeface="Consolas"/>
                <a:cs typeface="Consolas"/>
              </a:rPr>
              <a:t>import</a:t>
            </a:r>
            <a:r>
              <a:rPr lang="en-US" sz="1100" dirty="0">
                <a:solidFill>
                  <a:srgbClr val="C9D1D9"/>
                </a:solidFill>
                <a:latin typeface="Consolas"/>
                <a:cs typeface="Consolas"/>
              </a:rPr>
              <a:t> OpenAI</a:t>
            </a:r>
          </a:p>
          <a:p>
            <a:pPr algn="l">
              <a:lnSpc>
                <a:spcPts val="1800"/>
              </a:lnSpc>
              <a:buNone/>
            </a:pPr>
            <a:endParaRPr lang="en-US" sz="1100" dirty="0">
              <a:solidFill>
                <a:srgbClr val="C9D1D9"/>
              </a:solidFill>
              <a:latin typeface="Consolas"/>
              <a:cs typeface="Consolas"/>
            </a:endParaRPr>
          </a:p>
          <a:p>
            <a:pPr algn="l">
              <a:lnSpc>
                <a:spcPts val="1800"/>
              </a:lnSpc>
              <a:buNone/>
            </a:pPr>
            <a:r>
              <a:rPr lang="en-US" sz="1100" dirty="0">
                <a:solidFill>
                  <a:srgbClr val="C9D1D9"/>
                </a:solidFill>
                <a:latin typeface="Consolas"/>
                <a:cs typeface="Consolas"/>
              </a:rPr>
              <a:t>client = OpenAI()</a:t>
            </a:r>
          </a:p>
          <a:p>
            <a:pPr algn="l">
              <a:lnSpc>
                <a:spcPts val="1800"/>
              </a:lnSpc>
              <a:buNone/>
            </a:pPr>
            <a:endParaRPr lang="en-US" sz="1100" dirty="0">
              <a:solidFill>
                <a:srgbClr val="C9D1D9"/>
              </a:solidFill>
              <a:latin typeface="Consolas"/>
              <a:cs typeface="Consolas"/>
            </a:endParaRPr>
          </a:p>
          <a:p>
            <a:pPr algn="l">
              <a:lnSpc>
                <a:spcPts val="1800"/>
              </a:lnSpc>
              <a:buNone/>
            </a:pPr>
            <a:r>
              <a:rPr lang="en-US" sz="1100" dirty="0">
                <a:solidFill>
                  <a:srgbClr val="C9D1D9"/>
                </a:solidFill>
                <a:latin typeface="Consolas"/>
                <a:cs typeface="Consolas"/>
              </a:rPr>
              <a:t>response = client.chat.completions.create(</a:t>
            </a:r>
          </a:p>
          <a:p>
            <a:pPr algn="l">
              <a:lnSpc>
                <a:spcPts val="1800"/>
              </a:lnSpc>
              <a:buNone/>
            </a:pPr>
            <a:r>
              <a:rPr lang="en-US" sz="1100" dirty="0">
                <a:solidFill>
                  <a:srgbClr val="C9D1D9"/>
                </a:solidFill>
                <a:latin typeface="Consolas"/>
                <a:cs typeface="Consolas"/>
              </a:rPr>
              <a:t>    model=</a:t>
            </a:r>
            <a:r>
              <a:rPr lang="en-US" sz="1100" dirty="0">
                <a:solidFill>
                  <a:srgbClr val="A5D6FF"/>
                </a:solidFill>
                <a:latin typeface="Consolas"/>
                <a:cs typeface="Consolas"/>
              </a:rPr>
              <a:t>"gpt-4.1-mini"</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    messages=[</a:t>
            </a:r>
          </a:p>
          <a:p>
            <a:pPr algn="l">
              <a:lnSpc>
                <a:spcPts val="1800"/>
              </a:lnSpc>
              <a:buNone/>
            </a:pPr>
            <a:r>
              <a:rPr lang="en-US" sz="1100" dirty="0">
                <a:solidFill>
                  <a:srgbClr val="C9D1D9"/>
                </a:solidFill>
                <a:latin typeface="Consolas"/>
                <a:cs typeface="Consolas"/>
              </a:rPr>
              <a:t>        {</a:t>
            </a:r>
            <a:r>
              <a:rPr lang="en-US" sz="1100" dirty="0">
                <a:solidFill>
                  <a:srgbClr val="A5D6FF"/>
                </a:solidFill>
                <a:latin typeface="Consolas"/>
                <a:cs typeface="Consolas"/>
              </a:rPr>
              <a:t>"role"</a:t>
            </a:r>
            <a:r>
              <a:rPr lang="en-US" sz="1100" dirty="0">
                <a:solidFill>
                  <a:srgbClr val="C9D1D9"/>
                </a:solidFill>
                <a:latin typeface="Consolas"/>
                <a:cs typeface="Consolas"/>
              </a:rPr>
              <a:t>: </a:t>
            </a:r>
            <a:r>
              <a:rPr lang="en-US" sz="1100" dirty="0">
                <a:solidFill>
                  <a:srgbClr val="A5D6FF"/>
                </a:solidFill>
                <a:latin typeface="Consolas"/>
                <a:cs typeface="Consolas"/>
              </a:rPr>
              <a:t>"system"</a:t>
            </a:r>
            <a:r>
              <a:rPr lang="en-US" sz="1100" dirty="0">
                <a:solidFill>
                  <a:srgbClr val="C9D1D9"/>
                </a:solidFill>
                <a:latin typeface="Consolas"/>
                <a:cs typeface="Consolas"/>
              </a:rPr>
              <a:t>, </a:t>
            </a:r>
            <a:r>
              <a:rPr lang="en-US" sz="1100" dirty="0">
                <a:solidFill>
                  <a:srgbClr val="A5D6FF"/>
                </a:solidFill>
                <a:latin typeface="Consolas"/>
                <a:cs typeface="Consolas"/>
              </a:rPr>
              <a:t>"content"</a:t>
            </a:r>
            <a:r>
              <a:rPr lang="en-US" sz="1100" dirty="0">
                <a:solidFill>
                  <a:srgbClr val="C9D1D9"/>
                </a:solidFill>
                <a:latin typeface="Consolas"/>
                <a:cs typeface="Consolas"/>
              </a:rPr>
              <a:t>: </a:t>
            </a:r>
            <a:r>
              <a:rPr lang="en-US" sz="1100" dirty="0">
                <a:solidFill>
                  <a:srgbClr val="A5D6FF"/>
                </a:solidFill>
                <a:latin typeface="Consolas"/>
                <a:cs typeface="Consolas"/>
              </a:rPr>
              <a:t>"You are a helpful assistant."</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        {</a:t>
            </a:r>
            <a:r>
              <a:rPr lang="en-US" sz="1100" dirty="0">
                <a:solidFill>
                  <a:srgbClr val="A5D6FF"/>
                </a:solidFill>
                <a:latin typeface="Consolas"/>
                <a:cs typeface="Consolas"/>
              </a:rPr>
              <a:t>"role"</a:t>
            </a:r>
            <a:r>
              <a:rPr lang="en-US" sz="1100" dirty="0">
                <a:solidFill>
                  <a:srgbClr val="C9D1D9"/>
                </a:solidFill>
                <a:latin typeface="Consolas"/>
                <a:cs typeface="Consolas"/>
              </a:rPr>
              <a:t>: </a:t>
            </a:r>
            <a:r>
              <a:rPr lang="en-US" sz="1100" dirty="0">
                <a:solidFill>
                  <a:srgbClr val="A5D6FF"/>
                </a:solidFill>
                <a:latin typeface="Consolas"/>
                <a:cs typeface="Consolas"/>
              </a:rPr>
              <a:t>"user"</a:t>
            </a:r>
            <a:r>
              <a:rPr lang="en-US" sz="1100" dirty="0">
                <a:solidFill>
                  <a:srgbClr val="C9D1D9"/>
                </a:solidFill>
                <a:latin typeface="Consolas"/>
                <a:cs typeface="Consolas"/>
              </a:rPr>
              <a:t>, </a:t>
            </a:r>
            <a:r>
              <a:rPr lang="en-US" sz="1100" dirty="0">
                <a:solidFill>
                  <a:srgbClr val="A5D6FF"/>
                </a:solidFill>
                <a:latin typeface="Consolas"/>
                <a:cs typeface="Consolas"/>
              </a:rPr>
              <a:t>"content"</a:t>
            </a:r>
            <a:r>
              <a:rPr lang="en-US" sz="1100" dirty="0">
                <a:solidFill>
                  <a:srgbClr val="C9D1D9"/>
                </a:solidFill>
                <a:latin typeface="Consolas"/>
                <a:cs typeface="Consolas"/>
              </a:rPr>
              <a:t>: </a:t>
            </a:r>
            <a:r>
              <a:rPr lang="en-US" sz="1100" dirty="0">
                <a:solidFill>
                  <a:srgbClr val="A5D6FF"/>
                </a:solidFill>
                <a:latin typeface="Consolas"/>
                <a:cs typeface="Consolas"/>
              </a:rPr>
              <a:t>"What is the capital of France?"</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    ],</a:t>
            </a:r>
          </a:p>
          <a:p>
            <a:pPr algn="l">
              <a:lnSpc>
                <a:spcPts val="1800"/>
              </a:lnSpc>
              <a:buNone/>
            </a:pPr>
            <a:r>
              <a:rPr lang="en-US" sz="1100" dirty="0">
                <a:solidFill>
                  <a:srgbClr val="C9D1D9"/>
                </a:solidFill>
                <a:latin typeface="Consolas"/>
                <a:cs typeface="Consolas"/>
              </a:rPr>
              <a:t>    temperature=</a:t>
            </a:r>
            <a:r>
              <a:rPr lang="en-US" sz="1100" dirty="0">
                <a:solidFill>
                  <a:srgbClr val="79C0FF"/>
                </a:solidFill>
                <a:latin typeface="Consolas"/>
                <a:cs typeface="Consolas"/>
              </a:rPr>
              <a:t>0.0</a:t>
            </a:r>
            <a:r>
              <a:rPr lang="en-US" sz="1100" dirty="0">
                <a:solidFill>
                  <a:srgbClr val="C9D1D9"/>
                </a:solidFill>
                <a:latin typeface="Consolas"/>
                <a:cs typeface="Consolas"/>
              </a:rPr>
              <a:t>,</a:t>
            </a:r>
          </a:p>
          <a:p>
            <a:pPr algn="l">
              <a:lnSpc>
                <a:spcPts val="1800"/>
              </a:lnSpc>
              <a:buNone/>
            </a:pPr>
            <a:r>
              <a:rPr lang="en-US" sz="1100" dirty="0">
                <a:solidFill>
                  <a:srgbClr val="C9D1D9"/>
                </a:solidFill>
                <a:latin typeface="Consolas"/>
                <a:cs typeface="Consolas"/>
              </a:rPr>
              <a:t>)</a:t>
            </a:r>
          </a:p>
          <a:p>
            <a:pPr algn="l">
              <a:lnSpc>
                <a:spcPts val="1800"/>
              </a:lnSpc>
              <a:buNone/>
            </a:pPr>
            <a:endParaRPr lang="en-US" sz="1100" dirty="0">
              <a:solidFill>
                <a:srgbClr val="C9D1D9"/>
              </a:solidFill>
              <a:latin typeface="Consolas"/>
              <a:cs typeface="Consolas"/>
            </a:endParaRPr>
          </a:p>
          <a:p>
            <a:pPr algn="l">
              <a:lnSpc>
                <a:spcPts val="1800"/>
              </a:lnSpc>
              <a:buNone/>
            </a:pPr>
            <a:r>
              <a:rPr lang="en-US" sz="1100" dirty="0">
                <a:solidFill>
                  <a:srgbClr val="C9D1D9"/>
                </a:solidFill>
                <a:latin typeface="Consolas"/>
                <a:cs typeface="Consolas"/>
              </a:rPr>
              <a:t>print(response.choices[</a:t>
            </a:r>
            <a:r>
              <a:rPr lang="en-US" sz="1100" dirty="0">
                <a:solidFill>
                  <a:srgbClr val="79C0FF"/>
                </a:solidFill>
                <a:latin typeface="Consolas"/>
                <a:cs typeface="Consolas"/>
              </a:rPr>
              <a:t>0</a:t>
            </a:r>
            <a:r>
              <a:rPr lang="en-US" sz="1100" dirty="0">
                <a:solidFill>
                  <a:srgbClr val="C9D1D9"/>
                </a:solidFill>
                <a:latin typeface="Consolas"/>
                <a:cs typeface="Consolas"/>
              </a:rPr>
              <a:t>].message.content)</a:t>
            </a:r>
          </a:p>
          <a:p>
            <a:pPr algn="l">
              <a:lnSpc>
                <a:spcPts val="1800"/>
              </a:lnSpc>
              <a:buNone/>
            </a:pPr>
            <a:r>
              <a:rPr lang="en-US" sz="1100" dirty="0">
                <a:solidFill>
                  <a:srgbClr val="B8C4D6"/>
                </a:solidFill>
                <a:latin typeface="Consolas"/>
                <a:cs typeface="Consolas"/>
              </a:rPr>
              <a:t># &gt;&gt;&gt; The capital of France is Paris.</a:t>
            </a:r>
          </a:p>
        </p:txBody>
      </p:sp>
    </p:spTree>
    <p:extLst>
      <p:ext uri="{BB962C8B-B14F-4D97-AF65-F5344CB8AC3E}">
        <p14:creationId xmlns:p14="http://schemas.microsoft.com/office/powerpoint/2010/main" val="36213079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6932801E-E686-542A-1F2A-CF9CCF6FBA4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9E40BB0-1B38-925F-7EC8-4597345C1C2E}"/>
              </a:ext>
            </a:extLst>
          </p:cNvPr>
          <p:cNvSpPr/>
          <p:nvPr/>
        </p:nvSpPr>
        <p:spPr>
          <a:xfrm>
            <a:off x="640080" y="320040"/>
            <a:ext cx="457200" cy="4114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771D1FF9-7372-C0C1-F568-45C3E998AC3B}"/>
              </a:ext>
            </a:extLst>
          </p:cNvPr>
          <p:cNvSpPr/>
          <p:nvPr/>
        </p:nvSpPr>
        <p:spPr>
          <a:xfrm>
            <a:off x="640080" y="320040"/>
            <a:ext cx="45720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1</a:t>
            </a:r>
          </a:p>
        </p:txBody>
      </p:sp>
      <p:sp>
        <p:nvSpPr>
          <p:cNvPr id="4" name="Text 2">
            <a:extLst>
              <a:ext uri="{FF2B5EF4-FFF2-40B4-BE49-F238E27FC236}">
                <a16:creationId xmlns:a16="http://schemas.microsoft.com/office/drawing/2014/main" id="{E141AF81-C944-C096-7963-B6EC72EC39F0}"/>
              </a:ext>
            </a:extLst>
          </p:cNvPr>
          <p:cNvSpPr/>
          <p:nvPr/>
        </p:nvSpPr>
        <p:spPr>
          <a:xfrm>
            <a:off x="1280160" y="274320"/>
            <a:ext cx="64008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A2744"/>
                </a:solidFill>
                <a:effectLst/>
                <a:uLnTx/>
                <a:uFillTx/>
                <a:latin typeface="Segoe UI Black" pitchFamily="34" charset="0"/>
                <a:ea typeface="Segoe UI Black" pitchFamily="34" charset="-122"/>
                <a:cs typeface="Segoe UI Black" pitchFamily="34" charset="-120"/>
              </a:rPr>
              <a:t>System vs. User Messages</a:t>
            </a:r>
          </a:p>
        </p:txBody>
      </p:sp>
      <p:sp>
        <p:nvSpPr>
          <p:cNvPr id="5" name="Text 3">
            <a:extLst>
              <a:ext uri="{FF2B5EF4-FFF2-40B4-BE49-F238E27FC236}">
                <a16:creationId xmlns:a16="http://schemas.microsoft.com/office/drawing/2014/main" id="{986327BF-975C-5EBC-CC52-2C291AB91B02}"/>
              </a:ext>
            </a:extLst>
          </p:cNvPr>
          <p:cNvSpPr/>
          <p:nvPr/>
        </p:nvSpPr>
        <p:spPr>
          <a:xfrm>
            <a:off x="640080" y="914400"/>
            <a:ext cx="7772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Two distinct roles that frame every API call.</a:t>
            </a:r>
          </a:p>
        </p:txBody>
      </p:sp>
      <p:sp>
        <p:nvSpPr>
          <p:cNvPr id="6" name="Shape 4">
            <a:extLst>
              <a:ext uri="{FF2B5EF4-FFF2-40B4-BE49-F238E27FC236}">
                <a16:creationId xmlns:a16="http://schemas.microsoft.com/office/drawing/2014/main" id="{030EFBE5-6AD6-0D96-C576-A34A942B9B77}"/>
              </a:ext>
            </a:extLst>
          </p:cNvPr>
          <p:cNvSpPr/>
          <p:nvPr/>
        </p:nvSpPr>
        <p:spPr>
          <a:xfrm>
            <a:off x="6400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30CB4942-437D-59BB-9CB0-9E4CE2CEB31C}"/>
              </a:ext>
            </a:extLst>
          </p:cNvPr>
          <p:cNvSpPr/>
          <p:nvPr/>
        </p:nvSpPr>
        <p:spPr>
          <a:xfrm>
            <a:off x="6400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4FA30342-B31F-C6D0-25B3-407BAB092D2E}"/>
              </a:ext>
            </a:extLst>
          </p:cNvPr>
          <p:cNvSpPr/>
          <p:nvPr/>
        </p:nvSpPr>
        <p:spPr>
          <a:xfrm>
            <a:off x="9144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System Message</a:t>
            </a:r>
          </a:p>
        </p:txBody>
      </p:sp>
      <p:sp>
        <p:nvSpPr>
          <p:cNvPr id="9" name="Text 7">
            <a:extLst>
              <a:ext uri="{FF2B5EF4-FFF2-40B4-BE49-F238E27FC236}">
                <a16:creationId xmlns:a16="http://schemas.microsoft.com/office/drawing/2014/main" id="{968878CB-A7DA-A452-2428-DD2CF5F83647}"/>
              </a:ext>
            </a:extLst>
          </p:cNvPr>
          <p:cNvSpPr/>
          <p:nvPr/>
        </p:nvSpPr>
        <p:spPr>
          <a:xfrm>
            <a:off x="914400" y="2011680"/>
            <a:ext cx="32004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Purpose:</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Defines the model's persona, tone, constraints, and output format.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Convention:</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You resend it every call, but keep it the same across turns. The API is stateless.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Tip:</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Put guardrails and formatting rules here so they can't be overridden by user input.</a:t>
            </a:r>
          </a:p>
        </p:txBody>
      </p:sp>
      <p:sp>
        <p:nvSpPr>
          <p:cNvPr id="10" name="Shape 8">
            <a:extLst>
              <a:ext uri="{FF2B5EF4-FFF2-40B4-BE49-F238E27FC236}">
                <a16:creationId xmlns:a16="http://schemas.microsoft.com/office/drawing/2014/main" id="{A5B3C6E5-51B1-74D1-02CC-64A56B3506C3}"/>
              </a:ext>
            </a:extLst>
          </p:cNvPr>
          <p:cNvSpPr/>
          <p:nvPr/>
        </p:nvSpPr>
        <p:spPr>
          <a:xfrm>
            <a:off x="47548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844E2946-7BAA-8A1A-8D1E-F35C7D113C5E}"/>
              </a:ext>
            </a:extLst>
          </p:cNvPr>
          <p:cNvSpPr/>
          <p:nvPr/>
        </p:nvSpPr>
        <p:spPr>
          <a:xfrm>
            <a:off x="47548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CF0A6A37-DDDB-C203-5B0B-FA3DBB723A11}"/>
              </a:ext>
            </a:extLst>
          </p:cNvPr>
          <p:cNvSpPr/>
          <p:nvPr/>
        </p:nvSpPr>
        <p:spPr>
          <a:xfrm>
            <a:off x="50292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User Message</a:t>
            </a:r>
          </a:p>
        </p:txBody>
      </p:sp>
      <p:sp>
        <p:nvSpPr>
          <p:cNvPr id="13" name="Text 11">
            <a:extLst>
              <a:ext uri="{FF2B5EF4-FFF2-40B4-BE49-F238E27FC236}">
                <a16:creationId xmlns:a16="http://schemas.microsoft.com/office/drawing/2014/main" id="{0B0A4125-7AF9-A935-ED0F-F11624E5CF52}"/>
              </a:ext>
            </a:extLst>
          </p:cNvPr>
          <p:cNvSpPr/>
          <p:nvPr/>
        </p:nvSpPr>
        <p:spPr>
          <a:xfrm>
            <a:off x="5029200" y="2011680"/>
            <a:ext cx="32004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Purpose:</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The actual task, question, or input data for this specific request.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Changes:</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Every turn. Each new request or follow-up goes here.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Tip:</a:t>
            </a:r>
            <a:r>
              <a:rPr kumimoji="0" lang="en-US" sz="12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Include few-shot examples, context, and delimiters in the user message for best results.</a:t>
            </a:r>
          </a:p>
        </p:txBody>
      </p:sp>
      <p:sp>
        <p:nvSpPr>
          <p:cNvPr id="14" name="Shape 12">
            <a:extLst>
              <a:ext uri="{FF2B5EF4-FFF2-40B4-BE49-F238E27FC236}">
                <a16:creationId xmlns:a16="http://schemas.microsoft.com/office/drawing/2014/main" id="{CA650C77-0D39-5B62-BC49-AD2390830F5A}"/>
              </a:ext>
            </a:extLst>
          </p:cNvPr>
          <p:cNvSpPr/>
          <p:nvPr/>
        </p:nvSpPr>
        <p:spPr>
          <a:xfrm>
            <a:off x="640080" y="4023360"/>
            <a:ext cx="7863840" cy="822960"/>
          </a:xfrm>
          <a:prstGeom prst="rect">
            <a:avLst/>
          </a:prstGeom>
          <a:solidFill>
            <a:srgbClr val="1A27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B029FB6A-FE08-CC40-23CE-BC5CEBB9CA41}"/>
              </a:ext>
            </a:extLst>
          </p:cNvPr>
          <p:cNvSpPr/>
          <p:nvPr/>
        </p:nvSpPr>
        <p:spPr>
          <a:xfrm>
            <a:off x="914400" y="4023360"/>
            <a:ext cx="73152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System = stable rules. User = variable input. Separate concerns cleanly.</a:t>
            </a:r>
          </a:p>
        </p:txBody>
      </p:sp>
    </p:spTree>
    <p:extLst>
      <p:ext uri="{BB962C8B-B14F-4D97-AF65-F5344CB8AC3E}">
        <p14:creationId xmlns:p14="http://schemas.microsoft.com/office/powerpoint/2010/main" val="891648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System Message Examples</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LeftBg"/>
          <p:cNvSpPr/>
          <p:nvPr/>
        </p:nvSpPr>
        <p:spPr>
          <a:xfrm>
            <a:off x="457200" y="1143000"/>
            <a:ext cx="3977640" cy="3657600"/>
          </a:xfrm>
          <a:prstGeom prst="roundRect">
            <a:avLst>
              <a:gd name="adj" fmla="val 3000"/>
            </a:avLst>
          </a:prstGeom>
          <a:solidFill>
            <a:srgbClr val="0D1117"/>
          </a:solidFill>
          <a:ln w="12700">
            <a:solidFill>
              <a:srgbClr val="2D333B"/>
            </a:solidFill>
          </a:ln>
        </p:spPr>
        <p:txBody>
          <a:bodyPr/>
          <a:lstStyle/>
          <a:p>
            <a:endParaRPr lang="en-US"/>
          </a:p>
        </p:txBody>
      </p:sp>
      <p:sp>
        <p:nvSpPr>
          <p:cNvPr id="21" name="LeftCode"/>
          <p:cNvSpPr/>
          <p:nvPr/>
        </p:nvSpPr>
        <p:spPr>
          <a:xfrm>
            <a:off x="548640" y="1234440"/>
            <a:ext cx="3794760" cy="3474720"/>
          </a:xfrm>
          <a:prstGeom prst="rect">
            <a:avLst/>
          </a:prstGeom>
          <a:noFill/>
          <a:ln>
            <a:noFill/>
          </a:ln>
        </p:spPr>
        <p:txBody>
          <a:bodyPr wrap="square" lIns="45720" tIns="45720" rIns="45720" bIns="45720" rtlCol="0" anchor="t"/>
          <a:lstStyle/>
          <a:p>
            <a:pPr algn="l">
              <a:lnSpc>
                <a:spcPts val="1600"/>
              </a:lnSpc>
              <a:buNone/>
            </a:pPr>
            <a:r>
              <a:rPr lang="en-US" sz="900" b="1" dirty="0">
                <a:solidFill>
                  <a:srgbClr val="00BFA6"/>
                </a:solidFill>
                <a:latin typeface="Segoe UI"/>
                <a:cs typeface="Segoe UI"/>
              </a:rPr>
              <a:t>SYSTEM MESSAGE</a:t>
            </a:r>
          </a:p>
          <a:p>
            <a:pPr algn="l">
              <a:lnSpc>
                <a:spcPts val="1600"/>
              </a:lnSpc>
              <a:buNone/>
            </a:pPr>
            <a:r>
              <a:rPr lang="en-US" sz="1000" dirty="0">
                <a:solidFill>
                  <a:srgbClr val="A5D6FF"/>
                </a:solidFill>
                <a:latin typeface="Consolas"/>
                <a:cs typeface="Consolas"/>
              </a:rPr>
              <a:t>"You are a formal financial</a:t>
            </a:r>
          </a:p>
          <a:p>
            <a:pPr algn="l">
              <a:lnSpc>
                <a:spcPts val="1600"/>
              </a:lnSpc>
              <a:buNone/>
            </a:pPr>
            <a:r>
              <a:rPr lang="en-US" sz="1000" dirty="0">
                <a:solidFill>
                  <a:srgbClr val="A5D6FF"/>
                </a:solidFill>
                <a:latin typeface="Consolas"/>
                <a:cs typeface="Consolas"/>
              </a:rPr>
              <a:t>analyst. Be precise and use</a:t>
            </a:r>
          </a:p>
          <a:p>
            <a:pPr algn="l">
              <a:lnSpc>
                <a:spcPts val="1600"/>
              </a:lnSpc>
              <a:buNone/>
            </a:pPr>
            <a:r>
              <a:rPr lang="en-US" sz="1000" dirty="0">
                <a:solidFill>
                  <a:srgbClr val="A5D6FF"/>
                </a:solidFill>
                <a:latin typeface="Consolas"/>
                <a:cs typeface="Consolas"/>
              </a:rPr>
              <a:t>technical terminology."</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00BFA6"/>
                </a:solidFill>
                <a:latin typeface="Segoe UI"/>
                <a:cs typeface="Segoe UI"/>
              </a:rPr>
              <a:t>USER MESSAGE</a:t>
            </a:r>
          </a:p>
          <a:p>
            <a:pPr algn="l">
              <a:lnSpc>
                <a:spcPts val="1600"/>
              </a:lnSpc>
              <a:buNone/>
            </a:pPr>
            <a:r>
              <a:rPr lang="en-US" sz="1000" dirty="0">
                <a:solidFill>
                  <a:srgbClr val="A5D6FF"/>
                </a:solidFill>
                <a:latin typeface="Consolas"/>
                <a:cs typeface="Consolas"/>
              </a:rPr>
              <a:t>"Explain what an API is."</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FF7B72"/>
                </a:solidFill>
                <a:latin typeface="Segoe UI"/>
                <a:cs typeface="Segoe UI"/>
              </a:rPr>
              <a:t>OUTPUT</a:t>
            </a:r>
          </a:p>
          <a:p>
            <a:pPr algn="l">
              <a:lnSpc>
                <a:spcPts val="1600"/>
              </a:lnSpc>
              <a:buNone/>
            </a:pPr>
            <a:r>
              <a:rPr lang="en-US" sz="1000" i="1" dirty="0">
                <a:solidFill>
                  <a:srgbClr val="B8C4D6"/>
                </a:solidFill>
                <a:latin typeface="Consolas"/>
                <a:cs typeface="Consolas"/>
              </a:rPr>
              <a:t>An Application Programming</a:t>
            </a:r>
          </a:p>
          <a:p>
            <a:pPr algn="l">
              <a:lnSpc>
                <a:spcPts val="1600"/>
              </a:lnSpc>
              <a:buNone/>
            </a:pPr>
            <a:r>
              <a:rPr lang="en-US" sz="1000" i="1" dirty="0">
                <a:solidFill>
                  <a:srgbClr val="B8C4D6"/>
                </a:solidFill>
                <a:latin typeface="Consolas"/>
                <a:cs typeface="Consolas"/>
              </a:rPr>
              <a:t>Interface (API) is a formally</a:t>
            </a:r>
          </a:p>
          <a:p>
            <a:pPr algn="l">
              <a:lnSpc>
                <a:spcPts val="1600"/>
              </a:lnSpc>
              <a:buNone/>
            </a:pPr>
            <a:r>
              <a:rPr lang="en-US" sz="1000" i="1" dirty="0">
                <a:solidFill>
                  <a:srgbClr val="B8C4D6"/>
                </a:solidFill>
                <a:latin typeface="Consolas"/>
                <a:cs typeface="Consolas"/>
              </a:rPr>
              <a:t>defined contract specifying how</a:t>
            </a:r>
          </a:p>
          <a:p>
            <a:pPr algn="l">
              <a:lnSpc>
                <a:spcPts val="1600"/>
              </a:lnSpc>
              <a:buNone/>
            </a:pPr>
            <a:r>
              <a:rPr lang="en-US" sz="1000" i="1" dirty="0">
                <a:solidFill>
                  <a:srgbClr val="B8C4D6"/>
                </a:solidFill>
                <a:latin typeface="Consolas"/>
                <a:cs typeface="Consolas"/>
              </a:rPr>
              <a:t>software components exchange</a:t>
            </a:r>
          </a:p>
          <a:p>
            <a:pPr algn="l">
              <a:lnSpc>
                <a:spcPts val="1600"/>
              </a:lnSpc>
              <a:buNone/>
            </a:pPr>
            <a:r>
              <a:rPr lang="en-US" sz="1000" i="1" dirty="0">
                <a:solidFill>
                  <a:srgbClr val="B8C4D6"/>
                </a:solidFill>
                <a:latin typeface="Consolas"/>
                <a:cs typeface="Consolas"/>
              </a:rPr>
              <a:t>data and invoke operations...</a:t>
            </a:r>
          </a:p>
        </p:txBody>
      </p:sp>
      <p:sp>
        <p:nvSpPr>
          <p:cNvPr id="22" name="RightBg"/>
          <p:cNvSpPr/>
          <p:nvPr/>
        </p:nvSpPr>
        <p:spPr>
          <a:xfrm>
            <a:off x="4709160" y="1143000"/>
            <a:ext cx="3977640" cy="3657600"/>
          </a:xfrm>
          <a:prstGeom prst="roundRect">
            <a:avLst>
              <a:gd name="adj" fmla="val 3000"/>
            </a:avLst>
          </a:prstGeom>
          <a:solidFill>
            <a:srgbClr val="0D1117"/>
          </a:solidFill>
          <a:ln w="12700">
            <a:solidFill>
              <a:srgbClr val="2D333B"/>
            </a:solidFill>
          </a:ln>
        </p:spPr>
        <p:txBody>
          <a:bodyPr/>
          <a:lstStyle/>
          <a:p>
            <a:endParaRPr lang="en-US"/>
          </a:p>
        </p:txBody>
      </p:sp>
      <p:sp>
        <p:nvSpPr>
          <p:cNvPr id="23" name="RightCode"/>
          <p:cNvSpPr/>
          <p:nvPr/>
        </p:nvSpPr>
        <p:spPr>
          <a:xfrm>
            <a:off x="4800600" y="1234440"/>
            <a:ext cx="3794760" cy="3474720"/>
          </a:xfrm>
          <a:prstGeom prst="rect">
            <a:avLst/>
          </a:prstGeom>
          <a:noFill/>
          <a:ln>
            <a:noFill/>
          </a:ln>
        </p:spPr>
        <p:txBody>
          <a:bodyPr wrap="square" lIns="45720" tIns="45720" rIns="45720" bIns="45720" rtlCol="0" anchor="t"/>
          <a:lstStyle/>
          <a:p>
            <a:pPr algn="l">
              <a:lnSpc>
                <a:spcPts val="1600"/>
              </a:lnSpc>
              <a:buNone/>
            </a:pPr>
            <a:r>
              <a:rPr lang="en-US" sz="900" b="1" dirty="0">
                <a:solidFill>
                  <a:srgbClr val="00BFA6"/>
                </a:solidFill>
                <a:latin typeface="Segoe UI"/>
                <a:cs typeface="Segoe UI"/>
              </a:rPr>
              <a:t>SYSTEM MESSAGE</a:t>
            </a:r>
          </a:p>
          <a:p>
            <a:pPr algn="l">
              <a:lnSpc>
                <a:spcPts val="1600"/>
              </a:lnSpc>
              <a:buNone/>
            </a:pPr>
            <a:r>
              <a:rPr lang="en-US" sz="1000" dirty="0">
                <a:solidFill>
                  <a:srgbClr val="A5D6FF"/>
                </a:solidFill>
                <a:latin typeface="Consolas"/>
                <a:cs typeface="Consolas"/>
              </a:rPr>
              <a:t>"You are a friendly teacher</a:t>
            </a:r>
          </a:p>
          <a:p>
            <a:pPr algn="l">
              <a:lnSpc>
                <a:spcPts val="1600"/>
              </a:lnSpc>
              <a:buNone/>
            </a:pPr>
            <a:r>
              <a:rPr lang="en-US" sz="1000" dirty="0">
                <a:solidFill>
                  <a:srgbClr val="A5D6FF"/>
                </a:solidFill>
                <a:latin typeface="Consolas"/>
                <a:cs typeface="Consolas"/>
              </a:rPr>
              <a:t>explaining concepts to a</a:t>
            </a:r>
          </a:p>
          <a:p>
            <a:pPr algn="l">
              <a:lnSpc>
                <a:spcPts val="1600"/>
              </a:lnSpc>
              <a:buNone/>
            </a:pPr>
            <a:r>
              <a:rPr lang="en-US" sz="1000" dirty="0">
                <a:solidFill>
                  <a:srgbClr val="A5D6FF"/>
                </a:solidFill>
                <a:latin typeface="Consolas"/>
                <a:cs typeface="Consolas"/>
              </a:rPr>
              <a:t>10-year-old. Use analogies."</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00BFA6"/>
                </a:solidFill>
                <a:latin typeface="Segoe UI"/>
                <a:cs typeface="Segoe UI"/>
              </a:rPr>
              <a:t>USER MESSAGE</a:t>
            </a:r>
          </a:p>
          <a:p>
            <a:pPr algn="l">
              <a:lnSpc>
                <a:spcPts val="1600"/>
              </a:lnSpc>
              <a:buNone/>
            </a:pPr>
            <a:r>
              <a:rPr lang="en-US" sz="1000" dirty="0">
                <a:solidFill>
                  <a:srgbClr val="A5D6FF"/>
                </a:solidFill>
                <a:latin typeface="Consolas"/>
                <a:cs typeface="Consolas"/>
              </a:rPr>
              <a:t>"Explain what an API is."</a:t>
            </a:r>
          </a:p>
          <a:p>
            <a:pPr algn="l">
              <a:lnSpc>
                <a:spcPts val="1600"/>
              </a:lnSpc>
              <a:buNone/>
            </a:pPr>
            <a:endParaRPr lang="en-US" sz="1000" dirty="0">
              <a:solidFill>
                <a:srgbClr val="C9D1D9"/>
              </a:solidFill>
              <a:latin typeface="Consolas"/>
              <a:cs typeface="Consolas"/>
            </a:endParaRPr>
          </a:p>
          <a:p>
            <a:pPr algn="l">
              <a:lnSpc>
                <a:spcPts val="1600"/>
              </a:lnSpc>
              <a:buNone/>
            </a:pPr>
            <a:r>
              <a:rPr lang="en-US" sz="900" b="1" dirty="0">
                <a:solidFill>
                  <a:srgbClr val="FF7B72"/>
                </a:solidFill>
                <a:latin typeface="Segoe UI"/>
                <a:cs typeface="Segoe UI"/>
              </a:rPr>
              <a:t>OUTPUT</a:t>
            </a:r>
          </a:p>
          <a:p>
            <a:pPr algn="l">
              <a:lnSpc>
                <a:spcPts val="1600"/>
              </a:lnSpc>
              <a:buNone/>
            </a:pPr>
            <a:r>
              <a:rPr lang="en-US" sz="1000" i="1" dirty="0">
                <a:solidFill>
                  <a:srgbClr val="B8C4D6"/>
                </a:solidFill>
                <a:latin typeface="Consolas"/>
                <a:cs typeface="Consolas"/>
              </a:rPr>
              <a:t>Think of an API like a waiter</a:t>
            </a:r>
          </a:p>
          <a:p>
            <a:pPr algn="l">
              <a:lnSpc>
                <a:spcPts val="1600"/>
              </a:lnSpc>
              <a:buNone/>
            </a:pPr>
            <a:r>
              <a:rPr lang="en-US" sz="1000" i="1" dirty="0">
                <a:solidFill>
                  <a:srgbClr val="B8C4D6"/>
                </a:solidFill>
                <a:latin typeface="Consolas"/>
                <a:cs typeface="Consolas"/>
              </a:rPr>
              <a:t>in a restaurant! You tell the</a:t>
            </a:r>
          </a:p>
          <a:p>
            <a:pPr algn="l">
              <a:lnSpc>
                <a:spcPts val="1600"/>
              </a:lnSpc>
              <a:buNone/>
            </a:pPr>
            <a:r>
              <a:rPr lang="en-US" sz="1000" i="1" dirty="0">
                <a:solidFill>
                  <a:srgbClr val="B8C4D6"/>
                </a:solidFill>
                <a:latin typeface="Consolas"/>
                <a:cs typeface="Consolas"/>
              </a:rPr>
              <a:t>waiter what you want, they go</a:t>
            </a:r>
          </a:p>
          <a:p>
            <a:pPr algn="l">
              <a:lnSpc>
                <a:spcPts val="1600"/>
              </a:lnSpc>
              <a:buNone/>
            </a:pPr>
            <a:r>
              <a:rPr lang="en-US" sz="1000" i="1" dirty="0">
                <a:solidFill>
                  <a:srgbClr val="B8C4D6"/>
                </a:solidFill>
                <a:latin typeface="Consolas"/>
                <a:cs typeface="Consolas"/>
              </a:rPr>
              <a:t>to the kitchen, and bring back</a:t>
            </a:r>
          </a:p>
          <a:p>
            <a:pPr algn="l">
              <a:lnSpc>
                <a:spcPts val="1600"/>
              </a:lnSpc>
              <a:buNone/>
            </a:pPr>
            <a:r>
              <a:rPr lang="en-US" sz="1000" i="1" dirty="0">
                <a:solidFill>
                  <a:srgbClr val="B8C4D6"/>
                </a:solidFill>
                <a:latin typeface="Consolas"/>
                <a:cs typeface="Consolas"/>
              </a:rPr>
              <a:t>exactly what you asked for...</a:t>
            </a:r>
          </a:p>
        </p:txBody>
      </p:sp>
      <p:sp>
        <p:nvSpPr>
          <p:cNvPr id="24" name="Takeaway"/>
          <p:cNvSpPr/>
          <p:nvPr/>
        </p:nvSpPr>
        <p:spPr>
          <a:xfrm>
            <a:off x="457200" y="4846320"/>
            <a:ext cx="8229600" cy="228600"/>
          </a:xfrm>
          <a:prstGeom prst="rect">
            <a:avLst/>
          </a:prstGeom>
          <a:noFill/>
          <a:ln>
            <a:noFill/>
          </a:ln>
        </p:spPr>
        <p:txBody>
          <a:bodyPr wrap="square" lIns="0" tIns="0" rIns="0" bIns="0" rtlCol="0" anchor="ctr"/>
          <a:lstStyle/>
          <a:p>
            <a:pPr algn="ctr">
              <a:buNone/>
            </a:pPr>
            <a:r>
              <a:rPr lang="en-US" sz="1200" b="1" dirty="0">
                <a:solidFill>
                  <a:srgbClr val="00BFA6"/>
                </a:solidFill>
                <a:latin typeface="Segoe UI"/>
                <a:cs typeface="Segoe UI"/>
              </a:rPr>
              <a:t>Same question, same model, same temperature — completely different tone and depth.</a:t>
            </a:r>
          </a:p>
        </p:txBody>
      </p:sp>
    </p:spTree>
    <p:extLst>
      <p:ext uri="{BB962C8B-B14F-4D97-AF65-F5344CB8AC3E}">
        <p14:creationId xmlns:p14="http://schemas.microsoft.com/office/powerpoint/2010/main" val="641626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CEA4F75-7BAF-24FB-275A-39A9502C0745}"/>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8BADA7D-6BF7-250A-1DB4-F510BB0E8AB5}"/>
              </a:ext>
            </a:extLst>
          </p:cNvPr>
          <p:cNvSpPr/>
          <p:nvPr/>
        </p:nvSpPr>
        <p:spPr>
          <a:xfrm>
            <a:off x="640080" y="320040"/>
            <a:ext cx="457200" cy="4114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BE68CA72-6BAB-758F-371C-5AD8FE9C6C0D}"/>
              </a:ext>
            </a:extLst>
          </p:cNvPr>
          <p:cNvSpPr/>
          <p:nvPr/>
        </p:nvSpPr>
        <p:spPr>
          <a:xfrm>
            <a:off x="640080" y="320040"/>
            <a:ext cx="45720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2</a:t>
            </a:r>
          </a:p>
        </p:txBody>
      </p:sp>
      <p:sp>
        <p:nvSpPr>
          <p:cNvPr id="4" name="Text 2">
            <a:extLst>
              <a:ext uri="{FF2B5EF4-FFF2-40B4-BE49-F238E27FC236}">
                <a16:creationId xmlns:a16="http://schemas.microsoft.com/office/drawing/2014/main" id="{FEDEA2A0-0F1C-797D-2504-D1EB3E507A38}"/>
              </a:ext>
            </a:extLst>
          </p:cNvPr>
          <p:cNvSpPr/>
          <p:nvPr/>
        </p:nvSpPr>
        <p:spPr>
          <a:xfrm>
            <a:off x="1280160" y="274320"/>
            <a:ext cx="713116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A2744"/>
                </a:solidFill>
                <a:effectLst/>
                <a:uLnTx/>
                <a:uFillTx/>
                <a:latin typeface="Segoe UI Black" pitchFamily="34" charset="0"/>
                <a:ea typeface="Segoe UI Black" pitchFamily="34" charset="-122"/>
                <a:cs typeface="Segoe UI Black" pitchFamily="34" charset="-120"/>
              </a:rPr>
              <a:t>Temperature: The Creativity Dial</a:t>
            </a:r>
          </a:p>
        </p:txBody>
      </p:sp>
      <p:sp>
        <p:nvSpPr>
          <p:cNvPr id="5" name="Text 3">
            <a:extLst>
              <a:ext uri="{FF2B5EF4-FFF2-40B4-BE49-F238E27FC236}">
                <a16:creationId xmlns:a16="http://schemas.microsoft.com/office/drawing/2014/main" id="{57C378B3-D93A-D628-FEDC-A6BE70B5CA21}"/>
              </a:ext>
            </a:extLst>
          </p:cNvPr>
          <p:cNvSpPr/>
          <p:nvPr/>
        </p:nvSpPr>
        <p:spPr>
          <a:xfrm>
            <a:off x="640080" y="914400"/>
            <a:ext cx="7772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6" name="Shape 4">
            <a:extLst>
              <a:ext uri="{FF2B5EF4-FFF2-40B4-BE49-F238E27FC236}">
                <a16:creationId xmlns:a16="http://schemas.microsoft.com/office/drawing/2014/main" id="{59A9474A-8283-81D8-F9FB-1DEA5DE149B1}"/>
              </a:ext>
            </a:extLst>
          </p:cNvPr>
          <p:cNvSpPr/>
          <p:nvPr/>
        </p:nvSpPr>
        <p:spPr>
          <a:xfrm>
            <a:off x="6400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6099ADE3-D1BA-B24E-1BD6-537266BFB0C3}"/>
              </a:ext>
            </a:extLst>
          </p:cNvPr>
          <p:cNvSpPr/>
          <p:nvPr/>
        </p:nvSpPr>
        <p:spPr>
          <a:xfrm>
            <a:off x="6400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C9C0B778-D4E8-64C3-3BC7-53865CCA5419}"/>
              </a:ext>
            </a:extLst>
          </p:cNvPr>
          <p:cNvSpPr/>
          <p:nvPr/>
        </p:nvSpPr>
        <p:spPr>
          <a:xfrm>
            <a:off x="9144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Low Temperature (0.0 – 0.3)</a:t>
            </a:r>
          </a:p>
        </p:txBody>
      </p:sp>
      <p:sp>
        <p:nvSpPr>
          <p:cNvPr id="9" name="Text 7">
            <a:extLst>
              <a:ext uri="{FF2B5EF4-FFF2-40B4-BE49-F238E27FC236}">
                <a16:creationId xmlns:a16="http://schemas.microsoft.com/office/drawing/2014/main" id="{31E4E992-087F-DAC3-F056-F698355C44EF}"/>
              </a:ext>
            </a:extLst>
          </p:cNvPr>
          <p:cNvSpPr/>
          <p:nvPr/>
        </p:nvSpPr>
        <p:spPr>
          <a:xfrm>
            <a:off x="914400" y="2173728"/>
            <a:ext cx="320040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Behavior: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Picks the most likely token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almost</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every time. Output is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almost</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consistent and repeatable.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Best for: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Classification, data extraction</a:t>
            </a:r>
            <a:r>
              <a:rPr lang="en-US" sz="1600" dirty="0">
                <a:solidFill>
                  <a:srgbClr val="1A2744"/>
                </a:solidFill>
                <a:latin typeface="Segoe UI" pitchFamily="34" charset="0"/>
                <a:ea typeface="Segoe UI" pitchFamily="34" charset="-122"/>
                <a:cs typeface="Segoe UI" pitchFamily="34" charset="-120"/>
              </a:rPr>
              <a:t>.</a:t>
            </a:r>
            <a:endPar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10" name="Shape 8">
            <a:extLst>
              <a:ext uri="{FF2B5EF4-FFF2-40B4-BE49-F238E27FC236}">
                <a16:creationId xmlns:a16="http://schemas.microsoft.com/office/drawing/2014/main" id="{1643FD0B-82E5-68C9-3D41-66B4FA8BA876}"/>
              </a:ext>
            </a:extLst>
          </p:cNvPr>
          <p:cNvSpPr/>
          <p:nvPr/>
        </p:nvSpPr>
        <p:spPr>
          <a:xfrm>
            <a:off x="4754880" y="1463040"/>
            <a:ext cx="3749040" cy="2286000"/>
          </a:xfrm>
          <a:prstGeom prst="rect">
            <a:avLst/>
          </a:prstGeom>
          <a:solidFill>
            <a:srgbClr val="F5F7F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F07C3EC0-9FD6-A984-FE2A-5AEDA2B70AA0}"/>
              </a:ext>
            </a:extLst>
          </p:cNvPr>
          <p:cNvSpPr/>
          <p:nvPr/>
        </p:nvSpPr>
        <p:spPr>
          <a:xfrm>
            <a:off x="4754880" y="1463040"/>
            <a:ext cx="3749040" cy="54864"/>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9CE69D8F-B0AB-372F-A84F-C7326CC86D86}"/>
              </a:ext>
            </a:extLst>
          </p:cNvPr>
          <p:cNvSpPr/>
          <p:nvPr/>
        </p:nvSpPr>
        <p:spPr>
          <a:xfrm>
            <a:off x="5029200" y="164592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High Temperature (0.7 – 1.5)</a:t>
            </a:r>
          </a:p>
        </p:txBody>
      </p:sp>
      <p:sp>
        <p:nvSpPr>
          <p:cNvPr id="13" name="Text 11">
            <a:extLst>
              <a:ext uri="{FF2B5EF4-FFF2-40B4-BE49-F238E27FC236}">
                <a16:creationId xmlns:a16="http://schemas.microsoft.com/office/drawing/2014/main" id="{527079D8-B344-8219-FFB4-C433A23406E4}"/>
              </a:ext>
            </a:extLst>
          </p:cNvPr>
          <p:cNvSpPr/>
          <p:nvPr/>
        </p:nvSpPr>
        <p:spPr>
          <a:xfrm>
            <a:off x="4936600" y="2173728"/>
            <a:ext cx="3474720" cy="1463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Behavior: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Flattens the probability distribution, giving less-likely tokens a real chance. Output varies across runs.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Best for:</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Creative writing, brainstorming, dialogue,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exploration</a:t>
            </a:r>
            <a:r>
              <a:rPr kumimoji="0" lang="en-US" sz="16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 </a:t>
            </a:r>
            <a:r>
              <a:rPr kumimoji="0" lang="en-US" sz="16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generating diverse options.</a:t>
            </a:r>
          </a:p>
        </p:txBody>
      </p:sp>
      <p:sp>
        <p:nvSpPr>
          <p:cNvPr id="14" name="Shape 12">
            <a:extLst>
              <a:ext uri="{FF2B5EF4-FFF2-40B4-BE49-F238E27FC236}">
                <a16:creationId xmlns:a16="http://schemas.microsoft.com/office/drawing/2014/main" id="{615B5BCD-2510-FFFE-8267-5347B11A9DF3}"/>
              </a:ext>
            </a:extLst>
          </p:cNvPr>
          <p:cNvSpPr/>
          <p:nvPr/>
        </p:nvSpPr>
        <p:spPr>
          <a:xfrm>
            <a:off x="640080" y="4208555"/>
            <a:ext cx="7863840" cy="822960"/>
          </a:xfrm>
          <a:prstGeom prst="rect">
            <a:avLst/>
          </a:prstGeom>
          <a:solidFill>
            <a:srgbClr val="1A2744"/>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3">
            <a:extLst>
              <a:ext uri="{FF2B5EF4-FFF2-40B4-BE49-F238E27FC236}">
                <a16:creationId xmlns:a16="http://schemas.microsoft.com/office/drawing/2014/main" id="{B8ED0D2D-1729-3CC7-9A1B-7DAF254AF41E}"/>
              </a:ext>
            </a:extLst>
          </p:cNvPr>
          <p:cNvSpPr/>
          <p:nvPr/>
        </p:nvSpPr>
        <p:spPr>
          <a:xfrm>
            <a:off x="914400" y="4208555"/>
            <a:ext cx="7315200" cy="82296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Rule of thumb: start at 0.0 for precision tasks, 0.7 for creative tasks. Adjust from there.</a:t>
            </a:r>
          </a:p>
        </p:txBody>
      </p:sp>
    </p:spTree>
    <p:extLst>
      <p:ext uri="{BB962C8B-B14F-4D97-AF65-F5344CB8AC3E}">
        <p14:creationId xmlns:p14="http://schemas.microsoft.com/office/powerpoint/2010/main" val="3107260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DF4D5661-4B40-722B-C4ED-5BCA878FE66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D46F34-637E-B933-EFD4-90C5308D8C58}"/>
              </a:ext>
            </a:extLst>
          </p:cNvPr>
          <p:cNvSpPr/>
          <p:nvPr/>
        </p:nvSpPr>
        <p:spPr>
          <a:xfrm>
            <a:off x="640080" y="365760"/>
            <a:ext cx="777240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200" b="1" i="0" u="none" strike="noStrike" kern="1200" cap="none" spc="0" normalizeH="0" baseline="0" noProof="0" dirty="0">
                <a:ln>
                  <a:noFill/>
                </a:ln>
                <a:solidFill>
                  <a:srgbClr val="FFFFFF"/>
                </a:solidFill>
                <a:effectLst/>
                <a:uLnTx/>
                <a:uFillTx/>
                <a:latin typeface="Segoe UI Black" pitchFamily="34" charset="0"/>
                <a:ea typeface="Segoe UI Black" pitchFamily="34" charset="-122"/>
                <a:cs typeface="Segoe UI Black" pitchFamily="34" charset="-120"/>
              </a:rPr>
              <a:t>Temperature in Action</a:t>
            </a:r>
          </a:p>
        </p:txBody>
      </p:sp>
      <p:sp>
        <p:nvSpPr>
          <p:cNvPr id="3" name="Text 1">
            <a:extLst>
              <a:ext uri="{FF2B5EF4-FFF2-40B4-BE49-F238E27FC236}">
                <a16:creationId xmlns:a16="http://schemas.microsoft.com/office/drawing/2014/main" id="{56D6E677-0C71-7ECB-3C07-6C2DD2C3D323}"/>
              </a:ext>
            </a:extLst>
          </p:cNvPr>
          <p:cNvSpPr/>
          <p:nvPr/>
        </p:nvSpPr>
        <p:spPr>
          <a:xfrm>
            <a:off x="640080" y="1188720"/>
            <a:ext cx="77724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Bg1"/>
          <p:cNvSpPr/>
          <p:nvPr/>
        </p:nvSpPr>
        <p:spPr>
          <a:xfrm>
            <a:off x="320040" y="1143000"/>
            <a:ext cx="2743200" cy="3200400"/>
          </a:xfrm>
          <a:prstGeom prst="roundRect">
            <a:avLst>
              <a:gd name="adj" fmla="val 3000"/>
            </a:avLst>
          </a:prstGeom>
          <a:solidFill>
            <a:srgbClr val="0D1117"/>
          </a:solidFill>
          <a:ln w="12700">
            <a:solidFill>
              <a:srgbClr val="2D333B"/>
            </a:solidFill>
          </a:ln>
        </p:spPr>
        <p:txBody>
          <a:bodyPr/>
          <a:lstStyle/>
          <a:p>
            <a:endParaRPr lang="en-US"/>
          </a:p>
        </p:txBody>
      </p:sp>
      <p:sp>
        <p:nvSpPr>
          <p:cNvPr id="21" name="Code1"/>
          <p:cNvSpPr/>
          <p:nvPr/>
        </p:nvSpPr>
        <p:spPr>
          <a:xfrm>
            <a:off x="411480" y="1234440"/>
            <a:ext cx="2560320" cy="3017520"/>
          </a:xfrm>
          <a:prstGeom prst="rect">
            <a:avLst/>
          </a:prstGeom>
          <a:noFill/>
          <a:ln>
            <a:noFill/>
          </a:ln>
        </p:spPr>
        <p:txBody>
          <a:bodyPr wrap="square" lIns="45720" tIns="45720" rIns="45720" bIns="45720" rtlCol="0" anchor="t"/>
          <a:lstStyle/>
          <a:p>
            <a:pPr algn="l">
              <a:lnSpc>
                <a:spcPts val="1500"/>
              </a:lnSpc>
              <a:buNone/>
            </a:pPr>
            <a:r>
              <a:rPr lang="en-US" sz="1000" b="1" dirty="0">
                <a:solidFill>
                  <a:srgbClr val="00BFA6"/>
                </a:solidFill>
                <a:latin typeface="Segoe UI"/>
                <a:cs typeface="Segoe UI"/>
              </a:rPr>
              <a:t>temperature = 0.0</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B8C4D6"/>
                </a:solidFill>
                <a:latin typeface="Segoe UI"/>
                <a:cs typeface="Segoe UI"/>
              </a:rPr>
              <a:t>PROMPT</a:t>
            </a:r>
          </a:p>
          <a:p>
            <a:pPr algn="l">
              <a:lnSpc>
                <a:spcPts val="1500"/>
              </a:lnSpc>
              <a:buNone/>
            </a:pPr>
            <a:r>
              <a:rPr lang="en-US" sz="900" dirty="0">
                <a:solidFill>
                  <a:srgbClr val="A5D6FF"/>
                </a:solidFill>
                <a:latin typeface="Consolas"/>
                <a:cs typeface="Consolas"/>
              </a:rPr>
              <a:t>"Write a one-sentence</a:t>
            </a:r>
          </a:p>
          <a:p>
            <a:pPr algn="l">
              <a:lnSpc>
                <a:spcPts val="1500"/>
              </a:lnSpc>
              <a:buNone/>
            </a:pPr>
            <a:r>
              <a:rPr lang="en-US" sz="900" dirty="0">
                <a:solidFill>
                  <a:srgbClr val="A5D6FF"/>
                </a:solidFill>
                <a:latin typeface="Consolas"/>
                <a:cs typeface="Consolas"/>
              </a:rPr>
              <a:t>description of the ocean."</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1</a:t>
            </a:r>
          </a:p>
          <a:p>
            <a:pPr algn="l">
              <a:lnSpc>
                <a:spcPts val="1500"/>
              </a:lnSpc>
              <a:buNone/>
            </a:pPr>
            <a:r>
              <a:rPr lang="en-US" sz="900" i="1" dirty="0">
                <a:solidFill>
                  <a:srgbClr val="B8C4D6"/>
                </a:solidFill>
                <a:latin typeface="Consolas"/>
                <a:cs typeface="Consolas"/>
              </a:rPr>
              <a:t>The ocean is a vast body of</a:t>
            </a:r>
          </a:p>
          <a:p>
            <a:pPr algn="l">
              <a:lnSpc>
                <a:spcPts val="1500"/>
              </a:lnSpc>
              <a:buNone/>
            </a:pPr>
            <a:r>
              <a:rPr lang="en-US" sz="900" i="1" dirty="0">
                <a:solidFill>
                  <a:srgbClr val="B8C4D6"/>
                </a:solidFill>
                <a:latin typeface="Consolas"/>
                <a:cs typeface="Consolas"/>
              </a:rPr>
              <a:t>saltwater that covers over 70%</a:t>
            </a:r>
          </a:p>
          <a:p>
            <a:pPr algn="l">
              <a:lnSpc>
                <a:spcPts val="1500"/>
              </a:lnSpc>
              <a:buNone/>
            </a:pPr>
            <a:r>
              <a:rPr lang="en-US" sz="900" i="1" dirty="0">
                <a:solidFill>
                  <a:srgbClr val="B8C4D6"/>
                </a:solidFill>
                <a:latin typeface="Consolas"/>
                <a:cs typeface="Consolas"/>
              </a:rPr>
              <a:t>of the Earth’s surface.</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2</a:t>
            </a:r>
          </a:p>
          <a:p>
            <a:pPr algn="l">
              <a:lnSpc>
                <a:spcPts val="1500"/>
              </a:lnSpc>
              <a:buNone/>
            </a:pPr>
            <a:r>
              <a:rPr lang="en-US" sz="900" i="1" dirty="0">
                <a:solidFill>
                  <a:srgbClr val="B8C4D6"/>
                </a:solidFill>
                <a:latin typeface="Consolas"/>
                <a:cs typeface="Consolas"/>
              </a:rPr>
              <a:t>The ocean is a vast body of</a:t>
            </a:r>
          </a:p>
          <a:p>
            <a:pPr algn="l">
              <a:lnSpc>
                <a:spcPts val="1500"/>
              </a:lnSpc>
              <a:buNone/>
            </a:pPr>
            <a:r>
              <a:rPr lang="en-US" sz="900" i="1" dirty="0">
                <a:solidFill>
                  <a:srgbClr val="B8C4D6"/>
                </a:solidFill>
                <a:latin typeface="Consolas"/>
                <a:cs typeface="Consolas"/>
              </a:rPr>
              <a:t>saltwater that covers over 70%</a:t>
            </a:r>
          </a:p>
          <a:p>
            <a:pPr algn="l">
              <a:lnSpc>
                <a:spcPts val="1500"/>
              </a:lnSpc>
              <a:buNone/>
            </a:pPr>
            <a:r>
              <a:rPr lang="en-US" sz="900" i="1" dirty="0">
                <a:solidFill>
                  <a:srgbClr val="B8C4D6"/>
                </a:solidFill>
                <a:latin typeface="Consolas"/>
                <a:cs typeface="Consolas"/>
              </a:rPr>
              <a:t>of the Earth’s surface.</a:t>
            </a:r>
          </a:p>
          <a:p>
            <a:pPr algn="l">
              <a:lnSpc>
                <a:spcPts val="1500"/>
              </a:lnSpc>
              <a:buNone/>
            </a:pPr>
            <a:endParaRPr lang="en-US" sz="900" dirty="0">
              <a:solidFill>
                <a:srgbClr val="C9D1D9"/>
              </a:solidFill>
              <a:latin typeface="Consolas"/>
            </a:endParaRPr>
          </a:p>
          <a:p>
            <a:pPr algn="ctr">
              <a:lnSpc>
                <a:spcPts val="1500"/>
              </a:lnSpc>
              <a:buNone/>
            </a:pPr>
            <a:r>
              <a:rPr lang="en-US" sz="900" b="1" dirty="0">
                <a:solidFill>
                  <a:srgbClr val="00BFA6"/>
                </a:solidFill>
                <a:latin typeface="Segoe UI"/>
                <a:cs typeface="Segoe UI"/>
              </a:rPr>
              <a:t>Identical outputs</a:t>
            </a:r>
          </a:p>
        </p:txBody>
      </p:sp>
      <p:sp>
        <p:nvSpPr>
          <p:cNvPr id="30" name="Bg2"/>
          <p:cNvSpPr/>
          <p:nvPr/>
        </p:nvSpPr>
        <p:spPr>
          <a:xfrm>
            <a:off x="3200400" y="1143000"/>
            <a:ext cx="2743200" cy="3200400"/>
          </a:xfrm>
          <a:prstGeom prst="roundRect">
            <a:avLst>
              <a:gd name="adj" fmla="val 3000"/>
            </a:avLst>
          </a:prstGeom>
          <a:solidFill>
            <a:srgbClr val="0D1117"/>
          </a:solidFill>
          <a:ln w="12700">
            <a:solidFill>
              <a:srgbClr val="2D333B"/>
            </a:solidFill>
          </a:ln>
        </p:spPr>
        <p:txBody>
          <a:bodyPr/>
          <a:lstStyle/>
          <a:p>
            <a:endParaRPr lang="en-US"/>
          </a:p>
        </p:txBody>
      </p:sp>
      <p:sp>
        <p:nvSpPr>
          <p:cNvPr id="31" name="Code2"/>
          <p:cNvSpPr/>
          <p:nvPr/>
        </p:nvSpPr>
        <p:spPr>
          <a:xfrm>
            <a:off x="3291840" y="1234440"/>
            <a:ext cx="2560320" cy="3017520"/>
          </a:xfrm>
          <a:prstGeom prst="rect">
            <a:avLst/>
          </a:prstGeom>
          <a:noFill/>
          <a:ln>
            <a:noFill/>
          </a:ln>
        </p:spPr>
        <p:txBody>
          <a:bodyPr wrap="square" lIns="45720" tIns="45720" rIns="45720" bIns="45720" rtlCol="0" anchor="t"/>
          <a:lstStyle/>
          <a:p>
            <a:pPr algn="l">
              <a:lnSpc>
                <a:spcPts val="1500"/>
              </a:lnSpc>
              <a:buNone/>
            </a:pPr>
            <a:r>
              <a:rPr lang="en-US" sz="1000" b="1" dirty="0">
                <a:solidFill>
                  <a:srgbClr val="00BFA6"/>
                </a:solidFill>
                <a:latin typeface="Segoe UI"/>
                <a:cs typeface="Segoe UI"/>
              </a:rPr>
              <a:t>temperature = 0.7</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B8C4D6"/>
                </a:solidFill>
                <a:latin typeface="Segoe UI"/>
                <a:cs typeface="Segoe UI"/>
              </a:rPr>
              <a:t>SAME PROMPT</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1</a:t>
            </a:r>
          </a:p>
          <a:p>
            <a:pPr algn="l">
              <a:lnSpc>
                <a:spcPts val="1500"/>
              </a:lnSpc>
              <a:buNone/>
            </a:pPr>
            <a:r>
              <a:rPr lang="en-US" sz="900" i="1" dirty="0">
                <a:solidFill>
                  <a:srgbClr val="B8C4D6"/>
                </a:solidFill>
                <a:latin typeface="Consolas"/>
                <a:cs typeface="Consolas"/>
              </a:rPr>
              <a:t>The ocean is an immense,</a:t>
            </a:r>
          </a:p>
          <a:p>
            <a:pPr algn="l">
              <a:lnSpc>
                <a:spcPts val="1500"/>
              </a:lnSpc>
              <a:buNone/>
            </a:pPr>
            <a:r>
              <a:rPr lang="en-US" sz="900" i="1" dirty="0">
                <a:solidFill>
                  <a:srgbClr val="B8C4D6"/>
                </a:solidFill>
                <a:latin typeface="Consolas"/>
                <a:cs typeface="Consolas"/>
              </a:rPr>
              <a:t>ever-shifting expanse of</a:t>
            </a:r>
          </a:p>
          <a:p>
            <a:pPr algn="l">
              <a:lnSpc>
                <a:spcPts val="1500"/>
              </a:lnSpc>
              <a:buNone/>
            </a:pPr>
            <a:r>
              <a:rPr lang="en-US" sz="900" i="1" dirty="0">
                <a:solidFill>
                  <a:srgbClr val="B8C4D6"/>
                </a:solidFill>
                <a:latin typeface="Consolas"/>
                <a:cs typeface="Consolas"/>
              </a:rPr>
              <a:t>saltwater teeming with life.</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2</a:t>
            </a:r>
          </a:p>
          <a:p>
            <a:pPr algn="l">
              <a:lnSpc>
                <a:spcPts val="1500"/>
              </a:lnSpc>
              <a:buNone/>
            </a:pPr>
            <a:r>
              <a:rPr lang="en-US" sz="900" i="1" dirty="0">
                <a:solidFill>
                  <a:srgbClr val="B8C4D6"/>
                </a:solidFill>
                <a:latin typeface="Consolas"/>
                <a:cs typeface="Consolas"/>
              </a:rPr>
              <a:t>A vast, interconnected body</a:t>
            </a:r>
          </a:p>
          <a:p>
            <a:pPr algn="l">
              <a:lnSpc>
                <a:spcPts val="1500"/>
              </a:lnSpc>
              <a:buNone/>
            </a:pPr>
            <a:r>
              <a:rPr lang="en-US" sz="900" i="1" dirty="0">
                <a:solidFill>
                  <a:srgbClr val="B8C4D6"/>
                </a:solidFill>
                <a:latin typeface="Consolas"/>
                <a:cs typeface="Consolas"/>
              </a:rPr>
              <a:t>of water shaping climate and</a:t>
            </a:r>
          </a:p>
          <a:p>
            <a:pPr algn="l">
              <a:lnSpc>
                <a:spcPts val="1500"/>
              </a:lnSpc>
              <a:buNone/>
            </a:pPr>
            <a:r>
              <a:rPr lang="en-US" sz="900" i="1" dirty="0">
                <a:solidFill>
                  <a:srgbClr val="B8C4D6"/>
                </a:solidFill>
                <a:latin typeface="Consolas"/>
                <a:cs typeface="Consolas"/>
              </a:rPr>
              <a:t>harboring diverse ecosystems.</a:t>
            </a:r>
          </a:p>
          <a:p>
            <a:pPr algn="l">
              <a:lnSpc>
                <a:spcPts val="1500"/>
              </a:lnSpc>
              <a:buNone/>
            </a:pPr>
            <a:endParaRPr lang="en-US" sz="900" dirty="0">
              <a:solidFill>
                <a:srgbClr val="C9D1D9"/>
              </a:solidFill>
              <a:latin typeface="Consolas"/>
            </a:endParaRPr>
          </a:p>
          <a:p>
            <a:pPr algn="ctr">
              <a:lnSpc>
                <a:spcPts val="1500"/>
              </a:lnSpc>
              <a:buNone/>
            </a:pPr>
            <a:r>
              <a:rPr lang="en-US" sz="900" b="1" dirty="0">
                <a:solidFill>
                  <a:srgbClr val="00BFA6"/>
                </a:solidFill>
                <a:latin typeface="Segoe UI"/>
                <a:cs typeface="Segoe UI"/>
              </a:rPr>
              <a:t>Similar but varied</a:t>
            </a:r>
          </a:p>
        </p:txBody>
      </p:sp>
      <p:sp>
        <p:nvSpPr>
          <p:cNvPr id="40" name="Bg3"/>
          <p:cNvSpPr/>
          <p:nvPr/>
        </p:nvSpPr>
        <p:spPr>
          <a:xfrm>
            <a:off x="6080760" y="1143000"/>
            <a:ext cx="2743200" cy="3200400"/>
          </a:xfrm>
          <a:prstGeom prst="roundRect">
            <a:avLst>
              <a:gd name="adj" fmla="val 3000"/>
            </a:avLst>
          </a:prstGeom>
          <a:solidFill>
            <a:srgbClr val="0D1117"/>
          </a:solidFill>
          <a:ln w="12700">
            <a:solidFill>
              <a:srgbClr val="2D333B"/>
            </a:solidFill>
          </a:ln>
        </p:spPr>
        <p:txBody>
          <a:bodyPr/>
          <a:lstStyle/>
          <a:p>
            <a:endParaRPr lang="en-US"/>
          </a:p>
        </p:txBody>
      </p:sp>
      <p:sp>
        <p:nvSpPr>
          <p:cNvPr id="41" name="Code3"/>
          <p:cNvSpPr/>
          <p:nvPr/>
        </p:nvSpPr>
        <p:spPr>
          <a:xfrm>
            <a:off x="6172200" y="1234440"/>
            <a:ext cx="2560320" cy="3017520"/>
          </a:xfrm>
          <a:prstGeom prst="rect">
            <a:avLst/>
          </a:prstGeom>
          <a:noFill/>
          <a:ln>
            <a:noFill/>
          </a:ln>
        </p:spPr>
        <p:txBody>
          <a:bodyPr wrap="square" lIns="45720" tIns="45720" rIns="45720" bIns="45720" rtlCol="0" anchor="t"/>
          <a:lstStyle/>
          <a:p>
            <a:pPr algn="l">
              <a:lnSpc>
                <a:spcPts val="1500"/>
              </a:lnSpc>
              <a:buNone/>
            </a:pPr>
            <a:r>
              <a:rPr lang="en-US" sz="1000" b="1" dirty="0">
                <a:solidFill>
                  <a:srgbClr val="00BFA6"/>
                </a:solidFill>
                <a:latin typeface="Segoe UI"/>
                <a:cs typeface="Segoe UI"/>
              </a:rPr>
              <a:t>temperature = 1.5</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B8C4D6"/>
                </a:solidFill>
                <a:latin typeface="Segoe UI"/>
                <a:cs typeface="Segoe UI"/>
              </a:rPr>
              <a:t>SAME PROMPT</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1</a:t>
            </a:r>
          </a:p>
          <a:p>
            <a:pPr algn="l">
              <a:lnSpc>
                <a:spcPts val="1500"/>
              </a:lnSpc>
              <a:buNone/>
            </a:pPr>
            <a:r>
              <a:rPr lang="en-US" sz="900" i="1" dirty="0">
                <a:solidFill>
                  <a:srgbClr val="B8C4D6"/>
                </a:solidFill>
                <a:latin typeface="Consolas"/>
                <a:cs typeface="Consolas"/>
              </a:rPr>
              <a:t>Beneath turquoise veils the</a:t>
            </a:r>
          </a:p>
          <a:p>
            <a:pPr algn="l">
              <a:lnSpc>
                <a:spcPts val="1500"/>
              </a:lnSpc>
              <a:buNone/>
            </a:pPr>
            <a:r>
              <a:rPr lang="en-US" sz="900" i="1" dirty="0">
                <a:solidFill>
                  <a:srgbClr val="B8C4D6"/>
                </a:solidFill>
                <a:latin typeface="Consolas"/>
                <a:cs typeface="Consolas"/>
              </a:rPr>
              <a:t>ocean hums ancient lullabies</a:t>
            </a:r>
          </a:p>
          <a:p>
            <a:pPr algn="l">
              <a:lnSpc>
                <a:spcPts val="1500"/>
              </a:lnSpc>
              <a:buNone/>
            </a:pPr>
            <a:r>
              <a:rPr lang="en-US" sz="900" i="1" dirty="0">
                <a:solidFill>
                  <a:srgbClr val="B8C4D6"/>
                </a:solidFill>
                <a:latin typeface="Consolas"/>
                <a:cs typeface="Consolas"/>
              </a:rPr>
              <a:t>to forgotten shores.</a:t>
            </a:r>
          </a:p>
          <a:p>
            <a:pPr algn="l">
              <a:lnSpc>
                <a:spcPts val="1500"/>
              </a:lnSpc>
              <a:buNone/>
            </a:pPr>
            <a:endParaRPr lang="en-US" sz="900" dirty="0">
              <a:solidFill>
                <a:srgbClr val="C9D1D9"/>
              </a:solidFill>
              <a:latin typeface="Consolas"/>
            </a:endParaRPr>
          </a:p>
          <a:p>
            <a:pPr algn="l">
              <a:lnSpc>
                <a:spcPts val="1500"/>
              </a:lnSpc>
              <a:buNone/>
            </a:pPr>
            <a:r>
              <a:rPr lang="en-US" sz="800" b="1" dirty="0">
                <a:solidFill>
                  <a:srgbClr val="FF7B72"/>
                </a:solidFill>
                <a:latin typeface="Segoe UI"/>
                <a:cs typeface="Segoe UI"/>
              </a:rPr>
              <a:t>RUN 2</a:t>
            </a:r>
          </a:p>
          <a:p>
            <a:pPr algn="l">
              <a:lnSpc>
                <a:spcPts val="1500"/>
              </a:lnSpc>
              <a:buNone/>
            </a:pPr>
            <a:r>
              <a:rPr lang="en-US" sz="900" i="1" dirty="0">
                <a:solidFill>
                  <a:srgbClr val="B8C4D6"/>
                </a:solidFill>
                <a:latin typeface="Consolas"/>
                <a:cs typeface="Consolas"/>
              </a:rPr>
              <a:t>Sapphire wilderness sprawling</a:t>
            </a:r>
          </a:p>
          <a:p>
            <a:pPr algn="l">
              <a:lnSpc>
                <a:spcPts val="1500"/>
              </a:lnSpc>
              <a:buNone/>
            </a:pPr>
            <a:r>
              <a:rPr lang="en-US" sz="900" i="1" dirty="0">
                <a:solidFill>
                  <a:srgbClr val="B8C4D6"/>
                </a:solidFill>
                <a:latin typeface="Consolas"/>
                <a:cs typeface="Consolas"/>
              </a:rPr>
              <a:t>beyond horizons, cradling</a:t>
            </a:r>
          </a:p>
          <a:p>
            <a:pPr algn="l">
              <a:lnSpc>
                <a:spcPts val="1500"/>
              </a:lnSpc>
              <a:buNone/>
            </a:pPr>
            <a:r>
              <a:rPr lang="en-US" sz="900" i="1" dirty="0">
                <a:solidFill>
                  <a:srgbClr val="B8C4D6"/>
                </a:solidFill>
                <a:latin typeface="Consolas"/>
                <a:cs typeface="Consolas"/>
              </a:rPr>
              <a:t>mysteries in salted breath.</a:t>
            </a:r>
          </a:p>
          <a:p>
            <a:pPr algn="l">
              <a:lnSpc>
                <a:spcPts val="1500"/>
              </a:lnSpc>
              <a:buNone/>
            </a:pPr>
            <a:endParaRPr lang="en-US" sz="900" dirty="0">
              <a:solidFill>
                <a:srgbClr val="C9D1D9"/>
              </a:solidFill>
              <a:latin typeface="Consolas"/>
            </a:endParaRPr>
          </a:p>
          <a:p>
            <a:pPr algn="ctr">
              <a:lnSpc>
                <a:spcPts val="1500"/>
              </a:lnSpc>
              <a:buNone/>
            </a:pPr>
            <a:r>
              <a:rPr lang="en-US" sz="900" b="1" dirty="0">
                <a:solidFill>
                  <a:srgbClr val="00BFA6"/>
                </a:solidFill>
                <a:latin typeface="Segoe UI"/>
                <a:cs typeface="Segoe UI"/>
              </a:rPr>
              <a:t>Wildly different</a:t>
            </a:r>
          </a:p>
        </p:txBody>
      </p:sp>
      <p:sp>
        <p:nvSpPr>
          <p:cNvPr id="50" name="Takeaway"/>
          <p:cNvSpPr/>
          <p:nvPr/>
        </p:nvSpPr>
        <p:spPr>
          <a:xfrm>
            <a:off x="320040" y="4389120"/>
            <a:ext cx="8503920" cy="640080"/>
          </a:xfrm>
          <a:prstGeom prst="roundRect">
            <a:avLst>
              <a:gd name="adj" fmla="val 5000"/>
            </a:avLst>
          </a:prstGeom>
          <a:solidFill>
            <a:srgbClr val="0D1117"/>
          </a:solidFill>
          <a:ln w="12700">
            <a:solidFill>
              <a:srgbClr val="2D333B"/>
            </a:solidFill>
          </a:ln>
        </p:spPr>
        <p:txBody>
          <a:bodyPr wrap="square" lIns="91440" tIns="45720" rIns="91440" bIns="45720" rtlCol="0" anchor="ctr"/>
          <a:lstStyle/>
          <a:p>
            <a:pPr algn="ctr">
              <a:buNone/>
            </a:pPr>
            <a:r>
              <a:rPr lang="en-US" sz="1200" b="1" dirty="0">
                <a:solidFill>
                  <a:srgbClr val="00BFA6"/>
                </a:solidFill>
                <a:latin typeface="Segoe UI"/>
                <a:cs typeface="Segoe UI"/>
              </a:rPr>
              <a:t>temp=0.0</a:t>
            </a:r>
            <a:r>
              <a:rPr lang="en-US" sz="1200" dirty="0">
                <a:solidFill>
                  <a:srgbClr val="B8C4D6"/>
                </a:solidFill>
                <a:latin typeface="Segoe UI"/>
                <a:cs typeface="Segoe UI"/>
              </a:rPr>
              <a:t> → deterministic, same every time   </a:t>
            </a:r>
            <a:r>
              <a:rPr lang="en-US" sz="1200" b="1" dirty="0">
                <a:solidFill>
                  <a:srgbClr val="00BFA6"/>
                </a:solidFill>
                <a:latin typeface="Segoe UI"/>
                <a:cs typeface="Segoe UI"/>
              </a:rPr>
              <a:t>temp=0.7</a:t>
            </a:r>
            <a:r>
              <a:rPr lang="en-US" sz="1200" dirty="0">
                <a:solidFill>
                  <a:srgbClr val="B8C4D6"/>
                </a:solidFill>
                <a:latin typeface="Segoe UI"/>
                <a:cs typeface="Segoe UI"/>
              </a:rPr>
              <a:t> → balanced variety   </a:t>
            </a:r>
            <a:r>
              <a:rPr lang="en-US" sz="1200" b="1" dirty="0">
                <a:solidFill>
                  <a:srgbClr val="00BFA6"/>
                </a:solidFill>
                <a:latin typeface="Segoe UI"/>
                <a:cs typeface="Segoe UI"/>
              </a:rPr>
              <a:t>temp=1.5</a:t>
            </a:r>
            <a:r>
              <a:rPr lang="en-US" sz="1200" dirty="0">
                <a:solidFill>
                  <a:srgbClr val="B8C4D6"/>
                </a:solidFill>
                <a:latin typeface="Segoe UI"/>
                <a:cs typeface="Segoe UI"/>
              </a:rPr>
              <a:t> → creative chaos</a:t>
            </a:r>
          </a:p>
        </p:txBody>
      </p:sp>
    </p:spTree>
    <p:extLst>
      <p:ext uri="{BB962C8B-B14F-4D97-AF65-F5344CB8AC3E}">
        <p14:creationId xmlns:p14="http://schemas.microsoft.com/office/powerpoint/2010/main" val="18080681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3A805BB-893F-CC83-EC5E-E30C518C380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9190ADF3-A665-16D8-B9FA-8B107DD8D57F}"/>
              </a:ext>
            </a:extLst>
          </p:cNvPr>
          <p:cNvSpPr/>
          <p:nvPr/>
        </p:nvSpPr>
        <p:spPr>
          <a:xfrm>
            <a:off x="640080" y="320040"/>
            <a:ext cx="457200" cy="4114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64F0846B-9386-12C9-01CC-93D4BB05E653}"/>
              </a:ext>
            </a:extLst>
          </p:cNvPr>
          <p:cNvSpPr/>
          <p:nvPr/>
        </p:nvSpPr>
        <p:spPr>
          <a:xfrm>
            <a:off x="640080" y="320040"/>
            <a:ext cx="45720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Segoe UI" pitchFamily="34" charset="0"/>
                <a:ea typeface="Segoe UI" pitchFamily="34" charset="-122"/>
                <a:cs typeface="Segoe UI" pitchFamily="34" charset="-120"/>
              </a:rPr>
              <a:t>3</a:t>
            </a:r>
          </a:p>
        </p:txBody>
      </p:sp>
      <p:sp>
        <p:nvSpPr>
          <p:cNvPr id="4" name="Text 2">
            <a:extLst>
              <a:ext uri="{FF2B5EF4-FFF2-40B4-BE49-F238E27FC236}">
                <a16:creationId xmlns:a16="http://schemas.microsoft.com/office/drawing/2014/main" id="{19CA1CEB-4923-3161-F35B-FE67DC189E8D}"/>
              </a:ext>
            </a:extLst>
          </p:cNvPr>
          <p:cNvSpPr/>
          <p:nvPr/>
        </p:nvSpPr>
        <p:spPr>
          <a:xfrm>
            <a:off x="1280160" y="274320"/>
            <a:ext cx="64008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1A2744"/>
                </a:solidFill>
                <a:effectLst/>
                <a:uLnTx/>
                <a:uFillTx/>
                <a:latin typeface="Segoe UI Black" pitchFamily="34" charset="0"/>
                <a:ea typeface="Segoe UI Black" pitchFamily="34" charset="-122"/>
                <a:cs typeface="Segoe UI Black" pitchFamily="34" charset="-120"/>
              </a:rPr>
              <a:t>Some useful (?) API Parameters</a:t>
            </a:r>
          </a:p>
        </p:txBody>
      </p:sp>
      <p:sp>
        <p:nvSpPr>
          <p:cNvPr id="5" name="Text 3">
            <a:extLst>
              <a:ext uri="{FF2B5EF4-FFF2-40B4-BE49-F238E27FC236}">
                <a16:creationId xmlns:a16="http://schemas.microsoft.com/office/drawing/2014/main" id="{4D18BC44-53E3-CD96-9D40-5FD0A7D00CB8}"/>
              </a:ext>
            </a:extLst>
          </p:cNvPr>
          <p:cNvSpPr/>
          <p:nvPr/>
        </p:nvSpPr>
        <p:spPr>
          <a:xfrm>
            <a:off x="640080" y="914400"/>
            <a:ext cx="7772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Six knobs that control how the model generates its response.</a:t>
            </a:r>
          </a:p>
        </p:txBody>
      </p:sp>
      <p:sp>
        <p:nvSpPr>
          <p:cNvPr id="6" name="Shape 4">
            <a:extLst>
              <a:ext uri="{FF2B5EF4-FFF2-40B4-BE49-F238E27FC236}">
                <a16:creationId xmlns:a16="http://schemas.microsoft.com/office/drawing/2014/main" id="{73DCB13D-A0BF-8337-E273-78399927C63B}"/>
              </a:ext>
            </a:extLst>
          </p:cNvPr>
          <p:cNvSpPr/>
          <p:nvPr/>
        </p:nvSpPr>
        <p:spPr>
          <a:xfrm>
            <a:off x="64008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5">
            <a:extLst>
              <a:ext uri="{FF2B5EF4-FFF2-40B4-BE49-F238E27FC236}">
                <a16:creationId xmlns:a16="http://schemas.microsoft.com/office/drawing/2014/main" id="{66963B0D-B8A6-4353-C0C8-A54062589ED3}"/>
              </a:ext>
            </a:extLst>
          </p:cNvPr>
          <p:cNvSpPr/>
          <p:nvPr/>
        </p:nvSpPr>
        <p:spPr>
          <a:xfrm>
            <a:off x="640080" y="14630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6">
            <a:extLst>
              <a:ext uri="{FF2B5EF4-FFF2-40B4-BE49-F238E27FC236}">
                <a16:creationId xmlns:a16="http://schemas.microsoft.com/office/drawing/2014/main" id="{796B6622-FEAF-2976-7084-5E02412A5DCB}"/>
              </a:ext>
            </a:extLst>
          </p:cNvPr>
          <p:cNvSpPr/>
          <p:nvPr/>
        </p:nvSpPr>
        <p:spPr>
          <a:xfrm>
            <a:off x="822960" y="160020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top_p (Nucleus)</a:t>
            </a:r>
          </a:p>
        </p:txBody>
      </p:sp>
      <p:sp>
        <p:nvSpPr>
          <p:cNvPr id="10" name="Shape 8">
            <a:extLst>
              <a:ext uri="{FF2B5EF4-FFF2-40B4-BE49-F238E27FC236}">
                <a16:creationId xmlns:a16="http://schemas.microsoft.com/office/drawing/2014/main" id="{0BACBF5A-7F05-21E7-B84B-AD6FE2B94290}"/>
              </a:ext>
            </a:extLst>
          </p:cNvPr>
          <p:cNvSpPr/>
          <p:nvPr/>
        </p:nvSpPr>
        <p:spPr>
          <a:xfrm>
            <a:off x="342900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Shape 9">
            <a:extLst>
              <a:ext uri="{FF2B5EF4-FFF2-40B4-BE49-F238E27FC236}">
                <a16:creationId xmlns:a16="http://schemas.microsoft.com/office/drawing/2014/main" id="{3C71C022-C06E-3A9E-67AE-D2117A2C827D}"/>
              </a:ext>
            </a:extLst>
          </p:cNvPr>
          <p:cNvSpPr/>
          <p:nvPr/>
        </p:nvSpPr>
        <p:spPr>
          <a:xfrm>
            <a:off x="3429000" y="14630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10">
            <a:extLst>
              <a:ext uri="{FF2B5EF4-FFF2-40B4-BE49-F238E27FC236}">
                <a16:creationId xmlns:a16="http://schemas.microsoft.com/office/drawing/2014/main" id="{D7A1F333-796D-15D1-957D-41C38643B5B4}"/>
              </a:ext>
            </a:extLst>
          </p:cNvPr>
          <p:cNvSpPr/>
          <p:nvPr/>
        </p:nvSpPr>
        <p:spPr>
          <a:xfrm>
            <a:off x="3611880" y="160020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max_tokens</a:t>
            </a:r>
          </a:p>
        </p:txBody>
      </p:sp>
      <p:sp>
        <p:nvSpPr>
          <p:cNvPr id="14" name="Shape 12">
            <a:extLst>
              <a:ext uri="{FF2B5EF4-FFF2-40B4-BE49-F238E27FC236}">
                <a16:creationId xmlns:a16="http://schemas.microsoft.com/office/drawing/2014/main" id="{A91FF2A6-BCF7-02DE-D1B4-AA3ECC518BD4}"/>
              </a:ext>
            </a:extLst>
          </p:cNvPr>
          <p:cNvSpPr/>
          <p:nvPr/>
        </p:nvSpPr>
        <p:spPr>
          <a:xfrm>
            <a:off x="621792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3">
            <a:extLst>
              <a:ext uri="{FF2B5EF4-FFF2-40B4-BE49-F238E27FC236}">
                <a16:creationId xmlns:a16="http://schemas.microsoft.com/office/drawing/2014/main" id="{63988658-F81A-D712-AF96-4E54EBF868C0}"/>
              </a:ext>
            </a:extLst>
          </p:cNvPr>
          <p:cNvSpPr/>
          <p:nvPr/>
        </p:nvSpPr>
        <p:spPr>
          <a:xfrm>
            <a:off x="6217920" y="14630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4">
            <a:extLst>
              <a:ext uri="{FF2B5EF4-FFF2-40B4-BE49-F238E27FC236}">
                <a16:creationId xmlns:a16="http://schemas.microsoft.com/office/drawing/2014/main" id="{0D02F6A6-8666-1E3B-31B4-C8FE92297D5D}"/>
              </a:ext>
            </a:extLst>
          </p:cNvPr>
          <p:cNvSpPr/>
          <p:nvPr/>
        </p:nvSpPr>
        <p:spPr>
          <a:xfrm>
            <a:off x="6400800" y="160020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stop sequences</a:t>
            </a:r>
          </a:p>
        </p:txBody>
      </p:sp>
      <p:sp>
        <p:nvSpPr>
          <p:cNvPr id="17" name="Text 15">
            <a:extLst>
              <a:ext uri="{FF2B5EF4-FFF2-40B4-BE49-F238E27FC236}">
                <a16:creationId xmlns:a16="http://schemas.microsoft.com/office/drawing/2014/main" id="{3FC64E8C-9AB8-E014-E887-9EC7CDC4D89E}"/>
              </a:ext>
            </a:extLst>
          </p:cNvPr>
          <p:cNvSpPr/>
          <p:nvPr/>
        </p:nvSpPr>
        <p:spPr>
          <a:xfrm>
            <a:off x="6400800" y="196596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18" name="Shape 16">
            <a:extLst>
              <a:ext uri="{FF2B5EF4-FFF2-40B4-BE49-F238E27FC236}">
                <a16:creationId xmlns:a16="http://schemas.microsoft.com/office/drawing/2014/main" id="{6C393E32-C6D2-0AD4-1F33-2AB5507CFFD0}"/>
              </a:ext>
            </a:extLst>
          </p:cNvPr>
          <p:cNvSpPr/>
          <p:nvPr/>
        </p:nvSpPr>
        <p:spPr>
          <a:xfrm>
            <a:off x="640080" y="2834640"/>
            <a:ext cx="3353186"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7">
            <a:extLst>
              <a:ext uri="{FF2B5EF4-FFF2-40B4-BE49-F238E27FC236}">
                <a16:creationId xmlns:a16="http://schemas.microsoft.com/office/drawing/2014/main" id="{4DD07AF6-FF2A-C980-90A5-22ED53FD7E83}"/>
              </a:ext>
            </a:extLst>
          </p:cNvPr>
          <p:cNvSpPr/>
          <p:nvPr/>
        </p:nvSpPr>
        <p:spPr>
          <a:xfrm>
            <a:off x="640080" y="28346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Text 18">
            <a:extLst>
              <a:ext uri="{FF2B5EF4-FFF2-40B4-BE49-F238E27FC236}">
                <a16:creationId xmlns:a16="http://schemas.microsoft.com/office/drawing/2014/main" id="{F0BDCE10-8720-22FC-F09F-568834EDDA0D}"/>
              </a:ext>
            </a:extLst>
          </p:cNvPr>
          <p:cNvSpPr/>
          <p:nvPr/>
        </p:nvSpPr>
        <p:spPr>
          <a:xfrm>
            <a:off x="822960" y="290235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frequency_penalty</a:t>
            </a:r>
          </a:p>
        </p:txBody>
      </p:sp>
      <p:sp>
        <p:nvSpPr>
          <p:cNvPr id="21" name="Text 19">
            <a:extLst>
              <a:ext uri="{FF2B5EF4-FFF2-40B4-BE49-F238E27FC236}">
                <a16:creationId xmlns:a16="http://schemas.microsoft.com/office/drawing/2014/main" id="{B8DBE495-D5D3-202F-BC77-A830A2DBDB49}"/>
              </a:ext>
            </a:extLst>
          </p:cNvPr>
          <p:cNvSpPr/>
          <p:nvPr/>
        </p:nvSpPr>
        <p:spPr>
          <a:xfrm>
            <a:off x="822960" y="3337560"/>
            <a:ext cx="30082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Penalizes tokens proportional to how often they've appeared. Reduces repetition in long-form text.</a:t>
            </a:r>
          </a:p>
        </p:txBody>
      </p:sp>
      <p:sp>
        <p:nvSpPr>
          <p:cNvPr id="22" name="Shape 20">
            <a:extLst>
              <a:ext uri="{FF2B5EF4-FFF2-40B4-BE49-F238E27FC236}">
                <a16:creationId xmlns:a16="http://schemas.microsoft.com/office/drawing/2014/main" id="{F84781F3-F756-6257-1217-D350480AA128}"/>
              </a:ext>
            </a:extLst>
          </p:cNvPr>
          <p:cNvSpPr/>
          <p:nvPr/>
        </p:nvSpPr>
        <p:spPr>
          <a:xfrm>
            <a:off x="4297101" y="2834640"/>
            <a:ext cx="3437796" cy="1097280"/>
          </a:xfrm>
          <a:prstGeom prst="rect">
            <a:avLst/>
          </a:prstGeom>
          <a:solidFill>
            <a:srgbClr val="F5F7FA"/>
          </a:solidFill>
          <a:ln/>
          <a:effectLst>
            <a:outerShdw blurRad="76200" dist="25400" dir="8100000" algn="bl" rotWithShape="0">
              <a:srgbClr val="000000">
                <a:alpha val="10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1">
            <a:extLst>
              <a:ext uri="{FF2B5EF4-FFF2-40B4-BE49-F238E27FC236}">
                <a16:creationId xmlns:a16="http://schemas.microsoft.com/office/drawing/2014/main" id="{9E058196-62F7-6418-FC62-51D5ADD5578B}"/>
              </a:ext>
            </a:extLst>
          </p:cNvPr>
          <p:cNvSpPr/>
          <p:nvPr/>
        </p:nvSpPr>
        <p:spPr>
          <a:xfrm>
            <a:off x="4297101" y="2834640"/>
            <a:ext cx="54864" cy="1097280"/>
          </a:xfrm>
          <a:prstGeom prst="rect">
            <a:avLst/>
          </a:prstGeom>
          <a:solidFill>
            <a:srgbClr val="00BF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 22">
            <a:extLst>
              <a:ext uri="{FF2B5EF4-FFF2-40B4-BE49-F238E27FC236}">
                <a16:creationId xmlns:a16="http://schemas.microsoft.com/office/drawing/2014/main" id="{45631F3A-A351-AAFA-344F-8486D90D1AD7}"/>
              </a:ext>
            </a:extLst>
          </p:cNvPr>
          <p:cNvSpPr/>
          <p:nvPr/>
        </p:nvSpPr>
        <p:spPr>
          <a:xfrm>
            <a:off x="4479981" y="2902350"/>
            <a:ext cx="21945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presence_penalty</a:t>
            </a:r>
          </a:p>
        </p:txBody>
      </p:sp>
      <p:sp>
        <p:nvSpPr>
          <p:cNvPr id="25" name="Text 23">
            <a:extLst>
              <a:ext uri="{FF2B5EF4-FFF2-40B4-BE49-F238E27FC236}">
                <a16:creationId xmlns:a16="http://schemas.microsoft.com/office/drawing/2014/main" id="{7B18314B-7C87-027E-0B2F-6F8B2AB9E5DC}"/>
              </a:ext>
            </a:extLst>
          </p:cNvPr>
          <p:cNvSpPr/>
          <p:nvPr/>
        </p:nvSpPr>
        <p:spPr>
          <a:xfrm>
            <a:off x="4479981" y="3337560"/>
            <a:ext cx="3146114"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rPr>
              <a:t>Flat penalty for any token that has appeared at all. Encourages the model to explore new topics.</a:t>
            </a:r>
          </a:p>
        </p:txBody>
      </p:sp>
      <p:sp>
        <p:nvSpPr>
          <p:cNvPr id="29" name="Text 27">
            <a:extLst>
              <a:ext uri="{FF2B5EF4-FFF2-40B4-BE49-F238E27FC236}">
                <a16:creationId xmlns:a16="http://schemas.microsoft.com/office/drawing/2014/main" id="{8AFD995D-1703-9632-3D53-D2888C87744C}"/>
              </a:ext>
            </a:extLst>
          </p:cNvPr>
          <p:cNvSpPr/>
          <p:nvPr/>
        </p:nvSpPr>
        <p:spPr>
          <a:xfrm>
            <a:off x="6400800" y="333756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
        <p:nvSpPr>
          <p:cNvPr id="30" name="Text 28">
            <a:extLst>
              <a:ext uri="{FF2B5EF4-FFF2-40B4-BE49-F238E27FC236}">
                <a16:creationId xmlns:a16="http://schemas.microsoft.com/office/drawing/2014/main" id="{736F7111-5F51-793D-2294-BEDA2B586689}"/>
              </a:ext>
            </a:extLst>
          </p:cNvPr>
          <p:cNvSpPr/>
          <p:nvPr/>
        </p:nvSpPr>
        <p:spPr>
          <a:xfrm>
            <a:off x="640080" y="4480560"/>
            <a:ext cx="7772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A2744"/>
                </a:solidFill>
                <a:effectLst/>
                <a:uLnTx/>
                <a:uFillTx/>
                <a:latin typeface="Segoe UI" pitchFamily="34" charset="0"/>
                <a:ea typeface="+mn-ea"/>
                <a:cs typeface="+mn-cs"/>
              </a:rPr>
              <a:t>Default values work for most cases. Tune one parameter at a time and measure the impact.</a:t>
            </a:r>
          </a:p>
        </p:txBody>
      </p:sp>
      <p:sp>
        <p:nvSpPr>
          <p:cNvPr id="32" name="Text 7">
            <a:extLst>
              <a:ext uri="{FF2B5EF4-FFF2-40B4-BE49-F238E27FC236}">
                <a16:creationId xmlns:a16="http://schemas.microsoft.com/office/drawing/2014/main" id="{5C246552-3E06-42DB-C64D-1C7643AF8313}"/>
              </a:ext>
            </a:extLst>
          </p:cNvPr>
          <p:cNvSpPr/>
          <p:nvPr/>
        </p:nvSpPr>
        <p:spPr>
          <a:xfrm>
            <a:off x="975360" y="2118360"/>
            <a:ext cx="21945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1A2744"/>
              </a:solidFill>
              <a:effectLst/>
              <a:uLnTx/>
              <a:uFillTx/>
              <a:latin typeface="Segoe UI" pitchFamily="34" charset="0"/>
              <a:ea typeface="Segoe UI" pitchFamily="34" charset="-122"/>
              <a:cs typeface="Segoe UI" pitchFamily="34" charset="-120"/>
            </a:endParaRPr>
          </a:p>
        </p:txBody>
      </p:sp>
    </p:spTree>
    <p:extLst>
      <p:ext uri="{BB962C8B-B14F-4D97-AF65-F5344CB8AC3E}">
        <p14:creationId xmlns:p14="http://schemas.microsoft.com/office/powerpoint/2010/main" val="2375265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FA6"/>
          </a:solidFill>
          <a:ln/>
        </p:spPr>
        <p:txBody>
          <a:bodyPr/>
          <a:lstStyle/>
          <a:p>
            <a:endParaRPr lang="en-US"/>
          </a:p>
        </p:txBody>
      </p:sp>
      <p:sp>
        <p:nvSpPr>
          <p:cNvPr id="3" name="Text 1"/>
          <p:cNvSpPr/>
          <p:nvPr/>
        </p:nvSpPr>
        <p:spPr>
          <a:xfrm>
            <a:off x="640080" y="731520"/>
            <a:ext cx="7772400" cy="2377440"/>
          </a:xfrm>
          <a:prstGeom prst="rect">
            <a:avLst/>
          </a:prstGeom>
          <a:noFill/>
          <a:ln/>
        </p:spPr>
        <p:txBody>
          <a:bodyPr wrap="square" lIns="0" tIns="0" rIns="0" bIns="0" rtlCol="0" anchor="ctr"/>
          <a:lstStyle/>
          <a:p>
            <a:pPr marL="0" indent="0">
              <a:lnSpc>
                <a:spcPct val="90000"/>
              </a:lnSpc>
              <a:buNone/>
            </a:pPr>
            <a:r>
              <a:rPr lang="en-US" sz="5400" b="1" dirty="0">
                <a:solidFill>
                  <a:srgbClr val="FFFFFF"/>
                </a:solidFill>
                <a:latin typeface="Segoe UI Black" pitchFamily="34" charset="0"/>
                <a:ea typeface="Segoe UI Black" pitchFamily="34" charset="-122"/>
                <a:cs typeface="Segoe UI Black" pitchFamily="34" charset="-120"/>
              </a:rPr>
              <a:t>Prompting</a:t>
            </a:r>
            <a:endParaRPr lang="en-US" sz="5400" dirty="0"/>
          </a:p>
          <a:p>
            <a:pPr marL="0" indent="0">
              <a:lnSpc>
                <a:spcPct val="90000"/>
              </a:lnSpc>
              <a:buNone/>
            </a:pPr>
            <a:r>
              <a:rPr lang="en-US" sz="5400" b="1" dirty="0">
                <a:solidFill>
                  <a:srgbClr val="FFFFFF"/>
                </a:solidFill>
                <a:latin typeface="Segoe UI Black" pitchFamily="34" charset="0"/>
                <a:ea typeface="Segoe UI Black" pitchFamily="34" charset="-122"/>
                <a:cs typeface="Segoe UI Black" pitchFamily="34" charset="-120"/>
              </a:rPr>
              <a:t>Cookbook</a:t>
            </a:r>
            <a:endParaRPr lang="en-US" sz="5400" dirty="0"/>
          </a:p>
        </p:txBody>
      </p:sp>
      <p:sp>
        <p:nvSpPr>
          <p:cNvPr id="4" name="Text 2"/>
          <p:cNvSpPr/>
          <p:nvPr/>
        </p:nvSpPr>
        <p:spPr>
          <a:xfrm>
            <a:off x="640080" y="3108960"/>
            <a:ext cx="7772400" cy="457200"/>
          </a:xfrm>
          <a:prstGeom prst="rect">
            <a:avLst/>
          </a:prstGeom>
          <a:noFill/>
          <a:ln/>
        </p:spPr>
        <p:txBody>
          <a:bodyPr wrap="square" lIns="0" tIns="0" rIns="0" bIns="0" rtlCol="0" anchor="ctr"/>
          <a:lstStyle/>
          <a:p>
            <a:pPr marL="0" indent="0">
              <a:buNone/>
            </a:pPr>
            <a:r>
              <a:rPr lang="en-US" sz="2000" b="1" i="1" dirty="0">
                <a:solidFill>
                  <a:srgbClr val="00BFA6"/>
                </a:solidFill>
                <a:latin typeface="Segoe UI" pitchFamily="34" charset="0"/>
                <a:ea typeface="Segoe UI" pitchFamily="34" charset="-122"/>
                <a:cs typeface="Segoe UI" pitchFamily="34" charset="-120"/>
              </a:rPr>
              <a:t>Reusable Patterns for Modern LLMs</a:t>
            </a:r>
            <a:endParaRPr lang="en-US" sz="2000" dirty="0"/>
          </a:p>
        </p:txBody>
      </p:sp>
      <p:sp>
        <p:nvSpPr>
          <p:cNvPr id="5" name="Text 3"/>
          <p:cNvSpPr/>
          <p:nvPr/>
        </p:nvSpPr>
        <p:spPr>
          <a:xfrm>
            <a:off x="640080" y="3840480"/>
            <a:ext cx="4572000" cy="320040"/>
          </a:xfrm>
          <a:prstGeom prst="rect">
            <a:avLst/>
          </a:prstGeom>
          <a:noFill/>
          <a:ln/>
        </p:spPr>
        <p:txBody>
          <a:bodyPr wrap="square" lIns="0" tIns="0" rIns="0" bIns="0" rtlCol="0" anchor="ctr"/>
          <a:lstStyle/>
          <a:p>
            <a:pPr marL="0" indent="0">
              <a:buNone/>
            </a:pPr>
            <a:r>
              <a:rPr lang="en-US" sz="1300" b="1" dirty="0">
                <a:solidFill>
                  <a:srgbClr val="00BFA6"/>
                </a:solidFill>
                <a:latin typeface="Segoe UI" pitchFamily="34" charset="0"/>
                <a:ea typeface="Segoe UI" pitchFamily="34" charset="-122"/>
                <a:cs typeface="Segoe UI" pitchFamily="34" charset="-120"/>
              </a:rPr>
              <a:t>reliableai.github.io</a:t>
            </a:r>
            <a:endParaRPr lang="en-US" sz="1300" dirty="0"/>
          </a:p>
        </p:txBody>
      </p:sp>
      <p:sp>
        <p:nvSpPr>
          <p:cNvPr id="6" name="Text 4"/>
          <p:cNvSpPr/>
          <p:nvPr/>
        </p:nvSpPr>
        <p:spPr>
          <a:xfrm>
            <a:off x="640080" y="4297680"/>
            <a:ext cx="4572000" cy="320040"/>
          </a:xfrm>
          <a:prstGeom prst="rect">
            <a:avLst/>
          </a:prstGeom>
          <a:noFill/>
          <a:ln/>
        </p:spPr>
        <p:txBody>
          <a:bodyPr wrap="square" lIns="0" tIns="0" rIns="0" bIns="0" rtlCol="0" anchor="ctr"/>
          <a:lstStyle/>
          <a:p>
            <a:pPr marL="0" indent="0">
              <a:buNone/>
            </a:pPr>
            <a:r>
              <a:rPr lang="en-US" sz="1300" dirty="0">
                <a:solidFill>
                  <a:srgbClr val="B8C4D6"/>
                </a:solidFill>
                <a:latin typeface="Segoe UI" pitchFamily="34" charset="0"/>
                <a:ea typeface="Segoe UI" pitchFamily="34" charset="-122"/>
                <a:cs typeface="Segoe UI" pitchFamily="34" charset="-120"/>
              </a:rPr>
              <a:t>Fabio Casati  ·  University of Trento</a:t>
            </a:r>
            <a:endParaRPr lang="en-US" sz="1300" dirty="0"/>
          </a:p>
        </p:txBody>
      </p:sp>
    </p:spTree>
    <p:extLst>
      <p:ext uri="{BB962C8B-B14F-4D97-AF65-F5344CB8AC3E}">
        <p14:creationId xmlns:p14="http://schemas.microsoft.com/office/powerpoint/2010/main" val="2891714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2">
    <p:bg>
      <p:bgPr>
        <a:solidFill>
          <a:srgbClr val="1A2035"/>
        </a:solidFill>
        <a:effectLst/>
      </p:bgPr>
    </p:bg>
    <p:spTree>
      <p:nvGrpSpPr>
        <p:cNvPr id="1" name=""/>
        <p:cNvGrpSpPr/>
        <p:nvPr/>
      </p:nvGrpSpPr>
      <p:grpSpPr>
        <a:xfrm>
          <a:off x="0" y="0"/>
          <a:ext cx="0" cy="0"/>
          <a:chOff x="0" y="0"/>
          <a:chExt cx="0" cy="0"/>
        </a:xfrm>
      </p:grpSpPr>
      <p:sp>
        <p:nvSpPr>
          <p:cNvPr id="2" name="Text 0"/>
          <p:cNvSpPr/>
          <p:nvPr/>
        </p:nvSpPr>
        <p:spPr>
          <a:xfrm>
            <a:off x="640080" y="365760"/>
            <a:ext cx="7772400" cy="822960"/>
          </a:xfrm>
          <a:prstGeom prst="rect">
            <a:avLst/>
          </a:prstGeom>
          <a:noFill/>
          <a:ln/>
        </p:spPr>
        <p:txBody>
          <a:bodyPr wrap="square" lIns="0" tIns="0" rIns="0" bIns="0" rtlCol="0" anchor="ctr"/>
          <a:lstStyle/>
          <a:p>
            <a:pPr marL="0" indent="0">
              <a:buNone/>
            </a:pPr>
            <a:r>
              <a:rPr lang="en-US" sz="4200" b="1" dirty="0">
                <a:solidFill>
                  <a:srgbClr val="FFFFFF"/>
                </a:solidFill>
                <a:latin typeface="Segoe UI Black" pitchFamily="34" charset="0"/>
                <a:ea typeface="Segoe UI Black" pitchFamily="34" charset="-122"/>
                <a:cs typeface="Segoe UI Black" pitchFamily="34" charset="-120"/>
              </a:rPr>
              <a:t>The Key Meta-Insight</a:t>
            </a:r>
            <a:endParaRPr lang="en-US" sz="4200" dirty="0"/>
          </a:p>
        </p:txBody>
      </p:sp>
      <p:sp>
        <p:nvSpPr>
          <p:cNvPr id="3" name="Text 1"/>
          <p:cNvSpPr/>
          <p:nvPr/>
        </p:nvSpPr>
        <p:spPr>
          <a:xfrm>
            <a:off x="640080" y="1188720"/>
            <a:ext cx="7772400" cy="640080"/>
          </a:xfrm>
          <a:prstGeom prst="rect">
            <a:avLst/>
          </a:prstGeom>
          <a:noFill/>
          <a:ln/>
        </p:spPr>
        <p:txBody>
          <a:bodyPr wrap="square" lIns="0" tIns="0" rIns="0" bIns="0" rtlCol="0" anchor="ctr"/>
          <a:lstStyle/>
          <a:p>
            <a:pPr marL="0" indent="0">
              <a:buNone/>
            </a:pPr>
            <a:endParaRPr lang="en-US" sz="2000" dirty="0"/>
          </a:p>
        </p:txBody>
      </p:sp>
      <p:sp>
        <p:nvSpPr>
          <p:cNvPr id="4" name="Shape 2"/>
          <p:cNvSpPr/>
          <p:nvPr/>
        </p:nvSpPr>
        <p:spPr>
          <a:xfrm>
            <a:off x="640080" y="1791761"/>
            <a:ext cx="594360" cy="502920"/>
          </a:xfrm>
          <a:prstGeom prst="rect">
            <a:avLst/>
          </a:prstGeom>
          <a:solidFill>
            <a:srgbClr val="00BFA6"/>
          </a:solidFill>
          <a:ln/>
        </p:spPr>
        <p:txBody>
          <a:bodyPr/>
          <a:lstStyle/>
          <a:p>
            <a:endParaRPr lang="en-US"/>
          </a:p>
        </p:txBody>
      </p:sp>
      <p:sp>
        <p:nvSpPr>
          <p:cNvPr id="5" name="Text 3"/>
          <p:cNvSpPr/>
          <p:nvPr/>
        </p:nvSpPr>
        <p:spPr>
          <a:xfrm>
            <a:off x="640080" y="179176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01</a:t>
            </a:r>
            <a:endParaRPr lang="en-US" sz="1600" dirty="0"/>
          </a:p>
        </p:txBody>
      </p:sp>
      <p:sp>
        <p:nvSpPr>
          <p:cNvPr id="6" name="Text 4"/>
          <p:cNvSpPr/>
          <p:nvPr/>
        </p:nvSpPr>
        <p:spPr>
          <a:xfrm>
            <a:off x="1417320" y="1746041"/>
            <a:ext cx="685800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Calibrate Specificity</a:t>
            </a:r>
            <a:endParaRPr lang="en-US" sz="2400" dirty="0"/>
          </a:p>
        </p:txBody>
      </p:sp>
      <p:sp>
        <p:nvSpPr>
          <p:cNvPr id="7" name="Text 5"/>
          <p:cNvSpPr/>
          <p:nvPr/>
        </p:nvSpPr>
        <p:spPr>
          <a:xfrm>
            <a:off x="1417320" y="2066081"/>
            <a:ext cx="7182670" cy="548640"/>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Find the Goldilocks zone between brittle over-specification and vague under-specification. Anthropic calls this "the right altitude."</a:t>
            </a:r>
            <a:endParaRPr lang="en-US" sz="1600" dirty="0"/>
          </a:p>
        </p:txBody>
      </p:sp>
      <p:sp>
        <p:nvSpPr>
          <p:cNvPr id="8" name="Shape 6"/>
          <p:cNvSpPr/>
          <p:nvPr/>
        </p:nvSpPr>
        <p:spPr>
          <a:xfrm>
            <a:off x="640080" y="2948071"/>
            <a:ext cx="594360" cy="502920"/>
          </a:xfrm>
          <a:prstGeom prst="rect">
            <a:avLst/>
          </a:prstGeom>
          <a:solidFill>
            <a:srgbClr val="00BFA6"/>
          </a:solidFill>
          <a:ln/>
        </p:spPr>
        <p:txBody>
          <a:bodyPr/>
          <a:lstStyle/>
          <a:p>
            <a:endParaRPr lang="en-US"/>
          </a:p>
        </p:txBody>
      </p:sp>
      <p:sp>
        <p:nvSpPr>
          <p:cNvPr id="9" name="Text 7"/>
          <p:cNvSpPr/>
          <p:nvPr/>
        </p:nvSpPr>
        <p:spPr>
          <a:xfrm>
            <a:off x="640080" y="294807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02</a:t>
            </a:r>
            <a:endParaRPr lang="en-US" sz="1600" dirty="0"/>
          </a:p>
        </p:txBody>
      </p:sp>
      <p:sp>
        <p:nvSpPr>
          <p:cNvPr id="10" name="Text 8"/>
          <p:cNvSpPr/>
          <p:nvPr/>
        </p:nvSpPr>
        <p:spPr>
          <a:xfrm>
            <a:off x="1417320" y="2902351"/>
            <a:ext cx="685800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Models Follow Literally</a:t>
            </a:r>
            <a:endParaRPr lang="en-US" sz="2400" dirty="0"/>
          </a:p>
        </p:txBody>
      </p:sp>
      <p:sp>
        <p:nvSpPr>
          <p:cNvPr id="11" name="Text 9"/>
          <p:cNvSpPr/>
          <p:nvPr/>
        </p:nvSpPr>
        <p:spPr>
          <a:xfrm>
            <a:off x="1417320" y="3222391"/>
            <a:ext cx="7182670" cy="548640"/>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Claude 4.x does exactly what you ask — no more, no less. If you want thoroughness, ask for it. If you want brevity, specify it.</a:t>
            </a:r>
            <a:endParaRPr lang="en-US" sz="1600" dirty="0"/>
          </a:p>
        </p:txBody>
      </p:sp>
      <p:sp>
        <p:nvSpPr>
          <p:cNvPr id="12" name="Shape 10"/>
          <p:cNvSpPr/>
          <p:nvPr/>
        </p:nvSpPr>
        <p:spPr>
          <a:xfrm>
            <a:off x="640080" y="4023360"/>
            <a:ext cx="594360" cy="502920"/>
          </a:xfrm>
          <a:prstGeom prst="rect">
            <a:avLst/>
          </a:prstGeom>
          <a:solidFill>
            <a:srgbClr val="00BFA6"/>
          </a:solidFill>
          <a:ln/>
        </p:spPr>
        <p:txBody>
          <a:bodyPr/>
          <a:lstStyle/>
          <a:p>
            <a:endParaRPr lang="en-US"/>
          </a:p>
        </p:txBody>
      </p:sp>
      <p:sp>
        <p:nvSpPr>
          <p:cNvPr id="13" name="Text 11"/>
          <p:cNvSpPr/>
          <p:nvPr/>
        </p:nvSpPr>
        <p:spPr>
          <a:xfrm>
            <a:off x="640080" y="4023360"/>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03</a:t>
            </a:r>
            <a:endParaRPr lang="en-US" sz="1600" dirty="0"/>
          </a:p>
        </p:txBody>
      </p:sp>
      <p:sp>
        <p:nvSpPr>
          <p:cNvPr id="14" name="Text 12"/>
          <p:cNvSpPr/>
          <p:nvPr/>
        </p:nvSpPr>
        <p:spPr>
          <a:xfrm>
            <a:off x="1417320" y="3977640"/>
            <a:ext cx="685800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Cut Redundancy, Not Structure</a:t>
            </a:r>
            <a:endParaRPr lang="en-US" sz="2400" dirty="0"/>
          </a:p>
        </p:txBody>
      </p:sp>
      <p:sp>
        <p:nvSpPr>
          <p:cNvPr id="15" name="Text 13"/>
          <p:cNvSpPr/>
          <p:nvPr/>
        </p:nvSpPr>
        <p:spPr>
          <a:xfrm>
            <a:off x="1417320" y="4297680"/>
            <a:ext cx="7182670" cy="548640"/>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Remove hedging and over-explanation. Keep output format, constraints, audience, and verification criteria.</a:t>
            </a:r>
            <a:endParaRPr lang="en-US" sz="1600" dirty="0"/>
          </a:p>
        </p:txBody>
      </p:sp>
    </p:spTree>
    <p:extLst>
      <p:ext uri="{BB962C8B-B14F-4D97-AF65-F5344CB8AC3E}">
        <p14:creationId xmlns:p14="http://schemas.microsoft.com/office/powerpoint/2010/main" val="915378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A2035"/>
        </a:solidFill>
        <a:effectLst/>
      </p:bgPr>
    </p:bg>
    <p:spTree>
      <p:nvGrpSpPr>
        <p:cNvPr id="1" name="">
          <a:extLst>
            <a:ext uri="{FF2B5EF4-FFF2-40B4-BE49-F238E27FC236}">
              <a16:creationId xmlns:a16="http://schemas.microsoft.com/office/drawing/2014/main" id="{AB75BFB0-E20A-3210-1BCD-6028F8AF64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266FF3D-E2AB-DC5F-3961-00705830CCF9}"/>
              </a:ext>
            </a:extLst>
          </p:cNvPr>
          <p:cNvSpPr/>
          <p:nvPr/>
        </p:nvSpPr>
        <p:spPr>
          <a:xfrm>
            <a:off x="640080" y="365760"/>
            <a:ext cx="8226128" cy="822960"/>
          </a:xfrm>
          <a:prstGeom prst="rect">
            <a:avLst/>
          </a:prstGeom>
          <a:noFill/>
          <a:ln/>
        </p:spPr>
        <p:txBody>
          <a:bodyPr wrap="square" lIns="0" tIns="0" rIns="0" bIns="0" rtlCol="0" anchor="ctr"/>
          <a:lstStyle/>
          <a:p>
            <a:pPr marL="0" indent="0">
              <a:buNone/>
            </a:pPr>
            <a:r>
              <a:rPr lang="en-US" sz="4200" b="1" dirty="0">
                <a:solidFill>
                  <a:srgbClr val="FFFFFF"/>
                </a:solidFill>
                <a:latin typeface="Segoe UI Black" pitchFamily="34" charset="0"/>
                <a:ea typeface="Segoe UI Black" pitchFamily="34" charset="-122"/>
                <a:cs typeface="Segoe UI Black" pitchFamily="34" charset="-120"/>
              </a:rPr>
              <a:t>And now, the Real Key Insights</a:t>
            </a:r>
            <a:endParaRPr lang="en-US" sz="4200" dirty="0"/>
          </a:p>
        </p:txBody>
      </p:sp>
      <p:sp>
        <p:nvSpPr>
          <p:cNvPr id="3" name="Text 1">
            <a:extLst>
              <a:ext uri="{FF2B5EF4-FFF2-40B4-BE49-F238E27FC236}">
                <a16:creationId xmlns:a16="http://schemas.microsoft.com/office/drawing/2014/main" id="{BBC6C4E0-00E8-D103-7E7B-6FCC46EFA4C6}"/>
              </a:ext>
            </a:extLst>
          </p:cNvPr>
          <p:cNvSpPr/>
          <p:nvPr/>
        </p:nvSpPr>
        <p:spPr>
          <a:xfrm>
            <a:off x="640080" y="1188720"/>
            <a:ext cx="7772400" cy="640080"/>
          </a:xfrm>
          <a:prstGeom prst="rect">
            <a:avLst/>
          </a:prstGeom>
          <a:noFill/>
          <a:ln/>
        </p:spPr>
        <p:txBody>
          <a:bodyPr wrap="square" lIns="0" tIns="0" rIns="0" bIns="0" rtlCol="0" anchor="ctr"/>
          <a:lstStyle/>
          <a:p>
            <a:pPr marL="0" indent="0">
              <a:buNone/>
            </a:pPr>
            <a:endParaRPr lang="en-US" sz="2000" dirty="0"/>
          </a:p>
        </p:txBody>
      </p:sp>
      <p:sp>
        <p:nvSpPr>
          <p:cNvPr id="4" name="Shape 2">
            <a:extLst>
              <a:ext uri="{FF2B5EF4-FFF2-40B4-BE49-F238E27FC236}">
                <a16:creationId xmlns:a16="http://schemas.microsoft.com/office/drawing/2014/main" id="{FAF88373-B15C-ED54-1A46-129BAEA80C25}"/>
              </a:ext>
            </a:extLst>
          </p:cNvPr>
          <p:cNvSpPr/>
          <p:nvPr/>
        </p:nvSpPr>
        <p:spPr>
          <a:xfrm>
            <a:off x="640080" y="1791761"/>
            <a:ext cx="594360" cy="502920"/>
          </a:xfrm>
          <a:prstGeom prst="rect">
            <a:avLst/>
          </a:prstGeom>
          <a:solidFill>
            <a:srgbClr val="00BFA6"/>
          </a:solidFill>
          <a:ln/>
        </p:spPr>
        <p:txBody>
          <a:bodyPr/>
          <a:lstStyle/>
          <a:p>
            <a:endParaRPr lang="en-US"/>
          </a:p>
        </p:txBody>
      </p:sp>
      <p:sp>
        <p:nvSpPr>
          <p:cNvPr id="5" name="Text 3">
            <a:extLst>
              <a:ext uri="{FF2B5EF4-FFF2-40B4-BE49-F238E27FC236}">
                <a16:creationId xmlns:a16="http://schemas.microsoft.com/office/drawing/2014/main" id="{E25551FD-1FEB-ABAA-F521-984BC8376D51}"/>
              </a:ext>
            </a:extLst>
          </p:cNvPr>
          <p:cNvSpPr/>
          <p:nvPr/>
        </p:nvSpPr>
        <p:spPr>
          <a:xfrm>
            <a:off x="640080" y="179176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01</a:t>
            </a:r>
            <a:endParaRPr lang="en-US" sz="1600" dirty="0"/>
          </a:p>
        </p:txBody>
      </p:sp>
      <p:sp>
        <p:nvSpPr>
          <p:cNvPr id="6" name="Text 4">
            <a:extLst>
              <a:ext uri="{FF2B5EF4-FFF2-40B4-BE49-F238E27FC236}">
                <a16:creationId xmlns:a16="http://schemas.microsoft.com/office/drawing/2014/main" id="{333F46EA-6094-1388-B74D-0F7875B35E1F}"/>
              </a:ext>
            </a:extLst>
          </p:cNvPr>
          <p:cNvSpPr/>
          <p:nvPr/>
        </p:nvSpPr>
        <p:spPr>
          <a:xfrm>
            <a:off x="1417320" y="1884937"/>
            <a:ext cx="7178040"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Ask the model – iterate – “fine tune” the prompt</a:t>
            </a:r>
            <a:endParaRPr lang="en-US" sz="2400" dirty="0"/>
          </a:p>
        </p:txBody>
      </p:sp>
      <p:sp>
        <p:nvSpPr>
          <p:cNvPr id="8" name="Shape 6">
            <a:extLst>
              <a:ext uri="{FF2B5EF4-FFF2-40B4-BE49-F238E27FC236}">
                <a16:creationId xmlns:a16="http://schemas.microsoft.com/office/drawing/2014/main" id="{EC8F6E71-AA4C-C880-2489-25FA1755AD71}"/>
              </a:ext>
            </a:extLst>
          </p:cNvPr>
          <p:cNvSpPr/>
          <p:nvPr/>
        </p:nvSpPr>
        <p:spPr>
          <a:xfrm>
            <a:off x="640080" y="2948071"/>
            <a:ext cx="594360" cy="502920"/>
          </a:xfrm>
          <a:prstGeom prst="rect">
            <a:avLst/>
          </a:prstGeom>
          <a:solidFill>
            <a:srgbClr val="00BFA6"/>
          </a:solidFill>
          <a:ln/>
        </p:spPr>
        <p:txBody>
          <a:bodyPr/>
          <a:lstStyle/>
          <a:p>
            <a:endParaRPr lang="en-US"/>
          </a:p>
        </p:txBody>
      </p:sp>
      <p:sp>
        <p:nvSpPr>
          <p:cNvPr id="9" name="Text 7">
            <a:extLst>
              <a:ext uri="{FF2B5EF4-FFF2-40B4-BE49-F238E27FC236}">
                <a16:creationId xmlns:a16="http://schemas.microsoft.com/office/drawing/2014/main" id="{06F43AF7-589C-D44E-9304-D6C096165B4F}"/>
              </a:ext>
            </a:extLst>
          </p:cNvPr>
          <p:cNvSpPr/>
          <p:nvPr/>
        </p:nvSpPr>
        <p:spPr>
          <a:xfrm>
            <a:off x="640080" y="2948071"/>
            <a:ext cx="594360" cy="50292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02</a:t>
            </a:r>
            <a:endParaRPr lang="en-US" sz="1600" dirty="0"/>
          </a:p>
        </p:txBody>
      </p:sp>
      <p:sp>
        <p:nvSpPr>
          <p:cNvPr id="10" name="Text 8">
            <a:extLst>
              <a:ext uri="{FF2B5EF4-FFF2-40B4-BE49-F238E27FC236}">
                <a16:creationId xmlns:a16="http://schemas.microsoft.com/office/drawing/2014/main" id="{4F60EC64-953D-6289-7B1B-761ACE836600}"/>
              </a:ext>
            </a:extLst>
          </p:cNvPr>
          <p:cNvSpPr/>
          <p:nvPr/>
        </p:nvSpPr>
        <p:spPr>
          <a:xfrm>
            <a:off x="1417319" y="3087546"/>
            <a:ext cx="6309361" cy="320040"/>
          </a:xfrm>
          <a:prstGeom prst="rect">
            <a:avLst/>
          </a:prstGeom>
          <a:noFill/>
          <a:ln/>
        </p:spPr>
        <p:txBody>
          <a:bodyPr wrap="square" lIns="0" tIns="0" rIns="0" bIns="0" rtlCol="0" anchor="ctr"/>
          <a:lstStyle/>
          <a:p>
            <a:pPr marL="0" indent="0">
              <a:buNone/>
            </a:pPr>
            <a:r>
              <a:rPr lang="en-US" sz="2400" b="1" dirty="0">
                <a:solidFill>
                  <a:srgbClr val="FFFFFF"/>
                </a:solidFill>
                <a:latin typeface="Segoe UI" pitchFamily="34" charset="0"/>
                <a:ea typeface="Segoe UI" pitchFamily="34" charset="-122"/>
                <a:cs typeface="Segoe UI" pitchFamily="34" charset="-120"/>
              </a:rPr>
              <a:t>Don’t trust people  with with “key meta-insight slides”</a:t>
            </a:r>
            <a:endParaRPr lang="en-US" sz="2400" dirty="0"/>
          </a:p>
        </p:txBody>
      </p:sp>
      <p:sp>
        <p:nvSpPr>
          <p:cNvPr id="11" name="Text 9">
            <a:extLst>
              <a:ext uri="{FF2B5EF4-FFF2-40B4-BE49-F238E27FC236}">
                <a16:creationId xmlns:a16="http://schemas.microsoft.com/office/drawing/2014/main" id="{293DB445-2817-5D2F-9667-F337C1273CE3}"/>
              </a:ext>
            </a:extLst>
          </p:cNvPr>
          <p:cNvSpPr/>
          <p:nvPr/>
        </p:nvSpPr>
        <p:spPr>
          <a:xfrm>
            <a:off x="1417320" y="3605514"/>
            <a:ext cx="7182670" cy="350712"/>
          </a:xfrm>
          <a:prstGeom prst="rect">
            <a:avLst/>
          </a:prstGeom>
          <a:noFill/>
          <a:ln/>
        </p:spPr>
        <p:txBody>
          <a:bodyPr wrap="square" lIns="0" tIns="0" rIns="0" bIns="0" rtlCol="0" anchor="ctr"/>
          <a:lstStyle/>
          <a:p>
            <a:pPr marL="0" indent="0">
              <a:buNone/>
            </a:pPr>
            <a:r>
              <a:rPr lang="en-US" sz="1600" dirty="0">
                <a:solidFill>
                  <a:srgbClr val="B8C4D6"/>
                </a:solidFill>
                <a:latin typeface="Segoe UI" pitchFamily="34" charset="0"/>
                <a:ea typeface="Segoe UI" pitchFamily="34" charset="-122"/>
                <a:cs typeface="Segoe UI" pitchFamily="34" charset="-120"/>
              </a:rPr>
              <a:t>Just try stuff</a:t>
            </a:r>
            <a:endParaRPr lang="en-US" sz="1600" dirty="0"/>
          </a:p>
        </p:txBody>
      </p:sp>
    </p:spTree>
    <p:extLst>
      <p:ext uri="{BB962C8B-B14F-4D97-AF65-F5344CB8AC3E}">
        <p14:creationId xmlns:p14="http://schemas.microsoft.com/office/powerpoint/2010/main" val="2412178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1</a:t>
            </a:r>
            <a:endParaRPr lang="en-US" sz="1800" dirty="0"/>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A Possible Prompt Skeleton</a:t>
            </a:r>
            <a:endParaRPr lang="en-US" sz="3200" dirty="0"/>
          </a:p>
        </p:txBody>
      </p:sp>
      <p:sp>
        <p:nvSpPr>
          <p:cNvPr id="6" name="Shape 4"/>
          <p:cNvSpPr/>
          <p:nvPr/>
        </p:nvSpPr>
        <p:spPr>
          <a:xfrm>
            <a:off x="64008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7" name="Shape 5"/>
          <p:cNvSpPr/>
          <p:nvPr/>
        </p:nvSpPr>
        <p:spPr>
          <a:xfrm>
            <a:off x="640080" y="1463040"/>
            <a:ext cx="54864" cy="1097280"/>
          </a:xfrm>
          <a:prstGeom prst="rect">
            <a:avLst/>
          </a:prstGeom>
          <a:solidFill>
            <a:srgbClr val="00BFA6"/>
          </a:solidFill>
          <a:ln/>
        </p:spPr>
        <p:txBody>
          <a:bodyPr/>
          <a:lstStyle/>
          <a:p>
            <a:endParaRPr lang="en-US" sz="2000"/>
          </a:p>
        </p:txBody>
      </p:sp>
      <p:sp>
        <p:nvSpPr>
          <p:cNvPr id="8" name="Text 6"/>
          <p:cNvSpPr/>
          <p:nvPr/>
        </p:nvSpPr>
        <p:spPr>
          <a:xfrm>
            <a:off x="822960" y="16002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ROLE</a:t>
            </a:r>
            <a:endParaRPr lang="en-US" sz="1400" dirty="0"/>
          </a:p>
        </p:txBody>
      </p:sp>
      <p:sp>
        <p:nvSpPr>
          <p:cNvPr id="9" name="Text 7"/>
          <p:cNvSpPr/>
          <p:nvPr/>
        </p:nvSpPr>
        <p:spPr>
          <a:xfrm>
            <a:off x="822960" y="19659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Expert stance (optional)</a:t>
            </a:r>
            <a:endParaRPr lang="en-US" sz="1400" dirty="0"/>
          </a:p>
        </p:txBody>
      </p:sp>
      <p:sp>
        <p:nvSpPr>
          <p:cNvPr id="10" name="Shape 8"/>
          <p:cNvSpPr/>
          <p:nvPr/>
        </p:nvSpPr>
        <p:spPr>
          <a:xfrm>
            <a:off x="342900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11" name="Shape 9"/>
          <p:cNvSpPr/>
          <p:nvPr/>
        </p:nvSpPr>
        <p:spPr>
          <a:xfrm>
            <a:off x="3429000" y="1463040"/>
            <a:ext cx="54864" cy="1097280"/>
          </a:xfrm>
          <a:prstGeom prst="rect">
            <a:avLst/>
          </a:prstGeom>
          <a:solidFill>
            <a:srgbClr val="00BFA6"/>
          </a:solidFill>
          <a:ln/>
        </p:spPr>
        <p:txBody>
          <a:bodyPr/>
          <a:lstStyle/>
          <a:p>
            <a:endParaRPr lang="en-US" sz="2000"/>
          </a:p>
        </p:txBody>
      </p:sp>
      <p:sp>
        <p:nvSpPr>
          <p:cNvPr id="12" name="Text 10"/>
          <p:cNvSpPr/>
          <p:nvPr/>
        </p:nvSpPr>
        <p:spPr>
          <a:xfrm>
            <a:off x="3611880" y="16002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OBJECTIVE</a:t>
            </a:r>
            <a:endParaRPr lang="en-US" sz="1400" dirty="0"/>
          </a:p>
        </p:txBody>
      </p:sp>
      <p:sp>
        <p:nvSpPr>
          <p:cNvPr id="13" name="Text 11"/>
          <p:cNvSpPr/>
          <p:nvPr/>
        </p:nvSpPr>
        <p:spPr>
          <a:xfrm>
            <a:off x="3611880" y="19659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One-sentence goal</a:t>
            </a:r>
            <a:endParaRPr lang="en-US" sz="1400" dirty="0"/>
          </a:p>
        </p:txBody>
      </p:sp>
      <p:sp>
        <p:nvSpPr>
          <p:cNvPr id="14" name="Shape 12"/>
          <p:cNvSpPr/>
          <p:nvPr/>
        </p:nvSpPr>
        <p:spPr>
          <a:xfrm>
            <a:off x="6217920" y="14630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15" name="Shape 13"/>
          <p:cNvSpPr/>
          <p:nvPr/>
        </p:nvSpPr>
        <p:spPr>
          <a:xfrm>
            <a:off x="6217920" y="1463040"/>
            <a:ext cx="54864" cy="1097280"/>
          </a:xfrm>
          <a:prstGeom prst="rect">
            <a:avLst/>
          </a:prstGeom>
          <a:solidFill>
            <a:srgbClr val="00BFA6"/>
          </a:solidFill>
          <a:ln/>
        </p:spPr>
        <p:txBody>
          <a:bodyPr/>
          <a:lstStyle/>
          <a:p>
            <a:endParaRPr lang="en-US" sz="2000"/>
          </a:p>
        </p:txBody>
      </p:sp>
      <p:sp>
        <p:nvSpPr>
          <p:cNvPr id="16" name="Text 14"/>
          <p:cNvSpPr/>
          <p:nvPr/>
        </p:nvSpPr>
        <p:spPr>
          <a:xfrm>
            <a:off x="6400800" y="16002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CONTEXT</a:t>
            </a:r>
            <a:endParaRPr lang="en-US" sz="1400" dirty="0"/>
          </a:p>
        </p:txBody>
      </p:sp>
      <p:sp>
        <p:nvSpPr>
          <p:cNvPr id="17" name="Text 15"/>
          <p:cNvSpPr/>
          <p:nvPr/>
        </p:nvSpPr>
        <p:spPr>
          <a:xfrm>
            <a:off x="6400800" y="19659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Facts, input data</a:t>
            </a:r>
            <a:endParaRPr lang="en-US" sz="1400" dirty="0"/>
          </a:p>
        </p:txBody>
      </p:sp>
      <p:sp>
        <p:nvSpPr>
          <p:cNvPr id="18" name="Shape 16"/>
          <p:cNvSpPr/>
          <p:nvPr/>
        </p:nvSpPr>
        <p:spPr>
          <a:xfrm>
            <a:off x="640080" y="28346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19" name="Shape 17"/>
          <p:cNvSpPr/>
          <p:nvPr/>
        </p:nvSpPr>
        <p:spPr>
          <a:xfrm>
            <a:off x="640080" y="2834640"/>
            <a:ext cx="54864" cy="1097280"/>
          </a:xfrm>
          <a:prstGeom prst="rect">
            <a:avLst/>
          </a:prstGeom>
          <a:solidFill>
            <a:srgbClr val="00BFA6"/>
          </a:solidFill>
          <a:ln/>
        </p:spPr>
        <p:txBody>
          <a:bodyPr/>
          <a:lstStyle/>
          <a:p>
            <a:endParaRPr lang="en-US" sz="2000"/>
          </a:p>
        </p:txBody>
      </p:sp>
      <p:sp>
        <p:nvSpPr>
          <p:cNvPr id="20" name="Text 18"/>
          <p:cNvSpPr/>
          <p:nvPr/>
        </p:nvSpPr>
        <p:spPr>
          <a:xfrm>
            <a:off x="822960" y="29718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CONSTRAINTS</a:t>
            </a:r>
            <a:endParaRPr lang="en-US" sz="1400" dirty="0"/>
          </a:p>
        </p:txBody>
      </p:sp>
      <p:sp>
        <p:nvSpPr>
          <p:cNvPr id="21" name="Text 19"/>
          <p:cNvSpPr/>
          <p:nvPr/>
        </p:nvSpPr>
        <p:spPr>
          <a:xfrm>
            <a:off x="822960" y="33375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Audience, length, tone</a:t>
            </a:r>
            <a:endParaRPr lang="en-US" sz="1400" dirty="0"/>
          </a:p>
        </p:txBody>
      </p:sp>
      <p:sp>
        <p:nvSpPr>
          <p:cNvPr id="22" name="Shape 20"/>
          <p:cNvSpPr/>
          <p:nvPr/>
        </p:nvSpPr>
        <p:spPr>
          <a:xfrm>
            <a:off x="3429000" y="28346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23" name="Shape 21"/>
          <p:cNvSpPr/>
          <p:nvPr/>
        </p:nvSpPr>
        <p:spPr>
          <a:xfrm>
            <a:off x="3429000" y="2834640"/>
            <a:ext cx="54864" cy="1097280"/>
          </a:xfrm>
          <a:prstGeom prst="rect">
            <a:avLst/>
          </a:prstGeom>
          <a:solidFill>
            <a:srgbClr val="00BFA6"/>
          </a:solidFill>
          <a:ln/>
        </p:spPr>
        <p:txBody>
          <a:bodyPr/>
          <a:lstStyle/>
          <a:p>
            <a:endParaRPr lang="en-US" sz="2000"/>
          </a:p>
        </p:txBody>
      </p:sp>
      <p:sp>
        <p:nvSpPr>
          <p:cNvPr id="24" name="Text 22"/>
          <p:cNvSpPr/>
          <p:nvPr/>
        </p:nvSpPr>
        <p:spPr>
          <a:xfrm>
            <a:off x="3611880" y="29718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OUTPUT FORMAT</a:t>
            </a:r>
            <a:endParaRPr lang="en-US" sz="1400" dirty="0"/>
          </a:p>
        </p:txBody>
      </p:sp>
      <p:sp>
        <p:nvSpPr>
          <p:cNvPr id="25" name="Text 23"/>
          <p:cNvSpPr/>
          <p:nvPr/>
        </p:nvSpPr>
        <p:spPr>
          <a:xfrm>
            <a:off x="3611880" y="33375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Exact structure</a:t>
            </a:r>
            <a:endParaRPr lang="en-US" sz="1400" dirty="0"/>
          </a:p>
        </p:txBody>
      </p:sp>
      <p:sp>
        <p:nvSpPr>
          <p:cNvPr id="26" name="Shape 24"/>
          <p:cNvSpPr/>
          <p:nvPr/>
        </p:nvSpPr>
        <p:spPr>
          <a:xfrm>
            <a:off x="6217920" y="2834640"/>
            <a:ext cx="2560320" cy="109728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sz="2000"/>
          </a:p>
        </p:txBody>
      </p:sp>
      <p:sp>
        <p:nvSpPr>
          <p:cNvPr id="27" name="Shape 25"/>
          <p:cNvSpPr/>
          <p:nvPr/>
        </p:nvSpPr>
        <p:spPr>
          <a:xfrm>
            <a:off x="6217920" y="2834640"/>
            <a:ext cx="54864" cy="1097280"/>
          </a:xfrm>
          <a:prstGeom prst="rect">
            <a:avLst/>
          </a:prstGeom>
          <a:solidFill>
            <a:srgbClr val="00BFA6"/>
          </a:solidFill>
          <a:ln/>
        </p:spPr>
        <p:txBody>
          <a:bodyPr/>
          <a:lstStyle/>
          <a:p>
            <a:endParaRPr lang="en-US" sz="2000"/>
          </a:p>
        </p:txBody>
      </p:sp>
      <p:sp>
        <p:nvSpPr>
          <p:cNvPr id="28" name="Text 26"/>
          <p:cNvSpPr/>
          <p:nvPr/>
        </p:nvSpPr>
        <p:spPr>
          <a:xfrm>
            <a:off x="6400800" y="2971800"/>
            <a:ext cx="2194560" cy="320040"/>
          </a:xfrm>
          <a:prstGeom prst="rect">
            <a:avLst/>
          </a:prstGeom>
          <a:noFill/>
          <a:ln/>
        </p:spPr>
        <p:txBody>
          <a:bodyPr wrap="square" lIns="0" tIns="0" rIns="0" bIns="0" rtlCol="0" anchor="ctr"/>
          <a:lstStyle/>
          <a:p>
            <a:pPr marL="0" indent="0">
              <a:buNone/>
            </a:pPr>
            <a:r>
              <a:rPr lang="en-US" sz="1400" b="1" dirty="0">
                <a:solidFill>
                  <a:srgbClr val="00BFA6"/>
                </a:solidFill>
                <a:latin typeface="Segoe UI" pitchFamily="34" charset="0"/>
                <a:ea typeface="Segoe UI" pitchFamily="34" charset="-122"/>
                <a:cs typeface="Segoe UI" pitchFamily="34" charset="-120"/>
              </a:rPr>
              <a:t>VERIFY</a:t>
            </a:r>
            <a:endParaRPr lang="en-US" sz="1400" dirty="0"/>
          </a:p>
        </p:txBody>
      </p:sp>
      <p:sp>
        <p:nvSpPr>
          <p:cNvPr id="29" name="Text 27"/>
          <p:cNvSpPr/>
          <p:nvPr/>
        </p:nvSpPr>
        <p:spPr>
          <a:xfrm>
            <a:off x="6400800" y="3337560"/>
            <a:ext cx="2194560" cy="45720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Quality gate</a:t>
            </a:r>
            <a:endParaRPr lang="en-US" sz="1400" dirty="0"/>
          </a:p>
        </p:txBody>
      </p:sp>
      <p:sp>
        <p:nvSpPr>
          <p:cNvPr id="30" name="Text 28"/>
          <p:cNvSpPr/>
          <p:nvPr/>
        </p:nvSpPr>
        <p:spPr>
          <a:xfrm>
            <a:off x="640080" y="4480560"/>
            <a:ext cx="7772400" cy="365760"/>
          </a:xfrm>
          <a:prstGeom prst="rect">
            <a:avLst/>
          </a:prstGeom>
          <a:noFill/>
          <a:ln/>
        </p:spPr>
        <p:txBody>
          <a:bodyPr wrap="square" lIns="0" tIns="0" rIns="0" bIns="0" rtlCol="0" anchor="ctr"/>
          <a:lstStyle/>
          <a:p>
            <a:pPr marL="0" indent="0">
              <a:buNone/>
            </a:pPr>
            <a:r>
              <a:rPr lang="en-US" sz="1600" i="1" dirty="0">
                <a:solidFill>
                  <a:srgbClr val="1A2744"/>
                </a:solidFill>
                <a:latin typeface="Segoe UI" pitchFamily="34" charset="0"/>
                <a:ea typeface="Segoe UI" pitchFamily="34" charset="-122"/>
                <a:cs typeface="Segoe UI" pitchFamily="34" charset="-120"/>
              </a:rPr>
              <a:t>Claude prefers XML tags (&lt;context&gt;, &lt;instructions&gt;). OpenAI works with both XML and LABEL: sections.</a:t>
            </a:r>
            <a:endParaRPr lang="en-US" sz="1600" dirty="0"/>
          </a:p>
        </p:txBody>
      </p:sp>
    </p:spTree>
    <p:extLst>
      <p:ext uri="{BB962C8B-B14F-4D97-AF65-F5344CB8AC3E}">
        <p14:creationId xmlns:p14="http://schemas.microsoft.com/office/powerpoint/2010/main" val="37681513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7772400" cy="64008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Direct Instruction &amp; Role Prompting</a:t>
            </a:r>
            <a:endParaRPr lang="en-US" sz="3200" dirty="0"/>
          </a:p>
        </p:txBody>
      </p:sp>
      <p:sp>
        <p:nvSpPr>
          <p:cNvPr id="3" name="Shape 1"/>
          <p:cNvSpPr/>
          <p:nvPr/>
        </p:nvSpPr>
        <p:spPr>
          <a:xfrm>
            <a:off x="640080" y="1051560"/>
            <a:ext cx="3749040" cy="3474720"/>
          </a:xfrm>
          <a:prstGeom prst="rect">
            <a:avLst/>
          </a:prstGeom>
          <a:solidFill>
            <a:srgbClr val="F5F7FA"/>
          </a:solidFill>
          <a:ln/>
        </p:spPr>
        <p:txBody>
          <a:bodyPr/>
          <a:lstStyle/>
          <a:p>
            <a:endParaRPr lang="en-US"/>
          </a:p>
        </p:txBody>
      </p:sp>
      <p:sp>
        <p:nvSpPr>
          <p:cNvPr id="4" name="Shape 2"/>
          <p:cNvSpPr/>
          <p:nvPr/>
        </p:nvSpPr>
        <p:spPr>
          <a:xfrm>
            <a:off x="640080" y="1051560"/>
            <a:ext cx="54864" cy="3474720"/>
          </a:xfrm>
          <a:prstGeom prst="rect">
            <a:avLst/>
          </a:prstGeom>
          <a:solidFill>
            <a:srgbClr val="00BFA6"/>
          </a:solidFill>
          <a:ln/>
        </p:spPr>
        <p:txBody>
          <a:bodyPr/>
          <a:lstStyle/>
          <a:p>
            <a:endParaRPr lang="en-US"/>
          </a:p>
        </p:txBody>
      </p:sp>
      <p:sp>
        <p:nvSpPr>
          <p:cNvPr id="5" name="Shape 3"/>
          <p:cNvSpPr/>
          <p:nvPr/>
        </p:nvSpPr>
        <p:spPr>
          <a:xfrm>
            <a:off x="914400" y="1188720"/>
            <a:ext cx="365760" cy="320040"/>
          </a:xfrm>
          <a:prstGeom prst="rect">
            <a:avLst/>
          </a:prstGeom>
          <a:solidFill>
            <a:srgbClr val="00BFA6"/>
          </a:solidFill>
          <a:ln/>
        </p:spPr>
        <p:txBody>
          <a:bodyPr/>
          <a:lstStyle/>
          <a:p>
            <a:endParaRPr lang="en-US"/>
          </a:p>
        </p:txBody>
      </p:sp>
      <p:sp>
        <p:nvSpPr>
          <p:cNvPr id="6" name="Text 4"/>
          <p:cNvSpPr/>
          <p:nvPr/>
        </p:nvSpPr>
        <p:spPr>
          <a:xfrm>
            <a:off x="914400" y="1188720"/>
            <a:ext cx="36576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2</a:t>
            </a:r>
            <a:endParaRPr lang="en-US" sz="1400" dirty="0"/>
          </a:p>
        </p:txBody>
      </p:sp>
      <p:sp>
        <p:nvSpPr>
          <p:cNvPr id="7" name="Text 5"/>
          <p:cNvSpPr/>
          <p:nvPr/>
        </p:nvSpPr>
        <p:spPr>
          <a:xfrm>
            <a:off x="1417320" y="1143000"/>
            <a:ext cx="2743200" cy="365760"/>
          </a:xfrm>
          <a:prstGeom prst="rect">
            <a:avLst/>
          </a:prstGeom>
          <a:noFill/>
          <a:ln/>
        </p:spPr>
        <p:txBody>
          <a:bodyPr wrap="square" lIns="0" tIns="0" rIns="0" bIns="0" rtlCol="0" anchor="ctr"/>
          <a:lstStyle/>
          <a:p>
            <a:pPr marL="0" indent="0">
              <a:buNone/>
            </a:pPr>
            <a:r>
              <a:rPr lang="en-US" sz="1800" b="1" dirty="0">
                <a:solidFill>
                  <a:srgbClr val="1A2744"/>
                </a:solidFill>
                <a:latin typeface="Segoe UI" pitchFamily="34" charset="0"/>
                <a:ea typeface="Segoe UI" pitchFamily="34" charset="-122"/>
                <a:cs typeface="Segoe UI" pitchFamily="34" charset="-120"/>
              </a:rPr>
              <a:t>Direct Instruction</a:t>
            </a:r>
            <a:endParaRPr lang="en-US" sz="1800" dirty="0"/>
          </a:p>
        </p:txBody>
      </p:sp>
      <p:sp>
        <p:nvSpPr>
          <p:cNvPr id="8" name="Text 6"/>
          <p:cNvSpPr/>
          <p:nvPr/>
        </p:nvSpPr>
        <p:spPr>
          <a:xfrm>
            <a:off x="914400" y="1645920"/>
            <a:ext cx="3200400" cy="45720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The baseline. Clear, literal instructions for simple tasks.</a:t>
            </a:r>
            <a:endParaRPr lang="en-US" sz="1200" dirty="0"/>
          </a:p>
        </p:txBody>
      </p:sp>
      <p:sp>
        <p:nvSpPr>
          <p:cNvPr id="9" name="Text 7"/>
          <p:cNvSpPr/>
          <p:nvPr/>
        </p:nvSpPr>
        <p:spPr>
          <a:xfrm>
            <a:off x="914400" y="2194560"/>
            <a:ext cx="3200400" cy="1280160"/>
          </a:xfrm>
          <a:prstGeom prst="rect">
            <a:avLst/>
          </a:prstGeom>
          <a:solidFill>
            <a:srgbClr val="FFFFFF"/>
          </a:solidFill>
          <a:ln/>
        </p:spPr>
        <p:txBody>
          <a:bodyPr wrap="square" lIns="101600" tIns="101600" rIns="101600" bIns="101600" rtlCol="0" anchor="ctr"/>
          <a:lstStyle/>
          <a:p>
            <a:pPr marL="0" indent="0">
              <a:buNone/>
            </a:pPr>
            <a:r>
              <a:rPr lang="en-US" sz="1100" dirty="0">
                <a:solidFill>
                  <a:srgbClr val="1A2744"/>
                </a:solidFill>
                <a:latin typeface="Consolas" pitchFamily="34" charset="0"/>
                <a:ea typeface="Consolas" pitchFamily="34" charset="-122"/>
                <a:cs typeface="Consolas" pitchFamily="34" charset="-120"/>
              </a:rPr>
              <a:t>Summarize for a VP:</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 exactly 5 bullets</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 include 1 risk + 1 recommendation</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Text: [paste]</a:t>
            </a:r>
            <a:endParaRPr lang="en-US" sz="1100" dirty="0"/>
          </a:p>
        </p:txBody>
      </p:sp>
      <p:sp>
        <p:nvSpPr>
          <p:cNvPr id="10" name="Text 8"/>
          <p:cNvSpPr/>
          <p:nvPr/>
        </p:nvSpPr>
        <p:spPr>
          <a:xfrm>
            <a:off x="914400" y="3657600"/>
            <a:ext cx="3200400" cy="457200"/>
          </a:xfrm>
          <a:prstGeom prst="rect">
            <a:avLst/>
          </a:prstGeom>
          <a:noFill/>
          <a:ln/>
        </p:spPr>
        <p:txBody>
          <a:bodyPr wrap="square" lIns="0" tIns="0" rIns="0" bIns="0" rtlCol="0" anchor="ctr"/>
          <a:lstStyle/>
          <a:p>
            <a:pPr marL="0" indent="0">
              <a:buNone/>
            </a:pPr>
            <a:r>
              <a:rPr lang="en-US" sz="1100" i="1" dirty="0">
                <a:solidFill>
                  <a:srgbClr val="64748B"/>
                </a:solidFill>
                <a:latin typeface="Segoe UI" pitchFamily="34" charset="0"/>
                <a:ea typeface="Segoe UI" pitchFamily="34" charset="-122"/>
                <a:cs typeface="Segoe UI" pitchFamily="34" charset="-120"/>
              </a:rPr>
              <a:t>If output drifts, add Recipe 5 (output clamp).</a:t>
            </a:r>
            <a:endParaRPr lang="en-US" sz="1100" dirty="0"/>
          </a:p>
        </p:txBody>
      </p:sp>
      <p:sp>
        <p:nvSpPr>
          <p:cNvPr id="11" name="Shape 9"/>
          <p:cNvSpPr/>
          <p:nvPr/>
        </p:nvSpPr>
        <p:spPr>
          <a:xfrm>
            <a:off x="4754880" y="1051560"/>
            <a:ext cx="3749040" cy="3474720"/>
          </a:xfrm>
          <a:prstGeom prst="rect">
            <a:avLst/>
          </a:prstGeom>
          <a:solidFill>
            <a:srgbClr val="F5F7FA"/>
          </a:solidFill>
          <a:ln/>
        </p:spPr>
        <p:txBody>
          <a:bodyPr/>
          <a:lstStyle/>
          <a:p>
            <a:endParaRPr lang="en-US"/>
          </a:p>
        </p:txBody>
      </p:sp>
      <p:sp>
        <p:nvSpPr>
          <p:cNvPr id="12" name="Shape 10"/>
          <p:cNvSpPr/>
          <p:nvPr/>
        </p:nvSpPr>
        <p:spPr>
          <a:xfrm>
            <a:off x="4754880" y="1051560"/>
            <a:ext cx="54864" cy="3474720"/>
          </a:xfrm>
          <a:prstGeom prst="rect">
            <a:avLst/>
          </a:prstGeom>
          <a:solidFill>
            <a:srgbClr val="00BFA6"/>
          </a:solidFill>
          <a:ln/>
        </p:spPr>
        <p:txBody>
          <a:bodyPr/>
          <a:lstStyle/>
          <a:p>
            <a:endParaRPr lang="en-US"/>
          </a:p>
        </p:txBody>
      </p:sp>
      <p:sp>
        <p:nvSpPr>
          <p:cNvPr id="13" name="Shape 11"/>
          <p:cNvSpPr/>
          <p:nvPr/>
        </p:nvSpPr>
        <p:spPr>
          <a:xfrm>
            <a:off x="5029200" y="1188720"/>
            <a:ext cx="365760" cy="320040"/>
          </a:xfrm>
          <a:prstGeom prst="rect">
            <a:avLst/>
          </a:prstGeom>
          <a:solidFill>
            <a:srgbClr val="00BFA6"/>
          </a:solidFill>
          <a:ln/>
        </p:spPr>
        <p:txBody>
          <a:bodyPr/>
          <a:lstStyle/>
          <a:p>
            <a:endParaRPr lang="en-US"/>
          </a:p>
        </p:txBody>
      </p:sp>
      <p:sp>
        <p:nvSpPr>
          <p:cNvPr id="14" name="Text 12"/>
          <p:cNvSpPr/>
          <p:nvPr/>
        </p:nvSpPr>
        <p:spPr>
          <a:xfrm>
            <a:off x="5029200" y="1188720"/>
            <a:ext cx="36576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3</a:t>
            </a:r>
            <a:endParaRPr lang="en-US" sz="1400" dirty="0"/>
          </a:p>
        </p:txBody>
      </p:sp>
      <p:sp>
        <p:nvSpPr>
          <p:cNvPr id="15" name="Text 13"/>
          <p:cNvSpPr/>
          <p:nvPr/>
        </p:nvSpPr>
        <p:spPr>
          <a:xfrm>
            <a:off x="5532120" y="1143000"/>
            <a:ext cx="2743200" cy="365760"/>
          </a:xfrm>
          <a:prstGeom prst="rect">
            <a:avLst/>
          </a:prstGeom>
          <a:noFill/>
          <a:ln/>
        </p:spPr>
        <p:txBody>
          <a:bodyPr wrap="square" lIns="0" tIns="0" rIns="0" bIns="0" rtlCol="0" anchor="ctr"/>
          <a:lstStyle/>
          <a:p>
            <a:pPr marL="0" indent="0">
              <a:buNone/>
            </a:pPr>
            <a:r>
              <a:rPr lang="en-US" sz="1800" b="1" dirty="0">
                <a:solidFill>
                  <a:srgbClr val="1A2744"/>
                </a:solidFill>
                <a:latin typeface="Segoe UI" pitchFamily="34" charset="0"/>
                <a:ea typeface="Segoe UI" pitchFamily="34" charset="-122"/>
                <a:cs typeface="Segoe UI" pitchFamily="34" charset="-120"/>
              </a:rPr>
              <a:t>Role Prompting</a:t>
            </a:r>
            <a:endParaRPr lang="en-US" sz="1800" dirty="0"/>
          </a:p>
        </p:txBody>
      </p:sp>
      <p:sp>
        <p:nvSpPr>
          <p:cNvPr id="16" name="Text 14"/>
          <p:cNvSpPr/>
          <p:nvPr/>
        </p:nvSpPr>
        <p:spPr>
          <a:xfrm>
            <a:off x="5029200" y="1645920"/>
            <a:ext cx="3200400" cy="45720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Shapes tone, vocabulary, depth. Does NOT improve factual correctness.</a:t>
            </a:r>
            <a:endParaRPr lang="en-US" sz="1200" dirty="0"/>
          </a:p>
        </p:txBody>
      </p:sp>
      <p:sp>
        <p:nvSpPr>
          <p:cNvPr id="17" name="Text 15"/>
          <p:cNvSpPr/>
          <p:nvPr/>
        </p:nvSpPr>
        <p:spPr>
          <a:xfrm>
            <a:off x="5029200" y="2194560"/>
            <a:ext cx="3200400" cy="1280160"/>
          </a:xfrm>
          <a:prstGeom prst="rect">
            <a:avLst/>
          </a:prstGeom>
          <a:solidFill>
            <a:srgbClr val="FFFFFF"/>
          </a:solidFill>
          <a:ln/>
        </p:spPr>
        <p:txBody>
          <a:bodyPr wrap="square" lIns="101600" tIns="101600" rIns="101600" bIns="101600" rtlCol="0" anchor="ctr"/>
          <a:lstStyle/>
          <a:p>
            <a:pPr marL="0" indent="0">
              <a:buNone/>
            </a:pPr>
            <a:r>
              <a:rPr lang="en-US" sz="1100" dirty="0">
                <a:solidFill>
                  <a:srgbClr val="1A2744"/>
                </a:solidFill>
                <a:latin typeface="Consolas" pitchFamily="34" charset="0"/>
                <a:ea typeface="Consolas" pitchFamily="34" charset="-122"/>
                <a:cs typeface="Consolas" pitchFamily="34" charset="-120"/>
              </a:rPr>
              <a:t>Act as a senior SRE.</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Return:</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1) Findings (major)</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2) Missing evidence</a:t>
            </a:r>
            <a:endParaRPr lang="en-US" sz="1100" dirty="0"/>
          </a:p>
          <a:p>
            <a:pPr marL="0" indent="0">
              <a:buNone/>
            </a:pPr>
            <a:r>
              <a:rPr lang="en-US" sz="1100" dirty="0">
                <a:solidFill>
                  <a:srgbClr val="1A2744"/>
                </a:solidFill>
                <a:latin typeface="Consolas" pitchFamily="34" charset="0"/>
                <a:ea typeface="Consolas" pitchFamily="34" charset="-122"/>
                <a:cs typeface="Consolas" pitchFamily="34" charset="-120"/>
              </a:rPr>
              <a:t>3) Follow-ups (top 5)</a:t>
            </a:r>
            <a:endParaRPr lang="en-US" sz="1100" dirty="0"/>
          </a:p>
        </p:txBody>
      </p:sp>
      <p:sp>
        <p:nvSpPr>
          <p:cNvPr id="18" name="Text 16"/>
          <p:cNvSpPr/>
          <p:nvPr/>
        </p:nvSpPr>
        <p:spPr>
          <a:xfrm>
            <a:off x="5029200" y="3657600"/>
            <a:ext cx="3200400" cy="457200"/>
          </a:xfrm>
          <a:prstGeom prst="rect">
            <a:avLst/>
          </a:prstGeom>
          <a:noFill/>
          <a:ln/>
        </p:spPr>
        <p:txBody>
          <a:bodyPr wrap="square" lIns="0" tIns="0" rIns="0" bIns="0" rtlCol="0" anchor="ctr"/>
          <a:lstStyle/>
          <a:p>
            <a:pPr marL="0" indent="0">
              <a:buNone/>
            </a:pPr>
            <a:r>
              <a:rPr lang="en-US" sz="1100" i="1" dirty="0">
                <a:solidFill>
                  <a:srgbClr val="64748B"/>
                </a:solidFill>
                <a:latin typeface="Segoe UI" pitchFamily="34" charset="0"/>
                <a:ea typeface="Segoe UI" pitchFamily="34" charset="-122"/>
                <a:cs typeface="Segoe UI" pitchFamily="34" charset="-120"/>
              </a:rPr>
              <a:t>Gemini takes personas very seriously — test for conflicts.</a:t>
            </a:r>
            <a:endParaRPr lang="en-US" sz="1100" dirty="0"/>
          </a:p>
        </p:txBody>
      </p:sp>
    </p:spTree>
    <p:extLst>
      <p:ext uri="{BB962C8B-B14F-4D97-AF65-F5344CB8AC3E}">
        <p14:creationId xmlns:p14="http://schemas.microsoft.com/office/powerpoint/2010/main" val="31595257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7772400" cy="594360"/>
          </a:xfrm>
          <a:prstGeom prst="rect">
            <a:avLst/>
          </a:prstGeom>
          <a:noFill/>
          <a:ln/>
        </p:spPr>
        <p:txBody>
          <a:bodyPr wrap="square" lIns="0" tIns="0" rIns="0" bIns="0" rtlCol="0" anchor="ctr"/>
          <a:lstStyle/>
          <a:p>
            <a:pPr marL="0" indent="0">
              <a:buNone/>
            </a:pPr>
            <a:r>
              <a:rPr lang="en-US" sz="3600" b="1" dirty="0">
                <a:solidFill>
                  <a:srgbClr val="1A2744"/>
                </a:solidFill>
                <a:latin typeface="Segoe UI Black" pitchFamily="34" charset="0"/>
                <a:ea typeface="Segoe UI Black" pitchFamily="34" charset="-122"/>
                <a:cs typeface="Segoe UI Black" pitchFamily="34" charset="-120"/>
              </a:rPr>
              <a:t>Scope &amp; Structure</a:t>
            </a:r>
            <a:endParaRPr lang="en-US" sz="3600" dirty="0"/>
          </a:p>
        </p:txBody>
      </p:sp>
      <p:sp>
        <p:nvSpPr>
          <p:cNvPr id="3" name="Shape 1"/>
          <p:cNvSpPr/>
          <p:nvPr/>
        </p:nvSpPr>
        <p:spPr>
          <a:xfrm>
            <a:off x="640080" y="1005840"/>
            <a:ext cx="3749040" cy="1828800"/>
          </a:xfrm>
          <a:prstGeom prst="rect">
            <a:avLst/>
          </a:prstGeom>
          <a:solidFill>
            <a:srgbClr val="F5F7FA"/>
          </a:solidFill>
          <a:ln/>
        </p:spPr>
        <p:txBody>
          <a:bodyPr/>
          <a:lstStyle/>
          <a:p>
            <a:endParaRPr lang="en-US"/>
          </a:p>
        </p:txBody>
      </p:sp>
      <p:sp>
        <p:nvSpPr>
          <p:cNvPr id="4" name="Shape 2"/>
          <p:cNvSpPr/>
          <p:nvPr/>
        </p:nvSpPr>
        <p:spPr>
          <a:xfrm>
            <a:off x="640080" y="1005840"/>
            <a:ext cx="54864" cy="1828800"/>
          </a:xfrm>
          <a:prstGeom prst="rect">
            <a:avLst/>
          </a:prstGeom>
          <a:solidFill>
            <a:srgbClr val="00BFA6"/>
          </a:solidFill>
          <a:ln/>
        </p:spPr>
        <p:txBody>
          <a:bodyPr/>
          <a:lstStyle/>
          <a:p>
            <a:endParaRPr lang="en-US"/>
          </a:p>
        </p:txBody>
      </p:sp>
      <p:sp>
        <p:nvSpPr>
          <p:cNvPr id="5" name="Shape 3"/>
          <p:cNvSpPr/>
          <p:nvPr/>
        </p:nvSpPr>
        <p:spPr>
          <a:xfrm>
            <a:off x="914400" y="1143000"/>
            <a:ext cx="365760" cy="274320"/>
          </a:xfrm>
          <a:prstGeom prst="rect">
            <a:avLst/>
          </a:prstGeom>
          <a:solidFill>
            <a:srgbClr val="00BFA6"/>
          </a:solidFill>
          <a:ln/>
        </p:spPr>
        <p:txBody>
          <a:bodyPr/>
          <a:lstStyle/>
          <a:p>
            <a:endParaRPr lang="en-US"/>
          </a:p>
        </p:txBody>
      </p:sp>
      <p:sp>
        <p:nvSpPr>
          <p:cNvPr id="6" name="Text 4"/>
          <p:cNvSpPr/>
          <p:nvPr/>
        </p:nvSpPr>
        <p:spPr>
          <a:xfrm>
            <a:off x="914400" y="1143000"/>
            <a:ext cx="36576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6</a:t>
            </a:r>
            <a:endParaRPr lang="en-US" sz="1300" dirty="0"/>
          </a:p>
        </p:txBody>
      </p:sp>
      <p:sp>
        <p:nvSpPr>
          <p:cNvPr id="7" name="Text 5"/>
          <p:cNvSpPr/>
          <p:nvPr/>
        </p:nvSpPr>
        <p:spPr>
          <a:xfrm>
            <a:off x="1417320" y="1097280"/>
            <a:ext cx="274320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Scope Discipline</a:t>
            </a:r>
            <a:endParaRPr lang="en-US" sz="1600" dirty="0"/>
          </a:p>
        </p:txBody>
      </p:sp>
      <p:sp>
        <p:nvSpPr>
          <p:cNvPr id="8" name="Text 6"/>
          <p:cNvSpPr/>
          <p:nvPr/>
        </p:nvSpPr>
        <p:spPr>
          <a:xfrm>
            <a:off x="914400" y="1554480"/>
            <a:ext cx="3200400" cy="109728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Set explicit boundaries. "Fix this function" without scope may trigger a full refactor.</a:t>
            </a:r>
            <a:endParaRPr lang="en-US" sz="1200" dirty="0"/>
          </a:p>
          <a:p>
            <a:pPr marL="0" indent="0">
              <a:buNone/>
            </a:pP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Implement EXACTLY this and nothing else.</a:t>
            </a: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If ambiguous, pick simplest valid interpretation.</a:t>
            </a:r>
            <a:endParaRPr lang="en-US" sz="1200" dirty="0"/>
          </a:p>
        </p:txBody>
      </p:sp>
      <p:sp>
        <p:nvSpPr>
          <p:cNvPr id="9" name="Shape 7"/>
          <p:cNvSpPr/>
          <p:nvPr/>
        </p:nvSpPr>
        <p:spPr>
          <a:xfrm>
            <a:off x="4754880" y="1005840"/>
            <a:ext cx="3749040" cy="1828800"/>
          </a:xfrm>
          <a:prstGeom prst="rect">
            <a:avLst/>
          </a:prstGeom>
          <a:solidFill>
            <a:srgbClr val="F5F7FA"/>
          </a:solidFill>
          <a:ln/>
        </p:spPr>
        <p:txBody>
          <a:bodyPr/>
          <a:lstStyle/>
          <a:p>
            <a:endParaRPr lang="en-US"/>
          </a:p>
        </p:txBody>
      </p:sp>
      <p:sp>
        <p:nvSpPr>
          <p:cNvPr id="10" name="Shape 8"/>
          <p:cNvSpPr/>
          <p:nvPr/>
        </p:nvSpPr>
        <p:spPr>
          <a:xfrm>
            <a:off x="4754880" y="1005840"/>
            <a:ext cx="54864" cy="1828800"/>
          </a:xfrm>
          <a:prstGeom prst="rect">
            <a:avLst/>
          </a:prstGeom>
          <a:solidFill>
            <a:srgbClr val="00BFA6"/>
          </a:solidFill>
          <a:ln/>
        </p:spPr>
        <p:txBody>
          <a:bodyPr/>
          <a:lstStyle/>
          <a:p>
            <a:endParaRPr lang="en-US"/>
          </a:p>
        </p:txBody>
      </p:sp>
      <p:sp>
        <p:nvSpPr>
          <p:cNvPr id="11" name="Shape 9"/>
          <p:cNvSpPr/>
          <p:nvPr/>
        </p:nvSpPr>
        <p:spPr>
          <a:xfrm>
            <a:off x="5029200" y="1143000"/>
            <a:ext cx="365760" cy="274320"/>
          </a:xfrm>
          <a:prstGeom prst="rect">
            <a:avLst/>
          </a:prstGeom>
          <a:solidFill>
            <a:srgbClr val="00BFA6"/>
          </a:solidFill>
          <a:ln/>
        </p:spPr>
        <p:txBody>
          <a:bodyPr/>
          <a:lstStyle/>
          <a:p>
            <a:endParaRPr lang="en-US"/>
          </a:p>
        </p:txBody>
      </p:sp>
      <p:sp>
        <p:nvSpPr>
          <p:cNvPr id="12" name="Text 10"/>
          <p:cNvSpPr/>
          <p:nvPr/>
        </p:nvSpPr>
        <p:spPr>
          <a:xfrm>
            <a:off x="5029200" y="1143000"/>
            <a:ext cx="36576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7</a:t>
            </a:r>
            <a:endParaRPr lang="en-US" sz="1300" dirty="0"/>
          </a:p>
        </p:txBody>
      </p:sp>
      <p:sp>
        <p:nvSpPr>
          <p:cNvPr id="13" name="Text 11"/>
          <p:cNvSpPr/>
          <p:nvPr/>
        </p:nvSpPr>
        <p:spPr>
          <a:xfrm>
            <a:off x="5532120" y="1097280"/>
            <a:ext cx="274320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Structured Formatting</a:t>
            </a:r>
            <a:endParaRPr lang="en-US" sz="1600" dirty="0"/>
          </a:p>
        </p:txBody>
      </p:sp>
      <p:sp>
        <p:nvSpPr>
          <p:cNvPr id="14" name="Text 12"/>
          <p:cNvSpPr/>
          <p:nvPr/>
        </p:nvSpPr>
        <p:spPr>
          <a:xfrm>
            <a:off x="5029200" y="1554480"/>
            <a:ext cx="3200400" cy="109728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Delimiters prevent the model from confusing instructions with data.</a:t>
            </a:r>
            <a:endParaRPr lang="en-US" sz="1200" dirty="0"/>
          </a:p>
          <a:p>
            <a:pPr marL="0" indent="0">
              <a:buNone/>
            </a:pP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Separate instructions from data.</a:t>
            </a:r>
            <a:endParaRPr lang="en-US" sz="1200" dirty="0"/>
          </a:p>
          <a:p>
            <a:pPr marL="0" indent="0">
              <a:buNone/>
            </a:pPr>
            <a:r>
              <a:rPr lang="en-US" sz="1200" dirty="0">
                <a:solidFill>
                  <a:srgbClr val="64748B"/>
                </a:solidFill>
                <a:latin typeface="Segoe UI" pitchFamily="34" charset="0"/>
                <a:ea typeface="Segoe UI" pitchFamily="34" charset="-122"/>
                <a:cs typeface="Segoe UI" pitchFamily="34" charset="-120"/>
              </a:rPr>
              <a:t>Put long data first, instructions last.</a:t>
            </a:r>
            <a:endParaRPr lang="en-US" sz="1200" dirty="0"/>
          </a:p>
        </p:txBody>
      </p:sp>
      <p:graphicFrame>
        <p:nvGraphicFramePr>
          <p:cNvPr id="15" name="Table 0"/>
          <p:cNvGraphicFramePr>
            <a:graphicFrameLocks noGrp="1"/>
          </p:cNvGraphicFramePr>
          <p:nvPr/>
        </p:nvGraphicFramePr>
        <p:xfrm>
          <a:off x="640080" y="3063240"/>
          <a:ext cx="7863840" cy="1600200"/>
        </p:xfrm>
        <a:graphic>
          <a:graphicData uri="http://schemas.openxmlformats.org/drawingml/2006/table">
            <a:tbl>
              <a:tblPr/>
              <a:tblGrid>
                <a:gridCol w="21031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320040">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Format</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Example</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Best for</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XML tags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&lt;context&gt;...&lt;/context&gt;</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Claude, OpenAI</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LABEL: sections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ROLE: / CONSTRAINTS:</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Quick UIs, Gemini 3</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Markdown</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 Instructions</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General readability</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2004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Triple quotes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Consolas" pitchFamily="34" charset="0"/>
                          <a:ea typeface="Consolas" pitchFamily="34" charset="-122"/>
                          <a:cs typeface="Consolas" pitchFamily="34" charset="-120"/>
                        </a:rPr>
                        <a:t>"""content"""</a:t>
                      </a:r>
                      <a:endParaRPr lang="en-US" sz="1000" dirty="0">
                        <a:latin typeface="Consolas" charset="0"/>
                        <a:ea typeface="Consolas" charset="0"/>
                        <a:cs typeface="Consola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64748B"/>
                          </a:solidFill>
                          <a:latin typeface="Segoe UI" pitchFamily="34" charset="0"/>
                          <a:ea typeface="Segoe UI" pitchFamily="34" charset="-122"/>
                          <a:cs typeface="Segoe UI" pitchFamily="34" charset="-120"/>
                        </a:rPr>
                        <a:t>Data vs instructions</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3649544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8</a:t>
            </a:r>
            <a:endParaRPr lang="en-US" sz="1800" dirty="0"/>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FFFFFF"/>
                </a:solidFill>
                <a:latin typeface="Segoe UI Black" pitchFamily="34" charset="0"/>
                <a:ea typeface="Segoe UI Black" pitchFamily="34" charset="-122"/>
                <a:cs typeface="Segoe UI Black" pitchFamily="34" charset="-120"/>
              </a:rPr>
              <a:t>Schema Extraction</a:t>
            </a:r>
            <a:endParaRPr lang="en-US" sz="3200" dirty="0"/>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i="1" dirty="0">
                <a:solidFill>
                  <a:srgbClr val="00BFA6"/>
                </a:solidFill>
                <a:latin typeface="Segoe UI" pitchFamily="34" charset="0"/>
                <a:ea typeface="Segoe UI" pitchFamily="34" charset="-122"/>
                <a:cs typeface="Segoe UI" pitchFamily="34" charset="-120"/>
              </a:rPr>
              <a:t>The biggest practical difference between UI and API.</a:t>
            </a:r>
            <a:endParaRPr lang="en-US" sz="1400" dirty="0"/>
          </a:p>
        </p:txBody>
      </p:sp>
      <p:sp>
        <p:nvSpPr>
          <p:cNvPr id="6" name="Shape 4"/>
          <p:cNvSpPr/>
          <p:nvPr/>
        </p:nvSpPr>
        <p:spPr>
          <a:xfrm>
            <a:off x="640080" y="1463040"/>
            <a:ext cx="3749040" cy="2926080"/>
          </a:xfrm>
          <a:prstGeom prst="rect">
            <a:avLst/>
          </a:prstGeom>
          <a:solidFill>
            <a:srgbClr val="232B45"/>
          </a:solidFill>
          <a:ln/>
        </p:spPr>
        <p:txBody>
          <a:bodyPr/>
          <a:lstStyle/>
          <a:p>
            <a:endParaRPr lang="en-US"/>
          </a:p>
        </p:txBody>
      </p:sp>
      <p:sp>
        <p:nvSpPr>
          <p:cNvPr id="7" name="Shape 5"/>
          <p:cNvSpPr/>
          <p:nvPr/>
        </p:nvSpPr>
        <p:spPr>
          <a:xfrm>
            <a:off x="640080" y="1463040"/>
            <a:ext cx="3749040" cy="54864"/>
          </a:xfrm>
          <a:prstGeom prst="rect">
            <a:avLst/>
          </a:prstGeom>
          <a:solidFill>
            <a:srgbClr val="8892A0"/>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B8C4D6"/>
                </a:solidFill>
                <a:latin typeface="Segoe UI" pitchFamily="34" charset="0"/>
                <a:ea typeface="Segoe UI" pitchFamily="34" charset="-122"/>
                <a:cs typeface="Segoe UI" pitchFamily="34" charset="-120"/>
              </a:rPr>
              <a:t>UI: Best-Effort</a:t>
            </a:r>
            <a:endParaRPr lang="en-US" sz="1600" dirty="0"/>
          </a:p>
        </p:txBody>
      </p:sp>
      <p:sp>
        <p:nvSpPr>
          <p:cNvPr id="9" name="Text 7"/>
          <p:cNvSpPr/>
          <p:nvPr/>
        </p:nvSpPr>
        <p:spPr>
          <a:xfrm>
            <a:off x="914400" y="2103120"/>
            <a:ext cx="3200400" cy="2011680"/>
          </a:xfrm>
          <a:prstGeom prst="rect">
            <a:avLst/>
          </a:prstGeom>
          <a:noFill/>
          <a:ln/>
        </p:spPr>
        <p:txBody>
          <a:bodyPr wrap="square" lIns="0" tIns="0" rIns="0" bIns="0" rtlCol="0" anchor="ctr"/>
          <a:lstStyle/>
          <a:p>
            <a:pPr marL="0" indent="0">
              <a:buNone/>
            </a:pPr>
            <a:r>
              <a:rPr lang="en-US" sz="1200" dirty="0">
                <a:solidFill>
                  <a:srgbClr val="B8C4D6"/>
                </a:solidFill>
                <a:latin typeface="Consolas" pitchFamily="34" charset="0"/>
                <a:ea typeface="Consolas" pitchFamily="34" charset="-122"/>
                <a:cs typeface="Consolas" pitchFamily="34" charset="-120"/>
              </a:rPr>
              <a:t>Extract into JSON with</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exactly these keys:</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party_name, jurisdiction,</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effective_date,</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termination_summary</a:t>
            </a:r>
            <a:endParaRPr lang="en-US" sz="1200" dirty="0"/>
          </a:p>
          <a:p>
            <a:pPr marL="0" indent="0">
              <a:buNone/>
            </a:pP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If unknown, set null.</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No extra keys.</a:t>
            </a:r>
            <a:endParaRPr lang="en-US" sz="1200" dirty="0"/>
          </a:p>
        </p:txBody>
      </p:sp>
      <p:sp>
        <p:nvSpPr>
          <p:cNvPr id="10" name="Shape 8"/>
          <p:cNvSpPr/>
          <p:nvPr/>
        </p:nvSpPr>
        <p:spPr>
          <a:xfrm>
            <a:off x="4754880" y="1463040"/>
            <a:ext cx="3749040" cy="2926080"/>
          </a:xfrm>
          <a:prstGeom prst="rect">
            <a:avLst/>
          </a:prstGeom>
          <a:solidFill>
            <a:srgbClr val="232B45"/>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00BFA6"/>
                </a:solidFill>
                <a:latin typeface="Segoe UI" pitchFamily="34" charset="0"/>
                <a:ea typeface="Segoe UI" pitchFamily="34" charset="-122"/>
                <a:cs typeface="Segoe UI" pitchFamily="34" charset="-120"/>
              </a:rPr>
              <a:t>API: Enforced</a:t>
            </a:r>
            <a:endParaRPr lang="en-US" sz="1600" dirty="0"/>
          </a:p>
        </p:txBody>
      </p:sp>
      <p:sp>
        <p:nvSpPr>
          <p:cNvPr id="13" name="Text 11"/>
          <p:cNvSpPr/>
          <p:nvPr/>
        </p:nvSpPr>
        <p:spPr>
          <a:xfrm>
            <a:off x="5029200" y="2103120"/>
            <a:ext cx="3200400" cy="2011680"/>
          </a:xfrm>
          <a:prstGeom prst="rect">
            <a:avLst/>
          </a:prstGeom>
          <a:noFill/>
          <a:ln/>
        </p:spPr>
        <p:txBody>
          <a:bodyPr wrap="square" lIns="0" tIns="0" rIns="0" bIns="0"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OpenAI: </a:t>
            </a:r>
            <a:r>
              <a:rPr lang="en-US" sz="1200" dirty="0">
                <a:solidFill>
                  <a:srgbClr val="B8C4D6"/>
                </a:solidFill>
                <a:latin typeface="Segoe UI" pitchFamily="34" charset="0"/>
                <a:ea typeface="Segoe UI" pitchFamily="34" charset="-122"/>
                <a:cs typeface="Segoe UI" pitchFamily="34" charset="-120"/>
              </a:rPr>
              <a:t>text.format with</a:t>
            </a:r>
            <a:endParaRPr lang="en-US" sz="1200" dirty="0"/>
          </a:p>
          <a:p>
            <a:pPr marL="0" indent="0">
              <a:buNone/>
            </a:pPr>
            <a:r>
              <a:rPr lang="en-US" sz="1200" dirty="0">
                <a:solidFill>
                  <a:srgbClr val="B8C4D6"/>
                </a:solidFill>
                <a:latin typeface="Segoe UI" pitchFamily="34" charset="0"/>
                <a:ea typeface="Segoe UI" pitchFamily="34" charset="-122"/>
                <a:cs typeface="Segoe UI" pitchFamily="34" charset="-120"/>
              </a:rPr>
              <a:t>strict: true → guaranteed shape</a:t>
            </a:r>
            <a:endParaRPr lang="en-US" sz="1200" dirty="0"/>
          </a:p>
          <a:p>
            <a:pPr marL="0" indent="0">
              <a:buNone/>
            </a:pPr>
            <a:r>
              <a:rPr lang="en-US" sz="1200" dirty="0">
                <a:solidFill>
                  <a:srgbClr val="000000"/>
                </a:solidFill>
                <a:latin typeface="Segoe UI" pitchFamily="34" charset="0"/>
                <a:ea typeface="Segoe UI" pitchFamily="34" charset="-122"/>
                <a:cs typeface="Segoe UI" pitchFamily="34" charset="-120"/>
              </a:rPr>
              <a:t>
</a:t>
            </a:r>
            <a:endParaRPr lang="en-US" sz="1200" dirty="0"/>
          </a:p>
          <a:p>
            <a:pPr marL="0" indent="0">
              <a:buNone/>
            </a:pPr>
            <a:r>
              <a:rPr lang="en-US" sz="1200" b="1" dirty="0">
                <a:solidFill>
                  <a:srgbClr val="FFFFFF"/>
                </a:solidFill>
                <a:latin typeface="Segoe UI" pitchFamily="34" charset="0"/>
                <a:ea typeface="Segoe UI" pitchFamily="34" charset="-122"/>
                <a:cs typeface="Segoe UI" pitchFamily="34" charset="-120"/>
              </a:rPr>
              <a:t>Anthropic: </a:t>
            </a:r>
            <a:r>
              <a:rPr lang="en-US" sz="1200" dirty="0">
                <a:solidFill>
                  <a:srgbClr val="B8C4D6"/>
                </a:solidFill>
                <a:latin typeface="Segoe UI" pitchFamily="34" charset="0"/>
                <a:ea typeface="Segoe UI" pitchFamily="34" charset="-122"/>
                <a:cs typeface="Segoe UI" pitchFamily="34" charset="-120"/>
              </a:rPr>
              <a:t>Prefilling + tool-use</a:t>
            </a:r>
            <a:endParaRPr lang="en-US" sz="1200" dirty="0"/>
          </a:p>
          <a:p>
            <a:pPr marL="0" indent="0">
              <a:buNone/>
            </a:pPr>
            <a:r>
              <a:rPr lang="en-US" sz="1200" dirty="0">
                <a:solidFill>
                  <a:srgbClr val="B8C4D6"/>
                </a:solidFill>
                <a:latin typeface="Segoe UI" pitchFamily="34" charset="0"/>
                <a:ea typeface="Segoe UI" pitchFamily="34" charset="-122"/>
                <a:cs typeface="Segoe UI" pitchFamily="34" charset="-120"/>
              </a:rPr>
              <a:t>schemas → enforced structure</a:t>
            </a:r>
            <a:endParaRPr lang="en-US" sz="1200" dirty="0"/>
          </a:p>
        </p:txBody>
      </p:sp>
      <p:sp>
        <p:nvSpPr>
          <p:cNvPr id="14" name="Text 12"/>
          <p:cNvSpPr/>
          <p:nvPr/>
        </p:nvSpPr>
        <p:spPr>
          <a:xfrm>
            <a:off x="640080" y="4572000"/>
            <a:ext cx="7772400" cy="320040"/>
          </a:xfrm>
          <a:prstGeom prst="rect">
            <a:avLst/>
          </a:prstGeom>
          <a:noFill/>
          <a:ln/>
        </p:spPr>
        <p:txBody>
          <a:bodyPr wrap="square" lIns="0" tIns="0" rIns="0" bIns="0" rtlCol="0" anchor="ctr"/>
          <a:lstStyle/>
          <a:p>
            <a:pPr marL="0" indent="0">
              <a:buNone/>
            </a:pPr>
            <a:r>
              <a:rPr lang="en-US" sz="1200" i="1" dirty="0">
                <a:solidFill>
                  <a:srgbClr val="B8C4D6"/>
                </a:solidFill>
                <a:latin typeface="Segoe UI" pitchFamily="34" charset="0"/>
                <a:ea typeface="Segoe UI" pitchFamily="34" charset="-122"/>
                <a:cs typeface="Segoe UI" pitchFamily="34" charset="-120"/>
              </a:rPr>
              <a:t>If you're building a pipeline that parses model output, always use API-level enforcement.</a:t>
            </a:r>
            <a:endParaRPr lang="en-US" sz="1200" dirty="0"/>
          </a:p>
        </p:txBody>
      </p:sp>
    </p:spTree>
    <p:extLst>
      <p:ext uri="{BB962C8B-B14F-4D97-AF65-F5344CB8AC3E}">
        <p14:creationId xmlns:p14="http://schemas.microsoft.com/office/powerpoint/2010/main" val="20543028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9</a:t>
            </a:r>
            <a:endParaRPr lang="en-US" sz="1800" dirty="0"/>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Reasoning Depth</a:t>
            </a:r>
            <a:endParaRPr lang="en-US" sz="3200" dirty="0"/>
          </a:p>
        </p:txBody>
      </p:sp>
      <p:sp>
        <p:nvSpPr>
          <p:cNvPr id="5" name="Text 3"/>
          <p:cNvSpPr/>
          <p:nvPr/>
        </p:nvSpPr>
        <p:spPr>
          <a:xfrm>
            <a:off x="640080" y="914400"/>
            <a:ext cx="7772400" cy="320040"/>
          </a:xfrm>
          <a:prstGeom prst="rect">
            <a:avLst/>
          </a:prstGeom>
          <a:noFill/>
          <a:ln/>
        </p:spPr>
        <p:txBody>
          <a:bodyPr wrap="square" lIns="0" tIns="0" rIns="0" bIns="0" rtlCol="0" anchor="ctr"/>
          <a:lstStyle/>
          <a:p>
            <a:pPr marL="0" indent="0">
              <a:buNone/>
            </a:pPr>
            <a:r>
              <a:rPr lang="en-US" sz="1400" dirty="0">
                <a:solidFill>
                  <a:srgbClr val="64748B"/>
                </a:solidFill>
                <a:latin typeface="Segoe UI" pitchFamily="34" charset="0"/>
                <a:ea typeface="Segoe UI" pitchFamily="34" charset="-122"/>
                <a:cs typeface="Segoe UI" pitchFamily="34" charset="-120"/>
              </a:rPr>
              <a:t>Trade off latency/cost vs. correctness. Not all tasks need deep reasoning.</a:t>
            </a:r>
            <a:endParaRPr lang="en-US" sz="1400" dirty="0"/>
          </a:p>
        </p:txBody>
      </p:sp>
      <p:graphicFrame>
        <p:nvGraphicFramePr>
          <p:cNvPr id="14" name="Table 0"/>
          <p:cNvGraphicFramePr>
            <a:graphicFrameLocks noGrp="1"/>
          </p:cNvGraphicFramePr>
          <p:nvPr/>
        </p:nvGraphicFramePr>
        <p:xfrm>
          <a:off x="640080" y="1371600"/>
          <a:ext cx="7863840" cy="1508760"/>
        </p:xfrm>
        <a:graphic>
          <a:graphicData uri="http://schemas.openxmlformats.org/drawingml/2006/table">
            <a:tbl>
              <a:tblPr/>
              <a:tblGrid>
                <a:gridCol w="13716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320040">
                <a:tc>
                  <a:txBody>
                    <a:bodyPr/>
                    <a:lstStyle/>
                    <a:p>
                      <a:pPr marL="0" indent="0">
                        <a:buNone/>
                      </a:pP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OpenAI</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Anthropic</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tc>
                  <a:txBody>
                    <a:bodyPr/>
                    <a:lstStyle/>
                    <a:p>
                      <a:pPr marL="0" indent="0">
                        <a:buNone/>
                      </a:pPr>
                      <a:r>
                        <a:rPr lang="en-US" sz="1100" b="1" dirty="0">
                          <a:solidFill>
                            <a:srgbClr val="FFFFFF"/>
                          </a:solidFill>
                          <a:latin typeface="Segoe UI" pitchFamily="34" charset="0"/>
                          <a:ea typeface="Segoe UI" pitchFamily="34" charset="-122"/>
                          <a:cs typeface="Segoe UI" pitchFamily="34" charset="-120"/>
                        </a:rPr>
                        <a:t>Google</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59436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Knob</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reasoning.effort</a:t>
                      </a:r>
                      <a:endParaRPr lang="en-US" sz="1000" dirty="0">
                        <a:latin typeface="Segoe UI" charset="0"/>
                        <a:ea typeface="Segoe UI" charset="0"/>
                        <a:cs typeface="Segoe UI" charset="0"/>
                      </a:endParaRPr>
                    </a:p>
                    <a:p>
                      <a:pPr marL="0" indent="0">
                        <a:buNone/>
                      </a:pPr>
                      <a:r>
                        <a:rPr lang="en-US" sz="1000" dirty="0">
                          <a:solidFill>
                            <a:srgbClr val="64748B"/>
                          </a:solidFill>
                          <a:latin typeface="Segoe UI" pitchFamily="34" charset="0"/>
                          <a:ea typeface="Segoe UI" pitchFamily="34" charset="-122"/>
                          <a:cs typeface="Segoe UI" pitchFamily="34" charset="-120"/>
                        </a:rPr>
                        <a:t>(none/low/med/high)</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thinking.budget_tokens</a:t>
                      </a:r>
                      <a:endParaRPr lang="en-US" sz="1000" dirty="0">
                        <a:latin typeface="Segoe UI" charset="0"/>
                        <a:ea typeface="Segoe UI" charset="0"/>
                        <a:cs typeface="Segoe UI" charset="0"/>
                      </a:endParaRPr>
                    </a:p>
                    <a:p>
                      <a:pPr marL="0" indent="0">
                        <a:buNone/>
                      </a:pPr>
                      <a:r>
                        <a:rPr lang="en-US" sz="1000" dirty="0">
                          <a:solidFill>
                            <a:srgbClr val="64748B"/>
                          </a:solidFill>
                          <a:latin typeface="Segoe UI" pitchFamily="34" charset="0"/>
                          <a:ea typeface="Segoe UI" pitchFamily="34" charset="-122"/>
                          <a:cs typeface="Segoe UI" pitchFamily="34" charset="-120"/>
                        </a:rPr>
                        <a:t>(extended thinking)</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Model selection</a:t>
                      </a:r>
                      <a:endParaRPr lang="en-US" sz="1000" dirty="0">
                        <a:latin typeface="Segoe UI" charset="0"/>
                        <a:ea typeface="Segoe UI" charset="0"/>
                        <a:cs typeface="Segoe UI" charset="0"/>
                      </a:endParaRPr>
                    </a:p>
                    <a:p>
                      <a:pPr marL="0" indent="0">
                        <a:buNone/>
                      </a:pPr>
                      <a:r>
                        <a:rPr lang="en-US" sz="1000" dirty="0">
                          <a:solidFill>
                            <a:srgbClr val="64748B"/>
                          </a:solidFill>
                          <a:latin typeface="Segoe UI" pitchFamily="34" charset="0"/>
                          <a:ea typeface="Segoe UI" pitchFamily="34" charset="-122"/>
                          <a:cs typeface="Segoe UI" pitchFamily="34" charset="-120"/>
                        </a:rPr>
                        <a:t>(Flash vs Pro)</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buNone/>
                      </a:pPr>
                      <a:r>
                        <a:rPr lang="en-US" sz="1100" b="1" dirty="0">
                          <a:solidFill>
                            <a:srgbClr val="1A2744"/>
                          </a:solidFill>
                          <a:latin typeface="Segoe UI" pitchFamily="34" charset="0"/>
                          <a:ea typeface="Segoe UI" pitchFamily="34" charset="-122"/>
                          <a:cs typeface="Segoe UI" pitchFamily="34" charset="-120"/>
                        </a:rPr>
                        <a:t>Best for</a:t>
                      </a:r>
                      <a:endParaRPr lang="en-US" sz="11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Granular effort tuning</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Complex multi-step;</a:t>
                      </a:r>
                      <a:endParaRPr lang="en-US" sz="1000" dirty="0">
                        <a:latin typeface="Segoe UI" charset="0"/>
                        <a:ea typeface="Segoe UI" charset="0"/>
                        <a:cs typeface="Segoe UI" charset="0"/>
                      </a:endParaRPr>
                    </a:p>
                    <a:p>
                      <a:pPr marL="0" indent="0">
                        <a:buNone/>
                      </a:pPr>
                      <a:r>
                        <a:rPr lang="en-US" sz="1000" dirty="0">
                          <a:solidFill>
                            <a:srgbClr val="64748B"/>
                          </a:solidFill>
                          <a:latin typeface="Segoe UI" pitchFamily="34" charset="0"/>
                          <a:ea typeface="Segoe UI" pitchFamily="34" charset="-122"/>
                          <a:cs typeface="Segoe UI" pitchFamily="34" charset="-120"/>
                        </a:rPr>
                        <a:t>interleaved thinking</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000" dirty="0">
                          <a:solidFill>
                            <a:srgbClr val="64748B"/>
                          </a:solidFill>
                          <a:latin typeface="Segoe UI" pitchFamily="34" charset="0"/>
                          <a:ea typeface="Segoe UI" pitchFamily="34" charset="-122"/>
                          <a:cs typeface="Segoe UI" pitchFamily="34" charset="-120"/>
                        </a:rPr>
                        <a:t>Binary model choice</a:t>
                      </a:r>
                      <a:endParaRPr lang="en-US" sz="1000" dirty="0">
                        <a:latin typeface="Segoe UI" charset="0"/>
                        <a:ea typeface="Segoe UI" charset="0"/>
                        <a:cs typeface="Segoe U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 name="Shape 4"/>
          <p:cNvSpPr/>
          <p:nvPr/>
        </p:nvSpPr>
        <p:spPr>
          <a:xfrm>
            <a:off x="640080" y="2926080"/>
            <a:ext cx="3749040" cy="1371600"/>
          </a:xfrm>
          <a:prstGeom prst="rect">
            <a:avLst/>
          </a:prstGeom>
          <a:solidFill>
            <a:srgbClr val="F5F7FA"/>
          </a:solidFill>
          <a:ln/>
        </p:spPr>
        <p:txBody>
          <a:bodyPr/>
          <a:lstStyle/>
          <a:p>
            <a:endParaRPr lang="en-US"/>
          </a:p>
        </p:txBody>
      </p:sp>
      <p:sp>
        <p:nvSpPr>
          <p:cNvPr id="8" name="Shape 5"/>
          <p:cNvSpPr/>
          <p:nvPr/>
        </p:nvSpPr>
        <p:spPr>
          <a:xfrm>
            <a:off x="640080" y="2926080"/>
            <a:ext cx="54864" cy="1371600"/>
          </a:xfrm>
          <a:prstGeom prst="rect">
            <a:avLst/>
          </a:prstGeom>
          <a:solidFill>
            <a:srgbClr val="00BFA6"/>
          </a:solidFill>
          <a:ln/>
        </p:spPr>
        <p:txBody>
          <a:bodyPr/>
          <a:lstStyle/>
          <a:p>
            <a:endParaRPr lang="en-US"/>
          </a:p>
        </p:txBody>
      </p:sp>
      <p:sp>
        <p:nvSpPr>
          <p:cNvPr id="9" name="Text 6"/>
          <p:cNvSpPr/>
          <p:nvPr/>
        </p:nvSpPr>
        <p:spPr>
          <a:xfrm>
            <a:off x="914400" y="3017520"/>
            <a:ext cx="3200400" cy="274320"/>
          </a:xfrm>
          <a:prstGeom prst="rect">
            <a:avLst/>
          </a:prstGeom>
          <a:noFill/>
          <a:ln/>
        </p:spPr>
        <p:txBody>
          <a:bodyPr wrap="square" lIns="0" tIns="0" rIns="0" bIns="0" rtlCol="0" anchor="ctr"/>
          <a:lstStyle/>
          <a:p>
            <a:pPr marL="0" indent="0">
              <a:buNone/>
            </a:pPr>
            <a:r>
              <a:rPr lang="en-US" sz="1400" b="1" dirty="0">
                <a:solidFill>
                  <a:srgbClr val="1A2744"/>
                </a:solidFill>
                <a:latin typeface="Segoe UI" pitchFamily="34" charset="0"/>
                <a:ea typeface="Segoe UI" pitchFamily="34" charset="-122"/>
                <a:cs typeface="Segoe UI" pitchFamily="34" charset="-120"/>
              </a:rPr>
              <a:t>The Calibration Principle</a:t>
            </a:r>
            <a:endParaRPr lang="en-US" sz="1400" dirty="0"/>
          </a:p>
        </p:txBody>
      </p:sp>
      <p:sp>
        <p:nvSpPr>
          <p:cNvPr id="10" name="Text 7"/>
          <p:cNvSpPr/>
          <p:nvPr/>
        </p:nvSpPr>
        <p:spPr>
          <a:xfrm>
            <a:off x="914400" y="3337560"/>
            <a:ext cx="3200400" cy="82296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Deep reasoning: 10/10 for complex tasks (math, code debugging). 3/10 for simple tasks (classification, formatting). Over-reasoning adds cost without quality.</a:t>
            </a:r>
            <a:endParaRPr lang="en-US" sz="1200" dirty="0"/>
          </a:p>
        </p:txBody>
      </p:sp>
      <p:sp>
        <p:nvSpPr>
          <p:cNvPr id="11" name="Shape 8"/>
          <p:cNvSpPr/>
          <p:nvPr/>
        </p:nvSpPr>
        <p:spPr>
          <a:xfrm>
            <a:off x="4754880" y="2926080"/>
            <a:ext cx="3749040" cy="1371600"/>
          </a:xfrm>
          <a:prstGeom prst="rect">
            <a:avLst/>
          </a:prstGeom>
          <a:solidFill>
            <a:srgbClr val="F5F7FA"/>
          </a:solidFill>
          <a:ln/>
        </p:spPr>
        <p:txBody>
          <a:bodyPr/>
          <a:lstStyle/>
          <a:p>
            <a:endParaRPr lang="en-US"/>
          </a:p>
        </p:txBody>
      </p:sp>
      <p:sp>
        <p:nvSpPr>
          <p:cNvPr id="12" name="Shape 9"/>
          <p:cNvSpPr/>
          <p:nvPr/>
        </p:nvSpPr>
        <p:spPr>
          <a:xfrm>
            <a:off x="4754880" y="2926080"/>
            <a:ext cx="54864" cy="1371600"/>
          </a:xfrm>
          <a:prstGeom prst="rect">
            <a:avLst/>
          </a:prstGeom>
          <a:solidFill>
            <a:srgbClr val="00BFA6"/>
          </a:solidFill>
          <a:ln/>
        </p:spPr>
        <p:txBody>
          <a:bodyPr/>
          <a:lstStyle/>
          <a:p>
            <a:endParaRPr lang="en-US"/>
          </a:p>
        </p:txBody>
      </p:sp>
      <p:sp>
        <p:nvSpPr>
          <p:cNvPr id="13" name="Text 10"/>
          <p:cNvSpPr/>
          <p:nvPr/>
        </p:nvSpPr>
        <p:spPr>
          <a:xfrm>
            <a:off x="5029200" y="3017520"/>
            <a:ext cx="3200400" cy="274320"/>
          </a:xfrm>
          <a:prstGeom prst="rect">
            <a:avLst/>
          </a:prstGeom>
          <a:noFill/>
          <a:ln/>
        </p:spPr>
        <p:txBody>
          <a:bodyPr wrap="square" lIns="0" tIns="0" rIns="0" bIns="0" rtlCol="0" anchor="ctr"/>
          <a:lstStyle/>
          <a:p>
            <a:pPr marL="0" indent="0">
              <a:buNone/>
            </a:pPr>
            <a:r>
              <a:rPr lang="en-US" sz="1400" b="1" dirty="0">
                <a:solidFill>
                  <a:srgbClr val="1A2744"/>
                </a:solidFill>
                <a:latin typeface="Segoe UI" pitchFamily="34" charset="0"/>
                <a:ea typeface="Segoe UI" pitchFamily="34" charset="-122"/>
                <a:cs typeface="Segoe UI" pitchFamily="34" charset="-120"/>
              </a:rPr>
              <a:t>Interleaved Thinking</a:t>
            </a:r>
            <a:endParaRPr lang="en-US" sz="1400" dirty="0"/>
          </a:p>
        </p:txBody>
      </p:sp>
      <p:sp>
        <p:nvSpPr>
          <p:cNvPr id="6" name="Text 11"/>
          <p:cNvSpPr/>
          <p:nvPr/>
        </p:nvSpPr>
        <p:spPr>
          <a:xfrm>
            <a:off x="5029200" y="3337560"/>
            <a:ext cx="3200400" cy="82296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Anthropic-specific: Claude can reflect after receiving tool results before proceeding. Useful in agentic workflows for quality evaluation.</a:t>
            </a:r>
            <a:endParaRPr lang="en-US" sz="1200" dirty="0"/>
          </a:p>
        </p:txBody>
      </p:sp>
    </p:spTree>
    <p:extLst>
      <p:ext uri="{BB962C8B-B14F-4D97-AF65-F5344CB8AC3E}">
        <p14:creationId xmlns:p14="http://schemas.microsoft.com/office/powerpoint/2010/main" val="4260121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4">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640080" y="320040"/>
            <a:ext cx="594360" cy="411480"/>
          </a:xfrm>
          <a:prstGeom prst="rect">
            <a:avLst/>
          </a:prstGeom>
          <a:solidFill>
            <a:srgbClr val="00BFA6"/>
          </a:solidFill>
          <a:ln/>
        </p:spPr>
        <p:txBody>
          <a:bodyPr/>
          <a:lstStyle/>
          <a:p>
            <a:endParaRPr lang="en-US"/>
          </a:p>
        </p:txBody>
      </p:sp>
      <p:sp>
        <p:nvSpPr>
          <p:cNvPr id="3" name="Text 1"/>
          <p:cNvSpPr/>
          <p:nvPr/>
        </p:nvSpPr>
        <p:spPr>
          <a:xfrm>
            <a:off x="640080" y="320040"/>
            <a:ext cx="5943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10</a:t>
            </a:r>
            <a:endParaRPr lang="en-US" sz="1600" dirty="0"/>
          </a:p>
        </p:txBody>
      </p:sp>
      <p:sp>
        <p:nvSpPr>
          <p:cNvPr id="4" name="Text 2"/>
          <p:cNvSpPr/>
          <p:nvPr/>
        </p:nvSpPr>
        <p:spPr>
          <a:xfrm>
            <a:off x="1417320" y="274320"/>
            <a:ext cx="6400800" cy="502920"/>
          </a:xfrm>
          <a:prstGeom prst="rect">
            <a:avLst/>
          </a:prstGeom>
          <a:noFill/>
          <a:ln/>
        </p:spPr>
        <p:txBody>
          <a:bodyPr wrap="square" lIns="0" tIns="0" rIns="0" bIns="0" rtlCol="0" anchor="ctr"/>
          <a:lstStyle/>
          <a:p>
            <a:pPr marL="0" indent="0">
              <a:buNone/>
            </a:pPr>
            <a:r>
              <a:rPr lang="en-US" sz="3200" b="1" dirty="0">
                <a:solidFill>
                  <a:srgbClr val="FFFFFF"/>
                </a:solidFill>
                <a:latin typeface="Segoe UI Black" pitchFamily="34" charset="0"/>
                <a:ea typeface="Segoe UI Black" pitchFamily="34" charset="-122"/>
                <a:cs typeface="Segoe UI Black" pitchFamily="34" charset="-120"/>
              </a:rPr>
              <a:t>Long-Context Placement</a:t>
            </a:r>
            <a:endParaRPr lang="en-US" sz="3200" dirty="0"/>
          </a:p>
        </p:txBody>
      </p:sp>
      <p:sp>
        <p:nvSpPr>
          <p:cNvPr id="5" name="Text 3"/>
          <p:cNvSpPr/>
          <p:nvPr/>
        </p:nvSpPr>
        <p:spPr>
          <a:xfrm>
            <a:off x="640080" y="914400"/>
            <a:ext cx="7772400" cy="320040"/>
          </a:xfrm>
          <a:prstGeom prst="rect">
            <a:avLst/>
          </a:prstGeom>
          <a:noFill/>
          <a:ln/>
        </p:spPr>
        <p:txBody>
          <a:bodyPr wrap="square" lIns="0" tIns="0" rIns="0" bIns="0" rtlCol="0" anchor="ctr"/>
          <a:lstStyle/>
          <a:p>
            <a:pPr marL="0" indent="0">
              <a:buNone/>
            </a:pPr>
            <a:r>
              <a:rPr lang="en-US" sz="1400" i="1" dirty="0">
                <a:solidFill>
                  <a:srgbClr val="00BFA6"/>
                </a:solidFill>
                <a:latin typeface="Segoe UI" pitchFamily="34" charset="0"/>
                <a:ea typeface="Segoe UI" pitchFamily="34" charset="-122"/>
                <a:cs typeface="Segoe UI" pitchFamily="34" charset="-120"/>
              </a:rPr>
              <a:t>Where you place instructions relative to data significantly affects quality.</a:t>
            </a:r>
            <a:endParaRPr lang="en-US" sz="1400" dirty="0"/>
          </a:p>
        </p:txBody>
      </p:sp>
      <p:sp>
        <p:nvSpPr>
          <p:cNvPr id="6" name="Shape 4"/>
          <p:cNvSpPr/>
          <p:nvPr/>
        </p:nvSpPr>
        <p:spPr>
          <a:xfrm>
            <a:off x="640080" y="1463040"/>
            <a:ext cx="3749040" cy="2560320"/>
          </a:xfrm>
          <a:prstGeom prst="rect">
            <a:avLst/>
          </a:prstGeom>
          <a:solidFill>
            <a:srgbClr val="232B45"/>
          </a:solidFill>
          <a:ln/>
        </p:spPr>
        <p:txBody>
          <a:bodyPr/>
          <a:lstStyle/>
          <a:p>
            <a:endParaRPr lang="en-US"/>
          </a:p>
        </p:txBody>
      </p:sp>
      <p:sp>
        <p:nvSpPr>
          <p:cNvPr id="7" name="Shape 5"/>
          <p:cNvSpPr/>
          <p:nvPr/>
        </p:nvSpPr>
        <p:spPr>
          <a:xfrm>
            <a:off x="640080" y="1463040"/>
            <a:ext cx="3749040" cy="54864"/>
          </a:xfrm>
          <a:prstGeom prst="rect">
            <a:avLst/>
          </a:prstGeom>
          <a:solidFill>
            <a:srgbClr val="FF6B6B"/>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FF6B6B"/>
                </a:solidFill>
                <a:latin typeface="Segoe UI" pitchFamily="34" charset="0"/>
                <a:ea typeface="Segoe UI" pitchFamily="34" charset="-122"/>
                <a:cs typeface="Segoe UI" pitchFamily="34" charset="-120"/>
              </a:rPr>
              <a:t>Poor Placement (maybe)</a:t>
            </a:r>
            <a:endParaRPr lang="en-US" sz="1600" dirty="0"/>
          </a:p>
        </p:txBody>
      </p:sp>
      <p:sp>
        <p:nvSpPr>
          <p:cNvPr id="9" name="Text 7"/>
          <p:cNvSpPr/>
          <p:nvPr/>
        </p:nvSpPr>
        <p:spPr>
          <a:xfrm>
            <a:off x="914400" y="2103120"/>
            <a:ext cx="3200400" cy="1645920"/>
          </a:xfrm>
          <a:prstGeom prst="rect">
            <a:avLst/>
          </a:prstGeom>
          <a:noFill/>
          <a:ln/>
        </p:spPr>
        <p:txBody>
          <a:bodyPr wrap="square" lIns="0" tIns="0" rIns="0" bIns="0" rtlCol="0" anchor="ctr"/>
          <a:lstStyle/>
          <a:p>
            <a:pPr marL="0" indent="0">
              <a:buNone/>
            </a:pPr>
            <a:r>
              <a:rPr lang="en-US" sz="1200" dirty="0">
                <a:solidFill>
                  <a:srgbClr val="B8C4D6"/>
                </a:solidFill>
                <a:latin typeface="Consolas" pitchFamily="34" charset="0"/>
                <a:ea typeface="Consolas" pitchFamily="34" charset="-122"/>
                <a:cs typeface="Consolas" pitchFamily="34" charset="-120"/>
              </a:rPr>
              <a:t>Answer these questions:</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 Retention period?</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2. Backup procedures?</a:t>
            </a:r>
            <a:endParaRPr lang="en-US" sz="1200" dirty="0"/>
          </a:p>
          <a:p>
            <a:pPr marL="0" indent="0">
              <a:buNone/>
            </a:pP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Document:</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[15,000 words of policy...]</a:t>
            </a:r>
            <a:endParaRPr lang="en-US" sz="1200" dirty="0"/>
          </a:p>
        </p:txBody>
      </p:sp>
      <p:sp>
        <p:nvSpPr>
          <p:cNvPr id="10" name="Shape 8"/>
          <p:cNvSpPr/>
          <p:nvPr/>
        </p:nvSpPr>
        <p:spPr>
          <a:xfrm>
            <a:off x="4754880" y="1463040"/>
            <a:ext cx="3749040" cy="2560320"/>
          </a:xfrm>
          <a:prstGeom prst="rect">
            <a:avLst/>
          </a:prstGeom>
          <a:solidFill>
            <a:srgbClr val="232B45"/>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00BFA6"/>
                </a:solidFill>
                <a:latin typeface="Segoe UI" pitchFamily="34" charset="0"/>
                <a:ea typeface="Segoe UI" pitchFamily="34" charset="-122"/>
                <a:cs typeface="Segoe UI" pitchFamily="34" charset="-120"/>
              </a:rPr>
              <a:t>Good Placement (maybe)</a:t>
            </a:r>
            <a:endParaRPr lang="en-US" sz="1600" dirty="0"/>
          </a:p>
        </p:txBody>
      </p:sp>
      <p:sp>
        <p:nvSpPr>
          <p:cNvPr id="13" name="Text 11"/>
          <p:cNvSpPr/>
          <p:nvPr/>
        </p:nvSpPr>
        <p:spPr>
          <a:xfrm>
            <a:off x="5029200" y="2103120"/>
            <a:ext cx="3200400" cy="1645920"/>
          </a:xfrm>
          <a:prstGeom prst="rect">
            <a:avLst/>
          </a:prstGeom>
          <a:noFill/>
          <a:ln/>
        </p:spPr>
        <p:txBody>
          <a:bodyPr wrap="square" lIns="0" tIns="0" rIns="0" bIns="0" rtlCol="0" anchor="ctr"/>
          <a:lstStyle/>
          <a:p>
            <a:pPr marL="0" indent="0">
              <a:buNone/>
            </a:pPr>
            <a:r>
              <a:rPr lang="en-US" sz="1200" dirty="0">
                <a:solidFill>
                  <a:srgbClr val="B8C4D6"/>
                </a:solidFill>
                <a:latin typeface="Consolas" pitchFamily="34" charset="0"/>
                <a:ea typeface="Consolas" pitchFamily="34" charset="-122"/>
                <a:cs typeface="Consolas" pitchFamily="34" charset="-120"/>
              </a:rPr>
              <a:t>&lt;document&gt;</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[15,000 words of policy...]</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&lt;/document&gt;</a:t>
            </a:r>
            <a:endParaRPr lang="en-US" sz="1200" dirty="0"/>
          </a:p>
          <a:p>
            <a:pPr marL="0" indent="0">
              <a:buNone/>
            </a:pP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Based on the document above:</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1. Retention period?</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2. Backup procedures?</a:t>
            </a:r>
            <a:endParaRPr lang="en-US" sz="1200" dirty="0"/>
          </a:p>
          <a:p>
            <a:pPr marL="0" indent="0">
              <a:buNone/>
            </a:pPr>
            <a:r>
              <a:rPr lang="en-US" sz="1200" dirty="0">
                <a:solidFill>
                  <a:srgbClr val="B8C4D6"/>
                </a:solidFill>
                <a:latin typeface="Consolas" pitchFamily="34" charset="0"/>
                <a:ea typeface="Consolas" pitchFamily="34" charset="-122"/>
                <a:cs typeface="Consolas" pitchFamily="34" charset="-120"/>
              </a:rPr>
              <a:t>Cite relevant section numbers.</a:t>
            </a:r>
            <a:endParaRPr lang="en-US" sz="1200" dirty="0"/>
          </a:p>
        </p:txBody>
      </p:sp>
      <p:sp>
        <p:nvSpPr>
          <p:cNvPr id="14" name="Shape 12"/>
          <p:cNvSpPr/>
          <p:nvPr/>
        </p:nvSpPr>
        <p:spPr>
          <a:xfrm>
            <a:off x="640080" y="4251960"/>
            <a:ext cx="7863840" cy="640080"/>
          </a:xfrm>
          <a:prstGeom prst="rect">
            <a:avLst/>
          </a:prstGeom>
          <a:solidFill>
            <a:srgbClr val="00BFA6"/>
          </a:solidFill>
          <a:ln/>
        </p:spPr>
        <p:txBody>
          <a:bodyPr/>
          <a:lstStyle/>
          <a:p>
            <a:endParaRPr lang="en-US"/>
          </a:p>
        </p:txBody>
      </p:sp>
      <p:sp>
        <p:nvSpPr>
          <p:cNvPr id="15" name="Text 13"/>
          <p:cNvSpPr/>
          <p:nvPr/>
        </p:nvSpPr>
        <p:spPr>
          <a:xfrm>
            <a:off x="914400" y="4251960"/>
            <a:ext cx="7315200" cy="64008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The rule: Long data first → instructions last → query at the very end</a:t>
            </a:r>
            <a:endParaRPr lang="en-US" sz="1600" dirty="0"/>
          </a:p>
        </p:txBody>
      </p:sp>
    </p:spTree>
    <p:extLst>
      <p:ext uri="{BB962C8B-B14F-4D97-AF65-F5344CB8AC3E}">
        <p14:creationId xmlns:p14="http://schemas.microsoft.com/office/powerpoint/2010/main" val="3263484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4</a:t>
            </a: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Few-Shot Prompting</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Show the model what you want by providing examples in the prompt itself.</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The Technique</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Zero-shot:</a:t>
            </a:r>
            <a:r>
              <a:rPr lang="en-US" sz="1200" dirty="0">
                <a:solidFill>
                  <a:srgbClr val="1A2744"/>
                </a:solidFill>
                <a:latin typeface="Segoe UI" pitchFamily="34" charset="0"/>
                <a:ea typeface="Segoe UI" pitchFamily="34" charset="-122"/>
                <a:cs typeface="Segoe UI" pitchFamily="34" charset="-120"/>
              </a:rPr>
              <a:t> No examples. Relies entirely on the model's training.</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One-shot:</a:t>
            </a:r>
            <a:r>
              <a:rPr lang="en-US" sz="1200" dirty="0">
                <a:solidFill>
                  <a:srgbClr val="1A2744"/>
                </a:solidFill>
                <a:latin typeface="Segoe UI" pitchFamily="34" charset="0"/>
                <a:ea typeface="Segoe UI" pitchFamily="34" charset="-122"/>
                <a:cs typeface="Segoe UI" pitchFamily="34" charset="-120"/>
              </a:rPr>
              <a:t> One input–output pair shows the pattern.</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Few-shot (3–5):</a:t>
            </a:r>
            <a:r>
              <a:rPr lang="en-US" sz="1200" dirty="0">
                <a:solidFill>
                  <a:srgbClr val="1A2744"/>
                </a:solidFill>
                <a:latin typeface="Segoe UI" pitchFamily="34" charset="0"/>
                <a:ea typeface="Segoe UI" pitchFamily="34" charset="-122"/>
                <a:cs typeface="Segoe UI" pitchFamily="34" charset="-120"/>
              </a:rPr>
              <a:t> Multiple examples lock in format, tone, and edge cases.</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Best Practices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Diverse examples:</a:t>
            </a:r>
            <a:r>
              <a:rPr lang="en-US" sz="1200" dirty="0">
                <a:solidFill>
                  <a:srgbClr val="1A2744"/>
                </a:solidFill>
                <a:latin typeface="Segoe UI" pitchFamily="34" charset="0"/>
                <a:ea typeface="Segoe UI" pitchFamily="34" charset="-122"/>
                <a:cs typeface="Segoe UI" pitchFamily="34" charset="-120"/>
              </a:rPr>
              <a:t> Cover typical cases AND edge cases.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Consistent format:</a:t>
            </a:r>
            <a:r>
              <a:rPr lang="en-US" sz="1200" dirty="0">
                <a:solidFill>
                  <a:srgbClr val="1A2744"/>
                </a:solidFill>
                <a:latin typeface="Segoe UI" pitchFamily="34" charset="0"/>
                <a:ea typeface="Segoe UI" pitchFamily="34" charset="-122"/>
                <a:cs typeface="Segoe UI" pitchFamily="34" charset="-120"/>
              </a:rPr>
              <a:t> Use identical delimiters (Input: / Output:) in every example.</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Order matters:</a:t>
            </a:r>
            <a:r>
              <a:rPr lang="en-US" sz="1200" dirty="0">
                <a:solidFill>
                  <a:srgbClr val="1A2744"/>
                </a:solidFill>
                <a:latin typeface="Segoe UI" pitchFamily="34" charset="0"/>
                <a:ea typeface="Segoe UI" pitchFamily="34" charset="-122"/>
                <a:cs typeface="Segoe UI" pitchFamily="34" charset="-120"/>
              </a:rPr>
              <a:t> Place the most similar example last, closest to the actual task.</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Few-shot is the single most reliable way to control output format without fine-tuning.</a:t>
            </a:r>
          </a:p>
        </p:txBody>
      </p:sp>
    </p:spTree>
    <p:extLst>
      <p:ext uri="{BB962C8B-B14F-4D97-AF65-F5344CB8AC3E}">
        <p14:creationId xmlns:p14="http://schemas.microsoft.com/office/powerpoint/2010/main" val="14598291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5</a:t>
            </a: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Chain of Thought (CoT)</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Force the model to show its work before giving a final answer.</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Why It Works</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dirty="0">
                <a:solidFill>
                  <a:srgbClr val="1A2744"/>
                </a:solidFill>
                <a:latin typeface="Segoe UI" pitchFamily="34" charset="0"/>
                <a:ea typeface="Segoe UI" pitchFamily="34" charset="-122"/>
                <a:cs typeface="Segoe UI" pitchFamily="34" charset="-120"/>
              </a:rPr>
              <a:t>LLMs generate tokens sequentially. When you force intermediate reasoning steps, each subsequent token is conditioned on better context.</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Key insight:</a:t>
            </a:r>
            <a:r>
              <a:rPr lang="en-US" sz="1200" dirty="0">
                <a:solidFill>
                  <a:srgbClr val="1A2744"/>
                </a:solidFill>
                <a:latin typeface="Segoe UI" pitchFamily="34" charset="0"/>
                <a:ea typeface="Segoe UI" pitchFamily="34" charset="-122"/>
                <a:cs typeface="Segoe UI" pitchFamily="34" charset="-120"/>
              </a:rPr>
              <a:t> The model "thinks" by writing. No writing = no thinking. CoT gives the model scratch space.</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CoT Variants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Zero-shot CoT:</a:t>
            </a:r>
            <a:r>
              <a:rPr lang="en-US" sz="1200" dirty="0">
                <a:solidFill>
                  <a:srgbClr val="1A2744"/>
                </a:solidFill>
                <a:latin typeface="Segoe UI" pitchFamily="34" charset="0"/>
                <a:ea typeface="Segoe UI" pitchFamily="34" charset="-122"/>
                <a:cs typeface="Segoe UI" pitchFamily="34" charset="-120"/>
              </a:rPr>
              <a:t> Add "Let's think step by step" to trigger reasoning.</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Structured CoT:</a:t>
            </a:r>
            <a:r>
              <a:rPr lang="en-US" sz="1200" dirty="0">
                <a:solidFill>
                  <a:srgbClr val="1A2744"/>
                </a:solidFill>
                <a:latin typeface="Segoe UI" pitchFamily="34" charset="0"/>
                <a:ea typeface="Segoe UI" pitchFamily="34" charset="-122"/>
                <a:cs typeface="Segoe UI" pitchFamily="34" charset="-120"/>
              </a:rPr>
              <a:t> Prescribe steps: "First analyze X, then evaluate Y, finally conclude Z."</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Few-shot CoT:</a:t>
            </a:r>
            <a:r>
              <a:rPr lang="en-US" sz="1200" dirty="0">
                <a:solidFill>
                  <a:srgbClr val="1A2744"/>
                </a:solidFill>
                <a:latin typeface="Segoe UI" pitchFamily="34" charset="0"/>
                <a:ea typeface="Segoe UI" pitchFamily="34" charset="-122"/>
                <a:cs typeface="Segoe UI" pitchFamily="34" charset="-120"/>
              </a:rPr>
              <a:t> Provide examples that include reasoning traces, not just answers.</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CoT is most impactful for math, logic, multi-step reasoning, and complex decision-making tasks.</a:t>
            </a:r>
          </a:p>
        </p:txBody>
      </p:sp>
    </p:spTree>
    <p:extLst>
      <p:ext uri="{BB962C8B-B14F-4D97-AF65-F5344CB8AC3E}">
        <p14:creationId xmlns:p14="http://schemas.microsoft.com/office/powerpoint/2010/main" val="36617624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6</a:t>
            </a: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2800" b="1" dirty="0">
                <a:solidFill>
                  <a:srgbClr val="1A2744"/>
                </a:solidFill>
                <a:latin typeface="Segoe UI Black" pitchFamily="34" charset="0"/>
                <a:ea typeface="Segoe UI Black" pitchFamily="34" charset="-122"/>
                <a:cs typeface="Segoe UI Black" pitchFamily="34" charset="-120"/>
              </a:rPr>
              <a:t>Answer → Review → Re-answer</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A single-call self-critique pattern that catches errors before they reach the user.</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The Pattern</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00BFA6"/>
                </a:solidFill>
                <a:latin typeface="Segoe UI" pitchFamily="34" charset="0"/>
                <a:ea typeface="Segoe UI" pitchFamily="34" charset="-122"/>
                <a:cs typeface="Segoe UI" pitchFamily="34" charset="-120"/>
              </a:rPr>
              <a:t>Step 1 — Draft:</a:t>
            </a:r>
            <a:r>
              <a:rPr lang="en-US" sz="1200" dirty="0">
                <a:solidFill>
                  <a:srgbClr val="1A2744"/>
                </a:solidFill>
                <a:latin typeface="Segoe UI" pitchFamily="34" charset="0"/>
                <a:ea typeface="Segoe UI" pitchFamily="34" charset="-122"/>
                <a:cs typeface="Segoe UI" pitchFamily="34" charset="-120"/>
              </a:rPr>
              <a:t> Answer the question to the best of your ability.</a:t>
            </a:r>
          </a:p>
          <a:p>
            <a:pPr marL="0" indent="0">
              <a:buNone/>
            </a:pPr>
            <a:endParaRPr lang="en-US" sz="600" dirty="0"/>
          </a:p>
          <a:p>
            <a:pPr marL="0" indent="0">
              <a:buNone/>
            </a:pPr>
            <a:r>
              <a:rPr lang="en-US" sz="1200" b="1" dirty="0">
                <a:solidFill>
                  <a:srgbClr val="00BFA6"/>
                </a:solidFill>
                <a:latin typeface="Segoe UI" pitchFamily="34" charset="0"/>
                <a:ea typeface="Segoe UI" pitchFamily="34" charset="-122"/>
                <a:cs typeface="Segoe UI" pitchFamily="34" charset="-120"/>
              </a:rPr>
              <a:t>Step 2 — Critique:</a:t>
            </a:r>
            <a:r>
              <a:rPr lang="en-US" sz="1200" dirty="0">
                <a:solidFill>
                  <a:srgbClr val="1A2744"/>
                </a:solidFill>
                <a:latin typeface="Segoe UI" pitchFamily="34" charset="0"/>
                <a:ea typeface="Segoe UI" pitchFamily="34" charset="-122"/>
                <a:cs typeface="Segoe UI" pitchFamily="34" charset="-120"/>
              </a:rPr>
              <a:t> Review your answer. List any errors, gaps, or unclear points.</a:t>
            </a:r>
          </a:p>
          <a:p>
            <a:pPr marL="0" indent="0">
              <a:buNone/>
            </a:pPr>
            <a:endParaRPr lang="en-US" sz="600" dirty="0"/>
          </a:p>
          <a:p>
            <a:pPr marL="0" indent="0">
              <a:buNone/>
            </a:pPr>
            <a:r>
              <a:rPr lang="en-US" sz="1200" b="1" dirty="0">
                <a:solidFill>
                  <a:srgbClr val="00BFA6"/>
                </a:solidFill>
                <a:latin typeface="Segoe UI" pitchFamily="34" charset="0"/>
                <a:ea typeface="Segoe UI" pitchFamily="34" charset="-122"/>
                <a:cs typeface="Segoe UI" pitchFamily="34" charset="-120"/>
              </a:rPr>
              <a:t>Step 3 — Revise:</a:t>
            </a:r>
            <a:r>
              <a:rPr lang="en-US" sz="1200" dirty="0">
                <a:solidFill>
                  <a:srgbClr val="1A2744"/>
                </a:solidFill>
                <a:latin typeface="Segoe UI" pitchFamily="34" charset="0"/>
                <a:ea typeface="Segoe UI" pitchFamily="34" charset="-122"/>
                <a:cs typeface="Segoe UI" pitchFamily="34" charset="-120"/>
              </a:rPr>
              <a:t> Produce the final, corrected answer incorporating the critique.</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Why It Works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dirty="0">
                <a:solidFill>
                  <a:srgbClr val="1A2744"/>
                </a:solidFill>
                <a:latin typeface="Segoe UI" pitchFamily="34" charset="0"/>
                <a:ea typeface="Segoe UI" pitchFamily="34" charset="-122"/>
                <a:cs typeface="Segoe UI" pitchFamily="34" charset="-120"/>
              </a:rPr>
              <a:t>The critique step forces the model to re-read its own output with a critical lens. Errors that slip through generation are often caught during review.</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Key benefit:</a:t>
            </a:r>
            <a:r>
              <a:rPr lang="en-US" sz="1200" dirty="0">
                <a:solidFill>
                  <a:srgbClr val="1A2744"/>
                </a:solidFill>
                <a:latin typeface="Segoe UI" pitchFamily="34" charset="0"/>
                <a:ea typeface="Segoe UI" pitchFamily="34" charset="-122"/>
                <a:cs typeface="Segoe UI" pitchFamily="34" charset="-120"/>
              </a:rPr>
              <a:t> All three steps happen in one API call. No orchestration code needed. Just structure the prompt to include all three phases.</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Especially powerful for factual tasks, math, and any output that can be objectively verified.</a:t>
            </a:r>
          </a:p>
        </p:txBody>
      </p:sp>
    </p:spTree>
    <p:extLst>
      <p:ext uri="{BB962C8B-B14F-4D97-AF65-F5344CB8AC3E}">
        <p14:creationId xmlns:p14="http://schemas.microsoft.com/office/powerpoint/2010/main" val="11083513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74320"/>
            <a:ext cx="7772400" cy="640080"/>
          </a:xfrm>
          <a:prstGeom prst="rect">
            <a:avLst/>
          </a:prstGeom>
          <a:noFill/>
          <a:ln/>
        </p:spPr>
        <p:txBody>
          <a:bodyPr wrap="square" lIns="0" tIns="0" rIns="0" bIns="0" rtlCol="0" anchor="ctr"/>
          <a:lstStyle/>
          <a:p>
            <a:pPr marL="0" indent="0">
              <a:buNone/>
            </a:pPr>
            <a:r>
              <a:rPr lang="en-US" sz="3600" b="1" dirty="0">
                <a:solidFill>
                  <a:srgbClr val="1A2744"/>
                </a:solidFill>
                <a:latin typeface="Segoe UI Black" pitchFamily="34" charset="0"/>
                <a:ea typeface="Segoe UI Black" pitchFamily="34" charset="-122"/>
                <a:cs typeface="Segoe UI Black" pitchFamily="34" charset="-120"/>
              </a:rPr>
              <a:t>Quality Patterns</a:t>
            </a:r>
            <a:endParaRPr lang="en-US" sz="3600" dirty="0"/>
          </a:p>
        </p:txBody>
      </p:sp>
      <p:sp>
        <p:nvSpPr>
          <p:cNvPr id="3" name="Shape 1"/>
          <p:cNvSpPr/>
          <p:nvPr/>
        </p:nvSpPr>
        <p:spPr>
          <a:xfrm>
            <a:off x="640080" y="1051560"/>
            <a:ext cx="3749040" cy="3200400"/>
          </a:xfrm>
          <a:prstGeom prst="rect">
            <a:avLst/>
          </a:prstGeom>
          <a:solidFill>
            <a:srgbClr val="F5F7FA"/>
          </a:solidFill>
          <a:ln/>
        </p:spPr>
        <p:txBody>
          <a:bodyPr/>
          <a:lstStyle/>
          <a:p>
            <a:endParaRPr lang="en-US"/>
          </a:p>
        </p:txBody>
      </p:sp>
      <p:sp>
        <p:nvSpPr>
          <p:cNvPr id="4" name="Shape 2"/>
          <p:cNvSpPr/>
          <p:nvPr/>
        </p:nvSpPr>
        <p:spPr>
          <a:xfrm>
            <a:off x="640080" y="1051560"/>
            <a:ext cx="54864" cy="3200400"/>
          </a:xfrm>
          <a:prstGeom prst="rect">
            <a:avLst/>
          </a:prstGeom>
          <a:solidFill>
            <a:srgbClr val="00BFA6"/>
          </a:solidFill>
          <a:ln/>
        </p:spPr>
        <p:txBody>
          <a:bodyPr/>
          <a:lstStyle/>
          <a:p>
            <a:endParaRPr lang="en-US"/>
          </a:p>
        </p:txBody>
      </p:sp>
      <p:sp>
        <p:nvSpPr>
          <p:cNvPr id="5" name="Shape 3"/>
          <p:cNvSpPr/>
          <p:nvPr/>
        </p:nvSpPr>
        <p:spPr>
          <a:xfrm>
            <a:off x="914400" y="1188720"/>
            <a:ext cx="548640" cy="274320"/>
          </a:xfrm>
          <a:prstGeom prst="rect">
            <a:avLst/>
          </a:prstGeom>
          <a:solidFill>
            <a:srgbClr val="00BFA6"/>
          </a:solidFill>
          <a:ln/>
        </p:spPr>
        <p:txBody>
          <a:bodyPr/>
          <a:lstStyle/>
          <a:p>
            <a:endParaRPr lang="en-US"/>
          </a:p>
        </p:txBody>
      </p:sp>
      <p:sp>
        <p:nvSpPr>
          <p:cNvPr id="6" name="Text 4"/>
          <p:cNvSpPr/>
          <p:nvPr/>
        </p:nvSpPr>
        <p:spPr>
          <a:xfrm>
            <a:off x="914400" y="1188720"/>
            <a:ext cx="54864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11</a:t>
            </a:r>
            <a:endParaRPr lang="en-US" sz="1300" dirty="0"/>
          </a:p>
        </p:txBody>
      </p:sp>
      <p:sp>
        <p:nvSpPr>
          <p:cNvPr id="7" name="Text 5"/>
          <p:cNvSpPr/>
          <p:nvPr/>
        </p:nvSpPr>
        <p:spPr>
          <a:xfrm>
            <a:off x="1600200" y="1143000"/>
            <a:ext cx="256032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Self-Check / Revise</a:t>
            </a:r>
            <a:endParaRPr lang="en-US" sz="1600" dirty="0"/>
          </a:p>
        </p:txBody>
      </p:sp>
      <p:sp>
        <p:nvSpPr>
          <p:cNvPr id="8" name="Text 6"/>
          <p:cNvSpPr/>
          <p:nvPr/>
        </p:nvSpPr>
        <p:spPr>
          <a:xfrm>
            <a:off x="914400" y="1600200"/>
            <a:ext cx="3200400" cy="54864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Draft, then critique, then revise. Forces the model to allocate compute to verification.</a:t>
            </a:r>
            <a:endParaRPr lang="en-US" sz="1200" dirty="0"/>
          </a:p>
        </p:txBody>
      </p:sp>
      <p:sp>
        <p:nvSpPr>
          <p:cNvPr id="9" name="Text 7"/>
          <p:cNvSpPr/>
          <p:nvPr/>
        </p:nvSpPr>
        <p:spPr>
          <a:xfrm>
            <a:off x="914400" y="2194560"/>
            <a:ext cx="3200400" cy="27432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Self-check criteria:</a:t>
            </a:r>
            <a:endParaRPr lang="en-US" sz="1200" dirty="0"/>
          </a:p>
        </p:txBody>
      </p:sp>
      <p:sp>
        <p:nvSpPr>
          <p:cNvPr id="10" name="Text 8"/>
          <p:cNvSpPr/>
          <p:nvPr/>
        </p:nvSpPr>
        <p:spPr>
          <a:xfrm>
            <a:off x="914400" y="2468880"/>
            <a:ext cx="3200400" cy="1371600"/>
          </a:xfrm>
          <a:prstGeom prst="rect">
            <a:avLst/>
          </a:prstGeom>
          <a:noFill/>
          <a:ln/>
        </p:spPr>
        <p:txBody>
          <a:bodyPr wrap="square" rtlCol="0" anchor="ctr"/>
          <a:lstStyle/>
          <a:p>
            <a:pPr marL="342900" indent="-342900">
              <a:spcAft>
                <a:spcPts val="400"/>
              </a:spcAft>
              <a:buSzPct val="100000"/>
              <a:buChar char="•"/>
            </a:pPr>
            <a:r>
              <a:rPr lang="en-US" sz="1200" dirty="0">
                <a:solidFill>
                  <a:srgbClr val="64748B"/>
                </a:solidFill>
                <a:latin typeface="Segoe UI" pitchFamily="34" charset="0"/>
                <a:ea typeface="Segoe UI" pitchFamily="34" charset="-122"/>
                <a:cs typeface="Segoe UI" pitchFamily="34" charset="-120"/>
              </a:rPr>
              <a:t>Factual accuracy</a:t>
            </a:r>
            <a:endParaRPr lang="en-US" sz="1200" dirty="0"/>
          </a:p>
          <a:p>
            <a:pPr marL="342900" indent="-342900">
              <a:spcAft>
                <a:spcPts val="400"/>
              </a:spcAft>
              <a:buSzPct val="100000"/>
              <a:buChar char="•"/>
            </a:pPr>
            <a:r>
              <a:rPr lang="en-US" sz="1200" dirty="0">
                <a:solidFill>
                  <a:srgbClr val="64748B"/>
                </a:solidFill>
                <a:latin typeface="Segoe UI" pitchFamily="34" charset="0"/>
                <a:ea typeface="Segoe UI" pitchFamily="34" charset="-122"/>
                <a:cs typeface="Segoe UI" pitchFamily="34" charset="-120"/>
              </a:rPr>
              <a:t>Internal consistency</a:t>
            </a:r>
            <a:endParaRPr lang="en-US" sz="1200" dirty="0"/>
          </a:p>
          <a:p>
            <a:pPr marL="342900" indent="-342900">
              <a:spcAft>
                <a:spcPts val="400"/>
              </a:spcAft>
              <a:buSzPct val="100000"/>
              <a:buChar char="•"/>
            </a:pPr>
            <a:r>
              <a:rPr lang="en-US" sz="1200" dirty="0">
                <a:solidFill>
                  <a:srgbClr val="64748B"/>
                </a:solidFill>
                <a:latin typeface="Segoe UI" pitchFamily="34" charset="0"/>
                <a:ea typeface="Segoe UI" pitchFamily="34" charset="-122"/>
                <a:cs typeface="Segoe UI" pitchFamily="34" charset="-120"/>
              </a:rPr>
              <a:t>Edge cases covered?</a:t>
            </a:r>
            <a:endParaRPr lang="en-US" sz="1200" dirty="0"/>
          </a:p>
          <a:p>
            <a:pPr marL="342900" indent="-342900">
              <a:spcAft>
                <a:spcPts val="400"/>
              </a:spcAft>
              <a:buSzPct val="100000"/>
              <a:buChar char="•"/>
            </a:pPr>
            <a:r>
              <a:rPr lang="en-US" sz="1200" dirty="0">
                <a:solidFill>
                  <a:srgbClr val="64748B"/>
                </a:solidFill>
                <a:latin typeface="Segoe UI" pitchFamily="34" charset="0"/>
                <a:ea typeface="Segoe UI" pitchFamily="34" charset="-122"/>
                <a:cs typeface="Segoe UI" pitchFamily="34" charset="-120"/>
              </a:rPr>
              <a:t>Format compliance</a:t>
            </a:r>
            <a:endParaRPr lang="en-US" sz="1200" dirty="0"/>
          </a:p>
        </p:txBody>
      </p:sp>
      <p:sp>
        <p:nvSpPr>
          <p:cNvPr id="11" name="Shape 9"/>
          <p:cNvSpPr/>
          <p:nvPr/>
        </p:nvSpPr>
        <p:spPr>
          <a:xfrm>
            <a:off x="4754880" y="1051560"/>
            <a:ext cx="3749040" cy="3200400"/>
          </a:xfrm>
          <a:prstGeom prst="rect">
            <a:avLst/>
          </a:prstGeom>
          <a:solidFill>
            <a:srgbClr val="F5F7FA"/>
          </a:solidFill>
          <a:ln/>
        </p:spPr>
        <p:txBody>
          <a:bodyPr/>
          <a:lstStyle/>
          <a:p>
            <a:endParaRPr lang="en-US"/>
          </a:p>
        </p:txBody>
      </p:sp>
      <p:sp>
        <p:nvSpPr>
          <p:cNvPr id="12" name="Shape 10"/>
          <p:cNvSpPr/>
          <p:nvPr/>
        </p:nvSpPr>
        <p:spPr>
          <a:xfrm>
            <a:off x="4754880" y="1051560"/>
            <a:ext cx="54864" cy="3200400"/>
          </a:xfrm>
          <a:prstGeom prst="rect">
            <a:avLst/>
          </a:prstGeom>
          <a:solidFill>
            <a:srgbClr val="00BFA6"/>
          </a:solidFill>
          <a:ln/>
        </p:spPr>
        <p:txBody>
          <a:bodyPr/>
          <a:lstStyle/>
          <a:p>
            <a:endParaRPr lang="en-US"/>
          </a:p>
        </p:txBody>
      </p:sp>
      <p:sp>
        <p:nvSpPr>
          <p:cNvPr id="13" name="Shape 11"/>
          <p:cNvSpPr/>
          <p:nvPr/>
        </p:nvSpPr>
        <p:spPr>
          <a:xfrm>
            <a:off x="5029200" y="1188720"/>
            <a:ext cx="548640" cy="274320"/>
          </a:xfrm>
          <a:prstGeom prst="rect">
            <a:avLst/>
          </a:prstGeom>
          <a:solidFill>
            <a:srgbClr val="00BFA6"/>
          </a:solidFill>
          <a:ln/>
        </p:spPr>
        <p:txBody>
          <a:bodyPr/>
          <a:lstStyle/>
          <a:p>
            <a:endParaRPr lang="en-US"/>
          </a:p>
        </p:txBody>
      </p:sp>
      <p:sp>
        <p:nvSpPr>
          <p:cNvPr id="14" name="Text 12"/>
          <p:cNvSpPr/>
          <p:nvPr/>
        </p:nvSpPr>
        <p:spPr>
          <a:xfrm>
            <a:off x="5029200" y="1188720"/>
            <a:ext cx="548640" cy="27432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12</a:t>
            </a:r>
            <a:endParaRPr lang="en-US" sz="1300" dirty="0"/>
          </a:p>
        </p:txBody>
      </p:sp>
      <p:sp>
        <p:nvSpPr>
          <p:cNvPr id="15" name="Text 13"/>
          <p:cNvSpPr/>
          <p:nvPr/>
        </p:nvSpPr>
        <p:spPr>
          <a:xfrm>
            <a:off x="5715000" y="1143000"/>
            <a:ext cx="2560320" cy="36576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Evaluation-First</a:t>
            </a:r>
            <a:endParaRPr lang="en-US" sz="1600" dirty="0"/>
          </a:p>
        </p:txBody>
      </p:sp>
      <p:sp>
        <p:nvSpPr>
          <p:cNvPr id="16" name="Text 14"/>
          <p:cNvSpPr/>
          <p:nvPr/>
        </p:nvSpPr>
        <p:spPr>
          <a:xfrm>
            <a:off x="5029200" y="1600200"/>
            <a:ext cx="3200400" cy="548640"/>
          </a:xfrm>
          <a:prstGeom prst="rect">
            <a:avLst/>
          </a:prstGeom>
          <a:noFill/>
          <a:ln/>
        </p:spPr>
        <p:txBody>
          <a:bodyPr wrap="square" lIns="0" tIns="0" rIns="0" bIns="0" rtlCol="0" anchor="ctr"/>
          <a:lstStyle/>
          <a:p>
            <a:pPr marL="0" indent="0">
              <a:buNone/>
            </a:pPr>
            <a:r>
              <a:rPr lang="en-US" sz="1200" dirty="0">
                <a:solidFill>
                  <a:srgbClr val="64748B"/>
                </a:solidFill>
                <a:latin typeface="Segoe UI" pitchFamily="34" charset="0"/>
                <a:ea typeface="Segoe UI" pitchFamily="34" charset="-122"/>
                <a:cs typeface="Segoe UI" pitchFamily="34" charset="-120"/>
              </a:rPr>
              <a:t>Define success before proposing solutions. The prompting equivalent of test-driven development.</a:t>
            </a:r>
            <a:endParaRPr lang="en-US" sz="1200" dirty="0"/>
          </a:p>
        </p:txBody>
      </p:sp>
      <p:sp>
        <p:nvSpPr>
          <p:cNvPr id="17" name="Text 15"/>
          <p:cNvSpPr/>
          <p:nvPr/>
        </p:nvSpPr>
        <p:spPr>
          <a:xfrm>
            <a:off x="5029200" y="2194560"/>
            <a:ext cx="3200400" cy="27432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Before proposing, do this:</a:t>
            </a:r>
            <a:endParaRPr lang="en-US" sz="1200" dirty="0"/>
          </a:p>
        </p:txBody>
      </p:sp>
      <p:sp>
        <p:nvSpPr>
          <p:cNvPr id="18" name="Text 16"/>
          <p:cNvSpPr/>
          <p:nvPr/>
        </p:nvSpPr>
        <p:spPr>
          <a:xfrm>
            <a:off x="5029200" y="2468880"/>
            <a:ext cx="3200400" cy="1371600"/>
          </a:xfrm>
          <a:prstGeom prst="rect">
            <a:avLst/>
          </a:prstGeom>
          <a:noFill/>
          <a:ln/>
        </p:spPr>
        <p:txBody>
          <a:bodyPr wrap="square" rtlCol="0" anchor="ctr"/>
          <a:lstStyle/>
          <a:p>
            <a:pPr marL="0" indent="0">
              <a:spcAft>
                <a:spcPts val="400"/>
              </a:spcAft>
              <a:buNone/>
            </a:pPr>
            <a:r>
              <a:rPr lang="en-US" sz="1200" dirty="0">
                <a:solidFill>
                  <a:srgbClr val="64748B"/>
                </a:solidFill>
                <a:latin typeface="Segoe UI" pitchFamily="34" charset="0"/>
                <a:ea typeface="Segoe UI" pitchFamily="34" charset="-122"/>
                <a:cs typeface="Segoe UI" pitchFamily="34" charset="-120"/>
              </a:rPr>
              <a:t>1) Define success metrics</a:t>
            </a:r>
            <a:endParaRPr lang="en-US" sz="1200" dirty="0"/>
          </a:p>
          <a:p>
            <a:pPr marL="0" indent="0">
              <a:spcAft>
                <a:spcPts val="400"/>
              </a:spcAft>
              <a:buNone/>
            </a:pPr>
            <a:r>
              <a:rPr lang="en-US" sz="1200" dirty="0">
                <a:solidFill>
                  <a:srgbClr val="64748B"/>
                </a:solidFill>
                <a:latin typeface="Segoe UI" pitchFamily="34" charset="0"/>
                <a:ea typeface="Segoe UI" pitchFamily="34" charset="-122"/>
                <a:cs typeface="Segoe UI" pitchFamily="34" charset="-120"/>
              </a:rPr>
              <a:t>2) Define baseline + thresholds</a:t>
            </a:r>
            <a:endParaRPr lang="en-US" sz="1200" dirty="0"/>
          </a:p>
          <a:p>
            <a:pPr marL="0" indent="0">
              <a:spcAft>
                <a:spcPts val="400"/>
              </a:spcAft>
              <a:buNone/>
            </a:pPr>
            <a:r>
              <a:rPr lang="en-US" sz="1200" dirty="0">
                <a:solidFill>
                  <a:srgbClr val="64748B"/>
                </a:solidFill>
                <a:latin typeface="Segoe UI" pitchFamily="34" charset="0"/>
                <a:ea typeface="Segoe UI" pitchFamily="34" charset="-122"/>
                <a:cs typeface="Segoe UI" pitchFamily="34" charset="-120"/>
              </a:rPr>
              <a:t>3) Propose 3 interventions</a:t>
            </a:r>
            <a:endParaRPr lang="en-US" sz="1200" dirty="0"/>
          </a:p>
          <a:p>
            <a:pPr marL="0" indent="0">
              <a:spcAft>
                <a:spcPts val="400"/>
              </a:spcAft>
              <a:buNone/>
            </a:pPr>
            <a:r>
              <a:rPr lang="en-US" sz="1200" dirty="0">
                <a:solidFill>
                  <a:srgbClr val="64748B"/>
                </a:solidFill>
                <a:latin typeface="Segoe UI" pitchFamily="34" charset="0"/>
                <a:ea typeface="Segoe UI" pitchFamily="34" charset="-122"/>
                <a:cs typeface="Segoe UI" pitchFamily="34" charset="-120"/>
              </a:rPr>
              <a:t>4) Predict impact + validation plan</a:t>
            </a:r>
            <a:endParaRPr lang="en-US" sz="1200" dirty="0"/>
          </a:p>
        </p:txBody>
      </p:sp>
    </p:spTree>
    <p:extLst>
      <p:ext uri="{BB962C8B-B14F-4D97-AF65-F5344CB8AC3E}">
        <p14:creationId xmlns:p14="http://schemas.microsoft.com/office/powerpoint/2010/main" val="31405012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7</a:t>
            </a: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Reflection Loops</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Multi-turn self-improvement: ask the LLM to evaluate and iterate on its own output.</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The Loop</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00BFA6"/>
                </a:solidFill>
                <a:latin typeface="Segoe UI" pitchFamily="34" charset="0"/>
                <a:ea typeface="Segoe UI" pitchFamily="34" charset="-122"/>
                <a:cs typeface="Segoe UI" pitchFamily="34" charset="-120"/>
              </a:rPr>
              <a:t>Call 1:</a:t>
            </a:r>
            <a:r>
              <a:rPr lang="en-US" sz="1200" dirty="0">
                <a:solidFill>
                  <a:srgbClr val="1A2744"/>
                </a:solidFill>
                <a:latin typeface="Segoe UI" pitchFamily="34" charset="0"/>
                <a:ea typeface="Segoe UI" pitchFamily="34" charset="-122"/>
                <a:cs typeface="Segoe UI" pitchFamily="34" charset="-120"/>
              </a:rPr>
              <a:t> Generate initial answer.</a:t>
            </a:r>
          </a:p>
          <a:p>
            <a:pPr marL="0" indent="0">
              <a:buNone/>
            </a:pPr>
            <a:endParaRPr lang="en-US" sz="600" dirty="0"/>
          </a:p>
          <a:p>
            <a:pPr marL="0" indent="0">
              <a:buNone/>
            </a:pPr>
            <a:r>
              <a:rPr lang="en-US" sz="1200" b="1" dirty="0">
                <a:solidFill>
                  <a:srgbClr val="00BFA6"/>
                </a:solidFill>
                <a:latin typeface="Segoe UI" pitchFamily="34" charset="0"/>
                <a:ea typeface="Segoe UI" pitchFamily="34" charset="-122"/>
                <a:cs typeface="Segoe UI" pitchFamily="34" charset="-120"/>
              </a:rPr>
              <a:t>Call 2:</a:t>
            </a:r>
            <a:r>
              <a:rPr lang="en-US" sz="1200" dirty="0">
                <a:solidFill>
                  <a:srgbClr val="1A2744"/>
                </a:solidFill>
                <a:latin typeface="Segoe UI" pitchFamily="34" charset="0"/>
                <a:ea typeface="Segoe UI" pitchFamily="34" charset="-122"/>
                <a:cs typeface="Segoe UI" pitchFamily="34" charset="-120"/>
              </a:rPr>
              <a:t> "Here is your previous answer. Rate it 1–10 on [criteria]. What would you improve?"</a:t>
            </a:r>
          </a:p>
          <a:p>
            <a:pPr marL="0" indent="0">
              <a:buNone/>
            </a:pPr>
            <a:endParaRPr lang="en-US" sz="600" dirty="0"/>
          </a:p>
          <a:p>
            <a:pPr marL="0" indent="0">
              <a:buNone/>
            </a:pPr>
            <a:r>
              <a:rPr lang="en-US" sz="1200" b="1" dirty="0">
                <a:solidFill>
                  <a:srgbClr val="00BFA6"/>
                </a:solidFill>
                <a:latin typeface="Segoe UI" pitchFamily="34" charset="0"/>
                <a:ea typeface="Segoe UI" pitchFamily="34" charset="-122"/>
                <a:cs typeface="Segoe UI" pitchFamily="34" charset="-120"/>
              </a:rPr>
              <a:t>Call 3:</a:t>
            </a:r>
            <a:r>
              <a:rPr lang="en-US" sz="1200" dirty="0">
                <a:solidFill>
                  <a:srgbClr val="1A2744"/>
                </a:solidFill>
                <a:latin typeface="Segoe UI" pitchFamily="34" charset="0"/>
                <a:ea typeface="Segoe UI" pitchFamily="34" charset="-122"/>
                <a:cs typeface="Segoe UI" pitchFamily="34" charset="-120"/>
              </a:rPr>
              <a:t> "Apply those improvements and produce the final version."</a:t>
            </a:r>
          </a:p>
          <a:p>
            <a:pPr marL="0" indent="0">
              <a:buNone/>
            </a:pPr>
            <a:endParaRPr lang="en-US" sz="600" dirty="0"/>
          </a:p>
          <a:p>
            <a:pPr marL="0" indent="0">
              <a:buNone/>
            </a:pPr>
            <a:r>
              <a:rPr lang="en-US" sz="1200" dirty="0">
                <a:solidFill>
                  <a:srgbClr val="1A2744"/>
                </a:solidFill>
                <a:latin typeface="Segoe UI" pitchFamily="34" charset="0"/>
                <a:ea typeface="Segoe UI" pitchFamily="34" charset="-122"/>
                <a:cs typeface="Segoe UI" pitchFamily="34" charset="-120"/>
              </a:rPr>
              <a:t>Repeat calls 2–3 until quality plateaus or budget is reached.</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When to Use</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High-stakes output:</a:t>
            </a:r>
            <a:r>
              <a:rPr lang="en-US" sz="1200" dirty="0">
                <a:solidFill>
                  <a:srgbClr val="1A2744"/>
                </a:solidFill>
                <a:latin typeface="Segoe UI" pitchFamily="34" charset="0"/>
                <a:ea typeface="Segoe UI" pitchFamily="34" charset="-122"/>
                <a:cs typeface="Segoe UI" pitchFamily="34" charset="-120"/>
              </a:rPr>
              <a:t> Legal drafts, medical summaries, customer-facing content.</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Latency-tolerant:</a:t>
            </a:r>
            <a:r>
              <a:rPr lang="en-US" sz="1200" dirty="0">
                <a:solidFill>
                  <a:srgbClr val="1A2744"/>
                </a:solidFill>
                <a:latin typeface="Segoe UI" pitchFamily="34" charset="0"/>
                <a:ea typeface="Segoe UI" pitchFamily="34" charset="-122"/>
                <a:cs typeface="Segoe UI" pitchFamily="34" charset="-120"/>
              </a:rPr>
              <a:t> Batch processing, async workflows where extra calls are acceptable.</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vs. Answer-Review-Reanswer:</a:t>
            </a:r>
            <a:r>
              <a:rPr lang="en-US" sz="1200" dirty="0">
                <a:solidFill>
                  <a:srgbClr val="1A2744"/>
                </a:solidFill>
                <a:latin typeface="Segoe UI" pitchFamily="34" charset="0"/>
                <a:ea typeface="Segoe UI" pitchFamily="34" charset="-122"/>
                <a:cs typeface="Segoe UI" pitchFamily="34" charset="-120"/>
              </a:rPr>
              <a:t> That pattern is single-call; reflection loops use multiple calls for deeper iteration.</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Set a max iteration count (2–3 rounds). Diminishing returns kick in fast.</a:t>
            </a:r>
          </a:p>
        </p:txBody>
      </p:sp>
    </p:spTree>
    <p:extLst>
      <p:ext uri="{BB962C8B-B14F-4D97-AF65-F5344CB8AC3E}">
        <p14:creationId xmlns:p14="http://schemas.microsoft.com/office/powerpoint/2010/main" val="11436822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8</a:t>
            </a: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Prompt Structure &amp; Formatting</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1A2744"/>
                </a:solidFill>
                <a:latin typeface="Segoe UI" pitchFamily="34" charset="0"/>
                <a:ea typeface="Segoe UI" pitchFamily="34" charset="-122"/>
                <a:cs typeface="Segoe UI" pitchFamily="34" charset="-120"/>
              </a:rPr>
              <a:t>How you organize a prompt matters as much as what you say in it.</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Delimiters &amp; Sections</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XML tags:</a:t>
            </a:r>
            <a:r>
              <a:rPr lang="en-US" sz="1200" dirty="0">
                <a:solidFill>
                  <a:srgbClr val="1A2744"/>
                </a:solidFill>
                <a:latin typeface="Segoe UI" pitchFamily="34" charset="0"/>
                <a:ea typeface="Segoe UI" pitchFamily="34" charset="-122"/>
                <a:cs typeface="Segoe UI" pitchFamily="34" charset="-120"/>
              </a:rPr>
              <a:t> Wrap context, examples, and instructions in tags like &lt;context&gt;...&lt;/context&gt;. Models parse these reliably.</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Markdown headers:</a:t>
            </a:r>
            <a:r>
              <a:rPr lang="en-US" sz="1200" dirty="0">
                <a:solidFill>
                  <a:srgbClr val="1A2744"/>
                </a:solidFill>
                <a:latin typeface="Segoe UI" pitchFamily="34" charset="0"/>
                <a:ea typeface="Segoe UI" pitchFamily="34" charset="-122"/>
                <a:cs typeface="Segoe UI" pitchFamily="34" charset="-120"/>
              </a:rPr>
              <a:t> Use ## sections to organize long prompts. Models respect heading hierarchy.</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Triple backticks:</a:t>
            </a:r>
            <a:r>
              <a:rPr lang="en-US" sz="1200" dirty="0">
                <a:solidFill>
                  <a:srgbClr val="1A2744"/>
                </a:solidFill>
                <a:latin typeface="Segoe UI" pitchFamily="34" charset="0"/>
                <a:ea typeface="Segoe UI" pitchFamily="34" charset="-122"/>
                <a:cs typeface="Segoe UI" pitchFamily="34" charset="-120"/>
              </a:rPr>
              <a:t> Fence code or raw data to separate it from instructions.</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Output Formatting</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JSON mode:</a:t>
            </a:r>
            <a:r>
              <a:rPr lang="en-US" sz="1200" dirty="0">
                <a:solidFill>
                  <a:srgbClr val="1A2744"/>
                </a:solidFill>
                <a:latin typeface="Segoe UI" pitchFamily="34" charset="0"/>
                <a:ea typeface="Segoe UI" pitchFamily="34" charset="-122"/>
                <a:cs typeface="Segoe UI" pitchFamily="34" charset="-120"/>
              </a:rPr>
              <a:t> Use response_format: {"type": "json_object"} for structured parsing. Always describe the schema in the prompt.</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Structured outputs:</a:t>
            </a:r>
            <a:r>
              <a:rPr lang="en-US" sz="1200" dirty="0">
                <a:solidFill>
                  <a:srgbClr val="1A2744"/>
                </a:solidFill>
                <a:latin typeface="Segoe UI" pitchFamily="34" charset="0"/>
                <a:ea typeface="Segoe UI" pitchFamily="34" charset="-122"/>
                <a:cs typeface="Segoe UI" pitchFamily="34" charset="-120"/>
              </a:rPr>
              <a:t> Define a JSON schema and the API guarantees conformance. Eliminates parsing failures.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Explicit format spec:</a:t>
            </a:r>
            <a:r>
              <a:rPr lang="en-US" sz="1200" dirty="0">
                <a:solidFill>
                  <a:srgbClr val="1A2744"/>
                </a:solidFill>
                <a:latin typeface="Segoe UI" pitchFamily="34" charset="0"/>
                <a:ea typeface="Segoe UI" pitchFamily="34" charset="-122"/>
                <a:cs typeface="Segoe UI" pitchFamily="34" charset="-120"/>
              </a:rPr>
              <a:t> "Respond in exactly 3 bullet points" works better than "be concise."</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Clear structure reduces ambiguity. The model can only follow instructions it can parse.</a:t>
            </a:r>
          </a:p>
        </p:txBody>
      </p:sp>
    </p:spTree>
    <p:extLst>
      <p:ext uri="{BB962C8B-B14F-4D97-AF65-F5344CB8AC3E}">
        <p14:creationId xmlns:p14="http://schemas.microsoft.com/office/powerpoint/2010/main" val="17126265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9</a:t>
            </a: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Error Handling &amp; Retries</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64748B"/>
                </a:solidFill>
                <a:latin typeface="Segoe UI" pitchFamily="34" charset="0"/>
                <a:ea typeface="Segoe UI" pitchFamily="34" charset="-122"/>
                <a:cs typeface="Segoe UI" pitchFamily="34" charset="-120"/>
              </a:rPr>
              <a:t>Production LLM calls fail. Plan for it.</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Common Failures</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Rate limits (429):</a:t>
            </a:r>
            <a:r>
              <a:rPr lang="en-US" sz="1200" dirty="0">
                <a:solidFill>
                  <a:srgbClr val="64748B"/>
                </a:solidFill>
                <a:latin typeface="Segoe UI" pitchFamily="34" charset="0"/>
                <a:ea typeface="Segoe UI" pitchFamily="34" charset="-122"/>
                <a:cs typeface="Segoe UI" pitchFamily="34" charset="-120"/>
              </a:rPr>
              <a:t> Back off exponentially. Use jitter to avoid thundering herds.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Timeouts:</a:t>
            </a:r>
            <a:r>
              <a:rPr lang="en-US" sz="1200" dirty="0">
                <a:solidFill>
                  <a:srgbClr val="64748B"/>
                </a:solidFill>
                <a:latin typeface="Segoe UI" pitchFamily="34" charset="0"/>
                <a:ea typeface="Segoe UI" pitchFamily="34" charset="-122"/>
                <a:cs typeface="Segoe UI" pitchFamily="34" charset="-120"/>
              </a:rPr>
              <a:t> Set aggressive timeouts (30–60s). Retry with the same prompt; non-determinism means a retry may succeed.</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Malformed output:</a:t>
            </a:r>
            <a:r>
              <a:rPr lang="en-US" sz="1200" dirty="0">
                <a:solidFill>
                  <a:srgbClr val="64748B"/>
                </a:solidFill>
                <a:latin typeface="Segoe UI" pitchFamily="34" charset="0"/>
                <a:ea typeface="Segoe UI" pitchFamily="34" charset="-122"/>
                <a:cs typeface="Segoe UI" pitchFamily="34" charset="-120"/>
              </a:rPr>
              <a:t> JSON didn't parse? Retry once. If it fails again, fall back to a simpler prompt or model.</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Robustness Patterns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Retry with backoff:</a:t>
            </a:r>
            <a:r>
              <a:rPr lang="en-US" sz="1200" dirty="0">
                <a:solidFill>
                  <a:srgbClr val="64748B"/>
                </a:solidFill>
                <a:latin typeface="Segoe UI" pitchFamily="34" charset="0"/>
                <a:ea typeface="Segoe UI" pitchFamily="34" charset="-122"/>
                <a:cs typeface="Segoe UI" pitchFamily="34" charset="-120"/>
              </a:rPr>
              <a:t> 1s → 2s → 4s with random jitter. Max 3 retries for most use cases.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Model fallback:</a:t>
            </a:r>
            <a:r>
              <a:rPr lang="en-US" sz="1200" dirty="0">
                <a:solidFill>
                  <a:srgbClr val="64748B"/>
                </a:solidFill>
                <a:latin typeface="Segoe UI" pitchFamily="34" charset="0"/>
                <a:ea typeface="Segoe UI" pitchFamily="34" charset="-122"/>
                <a:cs typeface="Segoe UI" pitchFamily="34" charset="-120"/>
              </a:rPr>
              <a:t> If GPT-4o fails, fall back to GPT-4o-mini. Graceful degradation beats total failure.</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Validation layer:</a:t>
            </a:r>
            <a:r>
              <a:rPr lang="en-US" sz="1200" dirty="0">
                <a:solidFill>
                  <a:srgbClr val="64748B"/>
                </a:solidFill>
                <a:latin typeface="Segoe UI" pitchFamily="34" charset="0"/>
                <a:ea typeface="Segoe UI" pitchFamily="34" charset="-122"/>
                <a:cs typeface="Segoe UI" pitchFamily="34" charset="-120"/>
              </a:rPr>
              <a:t> Always validate output before using it. Schema checks, length checks, safety checks.</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Never trust raw LLM output in production. Always validate, always have a fallback.</a:t>
            </a:r>
          </a:p>
        </p:txBody>
      </p:sp>
    </p:spTree>
    <p:extLst>
      <p:ext uri="{BB962C8B-B14F-4D97-AF65-F5344CB8AC3E}">
        <p14:creationId xmlns:p14="http://schemas.microsoft.com/office/powerpoint/2010/main" val="1456741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594360" cy="411480"/>
          </a:xfrm>
          <a:prstGeom prst="rect">
            <a:avLst/>
          </a:prstGeom>
          <a:solidFill>
            <a:srgbClr val="00BFA6"/>
          </a:solidFill>
          <a:ln/>
        </p:spPr>
        <p:txBody>
          <a:bodyPr/>
          <a:lstStyle/>
          <a:p>
            <a:endParaRPr lang="en-US"/>
          </a:p>
        </p:txBody>
      </p:sp>
      <p:sp>
        <p:nvSpPr>
          <p:cNvPr id="3" name="Text 1"/>
          <p:cNvSpPr/>
          <p:nvPr/>
        </p:nvSpPr>
        <p:spPr>
          <a:xfrm>
            <a:off x="640080" y="320040"/>
            <a:ext cx="59436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15</a:t>
            </a:r>
            <a:endParaRPr lang="en-US" sz="1600" dirty="0"/>
          </a:p>
        </p:txBody>
      </p:sp>
      <p:sp>
        <p:nvSpPr>
          <p:cNvPr id="4" name="Text 2"/>
          <p:cNvSpPr/>
          <p:nvPr/>
        </p:nvSpPr>
        <p:spPr>
          <a:xfrm>
            <a:off x="141732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Prompt Chaining</a:t>
            </a:r>
            <a:endParaRPr lang="en-US" sz="3200" dirty="0"/>
          </a:p>
        </p:txBody>
      </p:sp>
      <p:sp>
        <p:nvSpPr>
          <p:cNvPr id="5" name="Text 3"/>
          <p:cNvSpPr/>
          <p:nvPr/>
        </p:nvSpPr>
        <p:spPr>
          <a:xfrm>
            <a:off x="640080" y="914400"/>
            <a:ext cx="7772400" cy="320040"/>
          </a:xfrm>
          <a:prstGeom prst="rect">
            <a:avLst/>
          </a:prstGeom>
          <a:noFill/>
          <a:ln/>
        </p:spPr>
        <p:txBody>
          <a:bodyPr wrap="square" lIns="0" tIns="0" rIns="0" bIns="0" rtlCol="0" anchor="ctr"/>
          <a:lstStyle/>
          <a:p>
            <a:pPr marL="0" indent="0">
              <a:buNone/>
            </a:pPr>
            <a:r>
              <a:rPr lang="en-US" sz="1400" i="1" dirty="0">
                <a:solidFill>
                  <a:srgbClr val="64748B"/>
                </a:solidFill>
                <a:latin typeface="Segoe UI" pitchFamily="34" charset="0"/>
                <a:ea typeface="Segoe UI" pitchFamily="34" charset="-122"/>
                <a:cs typeface="Segoe UI" pitchFamily="34" charset="-120"/>
              </a:rPr>
              <a:t>The bridge between "prompting" and "building an AI system."</a:t>
            </a:r>
            <a:endParaRPr lang="en-US" sz="1400" dirty="0"/>
          </a:p>
        </p:txBody>
      </p:sp>
      <p:sp>
        <p:nvSpPr>
          <p:cNvPr id="6" name="Shape 4"/>
          <p:cNvSpPr/>
          <p:nvPr/>
        </p:nvSpPr>
        <p:spPr>
          <a:xfrm>
            <a:off x="640080" y="1417320"/>
            <a:ext cx="2651760" cy="237744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a:p>
        </p:txBody>
      </p:sp>
      <p:sp>
        <p:nvSpPr>
          <p:cNvPr id="7" name="Shape 5"/>
          <p:cNvSpPr/>
          <p:nvPr/>
        </p:nvSpPr>
        <p:spPr>
          <a:xfrm>
            <a:off x="640080" y="1417320"/>
            <a:ext cx="2651760" cy="54864"/>
          </a:xfrm>
          <a:prstGeom prst="rect">
            <a:avLst/>
          </a:prstGeom>
          <a:solidFill>
            <a:srgbClr val="00BFA6"/>
          </a:solidFill>
          <a:ln/>
        </p:spPr>
        <p:txBody>
          <a:bodyPr/>
          <a:lstStyle/>
          <a:p>
            <a:endParaRPr lang="en-US"/>
          </a:p>
        </p:txBody>
      </p:sp>
      <p:sp>
        <p:nvSpPr>
          <p:cNvPr id="8" name="Text 6"/>
          <p:cNvSpPr/>
          <p:nvPr/>
        </p:nvSpPr>
        <p:spPr>
          <a:xfrm>
            <a:off x="822960" y="1554480"/>
            <a:ext cx="1097280" cy="27432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Call 1</a:t>
            </a:r>
            <a:endParaRPr lang="en-US" sz="1100" dirty="0"/>
          </a:p>
        </p:txBody>
      </p:sp>
      <p:sp>
        <p:nvSpPr>
          <p:cNvPr id="9" name="Text 7"/>
          <p:cNvSpPr/>
          <p:nvPr/>
        </p:nvSpPr>
        <p:spPr>
          <a:xfrm>
            <a:off x="822960" y="1828800"/>
            <a:ext cx="22860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EXTRACT</a:t>
            </a:r>
            <a:endParaRPr lang="en-US" sz="1600" dirty="0"/>
          </a:p>
        </p:txBody>
      </p:sp>
      <p:sp>
        <p:nvSpPr>
          <p:cNvPr id="10" name="Text 8"/>
          <p:cNvSpPr/>
          <p:nvPr/>
        </p:nvSpPr>
        <p:spPr>
          <a:xfrm>
            <a:off x="822960" y="2148840"/>
            <a:ext cx="2286000" cy="128016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Read 5 paper abstracts.</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For each: research question,</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methodology, key finding.</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Return as JSON array.</a:t>
            </a:r>
            <a:endParaRPr lang="en-US" sz="1100" dirty="0"/>
          </a:p>
        </p:txBody>
      </p:sp>
      <p:sp>
        <p:nvSpPr>
          <p:cNvPr id="11" name="Text 9"/>
          <p:cNvSpPr/>
          <p:nvPr/>
        </p:nvSpPr>
        <p:spPr>
          <a:xfrm>
            <a:off x="822960" y="3474720"/>
            <a:ext cx="2286000" cy="228600"/>
          </a:xfrm>
          <a:prstGeom prst="rect">
            <a:avLst/>
          </a:prstGeom>
          <a:noFill/>
          <a:ln/>
        </p:spPr>
        <p:txBody>
          <a:bodyPr wrap="square" lIns="0" tIns="0" rIns="0" bIns="0" rtlCol="0" anchor="ctr"/>
          <a:lstStyle/>
          <a:p>
            <a:pPr marL="0" indent="0">
              <a:buNone/>
            </a:pPr>
            <a:r>
              <a:rPr lang="en-US" sz="1000" dirty="0">
                <a:solidFill>
                  <a:srgbClr val="00BFA6"/>
                </a:solidFill>
                <a:latin typeface="Consolas" pitchFamily="34" charset="0"/>
                <a:ea typeface="Consolas" pitchFamily="34" charset="-122"/>
                <a:cs typeface="Consolas" pitchFamily="34" charset="-120"/>
              </a:rPr>
              <a:t>effort: low</a:t>
            </a:r>
            <a:endParaRPr lang="en-US" sz="1000" dirty="0"/>
          </a:p>
        </p:txBody>
      </p:sp>
      <p:sp>
        <p:nvSpPr>
          <p:cNvPr id="12" name="Text 10"/>
          <p:cNvSpPr/>
          <p:nvPr/>
        </p:nvSpPr>
        <p:spPr>
          <a:xfrm>
            <a:off x="3291840" y="2286000"/>
            <a:ext cx="228600" cy="365760"/>
          </a:xfrm>
          <a:prstGeom prst="rect">
            <a:avLst/>
          </a:prstGeom>
          <a:noFill/>
          <a:ln/>
        </p:spPr>
        <p:txBody>
          <a:bodyPr wrap="square" lIns="0" tIns="0" rIns="0" bIns="0" rtlCol="0" anchor="ctr"/>
          <a:lstStyle/>
          <a:p>
            <a:pPr marL="0" indent="0" algn="ctr">
              <a:buNone/>
            </a:pPr>
            <a:r>
              <a:rPr lang="en-US" sz="2000" b="1" dirty="0">
                <a:solidFill>
                  <a:srgbClr val="00BFA6"/>
                </a:solidFill>
                <a:latin typeface="Segoe UI" pitchFamily="34" charset="0"/>
                <a:ea typeface="Segoe UI" pitchFamily="34" charset="-122"/>
                <a:cs typeface="Segoe UI" pitchFamily="34" charset="-120"/>
              </a:rPr>
              <a:t>→</a:t>
            </a:r>
            <a:endParaRPr lang="en-US" sz="2000" dirty="0"/>
          </a:p>
        </p:txBody>
      </p:sp>
      <p:sp>
        <p:nvSpPr>
          <p:cNvPr id="13" name="Shape 11"/>
          <p:cNvSpPr/>
          <p:nvPr/>
        </p:nvSpPr>
        <p:spPr>
          <a:xfrm>
            <a:off x="3520440" y="1417320"/>
            <a:ext cx="2651760" cy="237744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a:p>
        </p:txBody>
      </p:sp>
      <p:sp>
        <p:nvSpPr>
          <p:cNvPr id="14" name="Shape 12"/>
          <p:cNvSpPr/>
          <p:nvPr/>
        </p:nvSpPr>
        <p:spPr>
          <a:xfrm>
            <a:off x="3520440" y="1417320"/>
            <a:ext cx="2651760" cy="54864"/>
          </a:xfrm>
          <a:prstGeom prst="rect">
            <a:avLst/>
          </a:prstGeom>
          <a:solidFill>
            <a:srgbClr val="00BFA6"/>
          </a:solidFill>
          <a:ln/>
        </p:spPr>
        <p:txBody>
          <a:bodyPr/>
          <a:lstStyle/>
          <a:p>
            <a:endParaRPr lang="en-US"/>
          </a:p>
        </p:txBody>
      </p:sp>
      <p:sp>
        <p:nvSpPr>
          <p:cNvPr id="15" name="Text 13"/>
          <p:cNvSpPr/>
          <p:nvPr/>
        </p:nvSpPr>
        <p:spPr>
          <a:xfrm>
            <a:off x="3703320" y="1554480"/>
            <a:ext cx="1097280" cy="27432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Call 2</a:t>
            </a:r>
            <a:endParaRPr lang="en-US" sz="1100" dirty="0"/>
          </a:p>
        </p:txBody>
      </p:sp>
      <p:sp>
        <p:nvSpPr>
          <p:cNvPr id="16" name="Text 14"/>
          <p:cNvSpPr/>
          <p:nvPr/>
        </p:nvSpPr>
        <p:spPr>
          <a:xfrm>
            <a:off x="3703320" y="1828800"/>
            <a:ext cx="22860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ANALYZE</a:t>
            </a:r>
            <a:endParaRPr lang="en-US" sz="1600" dirty="0"/>
          </a:p>
        </p:txBody>
      </p:sp>
      <p:sp>
        <p:nvSpPr>
          <p:cNvPr id="17" name="Text 15"/>
          <p:cNvSpPr/>
          <p:nvPr/>
        </p:nvSpPr>
        <p:spPr>
          <a:xfrm>
            <a:off x="3703320" y="2148840"/>
            <a:ext cx="2286000" cy="128016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Group by methodology.</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Identify agreements,</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contradictions, and gaps.</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Structured comparison.</a:t>
            </a:r>
            <a:endParaRPr lang="en-US" sz="1100" dirty="0"/>
          </a:p>
        </p:txBody>
      </p:sp>
      <p:sp>
        <p:nvSpPr>
          <p:cNvPr id="18" name="Text 16"/>
          <p:cNvSpPr/>
          <p:nvPr/>
        </p:nvSpPr>
        <p:spPr>
          <a:xfrm>
            <a:off x="3703320" y="3474720"/>
            <a:ext cx="2286000" cy="228600"/>
          </a:xfrm>
          <a:prstGeom prst="rect">
            <a:avLst/>
          </a:prstGeom>
          <a:noFill/>
          <a:ln/>
        </p:spPr>
        <p:txBody>
          <a:bodyPr wrap="square" lIns="0" tIns="0" rIns="0" bIns="0" rtlCol="0" anchor="ctr"/>
          <a:lstStyle/>
          <a:p>
            <a:pPr marL="0" indent="0">
              <a:buNone/>
            </a:pPr>
            <a:r>
              <a:rPr lang="en-US" sz="1000" dirty="0">
                <a:solidFill>
                  <a:srgbClr val="00BFA6"/>
                </a:solidFill>
                <a:latin typeface="Consolas" pitchFamily="34" charset="0"/>
                <a:ea typeface="Consolas" pitchFamily="34" charset="-122"/>
                <a:cs typeface="Consolas" pitchFamily="34" charset="-120"/>
              </a:rPr>
              <a:t>effort: medium</a:t>
            </a:r>
            <a:endParaRPr lang="en-US" sz="1000" dirty="0"/>
          </a:p>
        </p:txBody>
      </p:sp>
      <p:sp>
        <p:nvSpPr>
          <p:cNvPr id="19" name="Text 17"/>
          <p:cNvSpPr/>
          <p:nvPr/>
        </p:nvSpPr>
        <p:spPr>
          <a:xfrm>
            <a:off x="6172200" y="2286000"/>
            <a:ext cx="228600" cy="365760"/>
          </a:xfrm>
          <a:prstGeom prst="rect">
            <a:avLst/>
          </a:prstGeom>
          <a:noFill/>
          <a:ln/>
        </p:spPr>
        <p:txBody>
          <a:bodyPr wrap="square" lIns="0" tIns="0" rIns="0" bIns="0" rtlCol="0" anchor="ctr"/>
          <a:lstStyle/>
          <a:p>
            <a:pPr marL="0" indent="0" algn="ctr">
              <a:buNone/>
            </a:pPr>
            <a:r>
              <a:rPr lang="en-US" sz="2000" b="1" dirty="0">
                <a:solidFill>
                  <a:srgbClr val="00BFA6"/>
                </a:solidFill>
                <a:latin typeface="Segoe UI" pitchFamily="34" charset="0"/>
                <a:ea typeface="Segoe UI" pitchFamily="34" charset="-122"/>
                <a:cs typeface="Segoe UI" pitchFamily="34" charset="-120"/>
              </a:rPr>
              <a:t>→</a:t>
            </a:r>
            <a:endParaRPr lang="en-US" sz="2000" dirty="0"/>
          </a:p>
        </p:txBody>
      </p:sp>
      <p:sp>
        <p:nvSpPr>
          <p:cNvPr id="20" name="Shape 18"/>
          <p:cNvSpPr/>
          <p:nvPr/>
        </p:nvSpPr>
        <p:spPr>
          <a:xfrm>
            <a:off x="6400800" y="1417320"/>
            <a:ext cx="2651760" cy="2377440"/>
          </a:xfrm>
          <a:prstGeom prst="rect">
            <a:avLst/>
          </a:prstGeom>
          <a:solidFill>
            <a:srgbClr val="F5F7FA"/>
          </a:solidFill>
          <a:ln/>
          <a:effectLst>
            <a:outerShdw blurRad="76200" dist="25400" dir="8100000" algn="bl" rotWithShape="0">
              <a:srgbClr val="000000">
                <a:alpha val="10000"/>
              </a:srgbClr>
            </a:outerShdw>
          </a:effectLst>
        </p:spPr>
        <p:txBody>
          <a:bodyPr/>
          <a:lstStyle/>
          <a:p>
            <a:endParaRPr lang="en-US"/>
          </a:p>
        </p:txBody>
      </p:sp>
      <p:sp>
        <p:nvSpPr>
          <p:cNvPr id="21" name="Shape 19"/>
          <p:cNvSpPr/>
          <p:nvPr/>
        </p:nvSpPr>
        <p:spPr>
          <a:xfrm>
            <a:off x="6400800" y="1417320"/>
            <a:ext cx="2651760" cy="54864"/>
          </a:xfrm>
          <a:prstGeom prst="rect">
            <a:avLst/>
          </a:prstGeom>
          <a:solidFill>
            <a:srgbClr val="00BFA6"/>
          </a:solidFill>
          <a:ln/>
        </p:spPr>
        <p:txBody>
          <a:bodyPr/>
          <a:lstStyle/>
          <a:p>
            <a:endParaRPr lang="en-US"/>
          </a:p>
        </p:txBody>
      </p:sp>
      <p:sp>
        <p:nvSpPr>
          <p:cNvPr id="22" name="Text 20"/>
          <p:cNvSpPr/>
          <p:nvPr/>
        </p:nvSpPr>
        <p:spPr>
          <a:xfrm>
            <a:off x="6583680" y="1554480"/>
            <a:ext cx="1097280" cy="27432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Call 3</a:t>
            </a:r>
            <a:endParaRPr lang="en-US" sz="1100" dirty="0"/>
          </a:p>
        </p:txBody>
      </p:sp>
      <p:sp>
        <p:nvSpPr>
          <p:cNvPr id="23" name="Text 21"/>
          <p:cNvSpPr/>
          <p:nvPr/>
        </p:nvSpPr>
        <p:spPr>
          <a:xfrm>
            <a:off x="6583680" y="1828800"/>
            <a:ext cx="2286000" cy="27432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GENERATE</a:t>
            </a:r>
            <a:endParaRPr lang="en-US" sz="1600" dirty="0"/>
          </a:p>
        </p:txBody>
      </p:sp>
      <p:sp>
        <p:nvSpPr>
          <p:cNvPr id="24" name="Text 22"/>
          <p:cNvSpPr/>
          <p:nvPr/>
        </p:nvSpPr>
        <p:spPr>
          <a:xfrm>
            <a:off x="6583680" y="2148840"/>
            <a:ext cx="2286000" cy="1280160"/>
          </a:xfrm>
          <a:prstGeom prst="rect">
            <a:avLst/>
          </a:prstGeom>
          <a:noFill/>
          <a:ln/>
        </p:spPr>
        <p:txBody>
          <a:bodyPr wrap="square" lIns="0" tIns="0" rIns="0" bIns="0" rtlCol="0" anchor="ctr"/>
          <a:lstStyle/>
          <a:p>
            <a:pPr marL="0" indent="0">
              <a:buNone/>
            </a:pPr>
            <a:r>
              <a:rPr lang="en-US" sz="1100" dirty="0">
                <a:solidFill>
                  <a:srgbClr val="64748B"/>
                </a:solidFill>
                <a:latin typeface="Segoe UI" pitchFamily="34" charset="0"/>
                <a:ea typeface="Segoe UI" pitchFamily="34" charset="-122"/>
                <a:cs typeface="Segoe UI" pitchFamily="34" charset="-120"/>
              </a:rPr>
              <a:t>Write a 500-word literature</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review. Academic tone.</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Highlight the key</a:t>
            </a:r>
            <a:endParaRPr lang="en-US" sz="1100" dirty="0"/>
          </a:p>
          <a:p>
            <a:pPr marL="0" indent="0">
              <a:buNone/>
            </a:pPr>
            <a:r>
              <a:rPr lang="en-US" sz="1100" dirty="0">
                <a:solidFill>
                  <a:srgbClr val="64748B"/>
                </a:solidFill>
                <a:latin typeface="Segoe UI" pitchFamily="34" charset="0"/>
                <a:ea typeface="Segoe UI" pitchFamily="34" charset="-122"/>
                <a:cs typeface="Segoe UI" pitchFamily="34" charset="-120"/>
              </a:rPr>
              <a:t>unaddressed gap.</a:t>
            </a:r>
            <a:endParaRPr lang="en-US" sz="1100" dirty="0"/>
          </a:p>
        </p:txBody>
      </p:sp>
      <p:sp>
        <p:nvSpPr>
          <p:cNvPr id="25" name="Text 23"/>
          <p:cNvSpPr/>
          <p:nvPr/>
        </p:nvSpPr>
        <p:spPr>
          <a:xfrm>
            <a:off x="6583680" y="3474720"/>
            <a:ext cx="2286000" cy="228600"/>
          </a:xfrm>
          <a:prstGeom prst="rect">
            <a:avLst/>
          </a:prstGeom>
          <a:noFill/>
          <a:ln/>
        </p:spPr>
        <p:txBody>
          <a:bodyPr wrap="square" lIns="0" tIns="0" rIns="0" bIns="0" rtlCol="0" anchor="ctr"/>
          <a:lstStyle/>
          <a:p>
            <a:pPr marL="0" indent="0">
              <a:buNone/>
            </a:pPr>
            <a:r>
              <a:rPr lang="en-US" sz="1000" dirty="0">
                <a:solidFill>
                  <a:srgbClr val="00BFA6"/>
                </a:solidFill>
                <a:latin typeface="Consolas" pitchFamily="34" charset="0"/>
                <a:ea typeface="Consolas" pitchFamily="34" charset="-122"/>
                <a:cs typeface="Consolas" pitchFamily="34" charset="-120"/>
              </a:rPr>
              <a:t>effort: high</a:t>
            </a:r>
            <a:endParaRPr lang="en-US" sz="1000" dirty="0"/>
          </a:p>
        </p:txBody>
      </p:sp>
      <p:sp>
        <p:nvSpPr>
          <p:cNvPr id="26" name="Shape 24"/>
          <p:cNvSpPr/>
          <p:nvPr/>
        </p:nvSpPr>
        <p:spPr>
          <a:xfrm>
            <a:off x="640080" y="4023360"/>
            <a:ext cx="7863840" cy="822960"/>
          </a:xfrm>
          <a:prstGeom prst="rect">
            <a:avLst/>
          </a:prstGeom>
          <a:solidFill>
            <a:srgbClr val="1A2744"/>
          </a:solidFill>
          <a:ln/>
        </p:spPr>
        <p:txBody>
          <a:bodyPr/>
          <a:lstStyle/>
          <a:p>
            <a:endParaRPr lang="en-US"/>
          </a:p>
        </p:txBody>
      </p:sp>
      <p:sp>
        <p:nvSpPr>
          <p:cNvPr id="27" name="Text 25"/>
          <p:cNvSpPr/>
          <p:nvPr/>
        </p:nvSpPr>
        <p:spPr>
          <a:xfrm>
            <a:off x="914400" y="4023360"/>
            <a:ext cx="7315200" cy="822960"/>
          </a:xfrm>
          <a:prstGeom prst="rect">
            <a:avLst/>
          </a:prstGeom>
          <a:noFill/>
          <a:ln/>
        </p:spPr>
        <p:txBody>
          <a:bodyPr wrap="square" rtlCol="0" anchor="ctr"/>
          <a:lstStyle/>
          <a:p>
            <a:pPr marL="0" indent="0">
              <a:buNone/>
            </a:pPr>
            <a:r>
              <a:rPr lang="en-US" sz="1300" b="1" dirty="0">
                <a:solidFill>
                  <a:srgbClr val="00BFA6"/>
                </a:solidFill>
                <a:latin typeface="Segoe UI" pitchFamily="34" charset="0"/>
                <a:ea typeface="Segoe UI" pitchFamily="34" charset="-122"/>
                <a:cs typeface="Segoe UI" pitchFamily="34" charset="-120"/>
              </a:rPr>
              <a:t>Why chain?  </a:t>
            </a:r>
            <a:r>
              <a:rPr lang="en-US" sz="1200" dirty="0">
                <a:solidFill>
                  <a:srgbClr val="FFFFFF"/>
                </a:solidFill>
                <a:latin typeface="Segoe UI" pitchFamily="34" charset="0"/>
                <a:ea typeface="Segoe UI" pitchFamily="34" charset="-122"/>
                <a:cs typeface="Segoe UI" pitchFamily="34" charset="-120"/>
              </a:rPr>
              <a:t>Verify intermediate results · Different models/reasoning per step · Clear debugging surface · Prevent corner-cutting</a:t>
            </a:r>
            <a:endParaRPr lang="en-US" sz="1300" dirty="0"/>
          </a:p>
        </p:txBody>
      </p:sp>
    </p:spTree>
    <p:extLst>
      <p:ext uri="{BB962C8B-B14F-4D97-AF65-F5344CB8AC3E}">
        <p14:creationId xmlns:p14="http://schemas.microsoft.com/office/powerpoint/2010/main" val="37215599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20040"/>
            <a:ext cx="457200" cy="411480"/>
          </a:xfrm>
          <a:prstGeom prst="rect">
            <a:avLst/>
          </a:prstGeom>
          <a:solidFill>
            <a:srgbClr val="00BFA6"/>
          </a:solidFill>
          <a:ln/>
        </p:spPr>
        <p:txBody>
          <a:bodyPr/>
          <a:lstStyle/>
          <a:p>
            <a:endParaRPr lang="en-US"/>
          </a:p>
        </p:txBody>
      </p:sp>
      <p:sp>
        <p:nvSpPr>
          <p:cNvPr id="3" name="Text 1"/>
          <p:cNvSpPr/>
          <p:nvPr/>
        </p:nvSpPr>
        <p:spPr>
          <a:xfrm>
            <a:off x="640080" y="320040"/>
            <a:ext cx="457200" cy="411480"/>
          </a:xfrm>
          <a:prstGeom prst="rect">
            <a:avLst/>
          </a:prstGeom>
          <a:noFill/>
          <a:ln/>
        </p:spPr>
        <p:txBody>
          <a:bodyPr wrap="square" lIns="0" tIns="0" rIns="0" bIns="0"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10</a:t>
            </a:r>
          </a:p>
        </p:txBody>
      </p:sp>
      <p:sp>
        <p:nvSpPr>
          <p:cNvPr id="4" name="Text 2"/>
          <p:cNvSpPr/>
          <p:nvPr/>
        </p:nvSpPr>
        <p:spPr>
          <a:xfrm>
            <a:off x="1280160" y="274320"/>
            <a:ext cx="6400800" cy="502920"/>
          </a:xfrm>
          <a:prstGeom prst="rect">
            <a:avLst/>
          </a:prstGeom>
          <a:noFill/>
          <a:ln/>
        </p:spPr>
        <p:txBody>
          <a:bodyPr wrap="square" lIns="0" tIns="0" rIns="0" bIns="0" rtlCol="0" anchor="ctr"/>
          <a:lstStyle/>
          <a:p>
            <a:pPr marL="0" indent="0">
              <a:buNone/>
            </a:pPr>
            <a:r>
              <a:rPr lang="en-US" sz="3200" b="1" dirty="0">
                <a:solidFill>
                  <a:srgbClr val="1A2744"/>
                </a:solidFill>
                <a:latin typeface="Segoe UI Black" pitchFamily="34" charset="0"/>
                <a:ea typeface="Segoe UI Black" pitchFamily="34" charset="-122"/>
                <a:cs typeface="Segoe UI Black" pitchFamily="34" charset="-120"/>
              </a:rPr>
              <a:t>Guardrail Models</a:t>
            </a:r>
          </a:p>
        </p:txBody>
      </p:sp>
      <p:sp>
        <p:nvSpPr>
          <p:cNvPr id="5" name="Text 3"/>
          <p:cNvSpPr/>
          <p:nvPr/>
        </p:nvSpPr>
        <p:spPr>
          <a:xfrm>
            <a:off x="640080" y="914400"/>
            <a:ext cx="7772400" cy="365760"/>
          </a:xfrm>
          <a:prstGeom prst="rect">
            <a:avLst/>
          </a:prstGeom>
          <a:noFill/>
          <a:ln/>
        </p:spPr>
        <p:txBody>
          <a:bodyPr wrap="square" lIns="0" tIns="0" rIns="0" bIns="0" rtlCol="0" anchor="ctr"/>
          <a:lstStyle/>
          <a:p>
            <a:pPr marL="0" indent="0">
              <a:buNone/>
            </a:pPr>
            <a:r>
              <a:rPr lang="en-US" sz="1400" dirty="0">
                <a:solidFill>
                  <a:srgbClr val="64748B"/>
                </a:solidFill>
                <a:latin typeface="Segoe UI" pitchFamily="34" charset="0"/>
                <a:ea typeface="Segoe UI" pitchFamily="34" charset="-122"/>
                <a:cs typeface="Segoe UI" pitchFamily="34" charset="-120"/>
              </a:rPr>
              <a:t>Separate, lightweight models that check inputs and outputs for safety and compliance.</a:t>
            </a:r>
          </a:p>
        </p:txBody>
      </p:sp>
      <p:sp>
        <p:nvSpPr>
          <p:cNvPr id="6" name="Shape 4"/>
          <p:cNvSpPr/>
          <p:nvPr/>
        </p:nvSpPr>
        <p:spPr>
          <a:xfrm>
            <a:off x="640080" y="1463040"/>
            <a:ext cx="3749040" cy="2286000"/>
          </a:xfrm>
          <a:prstGeom prst="rect">
            <a:avLst/>
          </a:prstGeom>
          <a:solidFill>
            <a:srgbClr val="F5F7FA"/>
          </a:solidFill>
          <a:ln/>
        </p:spPr>
        <p:txBody>
          <a:bodyPr/>
          <a:lstStyle/>
          <a:p>
            <a:endParaRPr lang="en-US"/>
          </a:p>
        </p:txBody>
      </p:sp>
      <p:sp>
        <p:nvSpPr>
          <p:cNvPr id="7" name="Shape 5"/>
          <p:cNvSpPr/>
          <p:nvPr/>
        </p:nvSpPr>
        <p:spPr>
          <a:xfrm>
            <a:off x="640080" y="1463040"/>
            <a:ext cx="3749040" cy="54864"/>
          </a:xfrm>
          <a:prstGeom prst="rect">
            <a:avLst/>
          </a:prstGeom>
          <a:solidFill>
            <a:srgbClr val="00BFA6"/>
          </a:solidFill>
          <a:ln/>
        </p:spPr>
        <p:txBody>
          <a:bodyPr/>
          <a:lstStyle/>
          <a:p>
            <a:endParaRPr lang="en-US"/>
          </a:p>
        </p:txBody>
      </p:sp>
      <p:sp>
        <p:nvSpPr>
          <p:cNvPr id="8" name="Text 6"/>
          <p:cNvSpPr/>
          <p:nvPr/>
        </p:nvSpPr>
        <p:spPr>
          <a:xfrm>
            <a:off x="9144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How They Work</a:t>
            </a:r>
          </a:p>
        </p:txBody>
      </p:sp>
      <p:sp>
        <p:nvSpPr>
          <p:cNvPr id="9" name="Text 7"/>
          <p:cNvSpPr/>
          <p:nvPr/>
        </p:nvSpPr>
        <p:spPr>
          <a:xfrm>
            <a:off x="9144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Input guard:</a:t>
            </a:r>
            <a:r>
              <a:rPr lang="en-US" sz="1200" dirty="0">
                <a:solidFill>
                  <a:srgbClr val="64748B"/>
                </a:solidFill>
                <a:latin typeface="Segoe UI" pitchFamily="34" charset="0"/>
                <a:ea typeface="Segoe UI" pitchFamily="34" charset="-122"/>
                <a:cs typeface="Segoe UI" pitchFamily="34" charset="-120"/>
              </a:rPr>
              <a:t> Classifies user input before it reaches the main LLM. Blocks prompt injections, jailbreaks, and off-topic requests.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Output guard:</a:t>
            </a:r>
            <a:r>
              <a:rPr lang="en-US" sz="1200" dirty="0">
                <a:solidFill>
                  <a:srgbClr val="64748B"/>
                </a:solidFill>
                <a:latin typeface="Segoe UI" pitchFamily="34" charset="0"/>
                <a:ea typeface="Segoe UI" pitchFamily="34" charset="-122"/>
                <a:cs typeface="Segoe UI" pitchFamily="34" charset="-120"/>
              </a:rPr>
              <a:t> Scans the LLM's response before it reaches the user. Catches hallucinations, PII leaks, toxic content, and policy violations.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Architecture:</a:t>
            </a:r>
            <a:r>
              <a:rPr lang="en-US" sz="1200" dirty="0">
                <a:solidFill>
                  <a:srgbClr val="64748B"/>
                </a:solidFill>
                <a:latin typeface="Segoe UI" pitchFamily="34" charset="0"/>
                <a:ea typeface="Segoe UI" pitchFamily="34" charset="-122"/>
                <a:cs typeface="Segoe UI" pitchFamily="34" charset="-120"/>
              </a:rPr>
              <a:t> Typically small, fast classifiers (not full LLMs) that add minimal latency.</a:t>
            </a:r>
          </a:p>
        </p:txBody>
      </p:sp>
      <p:sp>
        <p:nvSpPr>
          <p:cNvPr id="10" name="Shape 8"/>
          <p:cNvSpPr/>
          <p:nvPr/>
        </p:nvSpPr>
        <p:spPr>
          <a:xfrm>
            <a:off x="4754880" y="1463040"/>
            <a:ext cx="3749040" cy="2286000"/>
          </a:xfrm>
          <a:prstGeom prst="rect">
            <a:avLst/>
          </a:prstGeom>
          <a:solidFill>
            <a:srgbClr val="F5F7FA"/>
          </a:solidFill>
          <a:ln/>
        </p:spPr>
        <p:txBody>
          <a:bodyPr/>
          <a:lstStyle/>
          <a:p>
            <a:endParaRPr lang="en-US"/>
          </a:p>
        </p:txBody>
      </p:sp>
      <p:sp>
        <p:nvSpPr>
          <p:cNvPr id="11" name="Shape 9"/>
          <p:cNvSpPr/>
          <p:nvPr/>
        </p:nvSpPr>
        <p:spPr>
          <a:xfrm>
            <a:off x="4754880" y="1463040"/>
            <a:ext cx="3749040" cy="54864"/>
          </a:xfrm>
          <a:prstGeom prst="rect">
            <a:avLst/>
          </a:prstGeom>
          <a:solidFill>
            <a:srgbClr val="00BFA6"/>
          </a:solidFill>
          <a:ln/>
        </p:spPr>
        <p:txBody>
          <a:bodyPr/>
          <a:lstStyle/>
          <a:p>
            <a:endParaRPr lang="en-US"/>
          </a:p>
        </p:txBody>
      </p:sp>
      <p:sp>
        <p:nvSpPr>
          <p:cNvPr id="12" name="Text 10"/>
          <p:cNvSpPr/>
          <p:nvPr/>
        </p:nvSpPr>
        <p:spPr>
          <a:xfrm>
            <a:off x="5029200" y="1645920"/>
            <a:ext cx="3200400" cy="320040"/>
          </a:xfrm>
          <a:prstGeom prst="rect">
            <a:avLst/>
          </a:prstGeom>
          <a:noFill/>
          <a:ln/>
        </p:spPr>
        <p:txBody>
          <a:bodyPr wrap="square" lIns="0" tIns="0" rIns="0" bIns="0" rtlCol="0" anchor="ctr"/>
          <a:lstStyle/>
          <a:p>
            <a:pPr marL="0" indent="0">
              <a:buNone/>
            </a:pPr>
            <a:r>
              <a:rPr lang="en-US" sz="1600" b="1" dirty="0">
                <a:solidFill>
                  <a:srgbClr val="1A2744"/>
                </a:solidFill>
                <a:latin typeface="Segoe UI" pitchFamily="34" charset="0"/>
                <a:ea typeface="Segoe UI" pitchFamily="34" charset="-122"/>
                <a:cs typeface="Segoe UI" pitchFamily="34" charset="-120"/>
              </a:rPr>
              <a:t>Tools &amp; Approaches</a:t>
            </a:r>
          </a:p>
        </p:txBody>
      </p:sp>
      <p:sp>
        <p:nvSpPr>
          <p:cNvPr id="13" name="Text 11"/>
          <p:cNvSpPr/>
          <p:nvPr/>
        </p:nvSpPr>
        <p:spPr>
          <a:xfrm>
            <a:off x="5029200" y="2011680"/>
            <a:ext cx="3200400" cy="1463040"/>
          </a:xfrm>
          <a:prstGeom prst="rect">
            <a:avLst/>
          </a:prstGeom>
          <a:noFill/>
          <a:ln/>
        </p:spPr>
        <p:txBody>
          <a:bodyPr wrap="square" lIns="0" tIns="0" rIns="0" bIns="0" rtlCol="0" anchor="ctr"/>
          <a:lstStyle/>
          <a:p>
            <a:pPr marL="0" indent="0">
              <a:buNone/>
            </a:pPr>
            <a:r>
              <a:rPr lang="en-US" sz="1200" b="1" dirty="0">
                <a:solidFill>
                  <a:srgbClr val="1A2744"/>
                </a:solidFill>
                <a:latin typeface="Segoe UI" pitchFamily="34" charset="0"/>
                <a:ea typeface="Segoe UI" pitchFamily="34" charset="-122"/>
                <a:cs typeface="Segoe UI" pitchFamily="34" charset="-120"/>
              </a:rPr>
              <a:t>Llama Guard:</a:t>
            </a:r>
            <a:r>
              <a:rPr lang="en-US" sz="1200" dirty="0">
                <a:solidFill>
                  <a:srgbClr val="64748B"/>
                </a:solidFill>
                <a:latin typeface="Segoe UI" pitchFamily="34" charset="0"/>
                <a:ea typeface="Segoe UI" pitchFamily="34" charset="-122"/>
                <a:cs typeface="Segoe UI" pitchFamily="34" charset="-120"/>
              </a:rPr>
              <a:t> Meta's open-source safety classifier built on Llama. Classifies both input and output against customizable policies.</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NeMo Guardrails:</a:t>
            </a:r>
            <a:r>
              <a:rPr lang="en-US" sz="1200" dirty="0">
                <a:solidFill>
                  <a:srgbClr val="64748B"/>
                </a:solidFill>
                <a:latin typeface="Segoe UI" pitchFamily="34" charset="0"/>
                <a:ea typeface="Segoe UI" pitchFamily="34" charset="-122"/>
                <a:cs typeface="Segoe UI" pitchFamily="34" charset="-120"/>
              </a:rPr>
              <a:t> NVIDIA's programmable guardrail toolkit. Define rules in Colang for topic control and safety.</a:t>
            </a:r>
          </a:p>
          <a:p>
            <a:pPr marL="0" indent="0">
              <a:buNone/>
            </a:pPr>
            <a:endParaRPr lang="en-US" sz="600" dirty="0"/>
          </a:p>
          <a:p>
            <a:pPr marL="0" indent="0">
              <a:buNone/>
            </a:pPr>
            <a:r>
              <a:rPr lang="en-US" sz="1200" b="1" dirty="0">
                <a:solidFill>
                  <a:srgbClr val="1A2744"/>
                </a:solidFill>
                <a:latin typeface="Segoe UI" pitchFamily="34" charset="0"/>
                <a:ea typeface="Segoe UI" pitchFamily="34" charset="-122"/>
                <a:cs typeface="Segoe UI" pitchFamily="34" charset="-120"/>
              </a:rPr>
              <a:t>OpenAI Moderation:</a:t>
            </a:r>
            <a:r>
              <a:rPr lang="en-US" sz="1200" dirty="0">
                <a:solidFill>
                  <a:srgbClr val="64748B"/>
                </a:solidFill>
                <a:latin typeface="Segoe UI" pitchFamily="34" charset="0"/>
                <a:ea typeface="Segoe UI" pitchFamily="34" charset="-122"/>
                <a:cs typeface="Segoe UI" pitchFamily="34" charset="-120"/>
              </a:rPr>
              <a:t> Free API endpoint that flags harmful content across categories (violence, self-harm, etc.).</a:t>
            </a:r>
          </a:p>
        </p:txBody>
      </p:sp>
      <p:sp>
        <p:nvSpPr>
          <p:cNvPr id="14" name="Shape 12"/>
          <p:cNvSpPr/>
          <p:nvPr/>
        </p:nvSpPr>
        <p:spPr>
          <a:xfrm>
            <a:off x="640080" y="4023360"/>
            <a:ext cx="7863840" cy="822960"/>
          </a:xfrm>
          <a:prstGeom prst="rect">
            <a:avLst/>
          </a:prstGeom>
          <a:solidFill>
            <a:srgbClr val="1A2744"/>
          </a:solidFill>
          <a:ln/>
        </p:spPr>
        <p:txBody>
          <a:bodyPr/>
          <a:lstStyle/>
          <a:p>
            <a:endParaRPr lang="en-US"/>
          </a:p>
        </p:txBody>
      </p:sp>
      <p:sp>
        <p:nvSpPr>
          <p:cNvPr id="15" name="Text 13"/>
          <p:cNvSpPr/>
          <p:nvPr/>
        </p:nvSpPr>
        <p:spPr>
          <a:xfrm>
            <a:off x="914400" y="4023360"/>
            <a:ext cx="7315200" cy="822960"/>
          </a:xfrm>
          <a:prstGeom prst="rect">
            <a:avLst/>
          </a:prstGeom>
          <a:noFill/>
          <a:ln/>
        </p:spPr>
        <p:txBody>
          <a:bodyPr wrap="square"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Guardrails are not optional in production. They're your last line of defense before the user.</a:t>
            </a:r>
          </a:p>
        </p:txBody>
      </p:sp>
    </p:spTree>
    <p:extLst>
      <p:ext uri="{BB962C8B-B14F-4D97-AF65-F5344CB8AC3E}">
        <p14:creationId xmlns:p14="http://schemas.microsoft.com/office/powerpoint/2010/main" val="26412597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bg>
      <p:bgPr>
        <a:solidFill>
          <a:srgbClr val="1A2035"/>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FA6"/>
          </a:solidFill>
          <a:ln/>
        </p:spPr>
        <p:txBody>
          <a:bodyPr/>
          <a:lstStyle/>
          <a:p>
            <a:endParaRPr lang="en-US"/>
          </a:p>
        </p:txBody>
      </p:sp>
      <p:sp>
        <p:nvSpPr>
          <p:cNvPr id="3" name="Text 1"/>
          <p:cNvSpPr/>
          <p:nvPr/>
        </p:nvSpPr>
        <p:spPr>
          <a:xfrm>
            <a:off x="640080" y="914400"/>
            <a:ext cx="7772400" cy="2286000"/>
          </a:xfrm>
          <a:prstGeom prst="rect">
            <a:avLst/>
          </a:prstGeom>
          <a:noFill/>
          <a:ln/>
        </p:spPr>
        <p:txBody>
          <a:bodyPr wrap="square" lIns="0" tIns="0" rIns="0" bIns="0" rtlCol="0" anchor="ctr"/>
          <a:lstStyle/>
          <a:p>
            <a:pPr marL="0" indent="0">
              <a:lnSpc>
                <a:spcPct val="130000"/>
              </a:lnSpc>
              <a:buNone/>
            </a:pPr>
            <a:r>
              <a:rPr lang="en-US" sz="4400" b="1" dirty="0">
                <a:solidFill>
                  <a:srgbClr val="FFFFFF"/>
                </a:solidFill>
                <a:latin typeface="Segoe UI Black" pitchFamily="34" charset="0"/>
                <a:ea typeface="Segoe UI Black" pitchFamily="34" charset="-122"/>
                <a:cs typeface="Segoe UI Black" pitchFamily="34" charset="-120"/>
              </a:rPr>
              <a:t>Start simple.</a:t>
            </a:r>
            <a:endParaRPr lang="en-US" sz="4400" dirty="0"/>
          </a:p>
          <a:p>
            <a:pPr marL="0" indent="0">
              <a:lnSpc>
                <a:spcPct val="130000"/>
              </a:lnSpc>
              <a:buNone/>
            </a:pPr>
            <a:r>
              <a:rPr lang="en-US" sz="4400" b="1" dirty="0">
                <a:solidFill>
                  <a:srgbClr val="FFFFFF"/>
                </a:solidFill>
                <a:latin typeface="Segoe UI Black" pitchFamily="34" charset="0"/>
                <a:ea typeface="Segoe UI Black" pitchFamily="34" charset="-122"/>
                <a:cs typeface="Segoe UI Black" pitchFamily="34" charset="-120"/>
              </a:rPr>
              <a:t>Escalate on failure.</a:t>
            </a:r>
            <a:endParaRPr lang="en-US" sz="4400" dirty="0"/>
          </a:p>
          <a:p>
            <a:pPr marL="0" indent="0">
              <a:lnSpc>
                <a:spcPct val="130000"/>
              </a:lnSpc>
              <a:buNone/>
            </a:pPr>
            <a:r>
              <a:rPr lang="en-US" sz="4400" b="1" dirty="0">
                <a:solidFill>
                  <a:srgbClr val="FFFFFF"/>
                </a:solidFill>
                <a:latin typeface="Segoe UI Black" pitchFamily="34" charset="0"/>
                <a:ea typeface="Segoe UI Black" pitchFamily="34" charset="-122"/>
                <a:cs typeface="Segoe UI Black" pitchFamily="34" charset="-120"/>
              </a:rPr>
              <a:t>Measure everything.</a:t>
            </a:r>
            <a:endParaRPr lang="en-US" sz="4400" dirty="0"/>
          </a:p>
        </p:txBody>
      </p:sp>
      <p:sp>
        <p:nvSpPr>
          <p:cNvPr id="4" name="Text 2"/>
          <p:cNvSpPr/>
          <p:nvPr/>
        </p:nvSpPr>
        <p:spPr>
          <a:xfrm>
            <a:off x="640080" y="3291840"/>
            <a:ext cx="7772400" cy="457200"/>
          </a:xfrm>
          <a:prstGeom prst="rect">
            <a:avLst/>
          </a:prstGeom>
          <a:noFill/>
          <a:ln/>
        </p:spPr>
        <p:txBody>
          <a:bodyPr wrap="square" lIns="0" tIns="0" rIns="0" bIns="0" rtlCol="0" anchor="ctr"/>
          <a:lstStyle/>
          <a:p>
            <a:pPr marL="0" indent="0">
              <a:buNone/>
            </a:pPr>
            <a:r>
              <a:rPr lang="en-US" sz="1600" i="1" dirty="0">
                <a:solidFill>
                  <a:srgbClr val="00BFA6"/>
                </a:solidFill>
                <a:latin typeface="Segoe UI" pitchFamily="34" charset="0"/>
                <a:ea typeface="Segoe UI" pitchFamily="34" charset="-122"/>
                <a:cs typeface="Segoe UI" pitchFamily="34" charset="-120"/>
              </a:rPr>
              <a:t>Patterns persist across model updates; knobs don't.</a:t>
            </a:r>
            <a:endParaRPr lang="en-US" sz="1600" dirty="0"/>
          </a:p>
        </p:txBody>
      </p:sp>
      <p:sp>
        <p:nvSpPr>
          <p:cNvPr id="5" name="Text 3"/>
          <p:cNvSpPr/>
          <p:nvPr/>
        </p:nvSpPr>
        <p:spPr>
          <a:xfrm>
            <a:off x="640080" y="4023360"/>
            <a:ext cx="7772400" cy="320040"/>
          </a:xfrm>
          <a:prstGeom prst="rect">
            <a:avLst/>
          </a:prstGeom>
          <a:noFill/>
          <a:ln/>
        </p:spPr>
        <p:txBody>
          <a:bodyPr wrap="square" lIns="0" tIns="0" rIns="0" bIns="0" rtlCol="0" anchor="ctr"/>
          <a:lstStyle/>
          <a:p>
            <a:pPr marL="0" indent="0">
              <a:buNone/>
            </a:pPr>
            <a:r>
              <a:rPr lang="en-US" sz="1000" dirty="0">
                <a:solidFill>
                  <a:srgbClr val="B8C4D6"/>
                </a:solidFill>
                <a:latin typeface="Segoe UI" pitchFamily="34" charset="0"/>
                <a:ea typeface="Segoe UI" pitchFamily="34" charset="-122"/>
                <a:cs typeface="Segoe UI" pitchFamily="34" charset="-120"/>
              </a:rPr>
              <a:t>Sources: Anthropic Prompting Best Practices · OpenAI GPT-5.x Guides · Google Gemini 3 Prompting Guide</a:t>
            </a:r>
            <a:endParaRPr lang="en-US" sz="1000" dirty="0"/>
          </a:p>
        </p:txBody>
      </p:sp>
      <p:sp>
        <p:nvSpPr>
          <p:cNvPr id="6" name="Text 4"/>
          <p:cNvSpPr/>
          <p:nvPr/>
        </p:nvSpPr>
        <p:spPr>
          <a:xfrm>
            <a:off x="640080" y="4480560"/>
            <a:ext cx="4572000" cy="320040"/>
          </a:xfrm>
          <a:prstGeom prst="rect">
            <a:avLst/>
          </a:prstGeom>
          <a:noFill/>
          <a:ln/>
        </p:spPr>
        <p:txBody>
          <a:bodyPr wrap="square" lIns="0" tIns="0" rIns="0" bIns="0" rtlCol="0" anchor="ctr"/>
          <a:lstStyle/>
          <a:p>
            <a:pPr marL="0" indent="0">
              <a:buNone/>
            </a:pPr>
            <a:r>
              <a:rPr lang="en-US" sz="1300" dirty="0">
                <a:solidFill>
                  <a:srgbClr val="B8C4D6"/>
                </a:solidFill>
                <a:latin typeface="Segoe UI" pitchFamily="34" charset="0"/>
                <a:ea typeface="Segoe UI" pitchFamily="34" charset="-122"/>
                <a:cs typeface="Segoe UI" pitchFamily="34" charset="-120"/>
              </a:rPr>
              <a:t>Fabio Casati  ·  University of Trento</a:t>
            </a:r>
            <a:endParaRPr lang="en-US" sz="1300" dirty="0"/>
          </a:p>
        </p:txBody>
      </p:sp>
    </p:spTree>
    <p:extLst>
      <p:ext uri="{BB962C8B-B14F-4D97-AF65-F5344CB8AC3E}">
        <p14:creationId xmlns:p14="http://schemas.microsoft.com/office/powerpoint/2010/main" val="9552476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2042B32-A543-8C4D-8F3A-DE93398EBD38}">
  <we:reference id="wa200010001" version="1.0.0.0" store="en-US" storeType="OMEX"/>
  <we:alternateReferences>
    <we:reference id="wa200010001" version="1.0.0.0" store=""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5827</TotalTime>
  <Words>3139</Words>
  <Application>Microsoft Macintosh PowerPoint</Application>
  <PresentationFormat>On-screen Show (16:9)</PresentationFormat>
  <Paragraphs>521</Paragraphs>
  <Slides>28</Slides>
  <Notes>25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28</vt:i4>
      </vt:variant>
    </vt:vector>
  </HeadingPairs>
  <TitlesOfParts>
    <vt:vector size="35" baseType="lpstr">
      <vt:lpstr>Aptos</vt:lpstr>
      <vt:lpstr>Arial</vt:lpstr>
      <vt:lpstr>Calibri</vt:lpstr>
      <vt:lpstr>Consolas</vt:lpstr>
      <vt:lpstr>Segoe UI</vt:lpstr>
      <vt:lpstr>Segoe UI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Prompting Cookbook — Reusable Patterns for Modern LLMs</dc:title>
  <dc:subject>PptxGenJS Presentation</dc:subject>
  <dc:creator>Fabio Casati</dc:creator>
  <cp:lastModifiedBy>Casati, Fabio</cp:lastModifiedBy>
  <cp:revision>11</cp:revision>
  <dcterms:created xsi:type="dcterms:W3CDTF">2026-02-28T16:36:44Z</dcterms:created>
  <dcterms:modified xsi:type="dcterms:W3CDTF">2026-03-05T08:02:43Z</dcterms:modified>
</cp:coreProperties>
</file>