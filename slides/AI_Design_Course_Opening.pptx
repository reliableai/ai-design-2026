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20"/>
  </p:notesMasterIdLst>
  <p:sldIdLst>
    <p:sldId id="274" r:id="rId4"/>
    <p:sldId id="273" r:id="rId5"/>
    <p:sldId id="2147482882" r:id="rId6"/>
    <p:sldId id="2147482935" r:id="rId7"/>
    <p:sldId id="289" r:id="rId8"/>
    <p:sldId id="290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29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765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E7460-5BAA-BA48-AC19-D469C0166C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08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3F1D8-D29A-899D-8BC3-B4561E116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5B022-1603-0689-EFC9-4C4DF2238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90A9DE-8DFA-2FCE-BA49-61F7CE5A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9111A-A817-0CD1-0CE9-EE70278ECC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E7460-5BAA-BA48-AC19-D469C0166C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69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E7460-5BAA-BA48-AC19-D469C0166C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42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200150"/>
            <a:ext cx="2708910" cy="2249424"/>
          </a:xfrm>
        </p:spPr>
        <p:txBody>
          <a:bodyPr anchor="t">
            <a:normAutofit/>
          </a:bodyPr>
          <a:lstStyle>
            <a:lvl1pPr>
              <a:defRPr sz="158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99332" y="1200150"/>
            <a:ext cx="4601718" cy="32232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1D06-5B5C-452D-81B5-D55337162AD4}" type="datetime2">
              <a:rPr lang="en-US" smtClean="0"/>
              <a:t>Thursday, February 26,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24963" y="4362823"/>
            <a:ext cx="91656" cy="151733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954" y="260604"/>
            <a:ext cx="7406640" cy="774954"/>
          </a:xfrm>
        </p:spPr>
        <p:txBody>
          <a:bodyPr anchor="ctr"/>
          <a:lstStyle>
            <a:lvl1pPr>
              <a:defRPr>
                <a:solidFill>
                  <a:srgbClr val="01189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954" y="1652778"/>
            <a:ext cx="7406640" cy="2022803"/>
          </a:xfrm>
        </p:spPr>
        <p:txBody>
          <a:bodyPr anchor="ctr"/>
          <a:lstStyle>
            <a:lvl1pPr>
              <a:defRPr>
                <a:latin typeface="Avenir Next" panose="020B0503020202020204" pitchFamily="34" charset="0"/>
              </a:defRPr>
            </a:lvl1pPr>
            <a:lvl2pPr>
              <a:defRPr>
                <a:latin typeface="Avenir Next" panose="020B0503020202020204" pitchFamily="34" charset="0"/>
              </a:defRPr>
            </a:lvl2pPr>
            <a:lvl3pPr>
              <a:defRPr>
                <a:latin typeface="Avenir Next" panose="020B0503020202020204" pitchFamily="34" charset="0"/>
              </a:defRPr>
            </a:lvl3pPr>
            <a:lvl4pPr>
              <a:defRPr>
                <a:latin typeface="Avenir Next" panose="020B0503020202020204" pitchFamily="34" charset="0"/>
              </a:defRPr>
            </a:lvl4pPr>
            <a:lvl5pPr>
              <a:defRPr>
                <a:latin typeface="Avenir Next" panose="020B05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" y="4841748"/>
            <a:ext cx="2667762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26AF6F-B60F-4C18-B9AB-ED82420774C4}" type="datetime2">
              <a:rPr lang="en-US" smtClean="0"/>
              <a:t>Thursday, February 26,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24963" y="4362823"/>
            <a:ext cx="91656" cy="15173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0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Designing Large Scale</a:t>
            </a:r>
            <a:endParaRPr lang="en-US" sz="4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Systems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767056"/>
            <a:ext cx="7680960" cy="960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Master Course — Spring 2026</a:t>
            </a:r>
          </a:p>
          <a:p>
            <a:pPr marL="0" indent="0">
              <a:buNone/>
            </a:pPr>
            <a:endParaRPr lang="en-US" sz="1800" b="1" kern="0" spc="200" dirty="0">
              <a:solidFill>
                <a:srgbClr val="00D2C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b="1" u="sng" kern="0" spc="200" dirty="0">
                <a:solidFill>
                  <a:srgbClr val="00D2C6"/>
                </a:solidFill>
                <a:latin typeface="Calibri" pitchFamily="34" charset="0"/>
                <a:cs typeface="Calibri" pitchFamily="34" charset="-120"/>
              </a:rPr>
              <a:t>reliableai.github.io</a:t>
            </a:r>
            <a:endParaRPr lang="en-US" sz="1800" u="sng" dirty="0"/>
          </a:p>
        </p:txBody>
      </p:sp>
      <p:sp>
        <p:nvSpPr>
          <p:cNvPr id="5" name="Text 3"/>
          <p:cNvSpPr/>
          <p:nvPr/>
        </p:nvSpPr>
        <p:spPr>
          <a:xfrm>
            <a:off x="731520" y="388619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 Casati  ·  University of Trento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3474720"/>
            <a:ext cx="1645920" cy="1645920"/>
          </a:xfrm>
          <a:prstGeom prst="ellipse">
            <a:avLst/>
          </a:prstGeom>
          <a:solidFill>
            <a:srgbClr val="00D2C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0" y="3840480"/>
            <a:ext cx="1097280" cy="1097280"/>
          </a:xfrm>
          <a:prstGeom prst="ellipse">
            <a:avLst/>
          </a:prstGeom>
          <a:solidFill>
            <a:srgbClr val="00D2C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65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Premise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is reshaping what we build and how we build it.
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2B31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course teaches you to build with AI for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73152" cy="146304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about training models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designing systems that use LLMs as components: agents, tools, memory, orchestration.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30175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3017520"/>
            <a:ext cx="73152" cy="146304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0" y="32004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from day one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first, theorize after. Every concept tied to working code you write and evaluate.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29055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78CAB-9E61-5B19-8036-E0607F78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91C61A-0EBA-F9BD-8468-FBE1073C33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74"/>
          <a:stretch>
            <a:fillRect/>
          </a:stretch>
        </p:blipFill>
        <p:spPr>
          <a:xfrm>
            <a:off x="205938" y="1028700"/>
            <a:ext cx="8329187" cy="4114800"/>
          </a:xfrm>
          <a:prstGeom prst="rect">
            <a:avLst/>
          </a:prstGeom>
          <a:ln>
            <a:solidFill>
              <a:srgbClr val="0054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06CC7B-6FCB-1125-AB01-F76DEC966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40" y="410558"/>
            <a:ext cx="7243038" cy="272757"/>
          </a:xfrm>
        </p:spPr>
        <p:txBody>
          <a:bodyPr>
            <a:noAutofit/>
          </a:bodyPr>
          <a:lstStyle/>
          <a:p>
            <a:r>
              <a:rPr lang="en-US" sz="2400" i="1" dirty="0">
                <a:latin typeface="Segoe UI" panose="020B0502040204020203" pitchFamily="34" charset="0"/>
                <a:cs typeface="Segoe UI" panose="020B0502040204020203" pitchFamily="34" charset="0"/>
              </a:rPr>
              <a:t>“Software is changing, again”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Andrej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Karpathy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557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DE6CC-D5BC-974F-8A39-1C24C4570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D79D30-3F61-3557-4239-1B547F314B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54283"/>
              </p:ext>
            </p:extLst>
          </p:nvPr>
        </p:nvGraphicFramePr>
        <p:xfrm>
          <a:off x="308846" y="178906"/>
          <a:ext cx="8638568" cy="4888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647">
                  <a:extLst>
                    <a:ext uri="{9D8B030D-6E8A-4147-A177-3AD203B41FA5}">
                      <a16:colId xmlns:a16="http://schemas.microsoft.com/office/drawing/2014/main" val="4227403937"/>
                    </a:ext>
                  </a:extLst>
                </a:gridCol>
                <a:gridCol w="1444688">
                  <a:extLst>
                    <a:ext uri="{9D8B030D-6E8A-4147-A177-3AD203B41FA5}">
                      <a16:colId xmlns:a16="http://schemas.microsoft.com/office/drawing/2014/main" val="1905143781"/>
                    </a:ext>
                  </a:extLst>
                </a:gridCol>
                <a:gridCol w="1405106">
                  <a:extLst>
                    <a:ext uri="{9D8B030D-6E8A-4147-A177-3AD203B41FA5}">
                      <a16:colId xmlns:a16="http://schemas.microsoft.com/office/drawing/2014/main" val="880698975"/>
                    </a:ext>
                  </a:extLst>
                </a:gridCol>
                <a:gridCol w="3769127">
                  <a:extLst>
                    <a:ext uri="{9D8B030D-6E8A-4147-A177-3AD203B41FA5}">
                      <a16:colId xmlns:a16="http://schemas.microsoft.com/office/drawing/2014/main" val="615577616"/>
                    </a:ext>
                  </a:extLst>
                </a:gridCol>
              </a:tblGrid>
              <a:tr h="542494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rgbClr val="005493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339" marR="45339" marT="22670" marB="226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Software 1.0</a:t>
                      </a:r>
                    </a:p>
                  </a:txBody>
                  <a:tcPr marL="45339" marR="45339" marT="22670" marB="226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Software 2.0</a:t>
                      </a:r>
                    </a:p>
                  </a:txBody>
                  <a:tcPr marL="45339" marR="45339" marT="22670" marB="226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Software 3.0</a:t>
                      </a:r>
                    </a:p>
                  </a:txBody>
                  <a:tcPr marL="45339" marR="45339" marT="22670" marB="226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56096"/>
                  </a:ext>
                </a:extLst>
              </a:tr>
              <a:tr h="910248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What constitutes progress? </a:t>
                      </a:r>
                    </a:p>
                    <a:p>
                      <a:pPr algn="l"/>
                      <a:r>
                        <a:rPr lang="en-US" sz="1400" b="0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What’s an Iteration (sprint)</a:t>
                      </a: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Features + bug fixes</a:t>
                      </a: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Improve model quality</a:t>
                      </a: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?</a:t>
                      </a: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541224"/>
                  </a:ext>
                </a:extLst>
              </a:tr>
              <a:tr h="14085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How </a:t>
                      </a:r>
                      <a:r>
                        <a:rPr lang="en-US" sz="1400" b="0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 we </a:t>
                      </a:r>
                      <a:r>
                        <a:rPr lang="en-US" sz="1400" b="1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define</a:t>
                      </a:r>
                      <a:r>
                        <a:rPr lang="en-US" sz="1400" b="0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and </a:t>
                      </a:r>
                      <a:r>
                        <a:rPr lang="en-US" sz="1400" b="1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measure</a:t>
                      </a:r>
                      <a:r>
                        <a:rPr lang="en-US" sz="1400" b="0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quality?</a:t>
                      </a: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 importance</a:t>
                      </a:r>
                    </a:p>
                    <a:p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Closed defects</a:t>
                      </a: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Science +</a:t>
                      </a:r>
                    </a:p>
                    <a:p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customer value </a:t>
                      </a:r>
                    </a:p>
                    <a:p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But, somewhat arbitrary</a:t>
                      </a: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?</a:t>
                      </a: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409936"/>
                  </a:ext>
                </a:extLst>
              </a:tr>
              <a:tr h="910248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Who</a:t>
                      </a:r>
                      <a:r>
                        <a:rPr lang="en-US" sz="1400" b="0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(which personas / profile) </a:t>
                      </a:r>
                      <a:r>
                        <a:rPr lang="en-US" sz="1400" b="1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achieves</a:t>
                      </a:r>
                      <a:r>
                        <a:rPr lang="en-US" sz="1400" b="0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and </a:t>
                      </a:r>
                      <a:r>
                        <a:rPr lang="en-US" sz="1400" b="1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measures</a:t>
                      </a:r>
                      <a:r>
                        <a:rPr lang="en-US" sz="1400" b="0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progress?</a:t>
                      </a: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Dev </a:t>
                      </a:r>
                      <a:r>
                        <a:rPr lang="en-US" sz="14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eng</a:t>
                      </a:r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QA </a:t>
                      </a:r>
                      <a:r>
                        <a:rPr lang="en-US" sz="14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eng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ML Eng / </a:t>
                      </a:r>
                    </a:p>
                    <a:p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data scientists</a:t>
                      </a: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?</a:t>
                      </a: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508331"/>
                  </a:ext>
                </a:extLst>
              </a:tr>
              <a:tr h="11170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Which </a:t>
                      </a:r>
                      <a:r>
                        <a:rPr lang="en-US" sz="1400" b="1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engineering processes and practices </a:t>
                      </a:r>
                      <a:r>
                        <a:rPr lang="en-US" sz="1400" b="0" dirty="0">
                          <a:solidFill>
                            <a:srgbClr val="005493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 teams follow? </a:t>
                      </a: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Established practices.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Review / </a:t>
                      </a:r>
                      <a:r>
                        <a:rPr lang="en-US" sz="14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apprv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Clear RACI</a:t>
                      </a: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Varied practices.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Less control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Clear RACI</a:t>
                      </a: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?</a:t>
                      </a:r>
                    </a:p>
                  </a:txBody>
                  <a:tcPr marL="45339" marR="45339" marT="22670" marB="226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765604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146D6F4-FCAD-E907-01F2-145EDBA2943E}"/>
              </a:ext>
            </a:extLst>
          </p:cNvPr>
          <p:cNvSpPr txBox="1"/>
          <p:nvPr/>
        </p:nvSpPr>
        <p:spPr>
          <a:xfrm>
            <a:off x="5614871" y="924151"/>
            <a:ext cx="1649403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Improve AI agent quality + latency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D456AC-97AD-5BD9-B62F-9E69D978D3E6}"/>
              </a:ext>
            </a:extLst>
          </p:cNvPr>
          <p:cNvSpPr txBox="1"/>
          <p:nvPr/>
        </p:nvSpPr>
        <p:spPr>
          <a:xfrm>
            <a:off x="5231053" y="3071418"/>
            <a:ext cx="3376272" cy="5616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Bef>
                <a:spcPts val="263"/>
              </a:spcBef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Dev: SW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eng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PMs, process owners</a:t>
            </a:r>
          </a:p>
          <a:p>
            <a:pPr>
              <a:spcBef>
                <a:spcPts val="263"/>
              </a:spcBef>
            </a:pP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6D334-DCE5-C125-F80C-3F23A41F5C0E}"/>
              </a:ext>
            </a:extLst>
          </p:cNvPr>
          <p:cNvSpPr txBox="1"/>
          <p:nvPr/>
        </p:nvSpPr>
        <p:spPr>
          <a:xfrm>
            <a:off x="5247752" y="3343319"/>
            <a:ext cx="3376272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Eval: wide range of people and roles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43C6F-590B-5F02-F5A3-6A97678E8893}"/>
              </a:ext>
            </a:extLst>
          </p:cNvPr>
          <p:cNvSpPr txBox="1"/>
          <p:nvPr/>
        </p:nvSpPr>
        <p:spPr>
          <a:xfrm>
            <a:off x="5237186" y="4140361"/>
            <a:ext cx="3687423" cy="77713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Bef>
                <a:spcPts val="263"/>
              </a:spcBef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Practices for dev, review, code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mgmt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docs, … still to emerge</a:t>
            </a:r>
          </a:p>
          <a:p>
            <a:pPr>
              <a:spcBef>
                <a:spcPts val="263"/>
              </a:spcBef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Unclear RACI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C318AA-D7E9-DFE8-BAFC-7DCF08E61E66}"/>
              </a:ext>
            </a:extLst>
          </p:cNvPr>
          <p:cNvSpPr txBox="1"/>
          <p:nvPr/>
        </p:nvSpPr>
        <p:spPr>
          <a:xfrm>
            <a:off x="5267630" y="1950424"/>
            <a:ext cx="3263362" cy="77713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Bef>
                <a:spcPts val="263"/>
              </a:spcBef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Scorecard. </a:t>
            </a:r>
          </a:p>
          <a:p>
            <a:pPr>
              <a:spcBef>
                <a:spcPts val="263"/>
              </a:spcBef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Varying degree of maturity in measurement</a:t>
            </a:r>
          </a:p>
        </p:txBody>
      </p:sp>
    </p:spTree>
    <p:extLst>
      <p:ext uri="{BB962C8B-B14F-4D97-AF65-F5344CB8AC3E}">
        <p14:creationId xmlns:p14="http://schemas.microsoft.com/office/powerpoint/2010/main" val="371603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9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360D2-5FE1-97B4-DB89-94951804E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4BCB9A-9886-BA29-1EF2-2B732FB5D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362" y="874640"/>
            <a:ext cx="7589084" cy="42688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8C057D-7BA3-28B1-34C9-F02B9B561228}"/>
              </a:ext>
            </a:extLst>
          </p:cNvPr>
          <p:cNvSpPr txBox="1"/>
          <p:nvPr/>
        </p:nvSpPr>
        <p:spPr>
          <a:xfrm>
            <a:off x="416715" y="186838"/>
            <a:ext cx="48013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Andrej </a:t>
            </a:r>
            <a:r>
              <a:rPr lang="en-US" sz="1500" dirty="0" err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Karpathy</a:t>
            </a:r>
            <a:r>
              <a:rPr lang="en-US" sz="15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</a:p>
          <a:p>
            <a:r>
              <a:rPr lang="en-US" sz="15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 </a:t>
            </a:r>
            <a:r>
              <a:rPr lang="en-US" sz="1500" i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 Startup School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836E9FD-86ED-DA29-07A5-DB72BBBAE150}"/>
              </a:ext>
            </a:extLst>
          </p:cNvPr>
          <p:cNvCxnSpPr>
            <a:cxnSpLocks/>
          </p:cNvCxnSpPr>
          <p:nvPr/>
        </p:nvCxnSpPr>
        <p:spPr>
          <a:xfrm flipV="1">
            <a:off x="2270620" y="3034446"/>
            <a:ext cx="2740995" cy="104642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05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Will Learn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35000" y="1397000"/>
            <a:ext cx="457200" cy="457200"/>
          </a:xfrm>
          <a:prstGeom prst="ellipse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5000" y="1397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1100" y="1447800"/>
            <a:ext cx="2946401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reliable AI systems at scale</a:t>
            </a:r>
          </a:p>
        </p:txBody>
      </p:sp>
      <p:sp>
        <p:nvSpPr>
          <p:cNvPr id="6" name="Shape 4"/>
          <p:cNvSpPr/>
          <p:nvPr/>
        </p:nvSpPr>
        <p:spPr>
          <a:xfrm>
            <a:off x="635000" y="2603500"/>
            <a:ext cx="457200" cy="457200"/>
          </a:xfrm>
          <a:prstGeom prst="ellipse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5000" y="2603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1100" y="2654300"/>
            <a:ext cx="38100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AI to build AI</a:t>
            </a:r>
          </a:p>
        </p:txBody>
      </p:sp>
      <p:sp>
        <p:nvSpPr>
          <p:cNvPr id="9" name="Shape 7"/>
          <p:cNvSpPr/>
          <p:nvPr/>
        </p:nvSpPr>
        <p:spPr>
          <a:xfrm>
            <a:off x="635000" y="3810000"/>
            <a:ext cx="457200" cy="457200"/>
          </a:xfrm>
          <a:prstGeom prst="ellipse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000" y="3810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1100" y="3860800"/>
            <a:ext cx="38100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Iterate towards success</a:t>
            </a:r>
          </a:p>
        </p:txBody>
      </p:sp>
      <p:sp>
        <p:nvSpPr>
          <p:cNvPr id="12" name="Shape 10"/>
          <p:cNvSpPr/>
          <p:nvPr/>
        </p:nvSpPr>
        <p:spPr>
          <a:xfrm>
            <a:off x="5016500" y="1397000"/>
            <a:ext cx="457200" cy="457200"/>
          </a:xfrm>
          <a:prstGeom prst="ellipse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16500" y="1397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62600" y="1447800"/>
            <a:ext cx="34290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and master the key abstractions</a:t>
            </a:r>
          </a:p>
        </p:txBody>
      </p:sp>
      <p:sp>
        <p:nvSpPr>
          <p:cNvPr id="15" name="Shape 13"/>
          <p:cNvSpPr/>
          <p:nvPr/>
        </p:nvSpPr>
        <p:spPr>
          <a:xfrm>
            <a:off x="5016500" y="2603500"/>
            <a:ext cx="457200" cy="457200"/>
          </a:xfrm>
          <a:prstGeom prst="ellipse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16500" y="2603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62600" y="2654300"/>
            <a:ext cx="34290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 signal from hype</a:t>
            </a:r>
          </a:p>
        </p:txBody>
      </p:sp>
      <p:sp>
        <p:nvSpPr>
          <p:cNvPr id="18" name="Shape 16"/>
          <p:cNvSpPr/>
          <p:nvPr/>
        </p:nvSpPr>
        <p:spPr>
          <a:xfrm>
            <a:off x="5016500" y="3810000"/>
            <a:ext cx="457200" cy="457200"/>
          </a:xfrm>
          <a:prstGeom prst="ellipse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16500" y="3810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62600" y="3860800"/>
            <a:ext cx="34290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in systems</a:t>
            </a:r>
          </a:p>
        </p:txBody>
      </p:sp>
    </p:spTree>
    <p:extLst>
      <p:ext uri="{BB962C8B-B14F-4D97-AF65-F5344CB8AC3E}">
        <p14:creationId xmlns:p14="http://schemas.microsoft.com/office/powerpoint/2010/main" val="224089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Philosophy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Hands-on. Become builders. Put something on your CV that actually matters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lesson leads to working code. 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73152" cy="73152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over prompt engineering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matter, but architecture matters more.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73152" cy="73152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32004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before optimization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improve what you can't measure.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73152" cy="73152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4253948"/>
            <a:ext cx="7040880" cy="409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Embrace uncertainty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43613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 · 24 lessons · 4 phases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65960" cy="2926080"/>
          </a:xfrm>
          <a:prstGeom prst="rect">
            <a:avLst/>
          </a:prstGeom>
          <a:solidFill>
            <a:srgbClr val="1E24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AI Agents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APIs, context &amp; memory,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loops, tool integration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554480"/>
            <a:ext cx="1965960" cy="2926080"/>
          </a:xfrm>
          <a:prstGeom prst="rect">
            <a:avLst/>
          </a:prstGeom>
          <a:solidFill>
            <a:srgbClr val="1E24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55448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1737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Iterating Towards Success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2743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31089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quality estimation,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uncertainty, systematic iteration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554480"/>
            <a:ext cx="1965960" cy="2926080"/>
          </a:xfrm>
          <a:prstGeom prst="rect">
            <a:avLst/>
          </a:prstGeom>
          <a:solidFill>
            <a:srgbClr val="1E24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554480"/>
            <a:ext cx="196596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1737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Systems at Scale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2743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1089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Multi-agent, design patterns,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controls, frameworks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554480"/>
            <a:ext cx="1965960" cy="2926080"/>
          </a:xfrm>
          <a:prstGeom prst="rect">
            <a:avLst/>
          </a:prstGeom>
          <a:solidFill>
            <a:srgbClr val="1E24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03720" y="1554480"/>
            <a:ext cx="1965960" cy="54864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0" y="1737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Capstone Project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40880" y="2743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31089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Spec, reviews, implementation,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final presentations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02868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9144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320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AI Agents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1–3  ·  Weeks 1–2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73152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Hello World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AI via API — chat, streaming, voice, image. Your first LLM call with latency measurement.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3152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6517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Stateful Clients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context and session memory. From stateless to stateful to memory-optimized agents. Cost and latency tradeoffs.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73152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37490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L3: Tools &amp; The Agentic Loop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calling, orchestration, the agent loop. Key principle: agents decide, tools execute.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74328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914400" cy="3200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320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Iterating Towards Success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4–6  ·  Weeks 2–3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73152" cy="9144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L4: Monitoring &amp; Business Assertions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Observability, runtime checks, CI-integrated evaluation harnesses.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3152" cy="9144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6517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L5: Quality &amp; Performance Estimation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golden datasets, LLM-as-judge. 'Optimizing in the Dark' — uncertainty quantification.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73152" cy="9144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37490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L6: Iterating on Clients, Agents &amp; Prompts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improvement cycles, experiment design, error analysis.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94835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914400" cy="3200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320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Systems at Scale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7–11  ·  Weeks 4–6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73152" cy="9144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Councils of Agents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of opinions, ensemble approaches, consensus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46304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0" y="1463040"/>
            <a:ext cx="73152" cy="9144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57800" y="157276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Complex Systems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et impera, testability, when NOT to use agents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73152" cy="9144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267004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Abstractions &amp; Interfaces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controls, guardrails, MCP protocol, observability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256032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0" y="2560320"/>
            <a:ext cx="73152" cy="9144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267004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Complex Projects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into existing products, maintaining AI systems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73152" cy="9144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1560" y="376732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Frameworks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why to use them — LangChain case study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99833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914400" cy="32004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F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320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Capstone Project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6–12  ·  Individual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749040" cy="1645920"/>
          </a:xfrm>
          <a:prstGeom prst="rect">
            <a:avLst/>
          </a:prstGeom>
          <a:solidFill>
            <a:srgbClr val="1E24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749040" cy="54864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A: Individual contributions to shared class project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class project with well-defined scope. In-class reviews, working sessions, design clinics, and rehearsals together. ATTENDANCE IS MANDATORY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749040" cy="1645920"/>
          </a:xfrm>
          <a:prstGeom prst="rect">
            <a:avLst/>
          </a:prstGeom>
          <a:solidFill>
            <a:srgbClr val="1E24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749040" cy="54864"/>
          </a:xfrm>
          <a:prstGeom prst="rect">
            <a:avLst/>
          </a:prstGeom>
          <a:solidFill>
            <a:srgbClr val="00A8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B: DIY Capstone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project idea. Instructor approves scope, then you work independently. Presentation + detailed discussion.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Project Directions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34640" y="3749040"/>
            <a:ext cx="1828800" cy="1005840"/>
          </a:xfrm>
          <a:prstGeom prst="rect">
            <a:avLst/>
          </a:prstGeom>
          <a:solidFill>
            <a:srgbClr val="252B5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34640" y="37490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3749040"/>
            <a:ext cx="1828800" cy="1005840"/>
          </a:xfrm>
          <a:prstGeom prst="rect">
            <a:avLst/>
          </a:prstGeom>
          <a:solidFill>
            <a:srgbClr val="252B5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37490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3749040"/>
            <a:ext cx="1828800" cy="1005840"/>
          </a:xfrm>
          <a:prstGeom prst="rect">
            <a:avLst/>
          </a:prstGeom>
          <a:solidFill>
            <a:srgbClr val="252B5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0880" y="37490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390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&amp; Grading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D2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Exam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· Week 7-ish · 90 min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D2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754880" y="2286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· Weeks 6–12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Rubric (0–30)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2514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2514600" cy="4572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" y="391363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Prototypes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goals, meaningful alternatives, working prototypes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3794760"/>
            <a:ext cx="2514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0" y="3794760"/>
            <a:ext cx="2514600" cy="4572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84448" y="391363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&amp; Analysis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experiments, appropriate metrics, honest 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2514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3794760"/>
            <a:ext cx="2514600" cy="4572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27648" y="391363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clarity, report structure, Q&amp;A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09978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12-Week Timeline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73152"/>
          </a:xfrm>
          <a:prstGeom prst="rect">
            <a:avLst/>
          </a:prstGeom>
          <a:solidFill>
            <a:srgbClr val="2B31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280160" cy="347472"/>
          </a:xfrm>
          <a:prstGeom prst="rect">
            <a:avLst/>
          </a:prstGeom>
          <a:solidFill>
            <a:srgbClr val="3B82F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91640" y="1234440"/>
            <a:ext cx="1280160" cy="347472"/>
          </a:xfrm>
          <a:prstGeom prst="rect">
            <a:avLst/>
          </a:prstGeom>
          <a:solidFill>
            <a:srgbClr val="8B5CF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91640" y="12344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234440"/>
            <a:ext cx="1920240" cy="347472"/>
          </a:xfrm>
          <a:prstGeom prst="rect">
            <a:avLst/>
          </a:prstGeom>
          <a:solidFill>
            <a:srgbClr val="EC489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1234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1920" y="1234440"/>
            <a:ext cx="4480560" cy="347472"/>
          </a:xfrm>
          <a:prstGeom prst="rect">
            <a:avLst/>
          </a:prstGeom>
          <a:solidFill>
            <a:srgbClr val="00D2C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0" y="12344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54480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34640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94960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35040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55280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2194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+ Stateful Clients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2880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 + Monitoring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3566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&amp; Iteration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251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4–5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Multi-agent, Abstractions, Frameworks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2194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Kick-off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2880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Exam + Review #1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566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Mid-project Demo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251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90807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&amp; Policies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3152" cy="77724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software engineering experience preferred — but not required. Main prerequisite: passion to build great systems.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73152" cy="77724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for all lessons. Phase 4 sessions are critical — project reviews, working sessions, presentations.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73152" cy="77724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310896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</a:t>
            </a:r>
            <a:r>
              <a:rPr lang="en-US" sz="1100" b="1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AI tools to assist with coding and learning. But you must understand and explain all concepts in your submissions.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73152" cy="77724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after each class. Additional appointments by email.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05832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Build.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first. Measure always. Ship with confidence.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 Casati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fabio.casati@unitn.it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linkedin.com/in/sphoebs  ·  x.com/sphoebs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457200" y="3474720"/>
            <a:ext cx="1645920" cy="1645920"/>
          </a:xfrm>
          <a:prstGeom prst="ellipse">
            <a:avLst/>
          </a:prstGeom>
          <a:solidFill>
            <a:srgbClr val="00D2C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" y="3840480"/>
            <a:ext cx="914400" cy="914400"/>
          </a:xfrm>
          <a:prstGeom prst="ellipse">
            <a:avLst/>
          </a:prstGeom>
          <a:solidFill>
            <a:srgbClr val="00D2C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45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20F8AD9-E34D-094F-8122-A3F36518445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969</Words>
  <Application>Microsoft Macintosh PowerPoint</Application>
  <PresentationFormat>On-screen Show (16:9)</PresentationFormat>
  <Paragraphs>211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Avenir Next</vt:lpstr>
      <vt:lpstr>Calibri</vt:lpstr>
      <vt:lpstr>Segoe UI</vt:lpstr>
      <vt:lpstr>Office Theme</vt:lpstr>
      <vt:lpstr>Office Theme</vt:lpstr>
      <vt:lpstr>Office Theme</vt:lpstr>
      <vt:lpstr>PowerPoint Presentation</vt:lpstr>
      <vt:lpstr>PowerPoint Presentation</vt:lpstr>
      <vt:lpstr>“Software is changing, again” – Andrej Karpathy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Large Scale AI Systems — Spring 2026</dc:title>
  <dc:subject>PptxGenJS Presentation</dc:subject>
  <dc:creator>Fabio Casati</dc:creator>
  <cp:lastModifiedBy>Casati, Fabio</cp:lastModifiedBy>
  <cp:revision>11</cp:revision>
  <dcterms:created xsi:type="dcterms:W3CDTF">2026-02-25T13:10:47Z</dcterms:created>
  <dcterms:modified xsi:type="dcterms:W3CDTF">2026-02-26T12:26:40Z</dcterms:modified>
</cp:coreProperties>
</file>