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3"/>
  </p:notesMasterIdLst>
  <p:sldIdLst>
    <p:sldId id="303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2" r:id="rId11"/>
    <p:sldId id="313" r:id="rId12"/>
    <p:sldId id="314" r:id="rId13"/>
    <p:sldId id="315" r:id="rId14"/>
    <p:sldId id="316" r:id="rId15"/>
    <p:sldId id="318" r:id="rId16"/>
    <p:sldId id="319" r:id="rId17"/>
    <p:sldId id="320" r:id="rId18"/>
    <p:sldId id="321" r:id="rId19"/>
    <p:sldId id="322" r:id="rId20"/>
    <p:sldId id="323" r:id="rId21"/>
    <p:sldId id="32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8"/>
    <p:restoredTop sz="68904"/>
  </p:normalViewPr>
  <p:slideViewPr>
    <p:cSldViewPr snapToGrid="0" snapToObjects="1">
      <p:cViewPr varScale="1">
        <p:scale>
          <a:sx n="81" d="100"/>
          <a:sy n="81" d="100"/>
        </p:scale>
        <p:origin x="17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58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this video we'll look at how to evaluate regression and</a:t>
            </a:r>
          </a:p>
          <a:p>
            <a:r>
              <a:t>classi8ication experiments. There will be a few pointers on</a:t>
            </a:r>
          </a:p>
          <a:p>
            <a:r>
              <a:t>regression, but the main topic will be classi8ication</a:t>
            </a:r>
          </a:p>
          <a:p>
            <a:r>
              <a:t>experiments.</a:t>
            </a:r>
          </a:p>
          <a:p>
            <a:r>
              <a:t>|section|Metrics|</a:t>
            </a:r>
          </a:p>
          <a:p>
            <a:r>
              <a:t>|video|https://surfdrive.surf.nl/8iles/index.php/s/</a:t>
            </a:r>
          </a:p>
          <a:p>
            <a:r>
              <a:t>TrR5TrtLDZLBs08/download|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thing to pay attention to is that if you use MSE loss, you</a:t>
            </a:r>
          </a:p>
          <a:p>
            <a:r>
              <a:t>may want to report the square root (the RMSE). The RMSE</a:t>
            </a:r>
          </a:p>
          <a:p>
            <a:r>
              <a:t>is minimised at the same places as the MSE, but it’s easier</a:t>
            </a:r>
          </a:p>
          <a:p>
            <a:r>
              <a:t>to interpret, because it has the same units as the original</a:t>
            </a:r>
          </a:p>
          <a:p>
            <a:r>
              <a:t>output value.</a:t>
            </a:r>
          </a:p>
          <a:p>
            <a:r>
              <a:t>For instance, if your outputs are in meters, then your MSE is</a:t>
            </a:r>
          </a:p>
          <a:p>
            <a:r>
              <a:t>measured in square meters, but your RMSE is also</a:t>
            </a:r>
          </a:p>
          <a:p>
            <a:r>
              <a:t>measured in 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Bias and variance are good concepts to keep in mind when</a:t>
            </a:r>
          </a:p>
          <a:p>
            <a:r>
              <a:t>thinking about regression performance. The bias is the</a:t>
            </a:r>
          </a:p>
          <a:p>
            <a:r>
              <a:t>difference between your optimal MSE and the true MSE.</a:t>
            </a:r>
          </a:p>
          <a:p>
            <a:r>
              <a:t>This is the part of your error that is down to fundamental</a:t>
            </a:r>
          </a:p>
          <a:p>
            <a:r>
              <a:t>problems with your model: for instance, you are 8itting a</a:t>
            </a:r>
          </a:p>
          <a:p>
            <a:r>
              <a:t>line trough data with a parabolic pattern. This part stays the</a:t>
            </a:r>
          </a:p>
          <a:p>
            <a:r>
              <a:t>same if you resample your data.</a:t>
            </a:r>
          </a:p>
          <a:p>
            <a:r>
              <a:t>The variance is the difference between the true MSE and</a:t>
            </a:r>
          </a:p>
          <a:p>
            <a:r>
              <a:t>the measured MSE. This is the part of your error that is</a:t>
            </a:r>
          </a:p>
          <a:p>
            <a:r>
              <a:t>down to aspects of the random sampling of the data. This</a:t>
            </a:r>
          </a:p>
          <a:p>
            <a:r>
              <a:t>part changes when you resample your data.</a:t>
            </a:r>
          </a:p>
          <a:p>
            <a:r>
              <a:t>Normally, we train a regression model once, and get one</a:t>
            </a:r>
          </a:p>
          <a:p>
            <a:r>
              <a:t>MSE value. This gives us one dot on the axis above. Without</a:t>
            </a:r>
          </a:p>
          <a:p>
            <a:r>
              <a:t>repeating the process on freshly sampled data, we can't tell</a:t>
            </a:r>
          </a:p>
          <a:p>
            <a:r>
              <a:t>how our error falls apart in bias and variance. However, we</a:t>
            </a:r>
          </a:p>
          <a:p>
            <a:r>
              <a:t>can usually get some contextual clues, or investigate using</a:t>
            </a:r>
          </a:p>
          <a:p>
            <a:r>
              <a:t>resampling.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a metaphor that is often used to describe bias and</a:t>
            </a:r>
          </a:p>
          <a:p>
            <a:r>
              <a:t>variance: a dartboard.</a:t>
            </a:r>
          </a:p>
          <a:p>
            <a:r>
              <a:t>Remember, this is a metaphor for our RMSE error estimate.</a:t>
            </a:r>
          </a:p>
          <a:p>
            <a:r>
              <a:t>That means that normally, we have only one dart and we</a:t>
            </a:r>
          </a:p>
          <a:p>
            <a:r>
              <a:t>can’t tell whether our error is due to high bias or high</a:t>
            </a:r>
          </a:p>
          <a:p>
            <a:r>
              <a:t>variance.</a:t>
            </a:r>
          </a:p>
          <a:p>
            <a:r>
              <a:t>image source: http://scott.fortmann-roe.com/docs/</a:t>
            </a:r>
          </a:p>
          <a:p>
            <a:r>
              <a:t>BiasVariance.html (recommended reading)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 bias tends to happen when the model is too simple to</a:t>
            </a:r>
          </a:p>
          <a:p>
            <a:r>
              <a:t>follow the true "shape" of the data. Linear models in low-</a:t>
            </a:r>
          </a:p>
          <a:p>
            <a:r>
              <a:t>dimensional spaces often have this problem. Here, we see</a:t>
            </a:r>
          </a:p>
          <a:p>
            <a:r>
              <a:t>that the data has a slight curve, which is clearly part of its</a:t>
            </a:r>
          </a:p>
          <a:p>
            <a:r>
              <a:t>natural pattern, and something the model should learn.</a:t>
            </a:r>
          </a:p>
          <a:p>
            <a:r>
              <a:t>Since it's restricted to a line, however, it cannot make this</a:t>
            </a:r>
          </a:p>
          <a:p>
            <a:r>
              <a:t>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 variance happens when the model has the capacity to</a:t>
            </a:r>
          </a:p>
          <a:p>
            <a:r>
              <a:t>follow the shape of the data perfectly, but it does it so</a:t>
            </a:r>
          </a:p>
          <a:p>
            <a:r>
              <a:t>perfectly that it tends to get thrown off by small</a:t>
            </a:r>
          </a:p>
          <a:p>
            <a:r>
              <a:t>8luctuations.</a:t>
            </a:r>
          </a:p>
          <a:p>
            <a:r>
              <a:t>Here, the model doesn't just follow the natural curve of the</a:t>
            </a:r>
          </a:p>
          <a:p>
            <a:r>
              <a:t>data, it goes in and out of every random 8luctuation to</a:t>
            </a:r>
          </a:p>
          <a:p>
            <a:r>
              <a:t>model every single point perfectly.</a:t>
            </a:r>
          </a:p>
          <a:p>
            <a:r>
              <a:t>Even though this model (a regression tree) 8its the data</a:t>
            </a:r>
          </a:p>
          <a:p>
            <a:r>
              <a:t>perfectly, if we resample the data, we are stuck with all</a:t>
            </a:r>
          </a:p>
          <a:p>
            <a:r>
              <a:t>sorts of weird peaks that won’t 8it the new data. This is</a:t>
            </a:r>
          </a:p>
          <a:p>
            <a:r>
              <a:t>where the variance comes from. The true error varies</a:t>
            </a:r>
          </a:p>
          <a:p>
            <a:r>
              <a:t>wildly, because the model captures every single random</a:t>
            </a:r>
          </a:p>
          <a:p>
            <a:r>
              <a:t>8luctuation in the training data. These 8luctuation will cause</a:t>
            </a:r>
          </a:p>
          <a:p>
            <a:r>
              <a:t>a large error in the test data, which we put down to</a:t>
            </a:r>
          </a:p>
          <a:p>
            <a:r>
              <a:t>variance rather than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will see techniques for all of these in the coming weeks.</a:t>
            </a:r>
          </a:p>
          <a:p>
            <a:r>
              <a:t>Note that often, it really is a tradeoff: reducing the bias,</a:t>
            </a:r>
          </a:p>
          <a:p>
            <a:r>
              <a:t>increases the variance and vice versa.</a:t>
            </a:r>
          </a:p>
          <a:p>
            <a:r>
              <a:t>For some algorithms, there is a single parameter that allows</a:t>
            </a:r>
          </a:p>
          <a:p>
            <a:r>
              <a:t>us to make the bias/variance tradeoff. kNN is one example:</a:t>
            </a:r>
          </a:p>
          <a:p>
            <a:r>
              <a:t>low k values give us high variance, high k values give us</a:t>
            </a:r>
          </a:p>
          <a:p>
            <a:r>
              <a:t>high bias.</a:t>
            </a:r>
          </a:p>
          <a:p>
            <a:r>
              <a:t>In the strictest de&gt;inition of bias and variance, these concepts</a:t>
            </a:r>
          </a:p>
          <a:p>
            <a:r>
              <a:t>only apply to the mean squared error, where they explictly</a:t>
            </a:r>
          </a:p>
          <a:p>
            <a:r>
              <a:t>appear as terms if you rewrite the error in a certain way.</a:t>
            </a:r>
          </a:p>
          <a:p>
            <a:r>
              <a:t>However, in general machine learning parlance, the terms</a:t>
            </a:r>
          </a:p>
          <a:p>
            <a:r>
              <a:t>are applied to any regression error, and they are roughly</a:t>
            </a:r>
          </a:p>
          <a:p>
            <a:r>
              <a:t>synonymous with under- and over&gt;itting.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now move to classi8ication. We'll start by explaining</a:t>
            </a:r>
          </a:p>
          <a:p>
            <a:r>
              <a:t>these four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Here's one example domain: breast cancer screening</a:t>
            </a:r>
          </a:p>
          <a:p>
            <a:r>
              <a:t>A recurring discussion in the Dutch media is the question</a:t>
            </a:r>
          </a:p>
          <a:p>
            <a:r>
              <a:t>whether all women over 50 be screened for breast cancer.</a:t>
            </a:r>
          </a:p>
          <a:p>
            <a:r>
              <a:t>This is an analogy for classi8ication: the instances are</a:t>
            </a:r>
          </a:p>
          <a:p>
            <a:r>
              <a:t>people and the target label is “has cancer” or “has no</a:t>
            </a:r>
          </a:p>
          <a:p>
            <a:r>
              <a:t>cancer.” You may think that this is a no-brainer: the more</a:t>
            </a:r>
          </a:p>
          <a:p>
            <a:r>
              <a:t>tests we do, the more lives saved. But we need to take into</a:t>
            </a:r>
          </a:p>
          <a:p>
            <a:r>
              <a:t>account how good the classi8ier is, and how bad the</a:t>
            </a:r>
          </a:p>
          <a:p>
            <a:r>
              <a:t>consequences are of it making a mistake.</a:t>
            </a:r>
          </a:p>
          <a:p>
            <a:r>
              <a:t>The 8irst problem this example illustrates is class</a:t>
            </a:r>
          </a:p>
          <a:p>
            <a:r>
              <a:t>imbalance. Unlike the classi8iers we've seen so far, this</a:t>
            </a:r>
          </a:p>
          <a:p>
            <a:r>
              <a:t>example has, thankfully, far more negatives than positives.</a:t>
            </a:r>
          </a:p>
          <a:p>
            <a:r>
              <a:t>In a given year the people in this age group for whom breast</a:t>
            </a:r>
          </a:p>
          <a:p>
            <a:r>
              <a:t>cancer will manifest is about half a percent. This includes</a:t>
            </a:r>
          </a:p>
          <a:p>
            <a:r>
              <a:t>men, for whom breast cancer is rare (but not impossible),</a:t>
            </a:r>
          </a:p>
          <a:p>
            <a:r>
              <a:t>so when we talk about screening for women over 50, we</a:t>
            </a:r>
          </a:p>
          <a:p>
            <a:r>
              <a:t>should probably assume about 1% positives.</a:t>
            </a:r>
          </a:p>
          <a:p>
            <a:r>
              <a:t>This means that we need to be very careful when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the next time you see a headline like this, your 8irst</a:t>
            </a:r>
          </a:p>
          <a:p>
            <a:r>
              <a:t>question should be: what was the class distribution in the</a:t>
            </a:r>
          </a:p>
          <a:p>
            <a:r>
              <a:t>training data? If 90% of the cases in the training data are</a:t>
            </a:r>
          </a:p>
          <a:p>
            <a:r>
              <a:t>acquittals, this is not a very impressive result.</a:t>
            </a:r>
          </a:p>
          <a:p>
            <a:r>
              <a:t>As it happens, in this case the classes were balanced 50/50,</a:t>
            </a:r>
          </a:p>
          <a:p>
            <a:r>
              <a:t>so 80 percent is at least notable. However, now we have a</a:t>
            </a:r>
          </a:p>
          <a:p>
            <a:r>
              <a:t>classi8ier trained on arti8icially balanced data. In a</a:t>
            </a:r>
          </a:p>
          <a:p>
            <a:r>
              <a:t>production environment (whatever that means here), the</a:t>
            </a:r>
          </a:p>
          <a:p>
            <a:r>
              <a:t>classes are likely not balanced 50/50, so this speci8ic</a:t>
            </a:r>
          </a:p>
          <a:p>
            <a:r>
              <a:t>classi8ier will be of no further use.</a:t>
            </a:r>
          </a:p>
          <a:p>
            <a:r>
              <a:t>Here is the original paper: https://peerj.com/articles/</a:t>
            </a:r>
          </a:p>
          <a:p>
            <a:r>
              <a:t>cs-93/#fn-6 There are some issues with this research</a:t>
            </a:r>
          </a:p>
          <a:p>
            <a:r>
              <a:t>beyond the class 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Another reason to mistrust accuracy is cost imbalance. In</a:t>
            </a:r>
          </a:p>
          <a:p>
            <a:r>
              <a:t>breast cancer screening are two types of misclassi8ication:</a:t>
            </a:r>
          </a:p>
          <a:p>
            <a:r>
              <a:t>diagnosing a healthy person with cancer and diagnosing a</a:t>
            </a:r>
          </a:p>
          <a:p>
            <a:r>
              <a:t>person with cancer as healthy. Both come with a cost but</a:t>
            </a:r>
          </a:p>
          <a:p>
            <a:r>
              <a:t>not the same cost.</a:t>
            </a:r>
          </a:p>
          <a:p>
            <a:r>
              <a:t>We can either miss a cancer diagnosis (a false negative),</a:t>
            </a:r>
          </a:p>
          <a:p>
            <a:r>
              <a:t>which means the cancer will be caught much later and be</a:t>
            </a:r>
          </a:p>
          <a:p>
            <a:r>
              <a:t>much harder to treat. However, diagnosing a healthy person</a:t>
            </a:r>
          </a:p>
          <a:p>
            <a:r>
              <a:t>with cancer (a false positive) means they will be sent for</a:t>
            </a:r>
          </a:p>
          <a:p>
            <a:r>
              <a:t>unnecessary invasive testing and suffer great psychological</a:t>
            </a:r>
          </a:p>
          <a:p>
            <a:r>
              <a:t>stress. The cost of this is much less than the cost of missing</a:t>
            </a:r>
          </a:p>
          <a:p>
            <a:r>
              <a:t>a positive, but it isn't zero.</a:t>
            </a:r>
          </a:p>
          <a:p>
            <a:r>
              <a:t>This is what the discussion in the media centers on. If the</a:t>
            </a:r>
          </a:p>
          <a:p>
            <a:r>
              <a:t>screening causes many more false negatives than false</a:t>
            </a:r>
          </a:p>
          <a:p>
            <a:r>
              <a:t>positives, it may mean that the cost to human lives balances</a:t>
            </a:r>
          </a:p>
          <a:p>
            <a:r>
              <a:t>out, and the net effect of the screening isn't to save more</a:t>
            </a:r>
          </a:p>
          <a:p>
            <a:r>
              <a:t>lives.</a:t>
            </a:r>
          </a:p>
          <a:p>
            <a:r>
              <a:t>There is of course, also the 8inancial cost of screening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are some examples of problems with cost imbalance</a:t>
            </a:r>
          </a:p>
          <a:p>
            <a:r>
              <a:t>In all these cases, one misclassi8ication one way costs much</a:t>
            </a:r>
          </a:p>
          <a:p>
            <a:r>
              <a:t>more than a misclassi8ication the other way. But both cost</a:t>
            </a:r>
          </a:p>
          <a:p>
            <a:r>
              <a:t>something. The time of an expert reviewer is not free, even</a:t>
            </a:r>
          </a:p>
          <a:p>
            <a:r>
              <a:t>though 8ive minutes of his time may be much cheaper than</a:t>
            </a:r>
          </a:p>
          <a:p>
            <a:r>
              <a:t>the cost of letting a single fraud go unchecked. In such a</a:t>
            </a:r>
          </a:p>
          <a:p>
            <a:r>
              <a:t>case, you may decide that missing one fraud is as costly as</a:t>
            </a:r>
          </a:p>
          <a:p>
            <a:r>
              <a:t>having an expert review 500 harmless transactions. This is</a:t>
            </a:r>
          </a:p>
          <a:p>
            <a:r>
              <a:t>then the general balance you are hoping for: one false</a:t>
            </a:r>
          </a:p>
          <a:p>
            <a:r>
              <a:t>negative for every 500 false positives.</a:t>
            </a:r>
          </a:p>
          <a:p>
            <a:r>
              <a:t>If you’re lucky, both types of misclassi8ication have the same</a:t>
            </a:r>
          </a:p>
          <a:p>
            <a:r>
              <a:t>unit, and you can turn your error (an estimate of the</a:t>
            </a:r>
          </a:p>
          <a:p>
            <a:r>
              <a:t>number of misclassi8ications) into a domain speci8ic</a:t>
            </a:r>
          </a:p>
          <a:p>
            <a:r>
              <a:t>evaluation function (like estimated dollars lost, or time</a:t>
            </a:r>
          </a:p>
          <a:p>
            <a:r>
              <a:t>saved). You simply assign a cost to each type if</a:t>
            </a:r>
          </a:p>
          <a:p>
            <a:r>
              <a:t>misclassi+ication, and multiply it by how often that</a:t>
            </a:r>
          </a:p>
          <a:p>
            <a:r>
              <a:t>misclassi+ication occurs in the test set. The total is the</a:t>
            </a:r>
          </a:p>
          <a:p>
            <a:r>
              <a:t>evaluation function you want to minimize.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a pretty imbalanced dataset (though still not as</a:t>
            </a:r>
          </a:p>
          <a:p>
            <a:r>
              <a:t>imbalanced as the cancer/not cancer problem). It looks</a:t>
            </a:r>
          </a:p>
          <a:p>
            <a:r>
              <a:t>pretty dif8icult. What would be a good performance on this</a:t>
            </a:r>
          </a:p>
          <a:p>
            <a:r>
              <a:t>task?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we've seen, even though an error of 0.05 might sound</a:t>
            </a:r>
          </a:p>
          <a:p>
            <a:r>
              <a:t>pretty good, but on an imbalanced dataset like this, there is</a:t>
            </a:r>
          </a:p>
          <a:p>
            <a:r>
              <a:t>a very simple classi8ier that gets that performance easily.</a:t>
            </a:r>
          </a:p>
          <a:p>
            <a:r>
              <a:t>The classi8ier that assigns anything the class with the most</a:t>
            </a:r>
          </a:p>
          <a:p>
            <a:r>
              <a:t>instances. We call this the majority class classi+ier.</a:t>
            </a:r>
          </a:p>
          <a:p>
            <a:r>
              <a:t>The majority class classi8ier is an example of a baseline, a</a:t>
            </a:r>
          </a:p>
          <a:p>
            <a:r>
              <a:t>simple method that is not meant to be used as a real model,</a:t>
            </a:r>
          </a:p>
          <a:p>
            <a:r>
              <a:t>but that can help you calibrate the performance scores. In</a:t>
            </a:r>
          </a:p>
          <a:p>
            <a:r>
              <a:t>this case, it tells you that you’re really only interested in in</a:t>
            </a:r>
          </a:p>
          <a:p>
            <a:r>
              <a:t>the error range from 0 to 0.05. Any higher error than that is</a:t>
            </a:r>
          </a:p>
          <a:p>
            <a:r>
              <a:t>pretty useless.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another way that class imbalance can screw things</a:t>
            </a:r>
          </a:p>
          <a:p>
            <a:r>
              <a:t>up for you. You might think you have a pretty decent</a:t>
            </a:r>
          </a:p>
          <a:p>
            <a:r>
              <a:t>amount of data with 10 000 instances. However if you split</a:t>
            </a:r>
          </a:p>
          <a:p>
            <a:r>
              <a:t>off a test set of 1 000 instances, you'd be left with just 50</a:t>
            </a:r>
          </a:p>
          <a:p>
            <a:r>
              <a:t>instances of the positive class in your data. Practically, your</a:t>
            </a:r>
          </a:p>
          <a:p>
            <a:r>
              <a:t>8inal evaluation will just be a question of how many of these</a:t>
            </a:r>
          </a:p>
          <a:p>
            <a:r>
              <a:t>50 positives you detect. This means that you can really only</a:t>
            </a:r>
          </a:p>
          <a:p>
            <a:r>
              <a:t>have 50 “levels of performance” that you can distinguish</a:t>
            </a:r>
          </a:p>
          <a:p>
            <a:r>
              <a:t>b e tw e e n .</a:t>
            </a:r>
          </a:p>
          <a:p>
            <a:r>
              <a:t>Yo u c a n m ake a bigger test set of course (and you probably</a:t>
            </a:r>
          </a:p>
          <a:p>
            <a:r>
              <a:t>should) but that leads to problems in your training data.</a:t>
            </a:r>
          </a:p>
          <a:p>
            <a:r>
              <a:t>Since you’re essentially building a detector for positives, it</a:t>
            </a:r>
          </a:p>
          <a:p>
            <a:r>
              <a:t>doesn’t help if you can only give it 100 examples of what a</a:t>
            </a:r>
          </a:p>
          <a:p>
            <a:r>
              <a:t>positive looks like.</a:t>
            </a:r>
          </a:p>
          <a:p>
            <a:r>
              <a:t>In the next lecture, we’ll look at some tricks we can use to</a:t>
            </a:r>
          </a:p>
          <a:p>
            <a:r>
              <a:t>boost performance on such imbalanced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best thing to do under class and cost imbalance, is to</a:t>
            </a:r>
          </a:p>
          <a:p>
            <a:r>
              <a:t>look at your performance in more detail. We’ll look at six</a:t>
            </a:r>
          </a:p>
          <a:p>
            <a:r>
              <a:t>different ways to measure classi8ier performance.</a:t>
            </a:r>
          </a:p>
          <a:p>
            <a:r>
              <a:t>Most of these are only relevant if you have class or cost</a:t>
            </a:r>
          </a:p>
          <a:p>
            <a:r>
              <a:t>imbalance. If you have a nice, balanced dataset, it’s likely</a:t>
            </a:r>
          </a:p>
          <a:p>
            <a:r>
              <a:t>that error or accuracy is all you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confusion matrix (also known as a contingency</a:t>
            </a:r>
          </a:p>
          <a:p>
            <a:r>
              <a:t>table). It's simply a table with the actual classes on the</a:t>
            </a:r>
          </a:p>
          <a:p>
            <a:r>
              <a:t>rows, and the predicted classes on the columns, and a tally</a:t>
            </a:r>
          </a:p>
          <a:p>
            <a:r>
              <a:t>in each cell of how often each actual class is given a</a:t>
            </a:r>
          </a:p>
          <a:p>
            <a:r>
              <a:t>particular prediction. On the diagonal we tally all the</a:t>
            </a:r>
          </a:p>
          <a:p>
            <a:r>
              <a:t>correct classi8ications and off the diagonal we tally all the</a:t>
            </a:r>
          </a:p>
          <a:p>
            <a:r>
              <a:t>possible mistakes.</a:t>
            </a:r>
          </a:p>
          <a:p>
            <a:r>
              <a:t>A confusion matrix doesn’t give you a single number, so it’s</a:t>
            </a:r>
          </a:p>
          <a:p>
            <a:r>
              <a:t>more dif8icult to compare two classi8iers by their confusion</a:t>
            </a:r>
          </a:p>
          <a:p>
            <a:r>
              <a:t>matrices, but it’s a good way to get insight into what your</a:t>
            </a:r>
          </a:p>
          <a:p>
            <a:r>
              <a:t>classi8ier is actually doing.</a:t>
            </a:r>
          </a:p>
          <a:p>
            <a:r>
              <a:t>Note that for a binary classi8ication problem, we are getting</a:t>
            </a:r>
          </a:p>
          <a:p>
            <a:r>
              <a:t>the two types of mistakes (false positives and false</a:t>
            </a:r>
          </a:p>
          <a:p>
            <a:r>
              <a:t>negatives) along the second diagonal. If we have cost</a:t>
            </a:r>
          </a:p>
          <a:p>
            <a:r>
              <a:t>imbalance, the balance between these two values gives us a</a:t>
            </a:r>
          </a:p>
          <a:p>
            <a:r>
              <a:t>quick insight into how well the classi8ier is aligned with our</a:t>
            </a:r>
          </a:p>
          <a:p>
            <a:r>
              <a:t>estimate for the misclassi8ication costs.</a:t>
            </a:r>
          </a:p>
          <a:p>
            <a:r>
              <a:t>You can plot the confusion matrix for either the training,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call accurately classi8ied instances true positives and</a:t>
            </a:r>
          </a:p>
          <a:p>
            <a:r>
              <a:t>true negatives. Misclassi8ications are called false positives</a:t>
            </a:r>
          </a:p>
          <a:p>
            <a:r>
              <a:t>and false negatives.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we see the confusion matrix for the majority class</a:t>
            </a:r>
          </a:p>
          <a:p>
            <a:r>
              <a:t>baseline (the classi8ier that calls everything positive) in a</a:t>
            </a:r>
          </a:p>
          <a:p>
            <a:r>
              <a:t>problem with high class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E8ECF4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E8ECF4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E8ECF4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E8ECF4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E8ECF4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8ECF4"/>
          </a:solidFill>
        </a:defRPr>
      </a:defPPr>
      <a:lvl1pPr marL="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0486"/>
            <a:ext cx="12191695" cy="55170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4860"/>
            <a:ext cx="12191695" cy="23882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66148"/>
            <a:ext cx="12191695" cy="23257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6236"/>
            <a:ext cx="12191695" cy="42655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58165"/>
            <a:ext cx="12191695" cy="17416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8406"/>
            <a:ext cx="12191695" cy="54811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9733"/>
            <a:ext cx="12191695" cy="43385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3066"/>
            <a:ext cx="12191695" cy="42518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6382"/>
            <a:ext cx="12191695" cy="30052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6000"/>
            <a:ext cx="12191695" cy="5005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DarkTeal">
      <a:dk1>
        <a:srgbClr val="FFFFFF"/>
      </a:dk1>
      <a:lt1>
        <a:srgbClr val="1A1F2E"/>
      </a:lt1>
      <a:dk2>
        <a:srgbClr val="E8ECF4"/>
      </a:dk2>
      <a:lt2>
        <a:srgbClr val="212738"/>
      </a:lt2>
      <a:accent1>
        <a:srgbClr val="FFFFFF"/>
      </a:accent1>
      <a:accent2>
        <a:srgbClr val="F59E0B"/>
      </a:accent2>
      <a:accent3>
        <a:srgbClr val="16A34A"/>
      </a:accent3>
      <a:accent4>
        <a:srgbClr val="8A94A6"/>
      </a:accent4>
      <a:accent5>
        <a:srgbClr val="DC2626"/>
      </a:accent5>
      <a:accent6>
        <a:srgbClr val="80FFF0"/>
      </a:accent6>
      <a:hlink>
        <a:srgbClr val="FFFFFF"/>
      </a:hlink>
      <a:folHlink>
        <a:srgbClr val="8A94A6"/>
      </a:folHlink>
    </a:clrScheme>
    <a:fontScheme name="Calibri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5910636-4640-4D40-9933-078D7E3E0053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1230</TotalTime>
  <Words>2122</Words>
  <Application>Microsoft Macintosh PowerPoint</Application>
  <PresentationFormat>Widescreen</PresentationFormat>
  <Paragraphs>205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Casati, Fabio</cp:lastModifiedBy>
  <cp:revision>8</cp:revision>
  <dcterms:created xsi:type="dcterms:W3CDTF">2013-01-27T09:14:16Z</dcterms:created>
  <dcterms:modified xsi:type="dcterms:W3CDTF">2026-03-20T11:26:01Z</dcterms:modified>
  <cp:category/>
</cp:coreProperties>
</file>