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2" r:id="rId3"/>
    <p:sldId id="277" r:id="rId4"/>
    <p:sldId id="258" r:id="rId5"/>
    <p:sldId id="259" r:id="rId6"/>
    <p:sldId id="260" r:id="rId7"/>
    <p:sldId id="261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 snapToObjects="1">
      <p:cViewPr varScale="1">
        <p:scale>
          <a:sx n="96" d="100"/>
          <a:sy n="96" d="100"/>
        </p:scale>
        <p:origin x="200" y="5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5400" b="1" i="0">
                <a:solidFill>
                  <a:srgbClr val="FFFFFF"/>
                </a:solidFill>
                <a:latin typeface="Calibri"/>
              </a:defRPr>
            </a:pPr>
            <a:r>
              <a:t>Stateless &amp;</a:t>
            </a:r>
            <a:br/>
            <a:r>
              <a:t>Stateful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0" i="1">
                <a:solidFill>
                  <a:srgbClr val="2DD4BF"/>
                </a:solidFill>
                <a:latin typeface="Calibri"/>
              </a:defRPr>
            </a:pPr>
            <a:r>
              <a:t>From single calls to conversations: managing context, cost, and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2DD4BF"/>
                </a:solidFill>
                <a:latin typeface="Calibri"/>
              </a:defRPr>
            </a:pPr>
            <a:r>
              <a:t>reliableai.github.io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8A94A6"/>
                </a:solidFill>
                <a:latin typeface="Calibri"/>
              </a:defRPr>
            </a:pPr>
            <a:r>
              <a:t>Fabio Casati  ·  University of Trento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"/>
          <p:cNvSpPr txBox="1"/>
          <p:nvPr/>
        </p:nvSpPr>
        <p:spPr>
          <a:xfrm>
            <a:off x="508000" y="177800"/>
            <a:ext cx="11176000" cy="533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Calibri"/>
              </a:rPr>
              <a:t>When Do You Need AI?</a:t>
            </a:r>
          </a:p>
        </p:txBody>
      </p:sp>
      <p:sp>
        <p:nvSpPr>
          <p:cNvPr id="51" name="Subtitle"/>
          <p:cNvSpPr txBox="1"/>
          <p:nvPr/>
        </p:nvSpPr>
        <p:spPr>
          <a:xfrm>
            <a:off x="508000" y="635000"/>
            <a:ext cx="11176000" cy="406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800" dirty="0">
                <a:solidFill>
                  <a:srgbClr val="E0E8F5"/>
                </a:solidFill>
                <a:latin typeface="Calibri"/>
              </a:rPr>
              <a:t>Three kinds of problems, three kinds of engineering</a:t>
            </a:r>
          </a:p>
        </p:txBody>
      </p:sp>
      <p:sp>
        <p:nvSpPr>
          <p:cNvPr id="60" name="T1Bg"/>
          <p:cNvSpPr/>
          <p:nvPr/>
        </p:nvSpPr>
        <p:spPr>
          <a:xfrm>
            <a:off x="680276" y="1143000"/>
            <a:ext cx="11176000" cy="177800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T1Accent"/>
          <p:cNvSpPr/>
          <p:nvPr/>
        </p:nvSpPr>
        <p:spPr>
          <a:xfrm>
            <a:off x="508000" y="1143000"/>
            <a:ext cx="63500" cy="1778000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T1Header"/>
          <p:cNvSpPr txBox="1"/>
          <p:nvPr/>
        </p:nvSpPr>
        <p:spPr>
          <a:xfrm>
            <a:off x="711200" y="1295400"/>
            <a:ext cx="30480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No AI (for now)</a:t>
            </a:r>
          </a:p>
        </p:txBody>
      </p:sp>
      <p:sp>
        <p:nvSpPr>
          <p:cNvPr id="63" name="T1Sub"/>
          <p:cNvSpPr txBox="1"/>
          <p:nvPr/>
        </p:nvSpPr>
        <p:spPr>
          <a:xfrm>
            <a:off x="711200" y="1727200"/>
            <a:ext cx="3048000" cy="3556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i="1" dirty="0">
                <a:solidFill>
                  <a:srgbClr val="EAECF2"/>
                </a:solidFill>
                <a:latin typeface="Calibri"/>
              </a:rPr>
              <a:t>Fully specifiable</a:t>
            </a:r>
          </a:p>
        </p:txBody>
      </p:sp>
      <p:sp>
        <p:nvSpPr>
          <p:cNvPr id="64" name="T1Ex"/>
          <p:cNvSpPr txBox="1"/>
          <p:nvPr/>
        </p:nvSpPr>
        <p:spPr>
          <a:xfrm>
            <a:off x="711200" y="2133600"/>
            <a:ext cx="3048000" cy="660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i="1" dirty="0">
                <a:solidFill>
                  <a:srgbClr val="DDE0EA"/>
                </a:solidFill>
                <a:latin typeface="Calibri"/>
              </a:rPr>
              <a:t>billing logic, form validation, API routing, access control</a:t>
            </a:r>
          </a:p>
        </p:txBody>
      </p:sp>
      <p:sp>
        <p:nvSpPr>
          <p:cNvPr id="65" name="T1Bullets"/>
          <p:cNvSpPr txBox="1"/>
          <p:nvPr/>
        </p:nvSpPr>
        <p:spPr>
          <a:xfrm>
            <a:off x="4109276" y="1244600"/>
            <a:ext cx="7569200" cy="15748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>
              <a:buFont typeface="Arial"/>
              <a:buChar char="•"/>
            </a:pPr>
            <a:r>
              <a:rPr lang="en-US" sz="1800" dirty="0">
                <a:solidFill>
                  <a:srgbClr val="E8ECF4"/>
                </a:solidFill>
                <a:latin typeface="Calibri"/>
              </a:rPr>
              <a:t>  Behavior is specified, reviewed, and approved</a:t>
            </a:r>
          </a:p>
          <a:p>
            <a:pPr algn="l">
              <a:buFont typeface="Arial"/>
              <a:buChar char="•"/>
            </a:pPr>
            <a:r>
              <a:rPr lang="en-US" sz="1800" dirty="0">
                <a:solidFill>
                  <a:srgbClr val="E8ECF4"/>
                </a:solidFill>
                <a:latin typeface="Calibri"/>
              </a:rPr>
              <a:t>  Outputs are deterministic and testable</a:t>
            </a:r>
          </a:p>
          <a:p>
            <a:pPr algn="l">
              <a:buFont typeface="Arial"/>
              <a:buChar char="•"/>
            </a:pPr>
            <a:r>
              <a:rPr lang="en-US" sz="1800" dirty="0">
                <a:solidFill>
                  <a:srgbClr val="E8ECF4"/>
                </a:solidFill>
                <a:latin typeface="Calibri"/>
              </a:rPr>
              <a:t>  You want guarantees, not guesses</a:t>
            </a:r>
          </a:p>
          <a:p>
            <a:pPr algn="l">
              <a:buFont typeface="Arial"/>
              <a:buChar char="•"/>
            </a:pPr>
            <a:r>
              <a:rPr lang="en-US" sz="1800" dirty="0">
                <a:solidFill>
                  <a:srgbClr val="E8ECF4"/>
                </a:solidFill>
                <a:latin typeface="Calibri"/>
              </a:rPr>
              <a:t>  Adding AI adds complexity without value</a:t>
            </a:r>
          </a:p>
        </p:txBody>
      </p:sp>
      <p:sp>
        <p:nvSpPr>
          <p:cNvPr id="66" name="T1Div"/>
          <p:cNvSpPr/>
          <p:nvPr/>
        </p:nvSpPr>
        <p:spPr>
          <a:xfrm>
            <a:off x="3810000" y="1270000"/>
            <a:ext cx="19050" cy="152400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" name="T2Bg"/>
          <p:cNvSpPr/>
          <p:nvPr/>
        </p:nvSpPr>
        <p:spPr>
          <a:xfrm>
            <a:off x="508000" y="3022600"/>
            <a:ext cx="11176000" cy="177800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T2Accent"/>
          <p:cNvSpPr/>
          <p:nvPr/>
        </p:nvSpPr>
        <p:spPr>
          <a:xfrm>
            <a:off x="508000" y="3022600"/>
            <a:ext cx="63500" cy="177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" name="T2Header"/>
          <p:cNvSpPr txBox="1"/>
          <p:nvPr/>
        </p:nvSpPr>
        <p:spPr>
          <a:xfrm>
            <a:off x="711200" y="3175000"/>
            <a:ext cx="30480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200" b="1" dirty="0">
                <a:solidFill>
                  <a:srgbClr val="F59E0B"/>
                </a:solidFill>
                <a:latin typeface="Calibri"/>
              </a:rPr>
              <a:t>AI as a Convenience</a:t>
            </a:r>
          </a:p>
        </p:txBody>
      </p:sp>
      <p:sp>
        <p:nvSpPr>
          <p:cNvPr id="73" name="T2Sub"/>
          <p:cNvSpPr txBox="1"/>
          <p:nvPr/>
        </p:nvSpPr>
        <p:spPr>
          <a:xfrm>
            <a:off x="711200" y="3606800"/>
            <a:ext cx="3168650" cy="3556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i="1" dirty="0">
                <a:solidFill>
                  <a:srgbClr val="FFD866"/>
                </a:solidFill>
                <a:latin typeface="Calibri"/>
              </a:rPr>
              <a:t>Easier in English. </a:t>
            </a:r>
            <a:r>
              <a:rPr lang="en-US" sz="1600" b="1" i="1" dirty="0">
                <a:solidFill>
                  <a:srgbClr val="FFD866"/>
                </a:solidFill>
                <a:latin typeface="Calibri"/>
              </a:rPr>
              <a:t>A NEW CATEGORY!!</a:t>
            </a:r>
            <a:endParaRPr lang="en-US" sz="1400" b="1" i="1" dirty="0">
              <a:solidFill>
                <a:srgbClr val="FFD866"/>
              </a:solidFill>
              <a:latin typeface="Calibri"/>
            </a:endParaRPr>
          </a:p>
        </p:txBody>
      </p:sp>
      <p:sp>
        <p:nvSpPr>
          <p:cNvPr id="74" name="T2Ex"/>
          <p:cNvSpPr txBox="1"/>
          <p:nvPr/>
        </p:nvSpPr>
        <p:spPr>
          <a:xfrm>
            <a:off x="711200" y="4013200"/>
            <a:ext cx="3048000" cy="660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i="1" dirty="0">
                <a:solidFill>
                  <a:srgbClr val="FFD866"/>
                </a:solidFill>
                <a:latin typeface="Calibri"/>
              </a:rPr>
              <a:t>data extraction, classification, format conversion, structured parsing</a:t>
            </a:r>
          </a:p>
        </p:txBody>
      </p:sp>
      <p:sp>
        <p:nvSpPr>
          <p:cNvPr id="75" name="T2Bullets"/>
          <p:cNvSpPr txBox="1"/>
          <p:nvPr/>
        </p:nvSpPr>
        <p:spPr>
          <a:xfrm>
            <a:off x="4109276" y="3124200"/>
            <a:ext cx="7569200" cy="15748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>
              <a:buFont typeface="Arial"/>
              <a:buChar char="•"/>
            </a:pPr>
            <a:r>
              <a:rPr lang="en-US" sz="1800" dirty="0">
                <a:solidFill>
                  <a:srgbClr val="E8ECF4"/>
                </a:solidFill>
                <a:latin typeface="Calibri"/>
              </a:rPr>
              <a:t>  The behavior can be fully written down as rules</a:t>
            </a:r>
          </a:p>
          <a:p>
            <a:pPr algn="l">
              <a:buFont typeface="Arial"/>
              <a:buChar char="•"/>
            </a:pPr>
            <a:r>
              <a:rPr lang="en-US" sz="1800" dirty="0">
                <a:solidFill>
                  <a:srgbClr val="E8ECF4"/>
                </a:solidFill>
                <a:latin typeface="Calibri"/>
              </a:rPr>
              <a:t>  But a prompt is simpler than writing code</a:t>
            </a:r>
          </a:p>
          <a:p>
            <a:pPr algn="l">
              <a:buFont typeface="Arial"/>
              <a:buChar char="•"/>
            </a:pPr>
            <a:r>
              <a:rPr lang="en-US" sz="1800" dirty="0">
                <a:solidFill>
                  <a:srgbClr val="E8ECF4"/>
                </a:solidFill>
                <a:latin typeface="Calibri"/>
              </a:rPr>
              <a:t>  English becomes the implementation language</a:t>
            </a:r>
          </a:p>
          <a:p>
            <a:pPr algn="l">
              <a:buFont typeface="Arial"/>
              <a:buChar char="•"/>
            </a:pPr>
            <a:r>
              <a:rPr lang="en-US" sz="1800" dirty="0">
                <a:solidFill>
                  <a:srgbClr val="E8ECF4"/>
                </a:solidFill>
                <a:latin typeface="Calibri"/>
              </a:rPr>
              <a:t>  Outputs are known — you can still test correctness</a:t>
            </a:r>
          </a:p>
        </p:txBody>
      </p:sp>
      <p:sp>
        <p:nvSpPr>
          <p:cNvPr id="76" name="T2Div"/>
          <p:cNvSpPr/>
          <p:nvPr/>
        </p:nvSpPr>
        <p:spPr>
          <a:xfrm>
            <a:off x="3810000" y="3149600"/>
            <a:ext cx="19050" cy="152400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" name="T3Bg"/>
          <p:cNvSpPr/>
          <p:nvPr/>
        </p:nvSpPr>
        <p:spPr>
          <a:xfrm>
            <a:off x="508000" y="4902200"/>
            <a:ext cx="11176000" cy="177800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T3Accent"/>
          <p:cNvSpPr/>
          <p:nvPr/>
        </p:nvSpPr>
        <p:spPr>
          <a:xfrm>
            <a:off x="508000" y="4902200"/>
            <a:ext cx="63500" cy="177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2" name="T3Header"/>
          <p:cNvSpPr txBox="1"/>
          <p:nvPr/>
        </p:nvSpPr>
        <p:spPr>
          <a:xfrm>
            <a:off x="711200" y="5054600"/>
            <a:ext cx="30480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200" b="1" dirty="0">
                <a:solidFill>
                  <a:srgbClr val="2DD4BF"/>
                </a:solidFill>
                <a:latin typeface="Calibri"/>
              </a:rPr>
              <a:t>AI as a Solution</a:t>
            </a:r>
          </a:p>
        </p:txBody>
      </p:sp>
      <p:sp>
        <p:nvSpPr>
          <p:cNvPr id="83" name="T3Sub"/>
          <p:cNvSpPr txBox="1"/>
          <p:nvPr/>
        </p:nvSpPr>
        <p:spPr>
          <a:xfrm>
            <a:off x="711200" y="5486400"/>
            <a:ext cx="3048000" cy="3556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i="1" dirty="0">
                <a:solidFill>
                  <a:srgbClr val="80FFF0"/>
                </a:solidFill>
                <a:latin typeface="Calibri"/>
              </a:rPr>
              <a:t>Hard to specify. </a:t>
            </a:r>
          </a:p>
        </p:txBody>
      </p:sp>
      <p:sp>
        <p:nvSpPr>
          <p:cNvPr id="84" name="T3Ex"/>
          <p:cNvSpPr txBox="1"/>
          <p:nvPr/>
        </p:nvSpPr>
        <p:spPr>
          <a:xfrm>
            <a:off x="711200" y="5892800"/>
            <a:ext cx="3048000" cy="660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i="1" dirty="0">
                <a:solidFill>
                  <a:srgbClr val="80FFF0"/>
                </a:solidFill>
                <a:latin typeface="Calibri"/>
              </a:rPr>
              <a:t>summarization, intent, creative generation, open-ended Q&amp;A</a:t>
            </a:r>
          </a:p>
        </p:txBody>
      </p:sp>
      <p:sp>
        <p:nvSpPr>
          <p:cNvPr id="85" name="T3Bullets"/>
          <p:cNvSpPr txBox="1"/>
          <p:nvPr/>
        </p:nvSpPr>
        <p:spPr>
          <a:xfrm>
            <a:off x="4109276" y="5003800"/>
            <a:ext cx="7569200" cy="15748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>
              <a:buFont typeface="Arial"/>
              <a:buChar char="•"/>
            </a:pPr>
            <a:r>
              <a:rPr lang="en-US" sz="1800" dirty="0">
                <a:solidFill>
                  <a:srgbClr val="E8ECF4"/>
                </a:solidFill>
                <a:latin typeface="Calibri"/>
              </a:rPr>
              <a:t>  Behavior is too complex or contextual for rules</a:t>
            </a:r>
          </a:p>
          <a:p>
            <a:pPr algn="l">
              <a:buFont typeface="Arial"/>
              <a:buChar char="•"/>
            </a:pPr>
            <a:r>
              <a:rPr lang="en-US" sz="1800" dirty="0">
                <a:solidFill>
                  <a:srgbClr val="E8ECF4"/>
                </a:solidFill>
                <a:latin typeface="Calibri"/>
              </a:rPr>
              <a:t>  You can’t write conventional tests — no expected output</a:t>
            </a:r>
          </a:p>
          <a:p>
            <a:pPr algn="l">
              <a:buFont typeface="Arial"/>
              <a:buChar char="•"/>
            </a:pPr>
            <a:r>
              <a:rPr lang="en-US" sz="1800" dirty="0">
                <a:solidFill>
                  <a:srgbClr val="E8ECF4"/>
                </a:solidFill>
                <a:latin typeface="Calibri"/>
              </a:rPr>
              <a:t>  The value comes precisely from what’s hard to specify</a:t>
            </a:r>
          </a:p>
        </p:txBody>
      </p:sp>
      <p:sp>
        <p:nvSpPr>
          <p:cNvPr id="86" name="T3Div"/>
          <p:cNvSpPr/>
          <p:nvPr/>
        </p:nvSpPr>
        <p:spPr>
          <a:xfrm>
            <a:off x="3810000" y="5029200"/>
            <a:ext cx="19050" cy="152400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713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9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"/>
          <p:cNvSpPr txBox="1"/>
          <p:nvPr/>
        </p:nvSpPr>
        <p:spPr>
          <a:xfrm>
            <a:off x="762000" y="1270000"/>
            <a:ext cx="10668000" cy="762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3600" b="1" dirty="0">
                <a:solidFill>
                  <a:srgbClr val="FFFFFF"/>
                </a:solidFill>
                <a:latin typeface="Calibri"/>
              </a:rPr>
              <a:t>Who Are You Building For?</a:t>
            </a:r>
          </a:p>
        </p:txBody>
      </p:sp>
      <p:sp>
        <p:nvSpPr>
          <p:cNvPr id="51" name="AccentLine"/>
          <p:cNvSpPr/>
          <p:nvPr/>
        </p:nvSpPr>
        <p:spPr>
          <a:xfrm>
            <a:off x="762000" y="2133600"/>
            <a:ext cx="1524000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MainMsg"/>
          <p:cNvSpPr txBox="1"/>
          <p:nvPr/>
        </p:nvSpPr>
        <p:spPr>
          <a:xfrm>
            <a:off x="762000" y="2476500"/>
            <a:ext cx="10668000" cy="127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>
              <a:lnSpc>
                <a:spcPts val="3600"/>
              </a:lnSpc>
            </a:pPr>
            <a:r>
              <a:rPr lang="en-US" sz="2600" dirty="0">
                <a:solidFill>
                  <a:srgbClr val="FFFFFF"/>
                </a:solidFill>
                <a:latin typeface="Calibri"/>
              </a:rPr>
              <a:t>If you are building an API — chances are, it’s going to be consumed by AI.</a:t>
            </a:r>
          </a:p>
        </p:txBody>
      </p:sp>
      <p:sp>
        <p:nvSpPr>
          <p:cNvPr id="53" name="CalloutBg"/>
          <p:cNvSpPr/>
          <p:nvPr/>
        </p:nvSpPr>
        <p:spPr>
          <a:xfrm>
            <a:off x="762000" y="4064000"/>
            <a:ext cx="10668000" cy="101600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CalloutAccent"/>
          <p:cNvSpPr/>
          <p:nvPr/>
        </p:nvSpPr>
        <p:spPr>
          <a:xfrm>
            <a:off x="762000" y="4064000"/>
            <a:ext cx="63500" cy="1016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5" name="Callout"/>
          <p:cNvSpPr txBox="1"/>
          <p:nvPr/>
        </p:nvSpPr>
        <p:spPr>
          <a:xfrm>
            <a:off x="1066800" y="4127500"/>
            <a:ext cx="10160000" cy="889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2400" b="1" dirty="0">
                <a:solidFill>
                  <a:srgbClr val="2DD4BF"/>
                </a:solidFill>
                <a:latin typeface="Calibri"/>
              </a:rPr>
              <a:t>And if you are building a UI…. Also think about that</a:t>
            </a:r>
          </a:p>
        </p:txBody>
      </p:sp>
    </p:spTree>
    <p:extLst>
      <p:ext uri="{BB962C8B-B14F-4D97-AF65-F5344CB8AC3E}">
        <p14:creationId xmlns:p14="http://schemas.microsoft.com/office/powerpoint/2010/main" val="237401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Four Challenges of Working with LLMs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0">
                <a:solidFill>
                  <a:srgbClr val="B0B8C8"/>
                </a:solidFill>
                <a:latin typeface="Calibri"/>
              </a:defRPr>
            </a:pPr>
            <a:r>
              <a:t>Each builds on the one before. This lesson tackles challenges 2 and 3.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698480" cy="105156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45720" cy="1051560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" y="2240280"/>
            <a:ext cx="411480" cy="4114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A1F2E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029968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8A94A6"/>
                </a:solidFill>
                <a:latin typeface="Calibri"/>
              </a:defRPr>
            </a:pPr>
            <a:r>
              <a:t>Getting a single call right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5943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6A7080"/>
                </a:solidFill>
                <a:latin typeface="Calibri"/>
              </a:defRPr>
            </a:pPr>
            <a:r>
              <a:t>How do I craft a prompt that reliably produces the output I need?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24028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1">
                <a:solidFill>
                  <a:srgbClr val="8A94A6"/>
                </a:solidFill>
                <a:latin typeface="Calibri"/>
              </a:defRPr>
            </a:pPr>
            <a:r>
              <a:t>Prompting guide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108960"/>
            <a:ext cx="10698480" cy="105156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3108960"/>
            <a:ext cx="45720" cy="10515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05840" y="3429000"/>
            <a:ext cx="411480" cy="4114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A1F2E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218688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Managing a conversation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611880"/>
            <a:ext cx="5943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B0B8C8"/>
                </a:solidFill>
                <a:latin typeface="Calibri"/>
              </a:defRPr>
            </a:pPr>
            <a:r>
              <a:t>How do I give the model the right context across turns without blowing up cost?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42900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1">
                <a:solidFill>
                  <a:srgbClr val="2DD4BF"/>
                </a:solidFill>
                <a:latin typeface="Calibri"/>
              </a:defRPr>
            </a:pPr>
            <a:r>
              <a:t>This lesson (sections 1–4)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297679"/>
            <a:ext cx="10698480" cy="105156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4297679"/>
            <a:ext cx="45720" cy="10515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05840" y="4617719"/>
            <a:ext cx="411480" cy="4114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A1F2E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407407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Long-term memory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800599"/>
            <a:ext cx="5943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B0B8C8"/>
                </a:solidFill>
                <a:latin typeface="Calibri"/>
              </a:defRPr>
            </a:pPr>
            <a:r>
              <a:t>How do I remember a user across sessions — their facts, preferences, history?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617719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1">
                <a:solidFill>
                  <a:srgbClr val="2DD4BF"/>
                </a:solidFill>
                <a:latin typeface="Calibri"/>
              </a:defRPr>
            </a:pPr>
            <a:r>
              <a:t>This lesson (section 5)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486400"/>
            <a:ext cx="10698480" cy="105156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5486400"/>
            <a:ext cx="45720" cy="1051560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05840" y="5806440"/>
            <a:ext cx="411480" cy="4114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A1F2E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5596128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8A94A6"/>
                </a:solidFill>
                <a:latin typeface="Calibri"/>
              </a:defRPr>
            </a:pPr>
            <a:r>
              <a:t>Enterprise / community knowledge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5989320"/>
            <a:ext cx="5943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6A7080"/>
                </a:solidFill>
                <a:latin typeface="Calibri"/>
              </a:defRPr>
            </a:pPr>
            <a:r>
              <a:t>How do I connect knowledge across users while respecting privacy?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80644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1">
                <a:solidFill>
                  <a:srgbClr val="8A94A6"/>
                </a:solidFill>
                <a:latin typeface="Calibri"/>
              </a:defRPr>
            </a:pPr>
            <a:r>
              <a:t>Later lessons (RAG)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The Core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 i="1">
                <a:solidFill>
                  <a:srgbClr val="2DD4BF"/>
                </a:solidFill>
                <a:latin typeface="Calibri"/>
              </a:defRPr>
            </a:pPr>
            <a:r>
              <a:rPr dirty="0"/>
              <a:t>LLMs are stateless functions.</a:t>
            </a:r>
            <a:br>
              <a:rPr dirty="0"/>
            </a:br>
            <a:r>
              <a:rPr dirty="0"/>
              <a:t>State </a:t>
            </a:r>
            <a:r>
              <a:rPr lang="en-US" u="sng" dirty="0"/>
              <a:t>could</a:t>
            </a:r>
            <a:r>
              <a:rPr dirty="0"/>
              <a:t> </a:t>
            </a:r>
            <a:r>
              <a:rPr lang="en-US" dirty="0"/>
              <a:t>be </a:t>
            </a:r>
            <a:r>
              <a:rPr dirty="0"/>
              <a:t>your responsibility.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96012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0">
                <a:solidFill>
                  <a:srgbClr val="B0B8C8"/>
                </a:solidFill>
                <a:latin typeface="Calibri"/>
              </a:defRPr>
            </a:pPr>
            <a:r>
              <a:t>The model doesn’t remember anything — you must send the relevant context with every request. This design choice has profound implications for cost, latency, and system architecture.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206240"/>
            <a:ext cx="5029200" cy="210312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4206240"/>
            <a:ext cx="45720" cy="21031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43434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What is an “agent”?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800600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B0B8C8"/>
                </a:solidFill>
                <a:latin typeface="Calibri"/>
              </a:defRPr>
            </a:pPr>
            <a:r>
              <a:t>•  Receives input (user message, event)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148072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B0B8C8"/>
                </a:solidFill>
                <a:latin typeface="Calibri"/>
              </a:defRPr>
            </a:pPr>
            <a:r>
              <a:t>•  Decides what to do (via an LLM call)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495544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B0B8C8"/>
                </a:solidFill>
                <a:latin typeface="Calibri"/>
              </a:defRPr>
            </a:pPr>
            <a:r>
              <a:t>•  Takes action (responds, calls tool, updates state)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843016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B0B8C8"/>
                </a:solidFill>
                <a:latin typeface="Calibri"/>
              </a:defRPr>
            </a:pPr>
            <a:r>
              <a:t>•  Repeats until done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502920" cy="4114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A1F2E"/>
                </a:solidFill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320040"/>
            <a:ext cx="7315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000" b="1" i="0">
                <a:solidFill>
                  <a:srgbClr val="1A1F2E"/>
                </a:solidFill>
                <a:latin typeface="Calibri"/>
              </a:defRPr>
            </a:pPr>
            <a:r>
              <a:t>Stateless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82296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0">
                <a:solidFill>
                  <a:srgbClr val="8A94A6"/>
                </a:solidFill>
                <a:latin typeface="Calibri"/>
              </a:defRPr>
            </a:pPr>
            <a:r>
              <a:t>No memory, no context — each turn starts fresh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303520" cy="329184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303520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1A1F2E"/>
                </a:solidFill>
                <a:latin typeface="Calibri"/>
              </a:defRPr>
            </a:pPr>
            <a:r>
              <a:t>Try this conversation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9456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F2E"/>
                </a:solidFill>
                <a:latin typeface="Consolas"/>
              </a:rPr>
              <a:t>You: </a:t>
            </a:r>
            <a:r>
              <a:rPr sz="1300" b="0" i="0">
                <a:solidFill>
                  <a:srgbClr val="1A1F2E"/>
                </a:solidFill>
                <a:latin typeface="Consolas"/>
              </a:rPr>
              <a:t>My name is Alice.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51460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4A5568"/>
                </a:solidFill>
                <a:latin typeface="Consolas"/>
              </a:rPr>
              <a:t>Assistant: </a:t>
            </a:r>
            <a:r>
              <a:rPr sz="1300" b="0" i="0">
                <a:solidFill>
                  <a:srgbClr val="4A5568"/>
                </a:solidFill>
                <a:latin typeface="Consolas"/>
              </a:rPr>
              <a:t>Nice to meet you, Alice!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97180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F2E"/>
                </a:solidFill>
                <a:latin typeface="Consolas"/>
              </a:rPr>
              <a:t>You: </a:t>
            </a:r>
            <a:r>
              <a:rPr sz="1300" b="0" i="0">
                <a:solidFill>
                  <a:srgbClr val="1A1F2E"/>
                </a:solidFill>
                <a:latin typeface="Consolas"/>
              </a:rPr>
              <a:t>What’s my name?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29184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DC2626"/>
                </a:solidFill>
                <a:latin typeface="Consolas"/>
              </a:rPr>
              <a:t>Assistant: </a:t>
            </a:r>
            <a:r>
              <a:rPr sz="1300" b="0" i="0">
                <a:solidFill>
                  <a:srgbClr val="DC2626"/>
                </a:solidFill>
                <a:latin typeface="Consolas"/>
              </a:rPr>
              <a:t>I don’t have access to personal information...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49040"/>
            <a:ext cx="4572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1">
                <a:solidFill>
                  <a:srgbClr val="6B7280"/>
                </a:solidFill>
                <a:latin typeface="Calibri"/>
              </a:defRPr>
            </a:pPr>
            <a:r>
              <a:t>The model doesn’t know your name because</a:t>
            </a:r>
            <a:br/>
            <a:r>
              <a:t>it never saw the first message.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554480"/>
            <a:ext cx="5029200" cy="15544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1554480"/>
            <a:ext cx="45720" cy="15544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169164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1A1F2E"/>
                </a:solidFill>
                <a:latin typeface="Calibri"/>
              </a:defRPr>
            </a:pPr>
            <a:r>
              <a:t>When stateless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148840"/>
            <a:ext cx="4389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4A5568"/>
                </a:solidFill>
                <a:latin typeface="Calibri"/>
              </a:defRPr>
            </a:pPr>
            <a:r>
              <a:t>•  Single-shot tasks: “Translate this to French”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468880"/>
            <a:ext cx="4389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4A5568"/>
                </a:solidFill>
                <a:latin typeface="Calibri"/>
              </a:defRPr>
            </a:pPr>
            <a:r>
              <a:t>•  Independent queries: “Capital of France?”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788920"/>
            <a:ext cx="4389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4A5568"/>
                </a:solidFill>
                <a:latin typeface="Calibri"/>
              </a:defRPr>
            </a:pPr>
            <a:r>
              <a:t>•  Serverless functions, webhooks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337560"/>
            <a:ext cx="5029200" cy="15087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0" y="3337560"/>
            <a:ext cx="45720" cy="15087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347472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1A1F2E"/>
                </a:solidFill>
                <a:latin typeface="Calibri"/>
              </a:defRPr>
            </a:pPr>
            <a:r>
              <a:t>Cost: constant per turn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931920"/>
            <a:ext cx="43891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4A5568"/>
                </a:solidFill>
                <a:latin typeface="Consolas"/>
              </a:defRPr>
            </a:pPr>
            <a:r>
              <a:t>~100 input + ~100 output = ~200 tokens/turn</a:t>
            </a:r>
            <a:br/>
            <a:r>
              <a:t>Total after N turns: ~200N tokens</a:t>
            </a:r>
            <a:br/>
            <a:r>
              <a:t>Linear growth. Predictable. But no memory.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5303520"/>
            <a:ext cx="12191695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 i="1">
                <a:solidFill>
                  <a:srgbClr val="FFFFFF"/>
                </a:solidFill>
                <a:latin typeface="Calibri"/>
              </a:defRPr>
            </a:pPr>
            <a:r>
              <a:t>Each call is independent. If your task is self-contained, stateless is simpler and cheaper.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502920" cy="4114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A1F2E"/>
                </a:solidFill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320040"/>
            <a:ext cx="7315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000" b="1" i="0">
                <a:solidFill>
                  <a:srgbClr val="1A1F2E"/>
                </a:solidFill>
                <a:latin typeface="Calibri"/>
              </a:defRPr>
            </a:pPr>
            <a:r>
              <a:t>Stateful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82296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0">
                <a:solidFill>
                  <a:srgbClr val="8A94A6"/>
                </a:solidFill>
                <a:latin typeface="Calibri"/>
              </a:defRPr>
            </a:pPr>
            <a:r>
              <a:t>Full conversation history — send everything every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303520" cy="18288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303520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1A1F2E"/>
                </a:solidFill>
                <a:latin typeface="Calibri"/>
              </a:defRPr>
            </a:pPr>
            <a:r>
              <a:t>Now it remembers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4884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F2E"/>
                </a:solidFill>
                <a:latin typeface="Consolas"/>
              </a:rPr>
              <a:t>You: </a:t>
            </a:r>
            <a:r>
              <a:rPr sz="1300" b="0" i="0">
                <a:solidFill>
                  <a:srgbClr val="1A1F2E"/>
                </a:solidFill>
                <a:latin typeface="Consolas"/>
              </a:rPr>
              <a:t>My name is Alice.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50592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4A5568"/>
                </a:solidFill>
                <a:latin typeface="Consolas"/>
              </a:rPr>
              <a:t>Assistant: </a:t>
            </a:r>
            <a:r>
              <a:rPr sz="1300" b="0" i="0">
                <a:solidFill>
                  <a:srgbClr val="4A5568"/>
                </a:solidFill>
                <a:latin typeface="Consolas"/>
              </a:rPr>
              <a:t>Nice to meet you, Alice!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752344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F2E"/>
                </a:solidFill>
                <a:latin typeface="Consolas"/>
              </a:rPr>
              <a:t>You: </a:t>
            </a:r>
            <a:r>
              <a:rPr sz="1300" b="0" i="0">
                <a:solidFill>
                  <a:srgbClr val="1A1F2E"/>
                </a:solidFill>
                <a:latin typeface="Consolas"/>
              </a:rPr>
              <a:t>What’s my name?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054096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6A34A"/>
                </a:solidFill>
                <a:latin typeface="Consolas"/>
              </a:rPr>
              <a:t>Assistant: </a:t>
            </a:r>
            <a:r>
              <a:rPr sz="1300" b="0" i="0">
                <a:solidFill>
                  <a:srgbClr val="16A34A"/>
                </a:solidFill>
                <a:latin typeface="Consolas"/>
              </a:rPr>
              <a:t>Your name is Alice!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554480"/>
            <a:ext cx="5029200" cy="18288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1554480"/>
            <a:ext cx="45720" cy="18288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169164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1A1F2E"/>
                </a:solidFill>
                <a:latin typeface="Calibri"/>
              </a:defRPr>
            </a:pPr>
            <a:r>
              <a:rPr dirty="0"/>
              <a:t>What’s actually sent on turn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957348"/>
            <a:ext cx="4572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1A1F2E"/>
                </a:solidFill>
                <a:latin typeface="Consolas"/>
              </a:defRPr>
            </a:pPr>
            <a:r>
              <a:t>messages = [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212452"/>
            <a:ext cx="4572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1A1F2E"/>
                </a:solidFill>
                <a:latin typeface="Consolas"/>
              </a:defRPr>
            </a:pPr>
            <a:r>
              <a:t>  {"role":"user", "content":"My name is Alice."},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441052"/>
            <a:ext cx="4572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1A1F2E"/>
                </a:solidFill>
                <a:latin typeface="Consolas"/>
              </a:defRPr>
            </a:pPr>
            <a:r>
              <a:rPr dirty="0"/>
              <a:t>  {"</a:t>
            </a:r>
            <a:r>
              <a:rPr dirty="0" err="1"/>
              <a:t>role":"assistant</a:t>
            </a:r>
            <a:r>
              <a:rPr dirty="0"/>
              <a:t>", "</a:t>
            </a:r>
            <a:r>
              <a:rPr dirty="0" err="1"/>
              <a:t>content":"Nice</a:t>
            </a:r>
            <a:r>
              <a:rPr dirty="0"/>
              <a:t> to..."},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669652"/>
            <a:ext cx="4572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1A1F2E"/>
                </a:solidFill>
                <a:latin typeface="Consolas"/>
              </a:defRPr>
            </a:pPr>
            <a:r>
              <a:t>  {"role":"user", "content":"What's my name?"},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898252"/>
            <a:ext cx="4572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1A1F2E"/>
                </a:solidFill>
                <a:latin typeface="Consolas"/>
              </a:defRPr>
            </a:pPr>
            <a:r>
              <a:t>  {"role":"assistant", "content":"Alice!"},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126852"/>
            <a:ext cx="4572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1A1F2E"/>
                </a:solidFill>
                <a:latin typeface="Consolas"/>
              </a:defRPr>
            </a:pPr>
            <a:r>
              <a:rPr dirty="0"/>
              <a:t>  {"</a:t>
            </a:r>
            <a:r>
              <a:rPr dirty="0" err="1"/>
              <a:t>role":"user</a:t>
            </a:r>
            <a:r>
              <a:rPr dirty="0"/>
              <a:t>", "</a:t>
            </a:r>
            <a:r>
              <a:rPr dirty="0" err="1"/>
              <a:t>content":"Fav</a:t>
            </a:r>
            <a:r>
              <a:rPr dirty="0"/>
              <a:t> color?"},  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749039"/>
            <a:ext cx="10698480" cy="1188720"/>
          </a:xfrm>
          <a:prstGeom prst="rect">
            <a:avLst/>
          </a:prstGeom>
          <a:solidFill>
            <a:srgbClr val="FE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3749039"/>
            <a:ext cx="45720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384048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92400E"/>
                </a:solidFill>
                <a:latin typeface="Calibri"/>
              </a:defRPr>
            </a:pPr>
            <a:r>
              <a:t>The hidden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25196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 i="0">
                <a:solidFill>
                  <a:srgbClr val="78350F"/>
                </a:solidFill>
                <a:latin typeface="Calibri"/>
              </a:defRPr>
            </a:pPr>
            <a:r>
              <a:t>Every token in the conversation history is processed on every turn. By turn 50, you might be sending 10,000+ tokens of context — even if the current question is “yes or no?”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5303520"/>
            <a:ext cx="12191695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 i="1">
                <a:solidFill>
                  <a:srgbClr val="FFFFFF"/>
                </a:solidFill>
                <a:latin typeface="Calibri"/>
              </a:defRPr>
            </a:pPr>
            <a:r>
              <a:t>History enables continuity — but you’re paying for everything, every single turn.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502920" cy="4114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A1F2E"/>
                </a:solidFill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32004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The Quadratic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82296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0">
                <a:solidFill>
                  <a:srgbClr val="B0B8C8"/>
                </a:solidFill>
                <a:latin typeface="Calibri"/>
              </a:defRPr>
            </a:pPr>
            <a:r>
              <a:t>Cost &amp; latency tradeoffs with full history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303520" cy="237744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45720" cy="23774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How costs grow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4572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B0B8C8"/>
                </a:solidFill>
                <a:latin typeface="Consolas"/>
              </a:defRPr>
            </a:pPr>
            <a:r>
              <a:t>100 tok/user msg, 200 tok/assistant reply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68880"/>
            <a:ext cx="4572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B0B8C8"/>
                </a:solidFill>
                <a:latin typeface="Consolas"/>
              </a:defRPr>
            </a:pPr>
            <a:r>
              <a:t>Turn 1:   100 tokens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724912"/>
            <a:ext cx="4572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B0B8C8"/>
                </a:solidFill>
                <a:latin typeface="Consolas"/>
              </a:defRPr>
            </a:pPr>
            <a:r>
              <a:t>Turn 2:   400 tokens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980944"/>
            <a:ext cx="4572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B0B8C8"/>
                </a:solidFill>
                <a:latin typeface="Consolas"/>
              </a:defRPr>
            </a:pPr>
            <a:r>
              <a:t>Turn 3:   700 tokens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236976"/>
            <a:ext cx="4572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B0B8C8"/>
                </a:solidFill>
                <a:latin typeface="Consolas"/>
              </a:defRPr>
            </a:pPr>
            <a:r>
              <a:t>Turn N: ≈ 300N tokens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602736"/>
            <a:ext cx="4572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2DD4BF"/>
                </a:solidFill>
                <a:latin typeface="Consolas"/>
              </a:defRPr>
            </a:pPr>
            <a:r>
              <a:t>Total after N turns: ≈ 150N² tokens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0624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Real numbers (cumulative input tokens)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31520" y="4617720"/>
          <a:ext cx="6858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1F2E"/>
                          </a:solidFill>
                          <a:latin typeface="Calibri"/>
                        </a:defRPr>
                      </a:pPr>
                      <a:r>
                        <a:t>Turns</a:t>
                      </a:r>
                    </a:p>
                  </a:txBody>
                  <a:tcPr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1F2E"/>
                          </a:solidFill>
                          <a:latin typeface="Calibri"/>
                        </a:defRPr>
                      </a:pPr>
                      <a:r>
                        <a:t>Input tokens</a:t>
                      </a:r>
                    </a:p>
                  </a:txBody>
                  <a:tcPr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1F2E"/>
                          </a:solidFill>
                          <a:latin typeface="Calibri"/>
                        </a:defRPr>
                      </a:pPr>
                      <a:r>
                        <a:t>gpt-4.1-mini</a:t>
                      </a:r>
                    </a:p>
                  </a:txBody>
                  <a:tcPr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1F2E"/>
                          </a:solidFill>
                          <a:latin typeface="Calibri"/>
                        </a:defRPr>
                      </a:pPr>
                      <a:r>
                        <a:t>gpt-5-nano</a:t>
                      </a:r>
                    </a:p>
                  </a:txBody>
                  <a:tcPr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2127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15,000</a:t>
                      </a:r>
                    </a:p>
                  </a:txBody>
                  <a:tcPr>
                    <a:solidFill>
                      <a:srgbClr val="2127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$0.006</a:t>
                      </a:r>
                    </a:p>
                  </a:txBody>
                  <a:tcPr>
                    <a:solidFill>
                      <a:srgbClr val="2127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$0.001</a:t>
                      </a:r>
                    </a:p>
                  </a:txBody>
                  <a:tcPr>
                    <a:solidFill>
                      <a:srgbClr val="2127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242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375,000</a:t>
                      </a:r>
                    </a:p>
                  </a:txBody>
                  <a:tcPr>
                    <a:solidFill>
                      <a:srgbClr val="242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$0.15</a:t>
                      </a:r>
                    </a:p>
                  </a:txBody>
                  <a:tcPr>
                    <a:solidFill>
                      <a:srgbClr val="242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$0.019</a:t>
                      </a:r>
                    </a:p>
                  </a:txBody>
                  <a:tcPr>
                    <a:solidFill>
                      <a:srgbClr val="24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2127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1,500,000</a:t>
                      </a:r>
                    </a:p>
                  </a:txBody>
                  <a:tcPr>
                    <a:solidFill>
                      <a:srgbClr val="2127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$0.60</a:t>
                      </a:r>
                    </a:p>
                  </a:txBody>
                  <a:tcPr>
                    <a:solidFill>
                      <a:srgbClr val="2127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$0.075</a:t>
                      </a:r>
                    </a:p>
                  </a:txBody>
                  <a:tcPr>
                    <a:solidFill>
                      <a:srgbClr val="2127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242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37,500,000</a:t>
                      </a:r>
                    </a:p>
                  </a:txBody>
                  <a:tcPr>
                    <a:solidFill>
                      <a:srgbClr val="242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$15.00</a:t>
                      </a:r>
                    </a:p>
                  </a:txBody>
                  <a:tcPr>
                    <a:solidFill>
                      <a:srgbClr val="242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$1.88</a:t>
                      </a:r>
                    </a:p>
                  </a:txBody>
                  <a:tcPr>
                    <a:solidFill>
                      <a:srgbClr val="24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8046720" y="4206240"/>
            <a:ext cx="3383280" cy="210312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4206240"/>
            <a:ext cx="45720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0" y="4343400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Latency grows too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75488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B0B8C8"/>
                </a:solidFill>
                <a:latin typeface="Calibri"/>
              </a:rPr>
              <a:t>Turn 1: </a:t>
            </a:r>
            <a:r>
              <a:rPr sz="1300" b="1" i="0">
                <a:solidFill>
                  <a:srgbClr val="F59E0B"/>
                </a:solidFill>
                <a:latin typeface="Calibri"/>
              </a:rPr>
              <a:t>~0.5s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07492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B0B8C8"/>
                </a:solidFill>
                <a:latin typeface="Calibri"/>
              </a:rPr>
              <a:t>Turn 50: </a:t>
            </a:r>
            <a:r>
              <a:rPr sz="1300" b="1" i="0">
                <a:solidFill>
                  <a:srgbClr val="F59E0B"/>
                </a:solidFill>
                <a:latin typeface="Calibri"/>
              </a:rPr>
              <a:t>~2-3s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539496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B0B8C8"/>
                </a:solidFill>
                <a:latin typeface="Calibri"/>
              </a:rPr>
              <a:t>Turn 100+: </a:t>
            </a:r>
            <a:r>
              <a:rPr sz="1300" b="1" i="0">
                <a:solidFill>
                  <a:srgbClr val="F59E0B"/>
                </a:solidFill>
                <a:latin typeface="Calibri"/>
              </a:rPr>
              <a:t>5-10s+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576072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1">
                <a:solidFill>
                  <a:srgbClr val="8A94A6"/>
                </a:solidFill>
                <a:latin typeface="Calibri"/>
              </a:defRPr>
            </a:pPr>
            <a:r>
              <a:t>Users notice. Long waits</a:t>
            </a:r>
            <a:br/>
            <a:r>
              <a:t>feel broken.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502920" cy="4114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A1F2E"/>
                </a:solidFill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32004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000" b="1" i="0">
                <a:solidFill>
                  <a:srgbClr val="1A1F2E"/>
                </a:solidFill>
                <a:latin typeface="Calibri"/>
              </a:defRPr>
            </a:pPr>
            <a:r>
              <a:t>Bounding the Unbounded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82296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0">
                <a:solidFill>
                  <a:srgbClr val="8A94A6"/>
                </a:solidFill>
                <a:latin typeface="Calibri"/>
              </a:defRPr>
            </a:pPr>
            <a:r>
              <a:t>Context windowing &amp; memory — don’t send everything, send what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303520" cy="2286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303520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1A1F2E"/>
                </a:solidFill>
                <a:latin typeface="Calibri"/>
              </a:defRPr>
            </a:pPr>
            <a:r>
              <a:t>Strategy 1: Sliding Window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4754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 i="0">
                <a:solidFill>
                  <a:srgbClr val="4A5568"/>
                </a:solidFill>
                <a:latin typeface="Calibri"/>
              </a:defRPr>
            </a:pPr>
            <a:r>
              <a:t>Keep only the last N turns. Simple, predictable, but lossy.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0604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 i="0">
                <a:solidFill>
                  <a:srgbClr val="16A34A"/>
                </a:solidFill>
                <a:latin typeface="Calibri"/>
              </a:defRPr>
            </a:pPr>
            <a:r>
              <a:t>Cost is now bounded: ~1,800 tokens max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971800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1">
                <a:solidFill>
                  <a:srgbClr val="DC2626"/>
                </a:solidFill>
                <a:latin typeface="Calibri"/>
              </a:defRPr>
            </a:pPr>
            <a:r>
              <a:t>Problem: “What did I tell you at the start?”</a:t>
            </a:r>
            <a:br/>
            <a:r>
              <a:t>→ No idea. The window forgot.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554480"/>
            <a:ext cx="5029200" cy="2286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1554480"/>
            <a:ext cx="5029200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173736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1A1F2E"/>
                </a:solidFill>
                <a:latin typeface="Calibri"/>
              </a:defRPr>
            </a:pPr>
            <a:r>
              <a:t>Strategy 2: Window + 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148840"/>
            <a:ext cx="4572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 i="0">
                <a:solidFill>
                  <a:srgbClr val="4A5568"/>
                </a:solidFill>
                <a:latin typeface="Calibri"/>
              </a:defRPr>
            </a:pPr>
            <a:r>
              <a:t>Compress older turns into a summary.</a:t>
            </a:r>
            <a:br/>
            <a:r>
              <a:t>Keep recent turns verbatim.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651760"/>
            <a:ext cx="43891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4A5568"/>
                </a:solidFill>
                <a:latin typeface="Consolas"/>
              </a:defRPr>
            </a:pPr>
            <a:r>
              <a:t>MEMORY (summary):</a:t>
            </a:r>
            <a:br/>
            <a:r>
              <a:t>• User’s name is Alice</a:t>
            </a:r>
            <a:br/>
            <a:r>
              <a:t>• Working on web scraping project</a:t>
            </a:r>
            <a:br/>
            <a:r>
              <a:t>• Prefers Python examples</a:t>
            </a:r>
            <a:br/>
            <a:r>
              <a:t>[Last 6 turns verbatim]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solidFill>
            <a:srgbClr val="EE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45720" cy="10972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4206240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2DD4BF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5262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 i="0">
                <a:solidFill>
                  <a:srgbClr val="2D5A50"/>
                </a:solidFill>
                <a:latin typeface="Calibri"/>
              </a:defRPr>
            </a:pPr>
            <a:r>
              <a:t>Memory is lossy compression. You’re trading fidelity for efficiency. The summarizer decides what matters — and it might be wrong. This is a fundamental design choice, not a bug to fix.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5303520"/>
            <a:ext cx="12191695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48640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Memory design choices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852160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B0B8C8"/>
                </a:solidFill>
                <a:latin typeface="Calibri"/>
              </a:defRPr>
            </a:pPr>
            <a:r>
              <a:t>•  Larger window → more fidelity, higher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126480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B0B8C8"/>
                </a:solidFill>
                <a:latin typeface="Calibri"/>
              </a:defRPr>
            </a:pPr>
            <a:r>
              <a:t>•  Summarize every turn → freshest, 2× API calls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400800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B0B8C8"/>
                </a:solidFill>
                <a:latin typeface="Calibri"/>
              </a:defRPr>
            </a:pPr>
            <a:r>
              <a:t>•  Structured memory (JSON) → rigid but machine-readable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411480" cy="4114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A1F2E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9144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LLMs are stateless.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6596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0">
                <a:solidFill>
                  <a:srgbClr val="2DD4BF"/>
                </a:solidFill>
                <a:latin typeface="Calibri"/>
              </a:defRPr>
            </a:pPr>
            <a:r>
              <a:t>State is your responsibility.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06039"/>
            <a:ext cx="411480" cy="4114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A1F2E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60320"/>
            <a:ext cx="9144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Full history doesn’t scale.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97180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0">
                <a:solidFill>
                  <a:srgbClr val="2DD4BF"/>
                </a:solidFill>
                <a:latin typeface="Calibri"/>
              </a:defRPr>
            </a:pPr>
            <a:r>
              <a:t>Cost and latency grow quadratically.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611880"/>
            <a:ext cx="411480" cy="4114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A1F2E"/>
                </a:solidFill>
                <a:latin typeface="Calibr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566160"/>
            <a:ext cx="9144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Memory is lossy compression.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97764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0">
                <a:solidFill>
                  <a:srgbClr val="2DD4BF"/>
                </a:solidFill>
                <a:latin typeface="Calibri"/>
              </a:defRPr>
            </a:pPr>
            <a:r>
              <a:t>You choose what to keep and what to lose.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617720"/>
            <a:ext cx="411480" cy="4114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A1F2E"/>
                </a:solidFill>
                <a:latin typeface="Calibri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572000"/>
            <a:ext cx="9144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Memory is not a feature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98348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0">
                <a:solidFill>
                  <a:srgbClr val="2DD4BF"/>
                </a:solidFill>
                <a:latin typeface="Calibri"/>
              </a:defRPr>
            </a:pPr>
            <a:r>
              <a:t>it’s a design decision.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577840"/>
            <a:ext cx="10698480" cy="36576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76072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 i="1">
                <a:solidFill>
                  <a:srgbClr val="8A94A6"/>
                </a:solidFill>
                <a:latin typeface="Calibri"/>
              </a:defRPr>
            </a:pPr>
            <a:r>
              <a:t>Next: agents that can do things — tools, the agentic loop, and what happens when the model acts in the world.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BEB58AF-327C-844A-93DA-45162E4FE173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14648</TotalTime>
  <Words>1132</Words>
  <Application>Microsoft Macintosh PowerPoint</Application>
  <PresentationFormat>Widescreen</PresentationFormat>
  <Paragraphs>155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Casati, Fabio</cp:lastModifiedBy>
  <cp:revision>8</cp:revision>
  <dcterms:created xsi:type="dcterms:W3CDTF">2013-01-27T09:14:16Z</dcterms:created>
  <dcterms:modified xsi:type="dcterms:W3CDTF">2026-03-18T20:52:36Z</dcterms:modified>
  <cp:category/>
</cp:coreProperties>
</file>