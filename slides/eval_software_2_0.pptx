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xml" ContentType="application/vnd.openxmlformats-officedocument.drawingml.chart+xml"/>
  <Override PartName="/ppt/notesSlides/notesSlide30.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rts/chart4.xml" ContentType="application/vnd.openxmlformats-officedocument.drawingml.chart+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58"/>
  </p:notesMasterIdLst>
  <p:sldIdLst>
    <p:sldId id="331"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326" r:id="rId27"/>
    <p:sldId id="328" r:id="rId28"/>
    <p:sldId id="281" r:id="rId29"/>
    <p:sldId id="282" r:id="rId30"/>
    <p:sldId id="283" r:id="rId31"/>
    <p:sldId id="311" r:id="rId32"/>
    <p:sldId id="312" r:id="rId33"/>
    <p:sldId id="286" r:id="rId34"/>
    <p:sldId id="287" r:id="rId35"/>
    <p:sldId id="289" r:id="rId36"/>
    <p:sldId id="32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65548"/>
  </p:normalViewPr>
  <p:slideViewPr>
    <p:cSldViewPr snapToGrid="0" snapToObjects="1">
      <p:cViewPr varScale="1">
        <p:scale>
          <a:sx n="102" d="100"/>
          <a:sy n="102" d="100"/>
        </p:scale>
        <p:origin x="9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Runtime</c:v>
                </c:pt>
              </c:strCache>
            </c:strRef>
          </c:tx>
          <c:spPr>
            <a:solidFill>
              <a:srgbClr val="C0392B"/>
            </a:solidFill>
            <a:effectLst/>
          </c:spPr>
          <c:invertIfNegative val="0"/>
          <c:errBars>
            <c:errBarType val="both"/>
            <c:errValType val="cust"/>
            <c:noEndCap val="0"/>
            <c:plus>
              <c:numLit>
                <c:formatCode>General</c:formatCode>
                <c:ptCount val="3"/>
                <c:pt idx="0">
                  <c:v>0.3</c:v>
                </c:pt>
                <c:pt idx="1">
                  <c:v>0.5</c:v>
                </c:pt>
                <c:pt idx="2">
                  <c:v>0.2</c:v>
                </c:pt>
              </c:numLit>
            </c:plus>
            <c:minus>
              <c:numLit>
                <c:formatCode>General</c:formatCode>
                <c:ptCount val="3"/>
                <c:pt idx="0">
                  <c:v>0.3</c:v>
                </c:pt>
                <c:pt idx="1">
                  <c:v>0.5</c:v>
                </c:pt>
                <c:pt idx="2">
                  <c:v>0.2</c:v>
                </c:pt>
              </c:numLit>
            </c:minus>
            <c:spPr>
              <a:ln w="19050" cap="flat">
                <a:solidFill>
                  <a:srgbClr val="000000"/>
                </a:solidFill>
                <a:prstDash val="solid"/>
                <a:round/>
              </a:ln>
            </c:spPr>
          </c:errBars>
          <c:cat>
            <c:strRef>
              <c:f>Sheet1!$A$2:$A$4</c:f>
              <c:strCache>
                <c:ptCount val="3"/>
                <c:pt idx="0">
                  <c:v>A</c:v>
                </c:pt>
                <c:pt idx="1">
                  <c:v>B</c:v>
                </c:pt>
                <c:pt idx="2">
                  <c:v>C</c:v>
                </c:pt>
              </c:strCache>
            </c:strRef>
          </c:cat>
          <c:val>
            <c:numRef>
              <c:f>Sheet1!$B$2:$B$4</c:f>
              <c:numCache>
                <c:formatCode>General</c:formatCode>
                <c:ptCount val="3"/>
                <c:pt idx="0">
                  <c:v>2.5</c:v>
                </c:pt>
                <c:pt idx="1">
                  <c:v>4.2</c:v>
                </c:pt>
                <c:pt idx="2">
                  <c:v>3.5</c:v>
                </c:pt>
              </c:numCache>
            </c:numRef>
          </c:val>
          <c:extLst>
            <c:ext xmlns:c16="http://schemas.microsoft.com/office/drawing/2014/chart" uri="{C3380CC4-5D6E-409C-BE32-E72D297353CC}">
              <c16:uniqueId val="{00000000-8733-DD44-AB74-4B077C9BCD43}"/>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2222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small</c:v>
                </c:pt>
              </c:strCache>
            </c:strRef>
          </c:tx>
          <c:spPr>
            <a:solidFill>
              <a:srgbClr val="C0392B"/>
            </a:solidFill>
            <a:effectLst/>
          </c:spPr>
          <c:invertIfNegative val="0"/>
          <c:errBars>
            <c:errBarType val="both"/>
            <c:errValType val="cust"/>
            <c:noEndCap val="0"/>
            <c:plus>
              <c:numLit>
                <c:formatCode>General</c:formatCode>
                <c:ptCount val="3"/>
                <c:pt idx="0">
                  <c:v>1.4142140000000001</c:v>
                </c:pt>
                <c:pt idx="1">
                  <c:v>0.70710700000000004</c:v>
                </c:pt>
                <c:pt idx="2">
                  <c:v>1.385929</c:v>
                </c:pt>
              </c:numLit>
            </c:plus>
            <c:minus>
              <c:numLit>
                <c:formatCode>General</c:formatCode>
                <c:ptCount val="3"/>
                <c:pt idx="0">
                  <c:v>1.4142140000000001</c:v>
                </c:pt>
                <c:pt idx="1">
                  <c:v>0.70710700000000004</c:v>
                </c:pt>
                <c:pt idx="2">
                  <c:v>1.385929</c:v>
                </c:pt>
              </c:numLit>
            </c:minus>
            <c:spPr>
              <a:ln w="19050" cap="flat">
                <a:solidFill>
                  <a:srgbClr val="000000"/>
                </a:solidFill>
                <a:prstDash val="solid"/>
                <a:round/>
              </a:ln>
            </c:spPr>
          </c:errBars>
          <c:cat>
            <c:strRef>
              <c:f>Sheet1!$A$2:$A$4</c:f>
              <c:strCache>
                <c:ptCount val="3"/>
                <c:pt idx="0">
                  <c:v>std dev.</c:v>
                </c:pt>
                <c:pt idx="1">
                  <c:v>std error</c:v>
                </c:pt>
                <c:pt idx="2">
                  <c:v>confidence
interval</c:v>
                </c:pt>
              </c:strCache>
            </c:strRef>
          </c:cat>
          <c:val>
            <c:numRef>
              <c:f>Sheet1!$B$2:$B$4</c:f>
              <c:numCache>
                <c:formatCode>General</c:formatCode>
                <c:ptCount val="3"/>
                <c:pt idx="0">
                  <c:v>4</c:v>
                </c:pt>
                <c:pt idx="1">
                  <c:v>4</c:v>
                </c:pt>
                <c:pt idx="2">
                  <c:v>4</c:v>
                </c:pt>
              </c:numCache>
            </c:numRef>
          </c:val>
          <c:extLst>
            <c:ext xmlns:c16="http://schemas.microsoft.com/office/drawing/2014/chart" uri="{C3380CC4-5D6E-409C-BE32-E72D297353CC}">
              <c16:uniqueId val="{00000000-A8DC-1C48-A7BA-17841A8BAD8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large</c:v>
                </c:pt>
              </c:strCache>
            </c:strRef>
          </c:tx>
          <c:spPr>
            <a:solidFill>
              <a:srgbClr val="C0392B"/>
            </a:solidFill>
            <a:effectLst/>
          </c:spPr>
          <c:invertIfNegative val="0"/>
          <c:errBars>
            <c:errBarType val="both"/>
            <c:errValType val="cust"/>
            <c:noEndCap val="0"/>
            <c:plus>
              <c:numLit>
                <c:formatCode>General</c:formatCode>
                <c:ptCount val="3"/>
                <c:pt idx="0">
                  <c:v>2.4923160000000002</c:v>
                </c:pt>
                <c:pt idx="1">
                  <c:v>0.471003</c:v>
                </c:pt>
                <c:pt idx="2">
                  <c:v>0.92316699999999996</c:v>
                </c:pt>
              </c:numLit>
            </c:plus>
            <c:minus>
              <c:numLit>
                <c:formatCode>General</c:formatCode>
                <c:ptCount val="3"/>
                <c:pt idx="0">
                  <c:v>2.4923160000000002</c:v>
                </c:pt>
                <c:pt idx="1">
                  <c:v>0.471003</c:v>
                </c:pt>
                <c:pt idx="2">
                  <c:v>0.92316699999999996</c:v>
                </c:pt>
              </c:numLit>
            </c:minus>
            <c:spPr>
              <a:ln w="19050" cap="flat">
                <a:solidFill>
                  <a:srgbClr val="000000"/>
                </a:solidFill>
                <a:prstDash val="solid"/>
                <a:round/>
              </a:ln>
            </c:spPr>
          </c:errBars>
          <c:cat>
            <c:strRef>
              <c:f>Sheet1!$A$2:$A$4</c:f>
              <c:strCache>
                <c:ptCount val="3"/>
                <c:pt idx="0">
                  <c:v>std dev.</c:v>
                </c:pt>
                <c:pt idx="1">
                  <c:v>std error</c:v>
                </c:pt>
                <c:pt idx="2">
                  <c:v>confidence
interval</c:v>
                </c:pt>
              </c:strCache>
            </c:strRef>
          </c:cat>
          <c:val>
            <c:numRef>
              <c:f>Sheet1!$B$2:$B$4</c:f>
              <c:numCache>
                <c:formatCode>General</c:formatCode>
                <c:ptCount val="3"/>
                <c:pt idx="0">
                  <c:v>4</c:v>
                </c:pt>
                <c:pt idx="1">
                  <c:v>4</c:v>
                </c:pt>
                <c:pt idx="2">
                  <c:v>4</c:v>
                </c:pt>
              </c:numCache>
            </c:numRef>
          </c:val>
          <c:extLst>
            <c:ext xmlns:c16="http://schemas.microsoft.com/office/drawing/2014/chart" uri="{C3380CC4-5D6E-409C-BE32-E72D297353CC}">
              <c16:uniqueId val="{00000000-6474-2A4D-B8F3-BFA032F96D9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93B"/>
                </a:solidFill>
                <a:latin typeface="Arial"/>
              </a:defRPr>
            </a:pPr>
            <a:r>
              <a:rPr lang="en-US" sz="1400" b="0" i="0" u="none" strike="noStrike">
                <a:solidFill>
                  <a:srgbClr val="1E293B"/>
                </a:solidFill>
                <a:latin typeface="Arial"/>
              </a:rPr>
              <a:t>95% neg, 5% pos</a:t>
            </a:r>
          </a:p>
        </c:rich>
      </c:tx>
      <c:overlay val="0"/>
    </c:title>
    <c:autoTitleDeleted val="0"/>
    <c:plotArea>
      <c:layout/>
      <c:scatterChart>
        <c:scatterStyle val="lineMarker"/>
        <c:varyColors val="0"/>
        <c:ser>
          <c:idx val="0"/>
          <c:order val="0"/>
          <c:tx>
            <c:strRef>
              <c:f>Sheet1!$B$1</c:f>
              <c:strCache>
                <c:ptCount val="1"/>
                <c:pt idx="0">
                  <c:v>Positive (5%)</c:v>
                </c:pt>
              </c:strCache>
            </c:strRef>
          </c:tx>
          <c:spPr>
            <a:ln w="25400" cap="flat">
              <a:solidFill>
                <a:srgbClr val="EF4444"/>
              </a:solidFill>
              <a:prstDash val="solid"/>
              <a:round/>
            </a:ln>
            <a:effectLst/>
          </c:spPr>
          <c:marker>
            <c:symbol val="circle"/>
            <c:size val="6"/>
            <c:spPr>
              <a:solidFill>
                <a:srgbClr val="EF4444"/>
              </a:solidFill>
              <a:ln w="9525" cap="flat">
                <a:solidFill>
                  <a:srgbClr val="EF4444"/>
                </a:solidFill>
                <a:prstDash val="solid"/>
                <a:round/>
              </a:ln>
              <a:effectLst/>
            </c:spPr>
          </c:marker>
          <c:xVal>
            <c:numRef>
              <c:f>Sheet1!$A$2:$A$51</c:f>
              <c:numCache>
                <c:formatCode>General</c:formatCode>
                <c:ptCount val="50"/>
                <c:pt idx="0">
                  <c:v>39.061147953809225</c:v>
                </c:pt>
                <c:pt idx="1">
                  <c:v>45.789389847592275</c:v>
                </c:pt>
                <c:pt idx="2">
                  <c:v>41.811726961429919</c:v>
                </c:pt>
                <c:pt idx="3">
                  <c:v>42.191833080608347</c:v>
                </c:pt>
                <c:pt idx="4">
                  <c:v>45.172289243581147</c:v>
                </c:pt>
                <c:pt idx="5">
                  <c:v>44.295837840620017</c:v>
                </c:pt>
                <c:pt idx="6">
                  <c:v>43.331396971687887</c:v>
                </c:pt>
                <c:pt idx="7">
                  <c:v>45.146542914516061</c:v>
                </c:pt>
                <c:pt idx="8">
                  <c:v>40.798625953144494</c:v>
                </c:pt>
                <c:pt idx="9">
                  <c:v>38.180121053627396</c:v>
                </c:pt>
                <c:pt idx="10">
                  <c:v>39.138055522223681</c:v>
                </c:pt>
                <c:pt idx="11">
                  <c:v>42.988581929824932</c:v>
                </c:pt>
                <c:pt idx="12">
                  <c:v>41.917068269512498</c:v>
                </c:pt>
                <c:pt idx="13">
                  <c:v>34.983778487742001</c:v>
                </c:pt>
                <c:pt idx="14">
                  <c:v>35.508822678569807</c:v>
                </c:pt>
                <c:pt idx="15">
                  <c:v>42.000526602420685</c:v>
                </c:pt>
                <c:pt idx="16">
                  <c:v>36.107772353730404</c:v>
                </c:pt>
                <c:pt idx="17">
                  <c:v>41.022745616378039</c:v>
                </c:pt>
                <c:pt idx="18">
                  <c:v>35.2892710063443</c:v>
                </c:pt>
                <c:pt idx="19">
                  <c:v>41.983913853708486</c:v>
                </c:pt>
                <c:pt idx="20">
                  <c:v>41.244611870320199</c:v>
                </c:pt>
                <c:pt idx="21">
                  <c:v>35.882218102920291</c:v>
                </c:pt>
                <c:pt idx="22">
                  <c:v>43.037378472992557</c:v>
                </c:pt>
                <c:pt idx="23">
                  <c:v>34.439853650475207</c:v>
                </c:pt>
                <c:pt idx="24">
                  <c:v>35.369882230015946</c:v>
                </c:pt>
                <c:pt idx="25">
                  <c:v>38.947516557426312</c:v>
                </c:pt>
                <c:pt idx="26">
                  <c:v>44.700814035023669</c:v>
                </c:pt>
                <c:pt idx="27">
                  <c:v>34.052011497761519</c:v>
                </c:pt>
                <c:pt idx="28">
                  <c:v>37.03864753430458</c:v>
                </c:pt>
                <c:pt idx="29">
                  <c:v>33.110841397186306</c:v>
                </c:pt>
                <c:pt idx="30">
                  <c:v>33.966289046432387</c:v>
                </c:pt>
                <c:pt idx="31">
                  <c:v>36.760204767128961</c:v>
                </c:pt>
                <c:pt idx="32">
                  <c:v>37.435296878705564</c:v>
                </c:pt>
                <c:pt idx="33">
                  <c:v>35.5473393270005</c:v>
                </c:pt>
                <c:pt idx="34">
                  <c:v>45.690085054755734</c:v>
                </c:pt>
                <c:pt idx="35">
                  <c:v>37.405501615699748</c:v>
                </c:pt>
                <c:pt idx="36">
                  <c:v>37.737868807383833</c:v>
                </c:pt>
                <c:pt idx="37">
                  <c:v>42.976564063899524</c:v>
                </c:pt>
                <c:pt idx="38">
                  <c:v>36.316474688471821</c:v>
                </c:pt>
                <c:pt idx="39">
                  <c:v>40.255245325638185</c:v>
                </c:pt>
                <c:pt idx="40">
                  <c:v>38.625376710850212</c:v>
                </c:pt>
                <c:pt idx="41">
                  <c:v>37.175907695236575</c:v>
                </c:pt>
                <c:pt idx="42">
                  <c:v>35.585297750133691</c:v>
                </c:pt>
                <c:pt idx="43">
                  <c:v>41.545732152143131</c:v>
                </c:pt>
                <c:pt idx="44">
                  <c:v>41.141831237053616</c:v>
                </c:pt>
                <c:pt idx="45">
                  <c:v>39.188694426881902</c:v>
                </c:pt>
                <c:pt idx="46">
                  <c:v>41.792570502135149</c:v>
                </c:pt>
                <c:pt idx="47">
                  <c:v>42.121488607182918</c:v>
                </c:pt>
                <c:pt idx="48">
                  <c:v>35.860296349074211</c:v>
                </c:pt>
                <c:pt idx="49">
                  <c:v>44.943415462182351</c:v>
                </c:pt>
              </c:numCache>
            </c:numRef>
          </c:xVal>
          <c:yVal>
            <c:numRef>
              <c:f>Sheet1!$B$2:$B$51</c:f>
              <c:numCache>
                <c:formatCode>General</c:formatCode>
                <c:ptCount val="50"/>
                <c:pt idx="0">
                  <c:v>51.680272628262458</c:v>
                </c:pt>
                <c:pt idx="1">
                  <c:v>46.060457012890396</c:v>
                </c:pt>
                <c:pt idx="2">
                  <c:v>49.824124745232112</c:v>
                </c:pt>
                <c:pt idx="3">
                  <c:v>48.555851375489105</c:v>
                </c:pt>
                <c:pt idx="4">
                  <c:v>47.969902014162862</c:v>
                </c:pt>
              </c:numCache>
            </c:numRef>
          </c:yVal>
          <c:smooth val="0"/>
          <c:extLst>
            <c:ext xmlns:c16="http://schemas.microsoft.com/office/drawing/2014/chart" uri="{C3380CC4-5D6E-409C-BE32-E72D297353CC}">
              <c16:uniqueId val="{00000000-32DB-C044-AB03-7B339B7042F0}"/>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12700" cap="flat">
              <a:solidFill>
                <a:srgbClr val="D9D9D9"/>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crossBetween val="midCat"/>
      </c:valAx>
      <c:valAx>
        <c:axId val="2094734552"/>
        <c:scaling>
          <c:orientation val="minMax"/>
        </c:scaling>
        <c:delete val="0"/>
        <c:axPos val="l"/>
        <c:majorGridlines>
          <c:spPr>
            <a:ln w="12700" cap="flat">
              <a:solidFill>
                <a:srgbClr val="D9D9D9"/>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legend>
      <c:legendPos val="t"/>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1556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compare models to figure out which is the best. Ultimately, to choose which model you want to use in production. This could be literally the production version of a piece of software, or just the model whose predictions you decide to use in the future. Sometimes you are comparing different model types (a decision tree vs a linear model), but you might also be comparing different ways of configuring the same model type. For instance in the kNN classifier, how many neighbours (k) should we look at to determine our classification? With the 2D dataset, we can look at the decision boundary, and make a visual judgment. Usually, that's not the case: our feature space will have hundreds of dimensions, and we'll need to measure the performance of a model.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already seen what happens when you evaluate on the training data. A model that fits the training data perfectly may not be much use when it comes to data you haven't seen before.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first thing we do in machine learning is withhold some data. We train our classifiers on the training data and test on the test data. That way, if we get good performance, we know that we're likely to get a good performance on future data as well, and we haven't just memorised random fluctuations in the training data. How should we split our data? The most important factor is the size in instances of the test data. The bigger this number, the more precise our estimate of our model's error. Ideally, we separate 10,000 test instances, and use whatever we have left over as training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even if we withhold some test data, we can still go wrong. We'll use k nearest neighbours (kNN) as a running example. Remember, kNN assigns the class of the k nearest points. k is what is called a hyperparameter. We need to choose its value in some way before we run the algorithm. The algorithm doesn't specify how it should be chosen. One way of choosing k is to try a few values, and to see for which k we get the best performance.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the data from the first lecture as an example. We will take a small subsample of the dataset, so that the effects that we want to illustrate become exaggerated.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we've tested 12 different values of k on the same test data (using quite a small test set to illustrate the idea). We can see that for k=1, we get the best performance. We plotted the test data (with the training data in low opacity).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best run. Should we conclude that k=1 is definitely a better setting than k=2 or k=3? Should we conclude that we can expect an error of 0.16 on any future data from the same source?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we have some more data from the same source, so we can evaluate the classifiers again on a fresh test set. This is a luxury we don't normally have (we normally use all the data we are given). What we see is that k=1 no longer gives us the best performance. In fact, we get a radically different best value of k, and k=1 now gives us the highest error in the run.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of the new best runs.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models, different test sets and the conclusions are entirely different. We were diligent in splitting our dataset and evaluating only on withheld data, and yet if we had done only one run on one dataset, as we normally would, we would have concluded that k=1 is the best setting and that an error of 0.16 can be expected with that value. If we look at the k=1 model from the second run (the one we chose), we will see that the performance on the new test set is terrible. If we select a model in this way and take it into production, we will find that it performs terribly. So what's happening here?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essentially the overfitting problem again. Our method of choosing the hyperparameter k is just another learning algorithm. By testing so many values of k on such a small amount of test data, we are overfitting our choice of k on the test data. The model we choose fits well because of random fluctuations in the data. When we resample the data, these fluctuations disappear and the performance drops. This is an instance of the multiple testing problem in statistics. We're testing so many things, that the likelihood of a noticeable effect popping up by chance increases.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different approaches to machine learning experimentation, and not every paper you see will follow this approach, but this is the most common one. It's important to mention in your paper that you followed this approach, since the reader can't usually see it from the presented results.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 emphasize the important point: the more you use the test data, the less reliable your conclusions become. Figure out what the end of your project is, and do not touch the test data until the end. In really important and long-term projects, it's not a bad idea to withhold multiple test sets.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means that you need to test which model to use, which hyperparameters to give it, and how to extract your features only on the training data. In order not to evaluate on the training data for these evaluations, you usually split the training data again: into a (new) training set and a validation set. Ideally, your validation data is the same size as your test set, but you can make it a little smaller to get some more training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you might come across in a bad machine learning paper. In this (fictional) example, the authors are introducing a new method (labeled ours) which has a hyperparameter k. They are claiming that their model beats every baseline, because their numbers are higher (for specific hyperparameters). These numbers create three impressions that are not actually validated by this experiment.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should do instead. We should use the training data (with validation withheld) to select our hyperparameters, make a single choice for k for each different dataset, and then estimate the accuracy of only that model. Note that the numbers have changed, because in the previous example the authors gave themselves an advantage by multiple testing. With a proper validation split, that advantage disappears. These numbers are worse, but more accurate.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you've split off a test and validation set, you may be left with very little training data. If this is the case, you can make better use of your training data by performing cross-validation. You split your data into 5 chunks ('folds') and for each specific choice of hyperparameters that you want to test, you do five runs: each with one of the folds as validation data. You then average the scores of these runs.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do cross-validation in time-sensitive data, you'll have to slice the dataset like this. The validation fold always comes after the training data in time.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are going to use some kind of automated search, trying a bunch of different combinations of hyperparameter values, random sampling in the hyperparameter space is often better than exhaustively checking a grid. If one parameter turns out not to be important, a grid search restricts us to only three samples over the important parameter, at the cost of training nine different models. If we randomize the samples, we get nine different values of each parameter at the same cost.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way of doing this is to compute a confidence interval.</a:t>
            </a:r>
          </a:p>
          <a:p>
            <a:r>
              <a:rPr lang="en-US" sz="1200" kern="1200" dirty="0">
                <a:solidFill>
                  <a:schemeClr val="tx1"/>
                </a:solidFill>
                <a:effectLst/>
                <a:latin typeface="+mn-lt"/>
                <a:ea typeface="+mn-ea"/>
                <a:cs typeface="+mn-cs"/>
              </a:rPr>
              <a:t>Here we see the process of computing a sample accuracy in</a:t>
            </a:r>
          </a:p>
          <a:p>
            <a:r>
              <a:rPr lang="en-US" sz="1200" kern="1200" dirty="0">
                <a:solidFill>
                  <a:schemeClr val="tx1"/>
                </a:solidFill>
                <a:effectLst/>
                <a:latin typeface="+mn-lt"/>
                <a:ea typeface="+mn-ea"/>
                <a:cs typeface="+mn-cs"/>
              </a:rPr>
              <a:t>a simple animation: we start with the true accuracy (for</a:t>
            </a:r>
          </a:p>
          <a:p>
            <a:r>
              <a:rPr lang="en-US" sz="1200" kern="1200" dirty="0">
                <a:solidFill>
                  <a:schemeClr val="tx1"/>
                </a:solidFill>
                <a:effectLst/>
                <a:latin typeface="+mn-lt"/>
                <a:ea typeface="+mn-ea"/>
                <a:cs typeface="+mn-cs"/>
              </a:rPr>
              <a:t>some given classifier, on the data distribution) which is</a:t>
            </a:r>
          </a:p>
          <a:p>
            <a:r>
              <a:rPr lang="en-US" sz="1200" kern="1200" dirty="0">
                <a:solidFill>
                  <a:schemeClr val="tx1"/>
                </a:solidFill>
                <a:effectLst/>
                <a:latin typeface="+mn-lt"/>
                <a:ea typeface="+mn-ea"/>
                <a:cs typeface="+mn-cs"/>
              </a:rPr>
              <a:t>somewhere between 0 and 1. We sample a bunch of points</a:t>
            </a:r>
          </a:p>
          <a:p>
            <a:r>
              <a:rPr lang="en-US" sz="1200" kern="1200" dirty="0">
                <a:solidFill>
                  <a:schemeClr val="tx1"/>
                </a:solidFill>
                <a:effectLst/>
                <a:latin typeface="+mn-lt"/>
                <a:ea typeface="+mn-ea"/>
                <a:cs typeface="+mn-cs"/>
              </a:rPr>
              <a:t>from the data distribution (our test set), and take the</a:t>
            </a:r>
          </a:p>
          <a:p>
            <a:r>
              <a:rPr lang="en-US" sz="1200" kern="1200" dirty="0">
                <a:solidFill>
                  <a:schemeClr val="tx1"/>
                </a:solidFill>
                <a:effectLst/>
                <a:latin typeface="+mn-lt"/>
                <a:ea typeface="+mn-ea"/>
                <a:cs typeface="+mn-cs"/>
              </a:rPr>
              <a:t>relative frequency of correctly classified instances as the</a:t>
            </a:r>
          </a:p>
          <a:p>
            <a:r>
              <a:rPr lang="en-US" sz="1200" kern="1200" dirty="0">
                <a:solidFill>
                  <a:schemeClr val="tx1"/>
                </a:solidFill>
                <a:effectLst/>
                <a:latin typeface="+mn-lt"/>
                <a:ea typeface="+mn-ea"/>
                <a:cs typeface="+mn-cs"/>
              </a:rPr>
              <a:t>sample accuracy.</a:t>
            </a:r>
          </a:p>
          <a:p>
            <a:r>
              <a:rPr lang="en-US" sz="1200" kern="1200" dirty="0">
                <a:solidFill>
                  <a:schemeClr val="tx1"/>
                </a:solidFill>
                <a:effectLst/>
                <a:latin typeface="+mn-lt"/>
                <a:ea typeface="+mn-ea"/>
                <a:cs typeface="+mn-cs"/>
              </a:rPr>
              <a:t>Here, in the top half of the slide we model the process of</a:t>
            </a:r>
          </a:p>
          <a:p>
            <a:r>
              <a:rPr lang="en-US" sz="1200" kern="1200" dirty="0">
                <a:solidFill>
                  <a:schemeClr val="tx1"/>
                </a:solidFill>
                <a:effectLst/>
                <a:latin typeface="+mn-lt"/>
                <a:ea typeface="+mn-ea"/>
                <a:cs typeface="+mn-cs"/>
              </a:rPr>
              <a:t>taking one instance of our test set and seeing whether the</a:t>
            </a:r>
          </a:p>
          <a:p>
            <a:r>
              <a:rPr lang="en-US" sz="1200" kern="1200" dirty="0">
                <a:solidFill>
                  <a:schemeClr val="tx1"/>
                </a:solidFill>
                <a:effectLst/>
                <a:latin typeface="+mn-lt"/>
                <a:ea typeface="+mn-ea"/>
                <a:cs typeface="+mn-cs"/>
              </a:rPr>
              <a:t>classifier classifies it correctly as a single random draw</a:t>
            </a:r>
          </a:p>
          <a:p>
            <a:r>
              <a:rPr lang="en-US" sz="1200" kern="1200" dirty="0">
                <a:solidFill>
                  <a:schemeClr val="tx1"/>
                </a:solidFill>
                <a:effectLst/>
                <a:latin typeface="+mn-lt"/>
                <a:ea typeface="+mn-ea"/>
                <a:cs typeface="+mn-cs"/>
              </a:rPr>
              <a:t>resulting in the outcome correct or incorrect. We'll see in</a:t>
            </a:r>
          </a:p>
          <a:p>
            <a:r>
              <a:rPr lang="en-US" sz="1200" kern="1200" dirty="0">
                <a:solidFill>
                  <a:schemeClr val="tx1"/>
                </a:solidFill>
                <a:effectLst/>
                <a:latin typeface="+mn-lt"/>
                <a:ea typeface="+mn-ea"/>
                <a:cs typeface="+mn-cs"/>
              </a:rPr>
              <a:t>the next lecture that this type of distribution is called a</a:t>
            </a:r>
          </a:p>
          <a:p>
            <a:r>
              <a:rPr lang="en-US" sz="1200" kern="1200" dirty="0">
                <a:solidFill>
                  <a:schemeClr val="tx1"/>
                </a:solidFill>
                <a:effectLst/>
                <a:latin typeface="+mn-lt"/>
                <a:ea typeface="+mn-ea"/>
                <a:cs typeface="+mn-cs"/>
              </a:rPr>
              <a:t>Bernoulli distribution.</a:t>
            </a:r>
          </a:p>
          <a:p>
            <a:r>
              <a:rPr lang="en-US" sz="1200" kern="1200" dirty="0">
                <a:solidFill>
                  <a:schemeClr val="tx1"/>
                </a:solidFill>
                <a:effectLst/>
                <a:latin typeface="+mn-lt"/>
                <a:ea typeface="+mn-ea"/>
                <a:cs typeface="+mn-cs"/>
              </a:rPr>
              <a:t>The whole process of sampling the entire test set and</a:t>
            </a:r>
          </a:p>
          <a:p>
            <a:r>
              <a:rPr lang="en-US" sz="1200" kern="1200" dirty="0">
                <a:solidFill>
                  <a:schemeClr val="tx1"/>
                </a:solidFill>
                <a:effectLst/>
                <a:latin typeface="+mn-lt"/>
                <a:ea typeface="+mn-ea"/>
                <a:cs typeface="+mn-cs"/>
              </a:rPr>
              <a:t>computing the sample accuracy is also a random process. If</a:t>
            </a:r>
          </a:p>
          <a:p>
            <a:r>
              <a:rPr lang="en-US" sz="1200" kern="1200" dirty="0">
                <a:solidFill>
                  <a:schemeClr val="tx1"/>
                </a:solidFill>
                <a:effectLst/>
                <a:latin typeface="+mn-lt"/>
                <a:ea typeface="+mn-ea"/>
                <a:cs typeface="+mn-cs"/>
              </a:rPr>
              <a:t>we were to repeat it, sampling a new test set, we'd get a</a:t>
            </a:r>
          </a:p>
          <a:p>
            <a:r>
              <a:rPr lang="en-US" sz="1200" kern="1200" dirty="0">
                <a:solidFill>
                  <a:schemeClr val="tx1"/>
                </a:solidFill>
                <a:effectLst/>
                <a:latin typeface="+mn-lt"/>
                <a:ea typeface="+mn-ea"/>
                <a:cs typeface="+mn-cs"/>
              </a:rPr>
              <a:t>different value for the sample accuracy. To simplify this, we</a:t>
            </a:r>
          </a:p>
          <a:p>
            <a:r>
              <a:rPr lang="en-US" sz="1200" kern="1200" dirty="0">
                <a:solidFill>
                  <a:schemeClr val="tx1"/>
                </a:solidFill>
                <a:effectLst/>
                <a:latin typeface="+mn-lt"/>
                <a:ea typeface="+mn-ea"/>
                <a:cs typeface="+mn-cs"/>
              </a:rPr>
              <a:t>can look at the total number of instances in our sample that</a:t>
            </a:r>
          </a:p>
          <a:p>
            <a:r>
              <a:rPr lang="en-US" sz="1200" kern="1200" dirty="0">
                <a:solidFill>
                  <a:schemeClr val="tx1"/>
                </a:solidFill>
                <a:effectLst/>
                <a:latin typeface="+mn-lt"/>
                <a:ea typeface="+mn-ea"/>
                <a:cs typeface="+mn-cs"/>
              </a:rPr>
              <a:t>the classifier classified correctly (so we don't divide by N).</a:t>
            </a:r>
          </a:p>
          <a:p>
            <a:r>
              <a:rPr lang="en-US" sz="1200" kern="1200" dirty="0">
                <a:solidFill>
                  <a:schemeClr val="tx1"/>
                </a:solidFill>
                <a:effectLst/>
                <a:latin typeface="+mn-lt"/>
                <a:ea typeface="+mn-ea"/>
                <a:cs typeface="+mn-cs"/>
              </a:rPr>
              <a:t>In that case, it turns out we can work out the distribution of</a:t>
            </a:r>
          </a:p>
          <a:p>
            <a:r>
              <a:rPr lang="en-US" sz="1200" kern="1200" dirty="0">
                <a:solidFill>
                  <a:schemeClr val="tx1"/>
                </a:solidFill>
                <a:effectLst/>
                <a:latin typeface="+mn-lt"/>
                <a:ea typeface="+mn-ea"/>
                <a:cs typeface="+mn-cs"/>
              </a:rPr>
              <a:t>this process as well: the number of</a:t>
            </a:r>
          </a:p>
          <a:p>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correct"s</a:t>
            </a:r>
            <a:r>
              <a:rPr lang="en-US" sz="1200" kern="1200" dirty="0">
                <a:solidFill>
                  <a:schemeClr val="tx1"/>
                </a:solidFill>
                <a:effectLst/>
                <a:latin typeface="+mn-lt"/>
                <a:ea typeface="+mn-ea"/>
                <a:cs typeface="+mn-cs"/>
              </a:rPr>
              <a:t> we get in N</a:t>
            </a:r>
          </a:p>
          <a:p>
            <a:r>
              <a:rPr lang="en-US" sz="1200" kern="1200" dirty="0">
                <a:solidFill>
                  <a:schemeClr val="tx1"/>
                </a:solidFill>
                <a:effectLst/>
                <a:latin typeface="+mn-lt"/>
                <a:ea typeface="+mn-ea"/>
                <a:cs typeface="+mn-cs"/>
              </a:rPr>
              <a:t>samples from a Bernoulli distribution forms what is known</a:t>
            </a:r>
          </a:p>
          <a:p>
            <a:r>
              <a:rPr lang="en-US" sz="1200" kern="1200" dirty="0">
                <a:solidFill>
                  <a:schemeClr val="tx1"/>
                </a:solidFill>
                <a:effectLst/>
                <a:latin typeface="+mn-lt"/>
                <a:ea typeface="+mn-ea"/>
                <a:cs typeface="+mn-cs"/>
              </a:rPr>
              <a:t>as a Binomial distribution.</a:t>
            </a:r>
          </a:p>
          <a:p>
            <a:r>
              <a:rPr lang="en-US" sz="1200" kern="1200" dirty="0">
                <a:solidFill>
                  <a:schemeClr val="tx1"/>
                </a:solidFill>
                <a:effectLst/>
                <a:latin typeface="+mn-lt"/>
                <a:ea typeface="+mn-ea"/>
                <a:cs typeface="+mn-cs"/>
              </a:rPr>
              <a:t>The technical details aren't important. The main message is</a:t>
            </a:r>
          </a:p>
          <a:p>
            <a:r>
              <a:rPr lang="en-US" sz="1200" kern="1200" dirty="0">
                <a:solidFill>
                  <a:schemeClr val="tx1"/>
                </a:solidFill>
                <a:effectLst/>
                <a:latin typeface="+mn-lt"/>
                <a:ea typeface="+mn-ea"/>
                <a:cs typeface="+mn-cs"/>
              </a:rPr>
              <a:t>that we can define precisely what distribution we can</a:t>
            </a:r>
          </a:p>
          <a:p>
            <a:r>
              <a:rPr lang="en-US" sz="1200" kern="1200" dirty="0">
                <a:solidFill>
                  <a:schemeClr val="tx1"/>
                </a:solidFill>
                <a:effectLst/>
                <a:latin typeface="+mn-lt"/>
                <a:ea typeface="+mn-ea"/>
                <a:cs typeface="+mn-cs"/>
              </a:rPr>
              <a:t>expect on the value of the sample accuracy of we keep the</a:t>
            </a:r>
          </a:p>
          <a:p>
            <a:r>
              <a:rPr lang="en-US" sz="1200" kern="1200" dirty="0">
                <a:solidFill>
                  <a:schemeClr val="tx1"/>
                </a:solidFill>
                <a:effectLst/>
                <a:latin typeface="+mn-lt"/>
                <a:ea typeface="+mn-ea"/>
                <a:cs typeface="+mn-cs"/>
              </a:rPr>
              <a:t>classifier and the true accuracy fixed, but resample the test</a:t>
            </a:r>
          </a:p>
          <a:p>
            <a:r>
              <a:rPr lang="en-US" sz="1200" kern="1200" dirty="0">
                <a:solidFill>
                  <a:schemeClr val="tx1"/>
                </a:solidFill>
                <a:effectLst/>
                <a:latin typeface="+mn-lt"/>
                <a:ea typeface="+mn-ea"/>
                <a:cs typeface="+mn-cs"/>
              </a:rPr>
              <a:t>data. In this case, we see that for a true accuracy of 0.8, and</a:t>
            </a:r>
          </a:p>
          <a:p>
            <a:r>
              <a:rPr lang="en-US" sz="1200" kern="1200" dirty="0">
                <a:solidFill>
                  <a:schemeClr val="tx1"/>
                </a:solidFill>
                <a:effectLst/>
                <a:latin typeface="+mn-lt"/>
                <a:ea typeface="+mn-ea"/>
                <a:cs typeface="+mn-cs"/>
              </a:rPr>
              <a:t>a test set of N=10 instances, we are most likely to see that</a:t>
            </a:r>
          </a:p>
          <a:p>
            <a:r>
              <a:rPr lang="en-US" sz="1200" kern="1200" dirty="0">
                <a:solidFill>
                  <a:schemeClr val="tx1"/>
                </a:solidFill>
                <a:effectLst/>
                <a:latin typeface="+mn-lt"/>
                <a:ea typeface="+mn-ea"/>
                <a:cs typeface="+mn-cs"/>
              </a:rPr>
              <a:t>the classifier correctly classifies 7 instances in our sample</a:t>
            </a:r>
          </a:p>
          <a:p>
            <a:r>
              <a:rPr lang="en-US" sz="1200" kern="1200" dirty="0">
                <a:solidFill>
                  <a:schemeClr val="tx1"/>
                </a:solidFill>
                <a:effectLst/>
                <a:latin typeface="+mn-lt"/>
                <a:ea typeface="+mn-ea"/>
                <a:cs typeface="+mn-cs"/>
              </a:rPr>
              <a:t>(as we did in the top half of the slide). However, it's also</a:t>
            </a:r>
          </a:p>
          <a:p>
            <a:r>
              <a:rPr lang="en-US" sz="1200" kern="1200" dirty="0">
                <a:solidFill>
                  <a:schemeClr val="tx1"/>
                </a:solidFill>
                <a:effectLst/>
                <a:latin typeface="+mn-lt"/>
                <a:ea typeface="+mn-ea"/>
                <a:cs typeface="+mn-cs"/>
              </a:rPr>
              <a:t>perfectly possible to see 5, 6, or 8 instances classified</a:t>
            </a:r>
          </a:p>
          <a:p>
            <a:r>
              <a:rPr lang="en-US" sz="1200" kern="1200" dirty="0">
                <a:solidFill>
                  <a:schemeClr val="tx1"/>
                </a:solidFill>
                <a:effectLst/>
                <a:latin typeface="+mn-lt"/>
                <a:ea typeface="+mn-ea"/>
                <a:cs typeface="+mn-cs"/>
              </a:rPr>
              <a:t>correctly.</a:t>
            </a:r>
          </a:p>
          <a:p>
            <a:r>
              <a:rPr lang="en-US" sz="1200" kern="1200" dirty="0">
                <a:solidFill>
                  <a:schemeClr val="tx1"/>
                </a:solidFill>
                <a:effectLst/>
                <a:latin typeface="+mn-lt"/>
                <a:ea typeface="+mn-ea"/>
                <a:cs typeface="+mn-cs"/>
              </a:rPr>
              <a:t>This is a complicated picture with multiple random processes</a:t>
            </a:r>
          </a:p>
          <a:p>
            <a:r>
              <a:rPr lang="en-US" sz="1200" kern="1200" dirty="0">
                <a:solidFill>
                  <a:schemeClr val="tx1"/>
                </a:solidFill>
                <a:effectLst/>
                <a:latin typeface="+mn-lt"/>
                <a:ea typeface="+mn-ea"/>
                <a:cs typeface="+mn-cs"/>
              </a:rPr>
              <a:t>going on. Take a little time to wrap your head around this</a:t>
            </a:r>
          </a:p>
          <a:p>
            <a:r>
              <a:rPr lang="en-US" sz="1200" kern="1200" dirty="0">
                <a:solidFill>
                  <a:schemeClr val="tx1"/>
                </a:solidFill>
                <a:effectLst/>
                <a:latin typeface="+mn-lt"/>
                <a:ea typeface="+mn-ea"/>
                <a:cs typeface="+mn-cs"/>
              </a:rPr>
              <a:t>before moving on.</a:t>
            </a:r>
          </a:p>
          <a:p>
            <a:r>
              <a:rPr lang="en-US" sz="1200" kern="1200" dirty="0">
                <a:solidFill>
                  <a:schemeClr val="tx1"/>
                </a:solidFill>
                <a:effectLst/>
                <a:latin typeface="+mn-lt"/>
                <a:ea typeface="+mn-ea"/>
                <a:cs typeface="+mn-cs"/>
              </a:rPr>
              <a:t>Imagine that if we have two classifiers, and we compute</a:t>
            </a:r>
          </a:p>
          <a:p>
            <a:r>
              <a:rPr lang="en-US" sz="1200" kern="1200" dirty="0">
                <a:solidFill>
                  <a:schemeClr val="tx1"/>
                </a:solidFill>
                <a:effectLst/>
                <a:latin typeface="+mn-lt"/>
                <a:ea typeface="+mn-ea"/>
                <a:cs typeface="+mn-cs"/>
              </a:rPr>
              <a:t>sample accuracies for both on a test set of 10 instances. We</a:t>
            </a:r>
          </a:p>
          <a:p>
            <a:r>
              <a:rPr lang="en-US" sz="1200" kern="1200" dirty="0">
                <a:solidFill>
                  <a:schemeClr val="tx1"/>
                </a:solidFill>
                <a:effectLst/>
                <a:latin typeface="+mn-lt"/>
                <a:ea typeface="+mn-ea"/>
                <a:cs typeface="+mn-cs"/>
              </a:rPr>
              <a:t>get 5/10 correct for one classifier and 8/10 correct for </a:t>
            </a:r>
            <a:r>
              <a:rPr lang="en-US" sz="1200" kern="1200" dirty="0" err="1">
                <a:solidFill>
                  <a:schemeClr val="tx1"/>
                </a:solidFill>
                <a:effectLst/>
                <a:latin typeface="+mn-lt"/>
                <a:ea typeface="+mn-ea"/>
                <a:cs typeface="+mn-cs"/>
              </a:rPr>
              <a:t>theconfidence</a:t>
            </a:r>
            <a:r>
              <a:rPr lang="en-US" sz="1200" kern="1200" dirty="0">
                <a:solidFill>
                  <a:schemeClr val="tx1"/>
                </a:solidFill>
                <a:effectLst/>
                <a:latin typeface="+mn-lt"/>
                <a:ea typeface="+mn-ea"/>
                <a:cs typeface="+mn-cs"/>
              </a:rPr>
              <a:t> intervals</a:t>
            </a:r>
          </a:p>
          <a:p>
            <a:r>
              <a:rPr lang="en-US" sz="1200" kern="1200" dirty="0">
                <a:solidFill>
                  <a:schemeClr val="tx1"/>
                </a:solidFill>
                <a:effectLst/>
                <a:latin typeface="+mn-lt"/>
                <a:ea typeface="+mn-ea"/>
                <a:cs typeface="+mn-cs"/>
              </a:rPr>
              <a:t>test set size</a:t>
            </a:r>
          </a:p>
          <a:p>
            <a:r>
              <a:rPr lang="en-US" sz="1200" kern="1200" dirty="0">
                <a:solidFill>
                  <a:schemeClr val="tx1"/>
                </a:solidFill>
                <a:effectLst/>
                <a:latin typeface="+mn-lt"/>
                <a:ea typeface="+mn-ea"/>
                <a:cs typeface="+mn-cs"/>
              </a:rPr>
              <a:t>accuracy</a:t>
            </a:r>
          </a:p>
          <a:p>
            <a:r>
              <a:rPr lang="en-US" sz="1200" kern="1200" dirty="0">
                <a:solidFill>
                  <a:schemeClr val="tx1"/>
                </a:solidFill>
                <a:effectLst/>
                <a:latin typeface="+mn-lt"/>
                <a:ea typeface="+mn-ea"/>
                <a:cs typeface="+mn-cs"/>
              </a:rPr>
              <a:t>0.0 1.0</a:t>
            </a:r>
          </a:p>
          <a:p>
            <a:r>
              <a:rPr lang="en-US" sz="1200" kern="1200" dirty="0">
                <a:solidFill>
                  <a:schemeClr val="tx1"/>
                </a:solidFill>
                <a:effectLst/>
                <a:latin typeface="+mn-lt"/>
                <a:ea typeface="+mn-ea"/>
                <a:cs typeface="+mn-cs"/>
              </a:rPr>
              <a:t>100</a:t>
            </a:r>
          </a:p>
          <a:p>
            <a:r>
              <a:rPr lang="en-US" sz="1200" kern="1200" dirty="0">
                <a:solidFill>
                  <a:schemeClr val="tx1"/>
                </a:solidFill>
                <a:effectLst/>
                <a:latin typeface="+mn-lt"/>
                <a:ea typeface="+mn-ea"/>
                <a:cs typeface="+mn-cs"/>
              </a:rPr>
              <a:t>1000</a:t>
            </a:r>
          </a:p>
          <a:p>
            <a:r>
              <a:rPr lang="en-US" sz="1200" kern="1200" dirty="0">
                <a:solidFill>
                  <a:schemeClr val="tx1"/>
                </a:solidFill>
                <a:effectLst/>
                <a:latin typeface="+mn-lt"/>
                <a:ea typeface="+mn-ea"/>
                <a:cs typeface="+mn-cs"/>
              </a:rPr>
              <a:t>10000</a:t>
            </a:r>
          </a:p>
          <a:p>
            <a:r>
              <a:rPr lang="en-US" sz="1200" kern="1200" dirty="0">
                <a:solidFill>
                  <a:schemeClr val="tx1"/>
                </a:solidFill>
                <a:effectLst/>
                <a:latin typeface="+mn-lt"/>
                <a:ea typeface="+mn-ea"/>
                <a:cs typeface="+mn-cs"/>
              </a:rPr>
              <a:t>accuracy</a:t>
            </a:r>
          </a:p>
          <a:p>
            <a:r>
              <a:rPr lang="en-US" sz="1200" kern="1200" dirty="0">
                <a:solidFill>
                  <a:schemeClr val="tx1"/>
                </a:solidFill>
                <a:effectLst/>
                <a:latin typeface="+mn-lt"/>
                <a:ea typeface="+mn-ea"/>
                <a:cs typeface="+mn-cs"/>
              </a:rPr>
              <a:t>35</a:t>
            </a:r>
          </a:p>
          <a:p>
            <a:r>
              <a:rPr lang="en-US" sz="1200" kern="1200" dirty="0">
                <a:solidFill>
                  <a:schemeClr val="tx1"/>
                </a:solidFill>
                <a:effectLst/>
                <a:latin typeface="+mn-lt"/>
                <a:ea typeface="+mn-ea"/>
                <a:cs typeface="+mn-cs"/>
              </a:rPr>
              <a:t>36</a:t>
            </a:r>
          </a:p>
          <a:p>
            <a:r>
              <a:rPr lang="en-US" sz="1200" kern="1200" dirty="0">
                <a:solidFill>
                  <a:schemeClr val="tx1"/>
                </a:solidFill>
                <a:effectLst/>
                <a:latin typeface="+mn-lt"/>
                <a:ea typeface="+mn-ea"/>
                <a:cs typeface="+mn-cs"/>
              </a:rPr>
              <a:t>other. Can we conclude that the first is definitely worse than</a:t>
            </a:r>
          </a:p>
          <a:p>
            <a:r>
              <a:rPr lang="en-US" sz="1200" kern="1200" dirty="0">
                <a:solidFill>
                  <a:schemeClr val="tx1"/>
                </a:solidFill>
                <a:effectLst/>
                <a:latin typeface="+mn-lt"/>
                <a:ea typeface="+mn-ea"/>
                <a:cs typeface="+mn-cs"/>
              </a:rPr>
              <a:t>the second? What we see here is that if they both have a</a:t>
            </a:r>
          </a:p>
          <a:p>
            <a:r>
              <a:rPr lang="en-US" sz="1200" kern="1200" dirty="0">
                <a:solidFill>
                  <a:schemeClr val="tx1"/>
                </a:solidFill>
                <a:effectLst/>
                <a:latin typeface="+mn-lt"/>
                <a:ea typeface="+mn-ea"/>
                <a:cs typeface="+mn-cs"/>
              </a:rPr>
              <a:t>true accuracy of 0.8, it would be perfectly likely to see these</a:t>
            </a:r>
          </a:p>
          <a:p>
            <a:r>
              <a:rPr lang="en-US" sz="1200" kern="1200" dirty="0">
                <a:solidFill>
                  <a:schemeClr val="tx1"/>
                </a:solidFill>
                <a:effectLst/>
                <a:latin typeface="+mn-lt"/>
                <a:ea typeface="+mn-ea"/>
                <a:cs typeface="+mn-cs"/>
              </a:rPr>
              <a:t>numbers. In short, with such little test data, we have much</a:t>
            </a:r>
          </a:p>
          <a:p>
            <a:r>
              <a:rPr lang="en-US" sz="1200" kern="1200" dirty="0">
                <a:solidFill>
                  <a:schemeClr val="tx1"/>
                </a:solidFill>
                <a:effectLst/>
                <a:latin typeface="+mn-lt"/>
                <a:ea typeface="+mn-ea"/>
                <a:cs typeface="+mn-cs"/>
              </a:rPr>
              <a:t>uncertainty around our estimate of the true accuracy.</a:t>
            </a:r>
          </a:p>
          <a:p>
            <a:r>
              <a:rPr lang="en-US" sz="1200" kern="1200" dirty="0">
                <a:solidFill>
                  <a:schemeClr val="tx1"/>
                </a:solidFill>
                <a:effectLst/>
                <a:latin typeface="+mn-lt"/>
                <a:ea typeface="+mn-ea"/>
                <a:cs typeface="+mn-cs"/>
              </a:rPr>
              <a:t>One way to quantify this uncertainty is to draw a</a:t>
            </a:r>
          </a:p>
          <a:p>
            <a:r>
              <a:rPr lang="en-US" sz="1200" kern="1200" dirty="0">
                <a:solidFill>
                  <a:schemeClr val="tx1"/>
                </a:solidFill>
                <a:effectLst/>
                <a:latin typeface="+mn-lt"/>
                <a:ea typeface="+mn-ea"/>
                <a:cs typeface="+mn-cs"/>
              </a:rPr>
              <a:t>confidence interval. This is simply any interval on the</a:t>
            </a:r>
          </a:p>
          <a:p>
            <a:r>
              <a:rPr lang="en-US" sz="1200" kern="1200" dirty="0">
                <a:solidFill>
                  <a:schemeClr val="tx1"/>
                </a:solidFill>
                <a:effectLst/>
                <a:latin typeface="+mn-lt"/>
                <a:ea typeface="+mn-ea"/>
                <a:cs typeface="+mn-cs"/>
              </a:rPr>
              <a:t>values of our sample accuracy that captures a given</a:t>
            </a:r>
          </a:p>
          <a:p>
            <a:r>
              <a:rPr lang="en-US" sz="1200" kern="1200" dirty="0">
                <a:solidFill>
                  <a:schemeClr val="tx1"/>
                </a:solidFill>
                <a:effectLst/>
                <a:latin typeface="+mn-lt"/>
                <a:ea typeface="+mn-ea"/>
                <a:cs typeface="+mn-cs"/>
              </a:rPr>
              <a:t>proportion of the probability mass, usually 95%. You can</a:t>
            </a:r>
          </a:p>
          <a:p>
            <a:r>
              <a:rPr lang="en-US" sz="1200" kern="1200" dirty="0">
                <a:solidFill>
                  <a:schemeClr val="tx1"/>
                </a:solidFill>
                <a:effectLst/>
                <a:latin typeface="+mn-lt"/>
                <a:ea typeface="+mn-ea"/>
                <a:cs typeface="+mn-cs"/>
              </a:rPr>
              <a:t>draw the confidence interval anywhere you like so long as</a:t>
            </a:r>
          </a:p>
          <a:p>
            <a:r>
              <a:rPr lang="en-US" sz="1200" kern="1200" dirty="0">
                <a:solidFill>
                  <a:schemeClr val="tx1"/>
                </a:solidFill>
                <a:effectLst/>
                <a:latin typeface="+mn-lt"/>
                <a:ea typeface="+mn-ea"/>
                <a:cs typeface="+mn-cs"/>
              </a:rPr>
              <a:t>you decide how to draw it before seeing the data. The most</a:t>
            </a:r>
          </a:p>
          <a:p>
            <a:r>
              <a:rPr lang="en-US" sz="1200" kern="1200" dirty="0">
                <a:solidFill>
                  <a:schemeClr val="tx1"/>
                </a:solidFill>
                <a:effectLst/>
                <a:latin typeface="+mn-lt"/>
                <a:ea typeface="+mn-ea"/>
                <a:cs typeface="+mn-cs"/>
              </a:rPr>
              <a:t>common approach is symmetrically around the mean, but</a:t>
            </a:r>
          </a:p>
          <a:p>
            <a:r>
              <a:rPr lang="en-US" sz="1200" kern="1200" dirty="0">
                <a:solidFill>
                  <a:schemeClr val="tx1"/>
                </a:solidFill>
                <a:effectLst/>
                <a:latin typeface="+mn-lt"/>
                <a:ea typeface="+mn-ea"/>
                <a:cs typeface="+mn-cs"/>
              </a:rPr>
              <a:t>you can also start at the mean and extend it to the right as</a:t>
            </a:r>
          </a:p>
          <a:p>
            <a:r>
              <a:rPr lang="en-US" sz="1200" kern="1200" dirty="0">
                <a:solidFill>
                  <a:schemeClr val="tx1"/>
                </a:solidFill>
                <a:effectLst/>
                <a:latin typeface="+mn-lt"/>
                <a:ea typeface="+mn-ea"/>
                <a:cs typeface="+mn-cs"/>
              </a:rPr>
              <a:t>far as possible or to the left as far as possible.</a:t>
            </a:r>
          </a:p>
          <a:p>
            <a:r>
              <a:rPr lang="en-US" sz="1200" kern="1200" dirty="0">
                <a:solidFill>
                  <a:schemeClr val="tx1"/>
                </a:solidFill>
                <a:effectLst/>
                <a:latin typeface="+mn-lt"/>
                <a:ea typeface="+mn-ea"/>
                <a:cs typeface="+mn-cs"/>
              </a:rPr>
              <a:t>The confidence interval captures our uncertainty. We don't</a:t>
            </a:r>
          </a:p>
          <a:p>
            <a:r>
              <a:rPr lang="en-US" sz="1200" kern="1200" dirty="0">
                <a:solidFill>
                  <a:schemeClr val="tx1"/>
                </a:solidFill>
                <a:effectLst/>
                <a:latin typeface="+mn-lt"/>
                <a:ea typeface="+mn-ea"/>
                <a:cs typeface="+mn-cs"/>
              </a:rPr>
              <a:t>know the true value of the accuracy, and we can't estimate it</a:t>
            </a:r>
          </a:p>
          <a:p>
            <a:r>
              <a:rPr lang="en-US" sz="1200" kern="1200" dirty="0">
                <a:solidFill>
                  <a:schemeClr val="tx1"/>
                </a:solidFill>
                <a:effectLst/>
                <a:latin typeface="+mn-lt"/>
                <a:ea typeface="+mn-ea"/>
                <a:cs typeface="+mn-cs"/>
              </a:rPr>
              <a:t>very accurately, but we know it's most likely one of these</a:t>
            </a:r>
          </a:p>
          <a:p>
            <a:r>
              <a:rPr lang="en-US" sz="1200" kern="1200" dirty="0">
                <a:solidFill>
                  <a:schemeClr val="tx1"/>
                </a:solidFill>
                <a:effectLst/>
                <a:latin typeface="+mn-lt"/>
                <a:ea typeface="+mn-ea"/>
                <a:cs typeface="+mn-cs"/>
              </a:rPr>
              <a:t>values.</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size of this confidence interval depends on two factors:</a:t>
            </a:r>
          </a:p>
          <a:p>
            <a:r>
              <a:rPr lang="en-US" sz="1200" kern="1200" dirty="0">
                <a:solidFill>
                  <a:schemeClr val="tx1"/>
                </a:solidFill>
                <a:effectLst/>
                <a:latin typeface="+mn-lt"/>
                <a:ea typeface="+mn-ea"/>
                <a:cs typeface="+mn-cs"/>
              </a:rPr>
              <a:t>the true accuracy and the size of the test set. Here are some</a:t>
            </a:r>
          </a:p>
          <a:p>
            <a:r>
              <a:rPr lang="en-US" sz="1200" kern="1200" dirty="0">
                <a:solidFill>
                  <a:schemeClr val="tx1"/>
                </a:solidFill>
                <a:effectLst/>
                <a:latin typeface="+mn-lt"/>
                <a:ea typeface="+mn-ea"/>
                <a:cs typeface="+mn-cs"/>
              </a:rPr>
              <a:t>examples for different accuracies and test set sizes.</a:t>
            </a:r>
          </a:p>
          <a:p>
            <a:r>
              <a:rPr lang="en-US" sz="1200" kern="1200" dirty="0">
                <a:solidFill>
                  <a:schemeClr val="tx1"/>
                </a:solidFill>
                <a:effectLst/>
                <a:latin typeface="+mn-lt"/>
                <a:ea typeface="+mn-ea"/>
                <a:cs typeface="+mn-cs"/>
              </a:rPr>
              <a:t>This tells us that if the true success probability (accuracy)</a:t>
            </a:r>
          </a:p>
          <a:p>
            <a:r>
              <a:rPr lang="en-US" sz="1200" kern="1200" dirty="0">
                <a:solidFill>
                  <a:schemeClr val="tx1"/>
                </a:solidFill>
                <a:effectLst/>
                <a:latin typeface="+mn-lt"/>
                <a:ea typeface="+mn-ea"/>
                <a:cs typeface="+mn-cs"/>
              </a:rPr>
              <a:t>of a classifier is 0.5, and the test set contains 100 examples,</a:t>
            </a:r>
          </a:p>
          <a:p>
            <a:r>
              <a:rPr lang="en-US" sz="1200" kern="1200" dirty="0">
                <a:solidFill>
                  <a:schemeClr val="tx1"/>
                </a:solidFill>
                <a:effectLst/>
                <a:latin typeface="+mn-lt"/>
                <a:ea typeface="+mn-ea"/>
                <a:cs typeface="+mn-cs"/>
              </a:rPr>
              <a:t>our confidence interval has size 0.2. This means that even if</a:t>
            </a:r>
          </a:p>
          <a:p>
            <a:r>
              <a:rPr lang="en-US" sz="1200" kern="1200" dirty="0">
                <a:solidFill>
                  <a:schemeClr val="tx1"/>
                </a:solidFill>
                <a:effectLst/>
                <a:latin typeface="+mn-lt"/>
                <a:ea typeface="+mn-ea"/>
                <a:cs typeface="+mn-cs"/>
              </a:rPr>
              <a:t>we report 0.5 as the accuracy, we may well be wrong by as</a:t>
            </a:r>
          </a:p>
          <a:p>
            <a:r>
              <a:rPr lang="en-US" sz="1200" kern="1200" dirty="0">
                <a:solidFill>
                  <a:schemeClr val="tx1"/>
                </a:solidFill>
                <a:effectLst/>
                <a:latin typeface="+mn-lt"/>
                <a:ea typeface="+mn-ea"/>
                <a:cs typeface="+mn-cs"/>
              </a:rPr>
              <a:t>much as 0.1 either side.</a:t>
            </a:r>
          </a:p>
          <a:p>
            <a:r>
              <a:rPr lang="en-US" sz="1200" kern="1200" dirty="0">
                <a:solidFill>
                  <a:schemeClr val="tx1"/>
                </a:solidFill>
                <a:effectLst/>
                <a:latin typeface="+mn-lt"/>
                <a:ea typeface="+mn-ea"/>
                <a:cs typeface="+mn-cs"/>
              </a:rPr>
              <a:t>Even if these confidence intervals are usually not reported,</a:t>
            </a:r>
          </a:p>
          <a:p>
            <a:r>
              <a:rPr lang="en-US" sz="1200" kern="1200" dirty="0">
                <a:solidFill>
                  <a:schemeClr val="tx1"/>
                </a:solidFill>
                <a:effectLst/>
                <a:latin typeface="+mn-lt"/>
                <a:ea typeface="+mn-ea"/>
                <a:cs typeface="+mn-cs"/>
              </a:rPr>
              <a:t>you can easily work them out (or look them up) yourself.</a:t>
            </a:r>
          </a:p>
          <a:p>
            <a:r>
              <a:rPr lang="en-US" sz="1200" kern="1200" dirty="0">
                <a:solidFill>
                  <a:schemeClr val="tx1"/>
                </a:solidFill>
                <a:effectLst/>
                <a:latin typeface="+mn-lt"/>
                <a:ea typeface="+mn-ea"/>
                <a:cs typeface="+mn-cs"/>
              </a:rPr>
              <a:t>So, if you see someone say that classifier A is better than</a:t>
            </a:r>
          </a:p>
          <a:p>
            <a:r>
              <a:rPr lang="en-US" sz="1200" kern="1200" dirty="0">
                <a:solidFill>
                  <a:schemeClr val="tx1"/>
                </a:solidFill>
                <a:effectLst/>
                <a:latin typeface="+mn-lt"/>
                <a:ea typeface="+mn-ea"/>
                <a:cs typeface="+mn-cs"/>
              </a:rPr>
              <a:t>classifier B because A scored 60% accuracy and and B score</a:t>
            </a:r>
          </a:p>
          <a:p>
            <a:r>
              <a:rPr lang="en-US" sz="1200" kern="1200" dirty="0">
                <a:solidFill>
                  <a:schemeClr val="tx1"/>
                </a:solidFill>
                <a:effectLst/>
                <a:latin typeface="+mn-lt"/>
                <a:ea typeface="+mn-ea"/>
                <a:cs typeface="+mn-cs"/>
              </a:rPr>
              <a:t>59%, on a test set of 100 instances, you have reason to be</a:t>
            </a:r>
          </a:p>
          <a:p>
            <a:r>
              <a:rPr lang="en-US" sz="1200" kern="1200" dirty="0" err="1">
                <a:solidFill>
                  <a:schemeClr val="tx1"/>
                </a:solidFill>
                <a:effectLst/>
                <a:latin typeface="+mn-lt"/>
                <a:ea typeface="+mn-ea"/>
                <a:cs typeface="+mn-cs"/>
              </a:rPr>
              <a:t>sceptical</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In short, this is why large test sets are important. Without</a:t>
            </a:r>
          </a:p>
          <a:p>
            <a:r>
              <a:rPr lang="en-US" sz="1200" kern="1200" dirty="0">
                <a:solidFill>
                  <a:schemeClr val="tx1"/>
                </a:solidFill>
                <a:effectLst/>
                <a:latin typeface="+mn-lt"/>
                <a:ea typeface="+mn-ea"/>
                <a:cs typeface="+mn-cs"/>
              </a:rPr>
              <a:t>at least 1000 instances in your test data, you cannot reliably</a:t>
            </a:r>
          </a:p>
          <a:p>
            <a:r>
              <a:rPr lang="en-US" sz="1200" kern="1200" dirty="0">
                <a:solidFill>
                  <a:schemeClr val="tx1"/>
                </a:solidFill>
                <a:effectLst/>
                <a:latin typeface="+mn-lt"/>
                <a:ea typeface="+mn-ea"/>
                <a:cs typeface="+mn-cs"/>
              </a:rPr>
              <a:t>tell the difference between two classifiers.</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These are good concepts to help us think about what we are</a:t>
            </a:r>
          </a:p>
          <a:p>
            <a:r>
              <a:rPr lang="en-US" sz="1200" kern="1200" dirty="0">
                <a:solidFill>
                  <a:schemeClr val="tx1"/>
                </a:solidFill>
                <a:effectLst/>
                <a:latin typeface="+mn-lt"/>
                <a:ea typeface="+mn-ea"/>
                <a:cs typeface="+mn-cs"/>
              </a:rPr>
              <a:t>measuring when we compute metrics on our test data. But</a:t>
            </a:r>
          </a:p>
          <a:p>
            <a:r>
              <a:rPr lang="en-US" sz="1200" kern="1200" dirty="0">
                <a:solidFill>
                  <a:schemeClr val="tx1"/>
                </a:solidFill>
                <a:effectLst/>
                <a:latin typeface="+mn-lt"/>
                <a:ea typeface="+mn-ea"/>
                <a:cs typeface="+mn-cs"/>
              </a:rPr>
              <a:t>it's important to realize that these are unobservable values.</a:t>
            </a:r>
          </a:p>
          <a:p>
            <a:r>
              <a:rPr lang="en-US" sz="1200" kern="1200" dirty="0">
                <a:solidFill>
                  <a:schemeClr val="tx1"/>
                </a:solidFill>
                <a:effectLst/>
                <a:latin typeface="+mn-lt"/>
                <a:ea typeface="+mn-ea"/>
                <a:cs typeface="+mn-cs"/>
              </a:rPr>
              <a:t>We can only work out the true confidence interval for the</a:t>
            </a:r>
          </a:p>
          <a:p>
            <a:r>
              <a:rPr lang="en-US" sz="1200" kern="1200" dirty="0">
                <a:solidFill>
                  <a:schemeClr val="tx1"/>
                </a:solidFill>
                <a:effectLst/>
                <a:latin typeface="+mn-lt"/>
                <a:ea typeface="+mn-ea"/>
                <a:cs typeface="+mn-cs"/>
              </a:rPr>
              <a:t>sample accuracy if we know the true accuracy. This puts the</a:t>
            </a:r>
          </a:p>
          <a:p>
            <a:r>
              <a:rPr lang="en-US" sz="1200" kern="1200" dirty="0">
                <a:solidFill>
                  <a:schemeClr val="tx1"/>
                </a:solidFill>
                <a:effectLst/>
                <a:latin typeface="+mn-lt"/>
                <a:ea typeface="+mn-ea"/>
                <a:cs typeface="+mn-cs"/>
              </a:rPr>
              <a:t>confidence intervals we've talked about so far in the</a:t>
            </a:r>
          </a:p>
          <a:p>
            <a:r>
              <a:rPr lang="en-US" sz="1200" kern="1200" dirty="0">
                <a:solidFill>
                  <a:schemeClr val="tx1"/>
                </a:solidFill>
                <a:effectLst/>
                <a:latin typeface="+mn-lt"/>
                <a:ea typeface="+mn-ea"/>
                <a:cs typeface="+mn-cs"/>
              </a:rPr>
              <a:t>unobservable column.</a:t>
            </a:r>
          </a:p>
          <a:p>
            <a:r>
              <a:rPr lang="en-US" sz="1200" kern="1200" dirty="0">
                <a:solidFill>
                  <a:schemeClr val="tx1"/>
                </a:solidFill>
                <a:effectLst/>
                <a:latin typeface="+mn-lt"/>
                <a:ea typeface="+mn-ea"/>
                <a:cs typeface="+mn-cs"/>
              </a:rPr>
              <a:t>So what about all those confidence intervals you see</a:t>
            </a:r>
          </a:p>
          <a:p>
            <a:r>
              <a:rPr lang="en-US" sz="1200" kern="1200" dirty="0">
                <a:solidFill>
                  <a:schemeClr val="tx1"/>
                </a:solidFill>
                <a:effectLst/>
                <a:latin typeface="+mn-lt"/>
                <a:ea typeface="+mn-ea"/>
                <a:cs typeface="+mn-cs"/>
              </a:rPr>
              <a:t>reported in the literature? These are estimated confidence</a:t>
            </a:r>
          </a:p>
          <a:p>
            <a:r>
              <a:rPr lang="en-US" sz="1200" kern="1200" dirty="0">
                <a:solidFill>
                  <a:schemeClr val="tx1"/>
                </a:solidFill>
                <a:effectLst/>
                <a:latin typeface="+mn-lt"/>
                <a:ea typeface="+mn-ea"/>
                <a:cs typeface="+mn-cs"/>
              </a:rPr>
              <a:t>intervals. They are usually computed in the same way as the</a:t>
            </a:r>
          </a:p>
          <a:p>
            <a:r>
              <a:rPr lang="en-US" sz="1200" kern="1200" dirty="0">
                <a:solidFill>
                  <a:schemeClr val="tx1"/>
                </a:solidFill>
                <a:effectLst/>
                <a:latin typeface="+mn-lt"/>
                <a:ea typeface="+mn-ea"/>
                <a:cs typeface="+mn-cs"/>
              </a:rPr>
              <a:t>true confidence interval, but wherever we need the true</a:t>
            </a:r>
          </a:p>
          <a:p>
            <a:r>
              <a:rPr lang="en-US" sz="1200" kern="1200" dirty="0">
                <a:solidFill>
                  <a:schemeClr val="tx1"/>
                </a:solidFill>
                <a:effectLst/>
                <a:latin typeface="+mn-lt"/>
                <a:ea typeface="+mn-ea"/>
                <a:cs typeface="+mn-cs"/>
              </a:rPr>
              <a:t>value of some metric, we replace it by its estimate. This</a:t>
            </a:r>
          </a:p>
          <a:p>
            <a:r>
              <a:rPr lang="en-US" sz="1200" kern="1200" dirty="0">
                <a:solidFill>
                  <a:schemeClr val="tx1"/>
                </a:solidFill>
                <a:effectLst/>
                <a:latin typeface="+mn-lt"/>
                <a:ea typeface="+mn-ea"/>
                <a:cs typeface="+mn-cs"/>
              </a:rPr>
              <a:t>gives us a confidence interval that isn't as correct as the</a:t>
            </a:r>
          </a:p>
          <a:p>
            <a:r>
              <a:rPr lang="en-US" sz="1200" kern="1200" dirty="0">
                <a:solidFill>
                  <a:schemeClr val="tx1"/>
                </a:solidFill>
                <a:effectLst/>
                <a:latin typeface="+mn-lt"/>
                <a:ea typeface="+mn-ea"/>
                <a:cs typeface="+mn-cs"/>
              </a:rPr>
              <a:t>true confidence interval, and one that would change slightly</a:t>
            </a:r>
          </a:p>
          <a:p>
            <a:r>
              <a:rPr lang="en-US" sz="1200" kern="1200" dirty="0">
                <a:solidFill>
                  <a:schemeClr val="tx1"/>
                </a:solidFill>
                <a:effectLst/>
                <a:latin typeface="+mn-lt"/>
                <a:ea typeface="+mn-ea"/>
                <a:cs typeface="+mn-cs"/>
              </a:rPr>
              <a:t>if we were to resample the test set, but we can at least</a:t>
            </a:r>
          </a:p>
          <a:p>
            <a:r>
              <a:rPr lang="en-US" sz="1200" kern="1200" dirty="0">
                <a:solidFill>
                  <a:schemeClr val="tx1"/>
                </a:solidFill>
                <a:effectLst/>
                <a:latin typeface="+mn-lt"/>
                <a:ea typeface="+mn-ea"/>
                <a:cs typeface="+mn-cs"/>
              </a:rPr>
              <a:t>compute it, and it generally behaves in roughly the same</a:t>
            </a:r>
          </a:p>
          <a:p>
            <a:r>
              <a:rPr lang="en-US" sz="1200" kern="1200" dirty="0">
                <a:solidFill>
                  <a:schemeClr val="tx1"/>
                </a:solidFill>
                <a:effectLst/>
                <a:latin typeface="+mn-lt"/>
                <a:ea typeface="+mn-ea"/>
                <a:cs typeface="+mn-cs"/>
              </a:rPr>
              <a:t>way as the true confidence interval.</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very relevant question is how do you interpret error</a:t>
            </a:r>
          </a:p>
          <a:p>
            <a:r>
              <a:rPr lang="en-US" sz="1200" kern="1200" dirty="0">
                <a:solidFill>
                  <a:schemeClr val="tx1"/>
                </a:solidFill>
                <a:effectLst/>
                <a:latin typeface="+mn-lt"/>
                <a:ea typeface="+mn-ea"/>
                <a:cs typeface="+mn-cs"/>
              </a:rPr>
              <a:t>bars?</a:t>
            </a:r>
          </a:p>
          <a:p>
            <a:r>
              <a:rPr lang="en-US" sz="1200" kern="1200" dirty="0">
                <a:solidFill>
                  <a:schemeClr val="tx1"/>
                </a:solidFill>
                <a:effectLst/>
                <a:latin typeface="+mn-lt"/>
                <a:ea typeface="+mn-ea"/>
                <a:cs typeface="+mn-cs"/>
              </a:rPr>
              <a:t>If you see a picture like this, showing the mean runtime of</a:t>
            </a:r>
          </a:p>
          <a:p>
            <a:r>
              <a:rPr lang="en-US" sz="1200" kern="1200" dirty="0">
                <a:solidFill>
                  <a:schemeClr val="tx1"/>
                </a:solidFill>
                <a:effectLst/>
                <a:latin typeface="+mn-lt"/>
                <a:ea typeface="+mn-ea"/>
                <a:cs typeface="+mn-cs"/>
              </a:rPr>
              <a:t>an experiment, measured for three models, and averaged</a:t>
            </a:r>
          </a:p>
          <a:p>
            <a:r>
              <a:rPr lang="en-US" sz="1200" kern="1200" dirty="0">
                <a:solidFill>
                  <a:schemeClr val="tx1"/>
                </a:solidFill>
                <a:effectLst/>
                <a:latin typeface="+mn-lt"/>
                <a:ea typeface="+mn-ea"/>
                <a:cs typeface="+mn-cs"/>
              </a:rPr>
              <a:t>over a number of runs, what would you imagine the error</a:t>
            </a:r>
          </a:p>
          <a:p>
            <a:r>
              <a:rPr lang="en-US" sz="1200" kern="1200" dirty="0">
                <a:solidFill>
                  <a:schemeClr val="tx1"/>
                </a:solidFill>
                <a:effectLst/>
                <a:latin typeface="+mn-lt"/>
                <a:ea typeface="+mn-ea"/>
                <a:cs typeface="+mn-cs"/>
              </a:rPr>
              <a:t>bars denote? We've seen standard deviations, standard</a:t>
            </a:r>
          </a:p>
          <a:p>
            <a:r>
              <a:rPr lang="en-US" sz="1200" kern="1200" dirty="0">
                <a:solidFill>
                  <a:schemeClr val="tx1"/>
                </a:solidFill>
                <a:effectLst/>
                <a:latin typeface="+mn-lt"/>
                <a:ea typeface="+mn-ea"/>
                <a:cs typeface="+mn-cs"/>
              </a:rPr>
              <a:t>errors and confidence intervals. What do error bars</a:t>
            </a:r>
          </a:p>
          <a:p>
            <a:r>
              <a:rPr lang="en-US" sz="1200" kern="1200" dirty="0">
                <a:solidFill>
                  <a:schemeClr val="tx1"/>
                </a:solidFill>
                <a:effectLst/>
                <a:latin typeface="+mn-lt"/>
                <a:ea typeface="+mn-ea"/>
                <a:cs typeface="+mn-cs"/>
              </a:rPr>
              <a:t>represent?</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truth is that there is no standard definition for what</a:t>
            </a:r>
          </a:p>
          <a:p>
            <a:r>
              <a:rPr lang="en-US" sz="1200" kern="1200" dirty="0">
                <a:solidFill>
                  <a:schemeClr val="tx1"/>
                </a:solidFill>
                <a:effectLst/>
                <a:latin typeface="+mn-lt"/>
                <a:ea typeface="+mn-ea"/>
                <a:cs typeface="+mn-cs"/>
              </a:rPr>
              <a:t>error bars denote, and if the authors didn’t specify what</a:t>
            </a:r>
          </a:p>
          <a:p>
            <a:r>
              <a:rPr lang="en-US" sz="1200" kern="1200" dirty="0">
                <a:solidFill>
                  <a:schemeClr val="tx1"/>
                </a:solidFill>
                <a:effectLst/>
                <a:latin typeface="+mn-lt"/>
                <a:ea typeface="+mn-ea"/>
                <a:cs typeface="+mn-cs"/>
              </a:rPr>
              <a:t>their error bars indicate, the authors messed up.</a:t>
            </a:r>
          </a:p>
          <a:p>
            <a:r>
              <a:rPr lang="en-US" sz="1200" kern="1200" dirty="0">
                <a:solidFill>
                  <a:schemeClr val="tx1"/>
                </a:solidFill>
                <a:effectLst/>
                <a:latin typeface="+mn-lt"/>
                <a:ea typeface="+mn-ea"/>
                <a:cs typeface="+mn-cs"/>
              </a:rPr>
              <a:t>These are the three most common options. If you didn't</a:t>
            </a:r>
          </a:p>
          <a:p>
            <a:r>
              <a:rPr lang="en-US" sz="1200" kern="1200" dirty="0">
                <a:solidFill>
                  <a:schemeClr val="tx1"/>
                </a:solidFill>
                <a:effectLst/>
                <a:latin typeface="+mn-lt"/>
                <a:ea typeface="+mn-ea"/>
                <a:cs typeface="+mn-cs"/>
              </a:rPr>
              <a:t>quite get all the details of the previous slides, this slide</a:t>
            </a:r>
          </a:p>
          <a:p>
            <a:r>
              <a:rPr lang="en-US" sz="1200" kern="1200" dirty="0">
                <a:solidFill>
                  <a:schemeClr val="tx1"/>
                </a:solidFill>
                <a:effectLst/>
                <a:latin typeface="+mn-lt"/>
                <a:ea typeface="+mn-ea"/>
                <a:cs typeface="+mn-cs"/>
              </a:rPr>
              <a:t>illustrates the most important distinction: If we sample</a:t>
            </a:r>
          </a:p>
          <a:p>
            <a:r>
              <a:rPr lang="en-US" sz="1200" kern="1200" dirty="0">
                <a:solidFill>
                  <a:schemeClr val="tx1"/>
                </a:solidFill>
                <a:effectLst/>
                <a:latin typeface="+mn-lt"/>
                <a:ea typeface="+mn-ea"/>
                <a:cs typeface="+mn-cs"/>
              </a:rPr>
              <a:t>more data, the estimate of our standard deviation</a:t>
            </a:r>
          </a:p>
          <a:p>
            <a:r>
              <a:rPr lang="en-US" sz="1200" kern="1200" dirty="0">
                <a:solidFill>
                  <a:schemeClr val="tx1"/>
                </a:solidFill>
                <a:effectLst/>
                <a:latin typeface="+mn-lt"/>
                <a:ea typeface="+mn-ea"/>
                <a:cs typeface="+mn-cs"/>
              </a:rPr>
              <a:t>becomes more accurate. It’s an estimate of a property of our</a:t>
            </a:r>
          </a:p>
          <a:p>
            <a:r>
              <a:rPr lang="en-US" sz="1200" kern="1200" dirty="0">
                <a:solidFill>
                  <a:schemeClr val="tx1"/>
                </a:solidFill>
                <a:effectLst/>
                <a:latin typeface="+mn-lt"/>
                <a:ea typeface="+mn-ea"/>
                <a:cs typeface="+mn-cs"/>
              </a:rPr>
              <a:t>data distribution. The error bars representing standard</a:t>
            </a:r>
          </a:p>
          <a:p>
            <a:r>
              <a:rPr lang="en-US" sz="1200" kern="1200" dirty="0">
                <a:solidFill>
                  <a:schemeClr val="tx1"/>
                </a:solidFill>
                <a:effectLst/>
                <a:latin typeface="+mn-lt"/>
                <a:ea typeface="+mn-ea"/>
                <a:cs typeface="+mn-cs"/>
              </a:rPr>
              <a:t>deviation don't get smaller, they just get closer to their</a:t>
            </a:r>
          </a:p>
          <a:p>
            <a:r>
              <a:rPr lang="en-US" sz="1200" kern="1200" dirty="0">
                <a:solidFill>
                  <a:schemeClr val="tx1"/>
                </a:solidFill>
                <a:effectLst/>
                <a:latin typeface="+mn-lt"/>
                <a:ea typeface="+mn-ea"/>
                <a:cs typeface="+mn-cs"/>
              </a:rPr>
              <a:t>correct size (which may be very wide around the head of</a:t>
            </a:r>
          </a:p>
          <a:p>
            <a:r>
              <a:rPr lang="en-US" sz="1200" kern="1200" dirty="0">
                <a:solidFill>
                  <a:schemeClr val="tx1"/>
                </a:solidFill>
                <a:effectLst/>
                <a:latin typeface="+mn-lt"/>
                <a:ea typeface="+mn-ea"/>
                <a:cs typeface="+mn-cs"/>
              </a:rPr>
              <a:t>the bar).</a:t>
            </a:r>
          </a:p>
          <a:p>
            <a:r>
              <a:rPr lang="en-US" sz="1200" kern="1200" dirty="0">
                <a:solidFill>
                  <a:schemeClr val="tx1"/>
                </a:solidFill>
                <a:effectLst/>
                <a:latin typeface="+mn-lt"/>
                <a:ea typeface="+mn-ea"/>
                <a:cs typeface="+mn-cs"/>
              </a:rPr>
              <a:t>The standard error and the confidence interval are</a:t>
            </a:r>
          </a:p>
          <a:p>
            <a:r>
              <a:rPr lang="en-US" sz="1200" kern="1200" dirty="0">
                <a:solidFill>
                  <a:schemeClr val="tx1"/>
                </a:solidFill>
                <a:effectLst/>
                <a:latin typeface="+mn-lt"/>
                <a:ea typeface="+mn-ea"/>
                <a:cs typeface="+mn-cs"/>
              </a:rPr>
              <a:t>indicators of how confident we are about our estimate of</a:t>
            </a:r>
          </a:p>
          <a:p>
            <a:r>
              <a:rPr lang="en-US" sz="1200" kern="1200" dirty="0">
                <a:solidFill>
                  <a:schemeClr val="tx1"/>
                </a:solidFill>
                <a:effectLst/>
                <a:latin typeface="+mn-lt"/>
                <a:ea typeface="+mn-ea"/>
                <a:cs typeface="+mn-cs"/>
              </a:rPr>
              <a:t>the mean of our data. For these, the more data we have, the</a:t>
            </a:r>
          </a:p>
          <a:p>
            <a:r>
              <a:rPr lang="en-US" sz="1200" kern="1200" dirty="0">
                <a:solidFill>
                  <a:schemeClr val="tx1"/>
                </a:solidFill>
                <a:effectLst/>
                <a:latin typeface="+mn-lt"/>
                <a:ea typeface="+mn-ea"/>
                <a:cs typeface="+mn-cs"/>
              </a:rPr>
              <a:t>smaller they get. As we saw earlier, under the right</a:t>
            </a:r>
          </a:p>
          <a:p>
            <a:r>
              <a:rPr lang="en-US" sz="1200" kern="1200" dirty="0">
                <a:solidFill>
                  <a:schemeClr val="tx1"/>
                </a:solidFill>
                <a:effectLst/>
                <a:latin typeface="+mn-lt"/>
                <a:ea typeface="+mn-ea"/>
                <a:cs typeface="+mn-cs"/>
              </a:rPr>
              <a:t>assumptions, the 95% confidence interval is roughly twice</a:t>
            </a:r>
          </a:p>
          <a:p>
            <a:r>
              <a:rPr lang="en-US" sz="1200" kern="1200">
                <a:solidFill>
                  <a:schemeClr val="tx1"/>
                </a:solidFill>
                <a:effectLst/>
                <a:latin typeface="+mn-lt"/>
                <a:ea typeface="+mn-ea"/>
                <a:cs typeface="+mn-cs"/>
              </a:rPr>
              <a:t>the standard error.</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Under certain assumptions, the standard error of two</a:t>
            </a:r>
          </a:p>
          <a:p>
            <a:r>
              <a:rPr lang="en-US" sz="1200" kern="1200" dirty="0">
                <a:solidFill>
                  <a:schemeClr val="tx1"/>
                </a:solidFill>
                <a:effectLst/>
                <a:latin typeface="+mn-lt"/>
                <a:ea typeface="+mn-ea"/>
                <a:cs typeface="+mn-cs"/>
              </a:rPr>
              <a:t>estimates can tell you whether a Student's t test allows you</a:t>
            </a:r>
          </a:p>
          <a:p>
            <a:r>
              <a:rPr lang="en-US" sz="1200" kern="1200" dirty="0">
                <a:solidFill>
                  <a:schemeClr val="tx1"/>
                </a:solidFill>
                <a:effectLst/>
                <a:latin typeface="+mn-lt"/>
                <a:ea typeface="+mn-ea"/>
                <a:cs typeface="+mn-cs"/>
              </a:rPr>
              <a:t>to reject the null hypothesis that the two distributions are</a:t>
            </a:r>
          </a:p>
          <a:p>
            <a:r>
              <a:rPr lang="en-US" sz="1200" kern="1200" dirty="0">
                <a:solidFill>
                  <a:schemeClr val="tx1"/>
                </a:solidFill>
                <a:effectLst/>
                <a:latin typeface="+mn-lt"/>
                <a:ea typeface="+mn-ea"/>
                <a:cs typeface="+mn-cs"/>
              </a:rPr>
              <a:t>the same. This would allow you to say, for instance, that</a:t>
            </a:r>
          </a:p>
          <a:p>
            <a:r>
              <a:rPr lang="en-US" sz="1200" kern="1200" dirty="0">
                <a:solidFill>
                  <a:schemeClr val="tx1"/>
                </a:solidFill>
                <a:effectLst/>
                <a:latin typeface="+mn-lt"/>
                <a:ea typeface="+mn-ea"/>
                <a:cs typeface="+mn-cs"/>
              </a:rPr>
              <a:t>there is a statistically significant difference between the</a:t>
            </a:r>
          </a:p>
          <a:p>
            <a:r>
              <a:rPr lang="en-US" sz="1200" kern="1200" dirty="0">
                <a:solidFill>
                  <a:schemeClr val="tx1"/>
                </a:solidFill>
                <a:effectLst/>
                <a:latin typeface="+mn-lt"/>
                <a:ea typeface="+mn-ea"/>
                <a:cs typeface="+mn-cs"/>
              </a:rPr>
              <a:t>accuracy estimates on two classifiers. As we said before,</a:t>
            </a:r>
          </a:p>
          <a:p>
            <a:r>
              <a:rPr lang="en-US" sz="1200" kern="1200" dirty="0">
                <a:solidFill>
                  <a:schemeClr val="tx1"/>
                </a:solidFill>
                <a:effectLst/>
                <a:latin typeface="+mn-lt"/>
                <a:ea typeface="+mn-ea"/>
                <a:cs typeface="+mn-cs"/>
              </a:rPr>
              <a:t>such testing is not very popular in machine learning, so we</a:t>
            </a:r>
          </a:p>
          <a:p>
            <a:r>
              <a:rPr lang="en-US" sz="1200" kern="1200" dirty="0">
                <a:solidFill>
                  <a:schemeClr val="tx1"/>
                </a:solidFill>
                <a:effectLst/>
                <a:latin typeface="+mn-lt"/>
                <a:ea typeface="+mn-ea"/>
                <a:cs typeface="+mn-cs"/>
              </a:rPr>
              <a:t>won't go into it in detail, but this can offer an additional</a:t>
            </a:r>
          </a:p>
          <a:p>
            <a:r>
              <a:rPr lang="en-US" sz="1200" kern="1200" dirty="0">
                <a:solidFill>
                  <a:schemeClr val="tx1"/>
                </a:solidFill>
                <a:effectLst/>
                <a:latin typeface="+mn-lt"/>
                <a:ea typeface="+mn-ea"/>
                <a:cs typeface="+mn-cs"/>
              </a:rPr>
              <a:t>perspective on error bars.</a:t>
            </a:r>
          </a:p>
          <a:p>
            <a:r>
              <a:rPr lang="en-US" sz="1200" kern="1200" dirty="0">
                <a:solidFill>
                  <a:schemeClr val="tx1"/>
                </a:solidFill>
                <a:effectLst/>
                <a:latin typeface="+mn-lt"/>
                <a:ea typeface="+mn-ea"/>
                <a:cs typeface="+mn-cs"/>
              </a:rPr>
              <a:t>We won’t discuss the Student’s t test in detail, but it’s a</a:t>
            </a:r>
          </a:p>
          <a:p>
            <a:r>
              <a:rPr lang="en-US" sz="1200" kern="1200" dirty="0">
                <a:solidFill>
                  <a:schemeClr val="tx1"/>
                </a:solidFill>
                <a:effectLst/>
                <a:latin typeface="+mn-lt"/>
                <a:ea typeface="+mn-ea"/>
                <a:cs typeface="+mn-cs"/>
              </a:rPr>
              <a:t>common test for comparing two normally distributed values.</a:t>
            </a:r>
          </a:p>
          <a:p>
            <a:r>
              <a:rPr lang="en-US" sz="1200" kern="1200" dirty="0">
                <a:solidFill>
                  <a:schemeClr val="tx1"/>
                </a:solidFill>
                <a:effectLst/>
                <a:latin typeface="+mn-lt"/>
                <a:ea typeface="+mn-ea"/>
                <a:cs typeface="+mn-cs"/>
              </a:rPr>
              <a:t>Say you plot the mean squared error for regression models</a:t>
            </a:r>
          </a:p>
          <a:p>
            <a:r>
              <a:rPr lang="en-US" sz="1200" kern="1200" dirty="0">
                <a:solidFill>
                  <a:schemeClr val="tx1"/>
                </a:solidFill>
                <a:effectLst/>
                <a:latin typeface="+mn-lt"/>
                <a:ea typeface="+mn-ea"/>
                <a:cs typeface="+mn-cs"/>
              </a:rPr>
              <a:t>A and B, together with some error bars. Does the the fact</a:t>
            </a:r>
          </a:p>
          <a:p>
            <a:r>
              <a:rPr lang="en-US" sz="1200" kern="1200" dirty="0">
                <a:solidFill>
                  <a:schemeClr val="tx1"/>
                </a:solidFill>
                <a:effectLst/>
                <a:latin typeface="+mn-lt"/>
                <a:ea typeface="+mn-ea"/>
                <a:cs typeface="+mn-cs"/>
              </a:rPr>
              <a:t>that the error bars overlap or not tell you whether the</a:t>
            </a:r>
          </a:p>
          <a:p>
            <a:r>
              <a:rPr lang="en-US" sz="1200" kern="1200" dirty="0">
                <a:solidFill>
                  <a:schemeClr val="tx1"/>
                </a:solidFill>
                <a:effectLst/>
                <a:latin typeface="+mn-lt"/>
                <a:ea typeface="+mn-ea"/>
                <a:cs typeface="+mn-cs"/>
              </a:rPr>
              <a:t>measured difference between the two models is statistically</a:t>
            </a:r>
          </a:p>
          <a:p>
            <a:r>
              <a:rPr lang="en-US" sz="1200" kern="1200" dirty="0">
                <a:solidFill>
                  <a:schemeClr val="tx1"/>
                </a:solidFill>
                <a:effectLst/>
                <a:latin typeface="+mn-lt"/>
                <a:ea typeface="+mn-ea"/>
                <a:cs typeface="+mn-cs"/>
              </a:rPr>
              <a:t>significant? That is, does it indicate whether we can</a:t>
            </a:r>
          </a:p>
          <a:p>
            <a:r>
              <a:rPr lang="en-US" sz="1200" kern="1200" dirty="0">
                <a:solidFill>
                  <a:schemeClr val="tx1"/>
                </a:solidFill>
                <a:effectLst/>
                <a:latin typeface="+mn-lt"/>
                <a:ea typeface="+mn-ea"/>
                <a:cs typeface="+mn-cs"/>
              </a:rPr>
              <a:t>conclude that A is a better model than B?</a:t>
            </a:r>
          </a:p>
          <a:p>
            <a:r>
              <a:rPr lang="en-US" sz="1200" kern="1200" dirty="0">
                <a:solidFill>
                  <a:schemeClr val="tx1"/>
                </a:solidFill>
                <a:effectLst/>
                <a:latin typeface="+mn-lt"/>
                <a:ea typeface="+mn-ea"/>
                <a:cs typeface="+mn-cs"/>
              </a:rPr>
              <a:t>Yes, but we have to be careful. For standard error bars, the</a:t>
            </a:r>
          </a:p>
          <a:p>
            <a:r>
              <a:rPr lang="en-US" sz="1200" kern="1200" dirty="0">
                <a:solidFill>
                  <a:schemeClr val="tx1"/>
                </a:solidFill>
                <a:effectLst/>
                <a:latin typeface="+mn-lt"/>
                <a:ea typeface="+mn-ea"/>
                <a:cs typeface="+mn-cs"/>
              </a:rPr>
              <a:t>existence of overlap implies that there is no significant</a:t>
            </a:r>
          </a:p>
          <a:p>
            <a:r>
              <a:rPr lang="en-US" sz="1200" kern="1200" dirty="0">
                <a:solidFill>
                  <a:schemeClr val="tx1"/>
                </a:solidFill>
                <a:effectLst/>
                <a:latin typeface="+mn-lt"/>
                <a:ea typeface="+mn-ea"/>
                <a:cs typeface="+mn-cs"/>
              </a:rPr>
              <a:t>difference between the two effects. That is, the possibility</a:t>
            </a:r>
          </a:p>
          <a:p>
            <a:r>
              <a:rPr lang="en-US" sz="1200" kern="1200" dirty="0">
                <a:solidFill>
                  <a:schemeClr val="tx1"/>
                </a:solidFill>
                <a:effectLst/>
                <a:latin typeface="+mn-lt"/>
                <a:ea typeface="+mn-ea"/>
                <a:cs typeface="+mn-cs"/>
              </a:rPr>
              <a:t>that the difference is due to random chance is high, and a</a:t>
            </a:r>
          </a:p>
          <a:p>
            <a:r>
              <a:rPr lang="en-US" sz="1200" kern="1200" dirty="0">
                <a:solidFill>
                  <a:schemeClr val="tx1"/>
                </a:solidFill>
                <a:effectLst/>
                <a:latin typeface="+mn-lt"/>
                <a:ea typeface="+mn-ea"/>
                <a:cs typeface="+mn-cs"/>
              </a:rPr>
              <a:t>repeat of the experiment on new data may show a different</a:t>
            </a:r>
          </a:p>
          <a:p>
            <a:r>
              <a:rPr lang="en-US" sz="1200" kern="1200" dirty="0">
                <a:solidFill>
                  <a:schemeClr val="tx1"/>
                </a:solidFill>
                <a:effectLst/>
                <a:latin typeface="+mn-lt"/>
                <a:ea typeface="+mn-ea"/>
                <a:cs typeface="+mn-cs"/>
              </a:rPr>
              <a:t>result. If you plot confidence interval error bars, and there</a:t>
            </a:r>
          </a:p>
          <a:p>
            <a:r>
              <a:rPr lang="en-US" sz="1200" kern="1200" dirty="0">
                <a:solidFill>
                  <a:schemeClr val="tx1"/>
                </a:solidFill>
                <a:effectLst/>
                <a:latin typeface="+mn-lt"/>
                <a:ea typeface="+mn-ea"/>
                <a:cs typeface="+mn-cs"/>
              </a:rPr>
              <a:t>is no overlap, you may conclude that the difference between</a:t>
            </a:r>
          </a:p>
          <a:p>
            <a:r>
              <a:rPr lang="en-US" sz="1200" kern="1200" dirty="0">
                <a:solidFill>
                  <a:schemeClr val="tx1"/>
                </a:solidFill>
                <a:effectLst/>
                <a:latin typeface="+mn-lt"/>
                <a:ea typeface="+mn-ea"/>
                <a:cs typeface="+mn-cs"/>
              </a:rPr>
              <a:t>the models is significant. If you repeat the experiment on</a:t>
            </a:r>
          </a:p>
          <a:p>
            <a:r>
              <a:rPr lang="en-US" sz="1200" kern="1200" dirty="0">
                <a:solidFill>
                  <a:schemeClr val="tx1"/>
                </a:solidFill>
                <a:effectLst/>
                <a:latin typeface="+mn-lt"/>
                <a:ea typeface="+mn-ea"/>
                <a:cs typeface="+mn-cs"/>
              </a:rPr>
              <a:t>fresh data, it is very likely that model A would beat model B</a:t>
            </a:r>
          </a:p>
          <a:p>
            <a:r>
              <a:rPr lang="en-US" sz="1200" kern="1200" dirty="0">
                <a:solidFill>
                  <a:schemeClr val="tx1"/>
                </a:solidFill>
                <a:effectLst/>
                <a:latin typeface="+mn-lt"/>
                <a:ea typeface="+mn-ea"/>
                <a:cs typeface="+mn-cs"/>
              </a:rPr>
              <a:t>again.</a:t>
            </a:r>
          </a:p>
          <a:p>
            <a:r>
              <a:rPr lang="en-US" sz="1200" kern="1200" dirty="0">
                <a:solidFill>
                  <a:schemeClr val="tx1"/>
                </a:solidFill>
                <a:effectLst/>
                <a:latin typeface="+mn-lt"/>
                <a:ea typeface="+mn-ea"/>
                <a:cs typeface="+mn-cs"/>
              </a:rPr>
              <a:t>In both cases, the converse does not hold. If the SEM error</a:t>
            </a:r>
          </a:p>
          <a:p>
            <a:r>
              <a:rPr lang="en-US" sz="1200" kern="1200" dirty="0">
                <a:solidFill>
                  <a:schemeClr val="tx1"/>
                </a:solidFill>
                <a:effectLst/>
                <a:latin typeface="+mn-lt"/>
                <a:ea typeface="+mn-ea"/>
                <a:cs typeface="+mn-cs"/>
              </a:rPr>
              <a:t>bars do not overlap, there may or may not be a significant</a:t>
            </a:r>
          </a:p>
          <a:p>
            <a:r>
              <a:rPr lang="en-US" sz="1200" kern="1200" dirty="0">
                <a:solidFill>
                  <a:schemeClr val="tx1"/>
                </a:solidFill>
                <a:effectLst/>
                <a:latin typeface="+mn-lt"/>
                <a:ea typeface="+mn-ea"/>
                <a:cs typeface="+mn-cs"/>
              </a:rPr>
              <a:t>difference. If the confidence interval error bars do overlap,</a:t>
            </a:r>
          </a:p>
          <a:p>
            <a:r>
              <a:rPr lang="en-US" sz="1200" kern="1200" dirty="0">
                <a:solidFill>
                  <a:schemeClr val="tx1"/>
                </a:solidFill>
                <a:effectLst/>
                <a:latin typeface="+mn-lt"/>
                <a:ea typeface="+mn-ea"/>
                <a:cs typeface="+mn-cs"/>
              </a:rPr>
              <a:t>there may still be a significant difference, depending on</a:t>
            </a:r>
          </a:p>
          <a:p>
            <a:r>
              <a:rPr lang="en-US" sz="1200" kern="1200" dirty="0">
                <a:solidFill>
                  <a:schemeClr val="tx1"/>
                </a:solidFill>
                <a:effectLst/>
                <a:latin typeface="+mn-lt"/>
                <a:ea typeface="+mn-ea"/>
                <a:cs typeface="+mn-cs"/>
              </a:rPr>
              <a:t>how much they overlap.</a:t>
            </a:r>
          </a:p>
          <a:p>
            <a:r>
              <a:rPr lang="en-US" sz="1200" kern="1200" dirty="0">
                <a:solidFill>
                  <a:schemeClr val="tx1"/>
                </a:solidFill>
                <a:effectLst/>
                <a:latin typeface="+mn-lt"/>
                <a:ea typeface="+mn-ea"/>
                <a:cs typeface="+mn-cs"/>
              </a:rPr>
              <a:t>All of this requires the assumption that the original values for</a:t>
            </a:r>
          </a:p>
          <a:p>
            <a:r>
              <a:rPr lang="en-US" sz="1200" kern="1200" dirty="0">
                <a:solidFill>
                  <a:schemeClr val="tx1"/>
                </a:solidFill>
                <a:effectLst/>
                <a:latin typeface="+mn-lt"/>
                <a:ea typeface="+mn-ea"/>
                <a:cs typeface="+mn-cs"/>
              </a:rPr>
              <a:t>which the bar indicates the mean are normally distributed.</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863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MASTER">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4754880"/>
            <a:ext cx="9144000" cy="388620"/>
          </a:xfrm>
          <a:prstGeom prst="rect">
            <a:avLst/>
          </a:prstGeom>
          <a:solidFill>
            <a:srgbClr val="0D9488"/>
          </a:solidFill>
          <a:ln/>
        </p:spPr>
      </p:sp>
    </p:spTree>
    <p:extLst>
      <p:ext uri="{BB962C8B-B14F-4D97-AF65-F5344CB8AC3E}">
        <p14:creationId xmlns:p14="http://schemas.microsoft.com/office/powerpoint/2010/main" val="2936628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MASTER">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9488"/>
          </a:solidFill>
          <a:ln/>
        </p:spPr>
      </p:sp>
      <p:sp>
        <p:nvSpPr>
          <p:cNvPr id="3" name="Shape 1"/>
          <p:cNvSpPr/>
          <p:nvPr/>
        </p:nvSpPr>
        <p:spPr>
          <a:xfrm>
            <a:off x="0" y="777240"/>
            <a:ext cx="9144000" cy="36576"/>
          </a:xfrm>
          <a:prstGeom prst="rect">
            <a:avLst/>
          </a:prstGeom>
          <a:solidFill>
            <a:srgbClr val="0F172A"/>
          </a:solidFill>
          <a:ln/>
        </p:spPr>
      </p:sp>
    </p:spTree>
    <p:extLst>
      <p:ext uri="{BB962C8B-B14F-4D97-AF65-F5344CB8AC3E}">
        <p14:creationId xmlns:p14="http://schemas.microsoft.com/office/powerpoint/2010/main" val="3785791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_MASTER">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2286000"/>
            <a:ext cx="9144000" cy="36576"/>
          </a:xfrm>
          <a:prstGeom prst="rect">
            <a:avLst/>
          </a:prstGeom>
          <a:solidFill>
            <a:srgbClr val="0D9488"/>
          </a:solidFill>
          <a:ln/>
        </p:spPr>
      </p:sp>
    </p:spTree>
    <p:extLst>
      <p:ext uri="{BB962C8B-B14F-4D97-AF65-F5344CB8AC3E}">
        <p14:creationId xmlns:p14="http://schemas.microsoft.com/office/powerpoint/2010/main" val="388881337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441651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19.sv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F2E"/>
        </a:solidFill>
        <a:effectLst/>
      </p:bgPr>
    </p:bg>
    <p:spTree>
      <p:nvGrpSpPr>
        <p:cNvPr id="1" name=""/>
        <p:cNvGrpSpPr/>
        <p:nvPr/>
      </p:nvGrpSpPr>
      <p:grpSpPr>
        <a:xfrm>
          <a:off x="0" y="0"/>
          <a:ext cx="0" cy="0"/>
          <a:chOff x="0" y="0"/>
          <a:chExt cx="0" cy="0"/>
        </a:xfrm>
      </p:grpSpPr>
      <p:sp>
        <p:nvSpPr>
          <p:cNvPr id="2" name="TopAccent"/>
          <p:cNvSpPr/>
          <p:nvPr/>
        </p:nvSpPr>
        <p:spPr>
          <a:xfrm>
            <a:off x="0" y="0"/>
            <a:ext cx="9144000" cy="54864"/>
          </a:xfrm>
          <a:prstGeom prst="rect">
            <a:avLst/>
          </a:prstGeom>
          <a:solidFill>
            <a:srgbClr val="2DD4BF"/>
          </a:solidFill>
          <a:ln>
            <a:noFill/>
          </a:ln>
        </p:spPr>
        <p:txBody>
          <a:bodyPr/>
          <a:lstStyle/>
          <a:p>
            <a:endParaRPr lang="en-US"/>
          </a:p>
        </p:txBody>
      </p:sp>
      <p:sp>
        <p:nvSpPr>
          <p:cNvPr id="3" name="Title"/>
          <p:cNvSpPr txBox="1"/>
          <p:nvPr/>
        </p:nvSpPr>
        <p:spPr>
          <a:xfrm>
            <a:off x="548640" y="822960"/>
            <a:ext cx="7543800" cy="1714500"/>
          </a:xfrm>
          <a:prstGeom prst="rect">
            <a:avLst/>
          </a:prstGeom>
          <a:noFill/>
          <a:ln>
            <a:noFill/>
          </a:ln>
        </p:spPr>
        <p:txBody>
          <a:bodyPr wrap="square" lIns="0" tIns="0" rIns="0" bIns="0" anchor="b"/>
          <a:lstStyle/>
          <a:p>
            <a:pPr algn="l">
              <a:buNone/>
            </a:pPr>
            <a:r>
              <a:rPr lang="en-US" sz="4800" b="1" dirty="0">
                <a:solidFill>
                  <a:srgbClr val="FFFFFF"/>
                </a:solidFill>
                <a:latin typeface="Calibri"/>
              </a:rPr>
              <a:t>Eval in</a:t>
            </a:r>
          </a:p>
          <a:p>
            <a:pPr algn="l">
              <a:buNone/>
            </a:pPr>
            <a:r>
              <a:rPr lang="en-US" sz="4800" b="1" dirty="0">
                <a:solidFill>
                  <a:srgbClr val="FFFFFF"/>
                </a:solidFill>
                <a:latin typeface="Calibri"/>
              </a:rPr>
              <a:t>Software 2.0</a:t>
            </a:r>
          </a:p>
        </p:txBody>
      </p:sp>
      <p:sp>
        <p:nvSpPr>
          <p:cNvPr id="4" name="Subtitle"/>
          <p:cNvSpPr txBox="1"/>
          <p:nvPr/>
        </p:nvSpPr>
        <p:spPr>
          <a:xfrm>
            <a:off x="548640" y="2606040"/>
            <a:ext cx="6858000" cy="731520"/>
          </a:xfrm>
          <a:prstGeom prst="rect">
            <a:avLst/>
          </a:prstGeom>
          <a:noFill/>
          <a:ln>
            <a:noFill/>
          </a:ln>
        </p:spPr>
        <p:txBody>
          <a:bodyPr wrap="square" lIns="0" tIns="0" rIns="0" bIns="0" anchor="t"/>
          <a:lstStyle/>
          <a:p>
            <a:pPr algn="l">
              <a:buNone/>
            </a:pPr>
            <a:r>
              <a:rPr lang="en-US" sz="2000" dirty="0">
                <a:solidFill>
                  <a:srgbClr val="B0B8C8"/>
                </a:solidFill>
                <a:latin typeface="Calibri"/>
              </a:rPr>
              <a:t>Testing, metrics, and confidence when your code is a model</a:t>
            </a:r>
          </a:p>
        </p:txBody>
      </p:sp>
      <p:sp>
        <p:nvSpPr>
          <p:cNvPr id="5" name="URL"/>
          <p:cNvSpPr txBox="1"/>
          <p:nvPr/>
        </p:nvSpPr>
        <p:spPr>
          <a:xfrm>
            <a:off x="548640" y="3429000"/>
            <a:ext cx="5486400" cy="365760"/>
          </a:xfrm>
          <a:prstGeom prst="rect">
            <a:avLst/>
          </a:prstGeom>
          <a:noFill/>
          <a:ln>
            <a:noFill/>
          </a:ln>
        </p:spPr>
        <p:txBody>
          <a:bodyPr wrap="square" lIns="0" tIns="0" rIns="0" bIns="0" anchor="t"/>
          <a:lstStyle/>
          <a:p>
            <a:pPr algn="l">
              <a:buNone/>
            </a:pPr>
            <a:r>
              <a:rPr lang="en-US" sz="1400" dirty="0">
                <a:solidFill>
                  <a:srgbClr val="2DD4BF"/>
                </a:solidFill>
                <a:latin typeface="Calibri"/>
              </a:rPr>
              <a:t>reliableai.github.io</a:t>
            </a:r>
          </a:p>
        </p:txBody>
      </p:sp>
      <p:sp>
        <p:nvSpPr>
          <p:cNvPr id="6" name="Author"/>
          <p:cNvSpPr txBox="1"/>
          <p:nvPr/>
        </p:nvSpPr>
        <p:spPr>
          <a:xfrm>
            <a:off x="548640" y="3840479"/>
            <a:ext cx="5486400" cy="365760"/>
          </a:xfrm>
          <a:prstGeom prst="rect">
            <a:avLst/>
          </a:prstGeom>
          <a:noFill/>
          <a:ln>
            <a:noFill/>
          </a:ln>
        </p:spPr>
        <p:txBody>
          <a:bodyPr wrap="square" lIns="0" tIns="0" rIns="0" bIns="0" anchor="t"/>
          <a:lstStyle/>
          <a:p>
            <a:pPr algn="l">
              <a:buNone/>
            </a:pPr>
            <a:r>
              <a:rPr lang="en-US" sz="1400" dirty="0">
                <a:solidFill>
                  <a:srgbClr val="8A94A6"/>
                </a:solidFill>
                <a:latin typeface="Calibri"/>
              </a:rPr>
              <a:t>Fabio Casati  ·  University of Trento</a:t>
            </a:r>
          </a:p>
        </p:txBody>
      </p:sp>
    </p:spTree>
    <p:extLst>
      <p:ext uri="{BB962C8B-B14F-4D97-AF65-F5344CB8AC3E}">
        <p14:creationId xmlns:p14="http://schemas.microsoft.com/office/powerpoint/2010/main" val="3206419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AFAFA"/>
        </a:solidFill>
        <a:effectLst/>
      </p:bgPr>
    </p:bg>
    <p:spTree>
      <p:nvGrpSpPr>
        <p:cNvPr id="1" name=""/>
        <p:cNvGrpSpPr/>
        <p:nvPr/>
      </p:nvGrpSpPr>
      <p:grpSpPr>
        <a:xfrm>
          <a:off x="0" y="0"/>
          <a:ext cx="0" cy="0"/>
          <a:chOff x="0" y="0"/>
          <a:chExt cx="0" cy="0"/>
        </a:xfrm>
      </p:grpSpPr>
      <p:pic>
        <p:nvPicPr>
          <p:cNvPr id="2" name="Image 0" descr="/sessions/nifty-compassionate-lovelace/images/image1.jpg"/>
          <p:cNvPicPr>
            <a:picLocks noChangeAspect="1"/>
          </p:cNvPicPr>
          <p:nvPr/>
        </p:nvPicPr>
        <p:blipFill>
          <a:blip r:embed="rId3"/>
          <a:stretch>
            <a:fillRect/>
          </a:stretch>
        </p:blipFill>
        <p:spPr>
          <a:xfrm>
            <a:off x="432693" y="228600"/>
            <a:ext cx="8278613" cy="4572000"/>
          </a:xfrm>
          <a:prstGeom prst="rect">
            <a:avLst/>
          </a:prstGeom>
        </p:spPr>
      </p:pic>
      <p:sp>
        <p:nvSpPr>
          <p:cNvPr id="3" name="Text 0"/>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pic>
        <p:nvPicPr>
          <p:cNvPr id="2" name="Image 0" descr="/sessions/nifty-compassionate-lovelace/images/image2.jpg"/>
          <p:cNvPicPr>
            <a:picLocks noChangeAspect="1"/>
          </p:cNvPicPr>
          <p:nvPr/>
        </p:nvPicPr>
        <p:blipFill>
          <a:blip r:embed="rId3"/>
          <a:stretch>
            <a:fillRect/>
          </a:stretch>
        </p:blipFill>
        <p:spPr>
          <a:xfrm>
            <a:off x="274320" y="632297"/>
            <a:ext cx="8595360" cy="3764606"/>
          </a:xfrm>
          <a:prstGeom prst="rect">
            <a:avLst/>
          </a:prstGeom>
        </p:spPr>
      </p:pic>
      <p:sp>
        <p:nvSpPr>
          <p:cNvPr id="3" name="Text 0"/>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C62828"/>
        </a:solidFill>
        <a:effectLst/>
      </p:bgPr>
    </p:bg>
    <p:spTree>
      <p:nvGrpSpPr>
        <p:cNvPr id="1" name=""/>
        <p:cNvGrpSpPr/>
        <p:nvPr/>
      </p:nvGrpSpPr>
      <p:grpSpPr>
        <a:xfrm>
          <a:off x="0" y="0"/>
          <a:ext cx="0" cy="0"/>
          <a:chOff x="0" y="0"/>
          <a:chExt cx="0" cy="0"/>
        </a:xfrm>
      </p:grpSpPr>
      <p:sp>
        <p:nvSpPr>
          <p:cNvPr id="2" name="Text 0"/>
          <p:cNvSpPr/>
          <p:nvPr/>
        </p:nvSpPr>
        <p:spPr>
          <a:xfrm>
            <a:off x="914400" y="731520"/>
            <a:ext cx="7315200" cy="3657600"/>
          </a:xfrm>
          <a:prstGeom prst="rect">
            <a:avLst/>
          </a:prstGeom>
          <a:noFill/>
          <a:ln/>
        </p:spPr>
        <p:txBody>
          <a:bodyPr wrap="square" rtlCol="0" anchor="ctr"/>
          <a:lstStyle/>
          <a:p>
            <a:pPr marL="0" indent="0" algn="ctr">
              <a:buNone/>
            </a:pPr>
            <a:r>
              <a:rPr lang="en-US" sz="4800" b="1" dirty="0">
                <a:solidFill>
                  <a:srgbClr val="FFFFFF"/>
                </a:solidFill>
                <a:latin typeface="Georgia" pitchFamily="34" charset="0"/>
                <a:ea typeface="Georgia" pitchFamily="34" charset="-122"/>
                <a:cs typeface="Georgia" pitchFamily="34" charset="-120"/>
              </a:rPr>
              <a:t>Never judge your</a:t>
            </a:r>
            <a:endParaRPr lang="en-US" sz="4800" dirty="0"/>
          </a:p>
          <a:p>
            <a:pPr marL="0" indent="0" algn="ctr">
              <a:buNone/>
            </a:pPr>
            <a:r>
              <a:rPr lang="en-US" sz="4800" b="1" dirty="0">
                <a:solidFill>
                  <a:srgbClr val="FFFFFF"/>
                </a:solidFill>
                <a:latin typeface="Georgia" pitchFamily="34" charset="0"/>
                <a:ea typeface="Georgia" pitchFamily="34" charset="-122"/>
                <a:cs typeface="Georgia" pitchFamily="34" charset="-120"/>
              </a:rPr>
              <a:t>performance on the</a:t>
            </a:r>
            <a:endParaRPr lang="en-US" sz="4800" dirty="0"/>
          </a:p>
          <a:p>
            <a:pPr marL="0" indent="0" algn="ctr">
              <a:buNone/>
            </a:pPr>
            <a:r>
              <a:rPr lang="en-US" sz="4800" b="1" dirty="0">
                <a:solidFill>
                  <a:srgbClr val="FFFFFF"/>
                </a:solidFill>
                <a:latin typeface="Georgia" pitchFamily="34" charset="0"/>
                <a:ea typeface="Georgia" pitchFamily="34" charset="-122"/>
                <a:cs typeface="Georgia" pitchFamily="34" charset="-120"/>
              </a:rPr>
              <a:t>training data</a:t>
            </a:r>
            <a:endParaRPr lang="en-US" sz="4800" dirty="0"/>
          </a:p>
        </p:txBody>
      </p:sp>
      <p:sp>
        <p:nvSpPr>
          <p:cNvPr id="3" name="Text 1"/>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457200" y="274320"/>
            <a:ext cx="8229600" cy="594360"/>
          </a:xfrm>
          <a:prstGeom prst="rect">
            <a:avLst/>
          </a:prstGeom>
          <a:solidFill>
            <a:srgbClr val="2E7D32"/>
          </a:solidFill>
          <a:ln/>
        </p:spPr>
        <p:txBody>
          <a:bodyPr/>
          <a:lstStyle/>
          <a:p>
            <a:endParaRPr lang="en-US"/>
          </a:p>
        </p:txBody>
      </p:sp>
      <p:sp>
        <p:nvSpPr>
          <p:cNvPr id="3" name="Text 1"/>
          <p:cNvSpPr/>
          <p:nvPr/>
        </p:nvSpPr>
        <p:spPr>
          <a:xfrm>
            <a:off x="457200" y="274320"/>
            <a:ext cx="822960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the test set</a:t>
            </a:r>
            <a:endParaRPr lang="en-US" sz="2400" dirty="0"/>
          </a:p>
        </p:txBody>
      </p:sp>
      <p:sp>
        <p:nvSpPr>
          <p:cNvPr id="4" name="Shape 2"/>
          <p:cNvSpPr/>
          <p:nvPr/>
        </p:nvSpPr>
        <p:spPr>
          <a:xfrm>
            <a:off x="1097280" y="1188720"/>
            <a:ext cx="4754880" cy="502920"/>
          </a:xfrm>
          <a:prstGeom prst="rect">
            <a:avLst/>
          </a:prstGeom>
          <a:solidFill>
            <a:srgbClr val="8BC34A"/>
          </a:solidFill>
          <a:ln/>
        </p:spPr>
        <p:txBody>
          <a:bodyPr/>
          <a:lstStyle/>
          <a:p>
            <a:endParaRPr lang="en-US"/>
          </a:p>
        </p:txBody>
      </p:sp>
      <p:sp>
        <p:nvSpPr>
          <p:cNvPr id="5" name="Text 3"/>
          <p:cNvSpPr/>
          <p:nvPr/>
        </p:nvSpPr>
        <p:spPr>
          <a:xfrm>
            <a:off x="1097280" y="1188720"/>
            <a:ext cx="4754880" cy="502920"/>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training data</a:t>
            </a:r>
            <a:endParaRPr lang="en-US" sz="1600" dirty="0"/>
          </a:p>
        </p:txBody>
      </p:sp>
      <p:sp>
        <p:nvSpPr>
          <p:cNvPr id="6" name="Shape 4"/>
          <p:cNvSpPr/>
          <p:nvPr/>
        </p:nvSpPr>
        <p:spPr>
          <a:xfrm>
            <a:off x="5852160" y="1188720"/>
            <a:ext cx="2194560" cy="502920"/>
          </a:xfrm>
          <a:prstGeom prst="rect">
            <a:avLst/>
          </a:prstGeom>
          <a:solidFill>
            <a:srgbClr val="42A5F5"/>
          </a:solidFill>
          <a:ln/>
        </p:spPr>
        <p:txBody>
          <a:bodyPr/>
          <a:lstStyle/>
          <a:p>
            <a:endParaRPr lang="en-US"/>
          </a:p>
        </p:txBody>
      </p:sp>
      <p:sp>
        <p:nvSpPr>
          <p:cNvPr id="7" name="Text 5"/>
          <p:cNvSpPr/>
          <p:nvPr/>
        </p:nvSpPr>
        <p:spPr>
          <a:xfrm>
            <a:off x="5852160" y="1188720"/>
            <a:ext cx="2194560" cy="502920"/>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test data</a:t>
            </a:r>
            <a:endParaRPr lang="en-US" sz="1600" dirty="0"/>
          </a:p>
        </p:txBody>
      </p:sp>
      <p:sp>
        <p:nvSpPr>
          <p:cNvPr id="8" name="Text 6"/>
          <p:cNvSpPr/>
          <p:nvPr/>
        </p:nvSpPr>
        <p:spPr>
          <a:xfrm>
            <a:off x="1097280" y="2011680"/>
            <a:ext cx="6949440" cy="731520"/>
          </a:xfrm>
          <a:prstGeom prst="rect">
            <a:avLst/>
          </a:prstGeom>
          <a:noFill/>
          <a:ln/>
        </p:spPr>
        <p:txBody>
          <a:bodyPr wrap="square" rtlCol="0" anchor="ctr"/>
          <a:lstStyle/>
          <a:p>
            <a:pPr marL="0" indent="0">
              <a:buNone/>
            </a:pPr>
            <a:r>
              <a:rPr lang="en-US" sz="2000" dirty="0">
                <a:solidFill>
                  <a:srgbClr val="212121"/>
                </a:solidFill>
                <a:latin typeface="Calibri" pitchFamily="34" charset="0"/>
                <a:ea typeface="Calibri" pitchFamily="34" charset="-122"/>
                <a:cs typeface="Calibri" pitchFamily="34" charset="-120"/>
              </a:rPr>
              <a:t>The </a:t>
            </a:r>
            <a:r>
              <a:rPr lang="en-US" sz="2000" i="1" dirty="0">
                <a:solidFill>
                  <a:srgbClr val="212121"/>
                </a:solidFill>
                <a:latin typeface="Calibri" pitchFamily="34" charset="0"/>
                <a:ea typeface="Calibri" pitchFamily="34" charset="-122"/>
                <a:cs typeface="Calibri" pitchFamily="34" charset="-120"/>
              </a:rPr>
              <a:t>proportion</a:t>
            </a:r>
            <a:r>
              <a:rPr lang="en-US" sz="2000" dirty="0">
                <a:solidFill>
                  <a:srgbClr val="212121"/>
                </a:solidFill>
                <a:latin typeface="Calibri" pitchFamily="34" charset="0"/>
                <a:ea typeface="Calibri" pitchFamily="34" charset="-122"/>
                <a:cs typeface="Calibri" pitchFamily="34" charset="-120"/>
              </a:rPr>
              <a:t> is not important, the </a:t>
            </a:r>
            <a:r>
              <a:rPr lang="en-US" sz="2000" b="1" dirty="0">
                <a:solidFill>
                  <a:srgbClr val="212121"/>
                </a:solidFill>
                <a:latin typeface="Calibri" pitchFamily="34" charset="0"/>
                <a:ea typeface="Calibri" pitchFamily="34" charset="-122"/>
                <a:cs typeface="Calibri" pitchFamily="34" charset="-120"/>
              </a:rPr>
              <a:t>absolute size</a:t>
            </a:r>
            <a:r>
              <a:rPr lang="en-US" sz="2000" dirty="0">
                <a:solidFill>
                  <a:srgbClr val="212121"/>
                </a:solidFill>
                <a:latin typeface="Calibri" pitchFamily="34" charset="0"/>
                <a:ea typeface="Calibri" pitchFamily="34" charset="-122"/>
                <a:cs typeface="Calibri" pitchFamily="34" charset="-120"/>
              </a:rPr>
              <a:t> of the test data is.</a:t>
            </a:r>
            <a:endParaRPr lang="en-US" sz="2000" dirty="0"/>
          </a:p>
        </p:txBody>
      </p:sp>
      <p:sp>
        <p:nvSpPr>
          <p:cNvPr id="9" name="Text 7"/>
          <p:cNvSpPr/>
          <p:nvPr/>
        </p:nvSpPr>
        <p:spPr>
          <a:xfrm>
            <a:off x="1097280" y="2743200"/>
            <a:ext cx="6949440" cy="731520"/>
          </a:xfrm>
          <a:prstGeom prst="rect">
            <a:avLst/>
          </a:prstGeom>
          <a:noFill/>
          <a:ln/>
        </p:spPr>
        <p:txBody>
          <a:bodyPr wrap="square" rtlCol="0" anchor="ctr"/>
          <a:lstStyle/>
          <a:p>
            <a:pPr marL="0" indent="0">
              <a:buNone/>
            </a:pPr>
            <a:r>
              <a:rPr lang="en-US" sz="2000" dirty="0">
                <a:solidFill>
                  <a:srgbClr val="212121"/>
                </a:solidFill>
                <a:latin typeface="Calibri" pitchFamily="34" charset="0"/>
                <a:ea typeface="Calibri" pitchFamily="34" charset="-122"/>
                <a:cs typeface="Calibri" pitchFamily="34" charset="-120"/>
              </a:rPr>
              <a:t>We should aim to have at least 500 examples in the test data (10,000 or more is ideal).</a:t>
            </a:r>
            <a:endParaRPr lang="en-US" sz="2000" dirty="0"/>
          </a:p>
        </p:txBody>
      </p:sp>
      <p:sp>
        <p:nvSpPr>
          <p:cNvPr id="10" name="Text 8"/>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pic>
        <p:nvPicPr>
          <p:cNvPr id="2" name="Image 0" descr="/sessions/nifty-compassionate-lovelace/images/image5.jpg"/>
          <p:cNvPicPr>
            <a:picLocks noChangeAspect="1"/>
          </p:cNvPicPr>
          <p:nvPr/>
        </p:nvPicPr>
        <p:blipFill>
          <a:blip r:embed="rId3"/>
          <a:stretch>
            <a:fillRect/>
          </a:stretch>
        </p:blipFill>
        <p:spPr>
          <a:xfrm>
            <a:off x="356962" y="228600"/>
            <a:ext cx="8430076" cy="4572000"/>
          </a:xfrm>
          <a:prstGeom prst="rect">
            <a:avLst/>
          </a:prstGeom>
        </p:spPr>
      </p:pic>
      <p:sp>
        <p:nvSpPr>
          <p:cNvPr id="3" name="Text 0"/>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457200" y="274320"/>
            <a:ext cx="8229600" cy="594360"/>
          </a:xfrm>
          <a:prstGeom prst="rect">
            <a:avLst/>
          </a:prstGeom>
          <a:solidFill>
            <a:srgbClr val="2E7D32"/>
          </a:solidFill>
          <a:ln/>
        </p:spPr>
        <p:txBody>
          <a:bodyPr/>
          <a:lstStyle/>
          <a:p>
            <a:endParaRPr lang="en-US"/>
          </a:p>
        </p:txBody>
      </p:sp>
      <p:sp>
        <p:nvSpPr>
          <p:cNvPr id="3" name="Text 1"/>
          <p:cNvSpPr/>
          <p:nvPr/>
        </p:nvSpPr>
        <p:spPr>
          <a:xfrm>
            <a:off x="457200" y="274320"/>
            <a:ext cx="822960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subsampled data</a:t>
            </a:r>
            <a:endParaRPr lang="en-US" sz="2400" dirty="0"/>
          </a:p>
        </p:txBody>
      </p:sp>
      <p:pic>
        <p:nvPicPr>
          <p:cNvPr id="4" name="Image 0" descr="/sessions/nifty-compassionate-lovelace/images/image6.jpg"/>
          <p:cNvPicPr>
            <a:picLocks noChangeAspect="1"/>
          </p:cNvPicPr>
          <p:nvPr/>
        </p:nvPicPr>
        <p:blipFill>
          <a:blip r:embed="rId3"/>
          <a:stretch>
            <a:fillRect/>
          </a:stretch>
        </p:blipFill>
        <p:spPr>
          <a:xfrm>
            <a:off x="457200" y="1342785"/>
            <a:ext cx="8229600" cy="3258030"/>
          </a:xfrm>
          <a:prstGeom prst="rect">
            <a:avLst/>
          </a:prstGeom>
        </p:spPr>
      </p:pic>
      <p:sp>
        <p:nvSpPr>
          <p:cNvPr id="5" name="Text 2"/>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457200" y="274320"/>
            <a:ext cx="8229600" cy="594360"/>
          </a:xfrm>
          <a:prstGeom prst="rect">
            <a:avLst/>
          </a:prstGeom>
          <a:solidFill>
            <a:srgbClr val="2E7D32"/>
          </a:solidFill>
          <a:ln/>
        </p:spPr>
        <p:txBody>
          <a:bodyPr/>
          <a:lstStyle/>
          <a:p>
            <a:endParaRPr lang="en-US"/>
          </a:p>
        </p:txBody>
      </p:sp>
      <p:sp>
        <p:nvSpPr>
          <p:cNvPr id="3" name="Text 1"/>
          <p:cNvSpPr/>
          <p:nvPr/>
        </p:nvSpPr>
        <p:spPr>
          <a:xfrm>
            <a:off x="457200" y="274320"/>
            <a:ext cx="822960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first run: 12 values of k</a:t>
            </a:r>
            <a:endParaRPr lang="en-US" sz="2400" dirty="0"/>
          </a:p>
        </p:txBody>
      </p:sp>
      <p:pic>
        <p:nvPicPr>
          <p:cNvPr id="4" name="Image 0" descr="/sessions/nifty-compassionate-lovelace/images/image7.jpg"/>
          <p:cNvPicPr>
            <a:picLocks noChangeAspect="1"/>
          </p:cNvPicPr>
          <p:nvPr/>
        </p:nvPicPr>
        <p:blipFill>
          <a:blip r:embed="rId3"/>
          <a:stretch>
            <a:fillRect/>
          </a:stretch>
        </p:blipFill>
        <p:spPr>
          <a:xfrm>
            <a:off x="868608" y="960120"/>
            <a:ext cx="7406784" cy="4023360"/>
          </a:xfrm>
          <a:prstGeom prst="rect">
            <a:avLst/>
          </a:prstGeom>
        </p:spPr>
      </p:pic>
      <p:sp>
        <p:nvSpPr>
          <p:cNvPr id="5" name="Text 2"/>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pic>
        <p:nvPicPr>
          <p:cNvPr id="2" name="Image 0" descr="/sessions/nifty-compassionate-lovelace/images/image8.jpg"/>
          <p:cNvPicPr>
            <a:picLocks noChangeAspect="1"/>
          </p:cNvPicPr>
          <p:nvPr/>
        </p:nvPicPr>
        <p:blipFill>
          <a:blip r:embed="rId3"/>
          <a:stretch>
            <a:fillRect/>
          </a:stretch>
        </p:blipFill>
        <p:spPr>
          <a:xfrm>
            <a:off x="360568" y="228600"/>
            <a:ext cx="8422864" cy="4572000"/>
          </a:xfrm>
          <a:prstGeom prst="rect">
            <a:avLst/>
          </a:prstGeom>
        </p:spPr>
      </p:pic>
      <p:sp>
        <p:nvSpPr>
          <p:cNvPr id="3" name="Text 0"/>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pic>
        <p:nvPicPr>
          <p:cNvPr id="2" name="Image 0" descr="/sessions/nifty-compassionate-lovelace/images/image9.jpg"/>
          <p:cNvPicPr>
            <a:picLocks noChangeAspect="1"/>
          </p:cNvPicPr>
          <p:nvPr/>
        </p:nvPicPr>
        <p:blipFill>
          <a:blip r:embed="rId3"/>
          <a:stretch>
            <a:fillRect/>
          </a:stretch>
        </p:blipFill>
        <p:spPr>
          <a:xfrm>
            <a:off x="432693" y="228600"/>
            <a:ext cx="8278613" cy="4572000"/>
          </a:xfrm>
          <a:prstGeom prst="rect">
            <a:avLst/>
          </a:prstGeom>
        </p:spPr>
      </p:pic>
      <p:sp>
        <p:nvSpPr>
          <p:cNvPr id="3" name="Text 0"/>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457200" y="274320"/>
            <a:ext cx="8229600" cy="594360"/>
          </a:xfrm>
          <a:prstGeom prst="rect">
            <a:avLst/>
          </a:prstGeom>
          <a:solidFill>
            <a:srgbClr val="2E7D32"/>
          </a:solidFill>
          <a:ln/>
        </p:spPr>
        <p:txBody>
          <a:bodyPr/>
          <a:lstStyle/>
          <a:p>
            <a:endParaRPr lang="en-US"/>
          </a:p>
        </p:txBody>
      </p:sp>
      <p:sp>
        <p:nvSpPr>
          <p:cNvPr id="3" name="Text 1"/>
          <p:cNvSpPr/>
          <p:nvPr/>
        </p:nvSpPr>
        <p:spPr>
          <a:xfrm>
            <a:off x="457200" y="274320"/>
            <a:ext cx="822960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new best model</a:t>
            </a:r>
            <a:endParaRPr lang="en-US" sz="2400" dirty="0"/>
          </a:p>
        </p:txBody>
      </p:sp>
      <p:pic>
        <p:nvPicPr>
          <p:cNvPr id="4" name="Image 0" descr="/sessions/nifty-compassionate-lovelace/images/image10.jpg"/>
          <p:cNvPicPr>
            <a:picLocks noChangeAspect="1"/>
          </p:cNvPicPr>
          <p:nvPr/>
        </p:nvPicPr>
        <p:blipFill>
          <a:blip r:embed="rId3"/>
          <a:stretch>
            <a:fillRect/>
          </a:stretch>
        </p:blipFill>
        <p:spPr>
          <a:xfrm>
            <a:off x="1036944" y="1051560"/>
            <a:ext cx="7070112" cy="3840480"/>
          </a:xfrm>
          <a:prstGeom prst="rect">
            <a:avLst/>
          </a:prstGeom>
        </p:spPr>
      </p:pic>
      <p:sp>
        <p:nvSpPr>
          <p:cNvPr id="5" name="Text 2"/>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457200" y="274320"/>
            <a:ext cx="8229600" cy="594360"/>
          </a:xfrm>
          <a:prstGeom prst="rect">
            <a:avLst/>
          </a:prstGeom>
          <a:solidFill>
            <a:srgbClr val="C62828"/>
          </a:solidFill>
          <a:ln/>
        </p:spPr>
        <p:txBody>
          <a:bodyPr/>
          <a:lstStyle/>
          <a:p>
            <a:endParaRPr lang="en-US"/>
          </a:p>
        </p:txBody>
      </p:sp>
      <p:sp>
        <p:nvSpPr>
          <p:cNvPr id="3" name="Text 1"/>
          <p:cNvSpPr/>
          <p:nvPr/>
        </p:nvSpPr>
        <p:spPr>
          <a:xfrm>
            <a:off x="457200" y="274320"/>
            <a:ext cx="822960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same model, different test sets</a:t>
            </a:r>
            <a:endParaRPr lang="en-US" sz="2400" dirty="0"/>
          </a:p>
        </p:txBody>
      </p:sp>
      <p:pic>
        <p:nvPicPr>
          <p:cNvPr id="4" name="Image 0" descr="/sessions/nifty-compassionate-lovelace/images/image11.jpg"/>
          <p:cNvPicPr>
            <a:picLocks noChangeAspect="1"/>
          </p:cNvPicPr>
          <p:nvPr/>
        </p:nvPicPr>
        <p:blipFill>
          <a:blip r:embed="rId3"/>
          <a:stretch>
            <a:fillRect/>
          </a:stretch>
        </p:blipFill>
        <p:spPr>
          <a:xfrm>
            <a:off x="457200" y="1597895"/>
            <a:ext cx="8229600" cy="2382050"/>
          </a:xfrm>
          <a:prstGeom prst="rect">
            <a:avLst/>
          </a:prstGeom>
        </p:spPr>
      </p:pic>
      <p:sp>
        <p:nvSpPr>
          <p:cNvPr id="5" name="Text 2"/>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pic>
        <p:nvPicPr>
          <p:cNvPr id="2" name="Image 0" descr="/sessions/nifty-compassionate-lovelace/images/image12.jpg"/>
          <p:cNvPicPr>
            <a:picLocks noChangeAspect="1"/>
          </p:cNvPicPr>
          <p:nvPr/>
        </p:nvPicPr>
        <p:blipFill>
          <a:blip r:embed="rId3"/>
          <a:stretch>
            <a:fillRect/>
          </a:stretch>
        </p:blipFill>
        <p:spPr>
          <a:xfrm>
            <a:off x="432693" y="228600"/>
            <a:ext cx="8278613" cy="4572000"/>
          </a:xfrm>
          <a:prstGeom prst="rect">
            <a:avLst/>
          </a:prstGeom>
        </p:spPr>
      </p:pic>
      <p:sp>
        <p:nvSpPr>
          <p:cNvPr id="3" name="Text 0"/>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457200" y="274320"/>
            <a:ext cx="8229600" cy="594360"/>
          </a:xfrm>
          <a:prstGeom prst="rect">
            <a:avLst/>
          </a:prstGeom>
          <a:solidFill>
            <a:srgbClr val="2E7D32"/>
          </a:solidFill>
          <a:ln/>
        </p:spPr>
        <p:txBody>
          <a:bodyPr/>
          <a:lstStyle/>
          <a:p>
            <a:endParaRPr lang="en-US"/>
          </a:p>
        </p:txBody>
      </p:sp>
      <p:sp>
        <p:nvSpPr>
          <p:cNvPr id="3" name="Text 1"/>
          <p:cNvSpPr/>
          <p:nvPr/>
        </p:nvSpPr>
        <p:spPr>
          <a:xfrm>
            <a:off x="457200" y="274320"/>
            <a:ext cx="822960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evaluation: the modern recipe</a:t>
            </a:r>
            <a:endParaRPr lang="en-US" sz="2400" dirty="0"/>
          </a:p>
        </p:txBody>
      </p:sp>
      <p:sp>
        <p:nvSpPr>
          <p:cNvPr id="4" name="Shape 2"/>
          <p:cNvSpPr/>
          <p:nvPr/>
        </p:nvSpPr>
        <p:spPr>
          <a:xfrm>
            <a:off x="640080" y="1097280"/>
            <a:ext cx="365760" cy="365760"/>
          </a:xfrm>
          <a:prstGeom prst="ellipse">
            <a:avLst/>
          </a:prstGeom>
          <a:solidFill>
            <a:srgbClr val="2E7D32"/>
          </a:solidFill>
          <a:ln/>
        </p:spPr>
        <p:txBody>
          <a:bodyPr/>
          <a:lstStyle/>
          <a:p>
            <a:endParaRPr lang="en-US"/>
          </a:p>
        </p:txBody>
      </p:sp>
      <p:sp>
        <p:nvSpPr>
          <p:cNvPr id="5" name="Text 3"/>
          <p:cNvSpPr/>
          <p:nvPr/>
        </p:nvSpPr>
        <p:spPr>
          <a:xfrm>
            <a:off x="640080" y="109728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88720" y="1051560"/>
            <a:ext cx="7315200" cy="411480"/>
          </a:xfrm>
          <a:prstGeom prst="rect">
            <a:avLst/>
          </a:prstGeom>
          <a:noFill/>
          <a:ln/>
        </p:spPr>
        <p:txBody>
          <a:bodyPr wrap="square" rtlCol="0" anchor="ctr"/>
          <a:lstStyle/>
          <a:p>
            <a:pPr marL="0" indent="0">
              <a:buNone/>
            </a:pPr>
            <a:r>
              <a:rPr lang="en-US" sz="2200" b="1" dirty="0">
                <a:solidFill>
                  <a:srgbClr val="212121"/>
                </a:solidFill>
                <a:latin typeface="Calibri" pitchFamily="34" charset="0"/>
                <a:ea typeface="Calibri" pitchFamily="34" charset="-122"/>
                <a:cs typeface="Calibri" pitchFamily="34" charset="-120"/>
              </a:rPr>
              <a:t>Split your data into </a:t>
            </a:r>
            <a:r>
              <a:rPr lang="en-US" sz="2200" b="1" dirty="0">
                <a:solidFill>
                  <a:srgbClr val="2E7D32"/>
                </a:solidFill>
                <a:latin typeface="Calibri" pitchFamily="34" charset="0"/>
                <a:ea typeface="Calibri" pitchFamily="34" charset="-122"/>
                <a:cs typeface="Calibri" pitchFamily="34" charset="-120"/>
              </a:rPr>
              <a:t>train</a:t>
            </a:r>
            <a:r>
              <a:rPr lang="en-US" sz="2200" b="1" dirty="0">
                <a:solidFill>
                  <a:srgbClr val="212121"/>
                </a:solidFill>
                <a:latin typeface="Calibri" pitchFamily="34" charset="0"/>
                <a:ea typeface="Calibri" pitchFamily="34" charset="-122"/>
                <a:cs typeface="Calibri" pitchFamily="34" charset="-120"/>
              </a:rPr>
              <a:t> and </a:t>
            </a:r>
            <a:r>
              <a:rPr lang="en-US" sz="2200" b="1" dirty="0">
                <a:solidFill>
                  <a:srgbClr val="1565C0"/>
                </a:solidFill>
                <a:latin typeface="Calibri" pitchFamily="34" charset="0"/>
                <a:ea typeface="Calibri" pitchFamily="34" charset="-122"/>
                <a:cs typeface="Calibri" pitchFamily="34" charset="-120"/>
              </a:rPr>
              <a:t>test</a:t>
            </a:r>
            <a:r>
              <a:rPr lang="en-US" sz="2200" b="1" dirty="0">
                <a:solidFill>
                  <a:srgbClr val="212121"/>
                </a:solidFill>
                <a:latin typeface="Calibri" pitchFamily="34" charset="0"/>
                <a:ea typeface="Calibri" pitchFamily="34" charset="-122"/>
                <a:cs typeface="Calibri" pitchFamily="34" charset="-120"/>
              </a:rPr>
              <a:t> data.</a:t>
            </a:r>
            <a:endParaRPr lang="en-US" sz="2200" dirty="0"/>
          </a:p>
        </p:txBody>
      </p:sp>
      <p:sp>
        <p:nvSpPr>
          <p:cNvPr id="7" name="Text 5"/>
          <p:cNvSpPr/>
          <p:nvPr/>
        </p:nvSpPr>
        <p:spPr>
          <a:xfrm>
            <a:off x="1188720" y="1463040"/>
            <a:ext cx="7315200" cy="411480"/>
          </a:xfrm>
          <a:prstGeom prst="rect">
            <a:avLst/>
          </a:prstGeom>
          <a:noFill/>
          <a:ln/>
        </p:spPr>
        <p:txBody>
          <a:bodyPr wrap="square" rtlCol="0" anchor="ctr"/>
          <a:lstStyle/>
          <a:p>
            <a:pPr marL="0" indent="0">
              <a:buNone/>
            </a:pPr>
            <a:r>
              <a:rPr lang="en-US" sz="1400" i="1" dirty="0">
                <a:solidFill>
                  <a:srgbClr val="616161"/>
                </a:solidFill>
                <a:latin typeface="Calibri" pitchFamily="34" charset="0"/>
                <a:ea typeface="Calibri" pitchFamily="34" charset="-122"/>
                <a:cs typeface="Calibri" pitchFamily="34" charset="-120"/>
              </a:rPr>
              <a:t>Sample randomly. At least 500 examples in your test set. In ML benchmarks the test data is often given.</a:t>
            </a:r>
            <a:endParaRPr lang="en-US" sz="1400" dirty="0"/>
          </a:p>
        </p:txBody>
      </p:sp>
      <p:sp>
        <p:nvSpPr>
          <p:cNvPr id="8" name="Shape 6"/>
          <p:cNvSpPr/>
          <p:nvPr/>
        </p:nvSpPr>
        <p:spPr>
          <a:xfrm>
            <a:off x="640080" y="2057400"/>
            <a:ext cx="365760" cy="365760"/>
          </a:xfrm>
          <a:prstGeom prst="ellipse">
            <a:avLst/>
          </a:prstGeom>
          <a:solidFill>
            <a:srgbClr val="2E7D32"/>
          </a:solidFill>
          <a:ln/>
        </p:spPr>
        <p:txBody>
          <a:bodyPr/>
          <a:lstStyle/>
          <a:p>
            <a:endParaRPr lang="en-US"/>
          </a:p>
        </p:txBody>
      </p:sp>
      <p:sp>
        <p:nvSpPr>
          <p:cNvPr id="9" name="Text 7"/>
          <p:cNvSpPr/>
          <p:nvPr/>
        </p:nvSpPr>
        <p:spPr>
          <a:xfrm>
            <a:off x="640080" y="2057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88720" y="2011680"/>
            <a:ext cx="7315200" cy="411480"/>
          </a:xfrm>
          <a:prstGeom prst="rect">
            <a:avLst/>
          </a:prstGeom>
          <a:noFill/>
          <a:ln/>
        </p:spPr>
        <p:txBody>
          <a:bodyPr wrap="square" rtlCol="0" anchor="ctr"/>
          <a:lstStyle/>
          <a:p>
            <a:pPr marL="0" indent="0">
              <a:buNone/>
            </a:pPr>
            <a:r>
              <a:rPr lang="en-US" sz="2200" b="1" dirty="0">
                <a:solidFill>
                  <a:srgbClr val="212121"/>
                </a:solidFill>
                <a:latin typeface="Calibri" pitchFamily="34" charset="0"/>
                <a:ea typeface="Calibri" pitchFamily="34" charset="-122"/>
                <a:cs typeface="Calibri" pitchFamily="34" charset="-120"/>
              </a:rPr>
              <a:t>Choose your model, hyperparameters, etc. only using the </a:t>
            </a:r>
            <a:r>
              <a:rPr lang="en-US" sz="2200" b="1" dirty="0">
                <a:solidFill>
                  <a:srgbClr val="2E7D32"/>
                </a:solidFill>
                <a:latin typeface="Calibri" pitchFamily="34" charset="0"/>
                <a:ea typeface="Calibri" pitchFamily="34" charset="-122"/>
                <a:cs typeface="Calibri" pitchFamily="34" charset="-120"/>
              </a:rPr>
              <a:t>training</a:t>
            </a:r>
            <a:r>
              <a:rPr lang="en-US" sz="2200" b="1" dirty="0">
                <a:solidFill>
                  <a:srgbClr val="212121"/>
                </a:solidFill>
                <a:latin typeface="Calibri" pitchFamily="34" charset="0"/>
                <a:ea typeface="Calibri" pitchFamily="34" charset="-122"/>
                <a:cs typeface="Calibri" pitchFamily="34" charset="-120"/>
              </a:rPr>
              <a:t> set.</a:t>
            </a:r>
            <a:endParaRPr lang="en-US" sz="2200" dirty="0"/>
          </a:p>
        </p:txBody>
      </p:sp>
      <p:sp>
        <p:nvSpPr>
          <p:cNvPr id="11" name="Text 9"/>
          <p:cNvSpPr/>
          <p:nvPr/>
        </p:nvSpPr>
        <p:spPr>
          <a:xfrm>
            <a:off x="1188720" y="2423160"/>
            <a:ext cx="7315200" cy="411480"/>
          </a:xfrm>
          <a:prstGeom prst="rect">
            <a:avLst/>
          </a:prstGeom>
          <a:noFill/>
          <a:ln/>
        </p:spPr>
        <p:txBody>
          <a:bodyPr wrap="square" rtlCol="0" anchor="ctr"/>
          <a:lstStyle/>
          <a:p>
            <a:pPr marL="0" indent="0">
              <a:buNone/>
            </a:pPr>
            <a:r>
              <a:rPr lang="en-US" sz="1400" i="1" dirty="0">
                <a:solidFill>
                  <a:srgbClr val="616161"/>
                </a:solidFill>
                <a:latin typeface="Calibri" pitchFamily="34" charset="0"/>
                <a:ea typeface="Calibri" pitchFamily="34" charset="-122"/>
                <a:cs typeface="Calibri" pitchFamily="34" charset="-120"/>
              </a:rPr>
              <a:t>Save your test set until the very last minute. Don't use it for anything.</a:t>
            </a:r>
            <a:endParaRPr lang="en-US" sz="1400" dirty="0"/>
          </a:p>
        </p:txBody>
      </p:sp>
      <p:sp>
        <p:nvSpPr>
          <p:cNvPr id="12" name="Shape 10"/>
          <p:cNvSpPr/>
          <p:nvPr/>
        </p:nvSpPr>
        <p:spPr>
          <a:xfrm>
            <a:off x="640080" y="3017520"/>
            <a:ext cx="365760" cy="365760"/>
          </a:xfrm>
          <a:prstGeom prst="ellipse">
            <a:avLst/>
          </a:prstGeom>
          <a:solidFill>
            <a:srgbClr val="2E7D32"/>
          </a:solidFill>
          <a:ln/>
        </p:spPr>
        <p:txBody>
          <a:bodyPr/>
          <a:lstStyle/>
          <a:p>
            <a:endParaRPr lang="en-US"/>
          </a:p>
        </p:txBody>
      </p:sp>
      <p:sp>
        <p:nvSpPr>
          <p:cNvPr id="13" name="Text 11"/>
          <p:cNvSpPr/>
          <p:nvPr/>
        </p:nvSpPr>
        <p:spPr>
          <a:xfrm>
            <a:off x="640080" y="301752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188720" y="2971800"/>
            <a:ext cx="7315200" cy="411480"/>
          </a:xfrm>
          <a:prstGeom prst="rect">
            <a:avLst/>
          </a:prstGeom>
          <a:noFill/>
          <a:ln/>
        </p:spPr>
        <p:txBody>
          <a:bodyPr wrap="square" rtlCol="0" anchor="ctr"/>
          <a:lstStyle/>
          <a:p>
            <a:pPr marL="0" indent="0">
              <a:buNone/>
            </a:pPr>
            <a:r>
              <a:rPr lang="en-US" sz="2200" b="1" dirty="0">
                <a:solidFill>
                  <a:srgbClr val="212121"/>
                </a:solidFill>
                <a:latin typeface="Calibri" pitchFamily="34" charset="0"/>
                <a:ea typeface="Calibri" pitchFamily="34" charset="-122"/>
                <a:cs typeface="Calibri" pitchFamily="34" charset="-120"/>
              </a:rPr>
              <a:t>State your hypothesis</a:t>
            </a:r>
            <a:endParaRPr lang="en-US" sz="2200" dirty="0"/>
          </a:p>
        </p:txBody>
      </p:sp>
      <p:sp>
        <p:nvSpPr>
          <p:cNvPr id="15" name="Text 13"/>
          <p:cNvSpPr/>
          <p:nvPr/>
        </p:nvSpPr>
        <p:spPr>
          <a:xfrm>
            <a:off x="1188720" y="3383280"/>
            <a:ext cx="7315200" cy="411480"/>
          </a:xfrm>
          <a:prstGeom prst="rect">
            <a:avLst/>
          </a:prstGeom>
          <a:noFill/>
          <a:ln/>
        </p:spPr>
        <p:txBody>
          <a:bodyPr wrap="square" rtlCol="0" anchor="ctr"/>
          <a:lstStyle/>
          <a:p>
            <a:pPr marL="0" indent="0">
              <a:buNone/>
            </a:pPr>
            <a:r>
              <a:rPr lang="en-US" sz="1400" i="1" dirty="0">
                <a:solidFill>
                  <a:srgbClr val="616161"/>
                </a:solidFill>
                <a:latin typeface="Calibri" pitchFamily="34" charset="0"/>
                <a:ea typeface="Calibri" pitchFamily="34" charset="-122"/>
                <a:cs typeface="Calibri" pitchFamily="34" charset="-120"/>
              </a:rPr>
              <a:t>i.e. kNN with k=7 beats existing model X, or kNN with k=7 is better than kNN with k=12</a:t>
            </a:r>
            <a:endParaRPr lang="en-US" sz="1400" dirty="0"/>
          </a:p>
        </p:txBody>
      </p:sp>
      <p:sp>
        <p:nvSpPr>
          <p:cNvPr id="16" name="Shape 14"/>
          <p:cNvSpPr/>
          <p:nvPr/>
        </p:nvSpPr>
        <p:spPr>
          <a:xfrm>
            <a:off x="640080" y="3977640"/>
            <a:ext cx="365760" cy="365760"/>
          </a:xfrm>
          <a:prstGeom prst="ellipse">
            <a:avLst/>
          </a:prstGeom>
          <a:solidFill>
            <a:srgbClr val="2E7D32"/>
          </a:solidFill>
          <a:ln/>
        </p:spPr>
        <p:txBody>
          <a:bodyPr/>
          <a:lstStyle/>
          <a:p>
            <a:endParaRPr lang="en-US"/>
          </a:p>
        </p:txBody>
      </p:sp>
      <p:sp>
        <p:nvSpPr>
          <p:cNvPr id="17" name="Text 15"/>
          <p:cNvSpPr/>
          <p:nvPr/>
        </p:nvSpPr>
        <p:spPr>
          <a:xfrm>
            <a:off x="640080" y="397764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188720" y="3931920"/>
            <a:ext cx="7315200" cy="411480"/>
          </a:xfrm>
          <a:prstGeom prst="rect">
            <a:avLst/>
          </a:prstGeom>
          <a:noFill/>
          <a:ln/>
        </p:spPr>
        <p:txBody>
          <a:bodyPr wrap="square" rtlCol="0" anchor="ctr"/>
          <a:lstStyle/>
          <a:p>
            <a:pPr marL="0" indent="0">
              <a:buNone/>
            </a:pPr>
            <a:r>
              <a:rPr lang="en-US" sz="2200" b="1" dirty="0">
                <a:solidFill>
                  <a:srgbClr val="212121"/>
                </a:solidFill>
                <a:latin typeface="Calibri" pitchFamily="34" charset="0"/>
                <a:ea typeface="Calibri" pitchFamily="34" charset="-122"/>
                <a:cs typeface="Calibri" pitchFamily="34" charset="-120"/>
              </a:rPr>
              <a:t>Test your hypothesis </a:t>
            </a:r>
            <a:r>
              <a:rPr lang="en-US" sz="2200" b="1" u="sng" dirty="0">
                <a:solidFill>
                  <a:srgbClr val="212121"/>
                </a:solidFill>
                <a:latin typeface="Calibri" pitchFamily="34" charset="0"/>
                <a:ea typeface="Calibri" pitchFamily="34" charset="-122"/>
                <a:cs typeface="Calibri" pitchFamily="34" charset="-120"/>
              </a:rPr>
              <a:t>once</a:t>
            </a:r>
            <a:r>
              <a:rPr lang="en-US" sz="2200" b="1" dirty="0">
                <a:solidFill>
                  <a:srgbClr val="212121"/>
                </a:solidFill>
                <a:latin typeface="Calibri" pitchFamily="34" charset="0"/>
                <a:ea typeface="Calibri" pitchFamily="34" charset="-122"/>
                <a:cs typeface="Calibri" pitchFamily="34" charset="-120"/>
              </a:rPr>
              <a:t> on the </a:t>
            </a:r>
            <a:r>
              <a:rPr lang="en-US" sz="2200" b="1" dirty="0">
                <a:solidFill>
                  <a:srgbClr val="1565C0"/>
                </a:solidFill>
                <a:latin typeface="Calibri" pitchFamily="34" charset="0"/>
                <a:ea typeface="Calibri" pitchFamily="34" charset="-122"/>
                <a:cs typeface="Calibri" pitchFamily="34" charset="-120"/>
              </a:rPr>
              <a:t>test</a:t>
            </a:r>
            <a:r>
              <a:rPr lang="en-US" sz="2200" b="1" dirty="0">
                <a:solidFill>
                  <a:srgbClr val="212121"/>
                </a:solidFill>
                <a:latin typeface="Calibri" pitchFamily="34" charset="0"/>
                <a:ea typeface="Calibri" pitchFamily="34" charset="-122"/>
                <a:cs typeface="Calibri" pitchFamily="34" charset="-120"/>
              </a:rPr>
              <a:t> data</a:t>
            </a:r>
            <a:endParaRPr lang="en-US" sz="2200" dirty="0"/>
          </a:p>
        </p:txBody>
      </p:sp>
      <p:sp>
        <p:nvSpPr>
          <p:cNvPr id="19" name="Text 17"/>
          <p:cNvSpPr/>
          <p:nvPr/>
        </p:nvSpPr>
        <p:spPr>
          <a:xfrm>
            <a:off x="1188720" y="4343400"/>
            <a:ext cx="7315200" cy="411480"/>
          </a:xfrm>
          <a:prstGeom prst="rect">
            <a:avLst/>
          </a:prstGeom>
          <a:noFill/>
          <a:ln/>
        </p:spPr>
        <p:txBody>
          <a:bodyPr wrap="square" rtlCol="0" anchor="ctr"/>
          <a:lstStyle/>
          <a:p>
            <a:pPr marL="0" indent="0">
              <a:buNone/>
            </a:pPr>
            <a:r>
              <a:rPr lang="en-US" sz="1400" i="1" dirty="0">
                <a:solidFill>
                  <a:srgbClr val="616161"/>
                </a:solidFill>
                <a:latin typeface="Calibri" pitchFamily="34" charset="0"/>
                <a:ea typeface="Calibri" pitchFamily="34" charset="-122"/>
                <a:cs typeface="Calibri" pitchFamily="34" charset="-120"/>
              </a:rPr>
              <a:t>This is usually at the very end of your project when you write your report or paper.</a:t>
            </a:r>
            <a:endParaRPr lang="en-US" sz="1400" dirty="0"/>
          </a:p>
        </p:txBody>
      </p:sp>
      <p:sp>
        <p:nvSpPr>
          <p:cNvPr id="20" name="Text 18"/>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B5E20"/>
        </a:solidFill>
        <a:effectLst/>
      </p:bgPr>
    </p:bg>
    <p:spTree>
      <p:nvGrpSpPr>
        <p:cNvPr id="1" name=""/>
        <p:cNvGrpSpPr/>
        <p:nvPr/>
      </p:nvGrpSpPr>
      <p:grpSpPr>
        <a:xfrm>
          <a:off x="0" y="0"/>
          <a:ext cx="0" cy="0"/>
          <a:chOff x="0" y="0"/>
          <a:chExt cx="0" cy="0"/>
        </a:xfrm>
      </p:grpSpPr>
      <p:sp>
        <p:nvSpPr>
          <p:cNvPr id="2" name="Text 0"/>
          <p:cNvSpPr/>
          <p:nvPr/>
        </p:nvSpPr>
        <p:spPr>
          <a:xfrm>
            <a:off x="914400" y="731520"/>
            <a:ext cx="7315200" cy="3657600"/>
          </a:xfrm>
          <a:prstGeom prst="rect">
            <a:avLst/>
          </a:prstGeom>
          <a:noFill/>
          <a:ln/>
        </p:spPr>
        <p:txBody>
          <a:bodyPr wrap="square" rtlCol="0" anchor="ctr"/>
          <a:lstStyle/>
          <a:p>
            <a:pPr marL="0" indent="0" algn="ctr">
              <a:buNone/>
            </a:pPr>
            <a:r>
              <a:rPr lang="en-US" sz="4800" b="1" dirty="0">
                <a:solidFill>
                  <a:srgbClr val="FFFFFF"/>
                </a:solidFill>
                <a:latin typeface="Georgia" pitchFamily="34" charset="0"/>
                <a:ea typeface="Georgia" pitchFamily="34" charset="-122"/>
                <a:cs typeface="Georgia" pitchFamily="34" charset="-120"/>
              </a:rPr>
              <a:t>Don't re-use your</a:t>
            </a:r>
            <a:endParaRPr lang="en-US" sz="4800" dirty="0"/>
          </a:p>
          <a:p>
            <a:pPr marL="0" indent="0" algn="ctr">
              <a:buNone/>
            </a:pPr>
            <a:r>
              <a:rPr lang="en-US" sz="4800" b="1" dirty="0">
                <a:solidFill>
                  <a:srgbClr val="FFFFFF"/>
                </a:solidFill>
                <a:latin typeface="Georgia" pitchFamily="34" charset="0"/>
                <a:ea typeface="Georgia" pitchFamily="34" charset="-122"/>
                <a:cs typeface="Georgia" pitchFamily="34" charset="-120"/>
              </a:rPr>
              <a:t>test data</a:t>
            </a:r>
            <a:endParaRPr lang="en-US" sz="4800" dirty="0"/>
          </a:p>
        </p:txBody>
      </p:sp>
      <p:sp>
        <p:nvSpPr>
          <p:cNvPr id="3" name="Text 1"/>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457200" y="274320"/>
            <a:ext cx="8229600" cy="594360"/>
          </a:xfrm>
          <a:prstGeom prst="rect">
            <a:avLst/>
          </a:prstGeom>
          <a:solidFill>
            <a:srgbClr val="2E7D32"/>
          </a:solidFill>
          <a:ln/>
        </p:spPr>
        <p:txBody>
          <a:bodyPr/>
          <a:lstStyle/>
          <a:p>
            <a:endParaRPr lang="en-US"/>
          </a:p>
        </p:txBody>
      </p:sp>
      <p:sp>
        <p:nvSpPr>
          <p:cNvPr id="3" name="Text 1"/>
          <p:cNvSpPr/>
          <p:nvPr/>
        </p:nvSpPr>
        <p:spPr>
          <a:xfrm>
            <a:off x="457200" y="274320"/>
            <a:ext cx="822960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validation set</a:t>
            </a:r>
            <a:endParaRPr lang="en-US" sz="2400" dirty="0"/>
          </a:p>
        </p:txBody>
      </p:sp>
      <p:sp>
        <p:nvSpPr>
          <p:cNvPr id="4" name="Shape 2"/>
          <p:cNvSpPr/>
          <p:nvPr/>
        </p:nvSpPr>
        <p:spPr>
          <a:xfrm>
            <a:off x="1097280" y="1097280"/>
            <a:ext cx="3291840" cy="502920"/>
          </a:xfrm>
          <a:prstGeom prst="rect">
            <a:avLst/>
          </a:prstGeom>
          <a:solidFill>
            <a:srgbClr val="8BC34A"/>
          </a:solidFill>
          <a:ln/>
        </p:spPr>
        <p:txBody>
          <a:bodyPr/>
          <a:lstStyle/>
          <a:p>
            <a:endParaRPr lang="en-US"/>
          </a:p>
        </p:txBody>
      </p:sp>
      <p:sp>
        <p:nvSpPr>
          <p:cNvPr id="5" name="Text 3"/>
          <p:cNvSpPr/>
          <p:nvPr/>
        </p:nvSpPr>
        <p:spPr>
          <a:xfrm>
            <a:off x="1097280" y="1097280"/>
            <a:ext cx="3291840" cy="502920"/>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training</a:t>
            </a:r>
            <a:endParaRPr lang="en-US" sz="1600" dirty="0"/>
          </a:p>
        </p:txBody>
      </p:sp>
      <p:sp>
        <p:nvSpPr>
          <p:cNvPr id="6" name="Shape 4"/>
          <p:cNvSpPr/>
          <p:nvPr/>
        </p:nvSpPr>
        <p:spPr>
          <a:xfrm>
            <a:off x="4389120" y="1097280"/>
            <a:ext cx="1828800" cy="502920"/>
          </a:xfrm>
          <a:prstGeom prst="rect">
            <a:avLst/>
          </a:prstGeom>
          <a:solidFill>
            <a:srgbClr val="FF9800"/>
          </a:solidFill>
          <a:ln/>
        </p:spPr>
        <p:txBody>
          <a:bodyPr/>
          <a:lstStyle/>
          <a:p>
            <a:endParaRPr lang="en-US"/>
          </a:p>
        </p:txBody>
      </p:sp>
      <p:sp>
        <p:nvSpPr>
          <p:cNvPr id="7" name="Text 5"/>
          <p:cNvSpPr/>
          <p:nvPr/>
        </p:nvSpPr>
        <p:spPr>
          <a:xfrm>
            <a:off x="4389120" y="1097280"/>
            <a:ext cx="1828800" cy="502920"/>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validation</a:t>
            </a:r>
            <a:endParaRPr lang="en-US" sz="1600" dirty="0"/>
          </a:p>
        </p:txBody>
      </p:sp>
      <p:sp>
        <p:nvSpPr>
          <p:cNvPr id="8" name="Shape 6"/>
          <p:cNvSpPr/>
          <p:nvPr/>
        </p:nvSpPr>
        <p:spPr>
          <a:xfrm>
            <a:off x="6217920" y="1097280"/>
            <a:ext cx="1463040" cy="502920"/>
          </a:xfrm>
          <a:prstGeom prst="rect">
            <a:avLst/>
          </a:prstGeom>
          <a:solidFill>
            <a:srgbClr val="42A5F5"/>
          </a:solidFill>
          <a:ln/>
        </p:spPr>
        <p:txBody>
          <a:bodyPr/>
          <a:lstStyle/>
          <a:p>
            <a:endParaRPr lang="en-US"/>
          </a:p>
        </p:txBody>
      </p:sp>
      <p:sp>
        <p:nvSpPr>
          <p:cNvPr id="9" name="Text 7"/>
          <p:cNvSpPr/>
          <p:nvPr/>
        </p:nvSpPr>
        <p:spPr>
          <a:xfrm>
            <a:off x="6217920" y="1097280"/>
            <a:ext cx="1463040" cy="502920"/>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test</a:t>
            </a:r>
            <a:endParaRPr lang="en-US" sz="1600" dirty="0"/>
          </a:p>
        </p:txBody>
      </p:sp>
      <p:sp>
        <p:nvSpPr>
          <p:cNvPr id="10" name="Text 8"/>
          <p:cNvSpPr/>
          <p:nvPr/>
        </p:nvSpPr>
        <p:spPr>
          <a:xfrm>
            <a:off x="1097280" y="1920240"/>
            <a:ext cx="6949440" cy="411480"/>
          </a:xfrm>
          <a:prstGeom prst="rect">
            <a:avLst/>
          </a:prstGeom>
          <a:noFill/>
          <a:ln/>
        </p:spPr>
        <p:txBody>
          <a:bodyPr wrap="square" rtlCol="0" anchor="ctr"/>
          <a:lstStyle/>
          <a:p>
            <a:pPr marL="0" indent="0">
              <a:buNone/>
            </a:pPr>
            <a:r>
              <a:rPr lang="en-US" sz="1800" b="1" dirty="0">
                <a:solidFill>
                  <a:srgbClr val="212121"/>
                </a:solidFill>
                <a:latin typeface="Calibri" pitchFamily="34" charset="0"/>
                <a:ea typeface="Calibri" pitchFamily="34" charset="-122"/>
                <a:cs typeface="Calibri" pitchFamily="34" charset="-120"/>
              </a:rPr>
              <a:t>During model and hyperparam. selection:</a:t>
            </a:r>
            <a:endParaRPr lang="en-US" sz="1800" dirty="0"/>
          </a:p>
        </p:txBody>
      </p:sp>
      <p:sp>
        <p:nvSpPr>
          <p:cNvPr id="11" name="Text 9"/>
          <p:cNvSpPr/>
          <p:nvPr/>
        </p:nvSpPr>
        <p:spPr>
          <a:xfrm>
            <a:off x="1371600" y="2423160"/>
            <a:ext cx="1371600" cy="365760"/>
          </a:xfrm>
          <a:prstGeom prst="rect">
            <a:avLst/>
          </a:prstGeom>
          <a:noFill/>
          <a:ln/>
        </p:spPr>
        <p:txBody>
          <a:bodyPr wrap="square" rtlCol="0" anchor="ctr"/>
          <a:lstStyle/>
          <a:p>
            <a:pPr marL="342900" indent="-342900">
              <a:buSzPct val="100000"/>
              <a:buChar char="•"/>
            </a:pPr>
            <a:r>
              <a:rPr lang="en-US" sz="1600" dirty="0">
                <a:solidFill>
                  <a:srgbClr val="212121"/>
                </a:solidFill>
                <a:latin typeface="Calibri" pitchFamily="34" charset="0"/>
                <a:ea typeface="Calibri" pitchFamily="34" charset="-122"/>
                <a:cs typeface="Calibri" pitchFamily="34" charset="-120"/>
              </a:rPr>
              <a:t>train on:</a:t>
            </a:r>
            <a:endParaRPr lang="en-US" sz="1600" dirty="0"/>
          </a:p>
        </p:txBody>
      </p:sp>
      <p:sp>
        <p:nvSpPr>
          <p:cNvPr id="12" name="Shape 10"/>
          <p:cNvSpPr/>
          <p:nvPr/>
        </p:nvSpPr>
        <p:spPr>
          <a:xfrm>
            <a:off x="2926080" y="2423160"/>
            <a:ext cx="2286000" cy="365760"/>
          </a:xfrm>
          <a:prstGeom prst="rect">
            <a:avLst/>
          </a:prstGeom>
          <a:solidFill>
            <a:srgbClr val="8BC34A"/>
          </a:solidFill>
          <a:ln/>
        </p:spPr>
        <p:txBody>
          <a:bodyPr/>
          <a:lstStyle/>
          <a:p>
            <a:endParaRPr lang="en-US"/>
          </a:p>
        </p:txBody>
      </p:sp>
      <p:sp>
        <p:nvSpPr>
          <p:cNvPr id="13" name="Text 11"/>
          <p:cNvSpPr/>
          <p:nvPr/>
        </p:nvSpPr>
        <p:spPr>
          <a:xfrm>
            <a:off x="2926080" y="2423160"/>
            <a:ext cx="2286000" cy="365760"/>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training</a:t>
            </a:r>
            <a:endParaRPr lang="en-US" sz="1600" dirty="0"/>
          </a:p>
        </p:txBody>
      </p:sp>
      <p:sp>
        <p:nvSpPr>
          <p:cNvPr id="14" name="Text 12"/>
          <p:cNvSpPr/>
          <p:nvPr/>
        </p:nvSpPr>
        <p:spPr>
          <a:xfrm>
            <a:off x="1371600" y="2880360"/>
            <a:ext cx="1371600" cy="365760"/>
          </a:xfrm>
          <a:prstGeom prst="rect">
            <a:avLst/>
          </a:prstGeom>
          <a:noFill/>
          <a:ln/>
        </p:spPr>
        <p:txBody>
          <a:bodyPr wrap="square" rtlCol="0" anchor="ctr"/>
          <a:lstStyle/>
          <a:p>
            <a:pPr marL="342900" indent="-342900">
              <a:buSzPct val="100000"/>
              <a:buChar char="•"/>
            </a:pPr>
            <a:r>
              <a:rPr lang="en-US" sz="1600" dirty="0">
                <a:solidFill>
                  <a:srgbClr val="212121"/>
                </a:solidFill>
                <a:latin typeface="Calibri" pitchFamily="34" charset="0"/>
                <a:ea typeface="Calibri" pitchFamily="34" charset="-122"/>
                <a:cs typeface="Calibri" pitchFamily="34" charset="-120"/>
              </a:rPr>
              <a:t>test on:</a:t>
            </a:r>
            <a:endParaRPr lang="en-US" sz="1600" dirty="0"/>
          </a:p>
        </p:txBody>
      </p:sp>
      <p:sp>
        <p:nvSpPr>
          <p:cNvPr id="15" name="Shape 13"/>
          <p:cNvSpPr/>
          <p:nvPr/>
        </p:nvSpPr>
        <p:spPr>
          <a:xfrm>
            <a:off x="2926080" y="2880360"/>
            <a:ext cx="1645920" cy="365760"/>
          </a:xfrm>
          <a:prstGeom prst="rect">
            <a:avLst/>
          </a:prstGeom>
          <a:solidFill>
            <a:srgbClr val="FF9800"/>
          </a:solidFill>
          <a:ln/>
        </p:spPr>
        <p:txBody>
          <a:bodyPr/>
          <a:lstStyle/>
          <a:p>
            <a:endParaRPr lang="en-US"/>
          </a:p>
        </p:txBody>
      </p:sp>
      <p:sp>
        <p:nvSpPr>
          <p:cNvPr id="16" name="Text 14"/>
          <p:cNvSpPr/>
          <p:nvPr/>
        </p:nvSpPr>
        <p:spPr>
          <a:xfrm>
            <a:off x="2926080" y="2880360"/>
            <a:ext cx="1645920" cy="365760"/>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validation</a:t>
            </a:r>
            <a:endParaRPr lang="en-US" sz="1600" dirty="0"/>
          </a:p>
        </p:txBody>
      </p:sp>
      <p:sp>
        <p:nvSpPr>
          <p:cNvPr id="17" name="Text 15"/>
          <p:cNvSpPr/>
          <p:nvPr/>
        </p:nvSpPr>
        <p:spPr>
          <a:xfrm>
            <a:off x="1097280" y="3474720"/>
            <a:ext cx="6949440" cy="411480"/>
          </a:xfrm>
          <a:prstGeom prst="rect">
            <a:avLst/>
          </a:prstGeom>
          <a:noFill/>
          <a:ln/>
        </p:spPr>
        <p:txBody>
          <a:bodyPr wrap="square" rtlCol="0" anchor="ctr"/>
          <a:lstStyle/>
          <a:p>
            <a:pPr marL="0" indent="0">
              <a:buNone/>
            </a:pPr>
            <a:r>
              <a:rPr lang="en-US" sz="1800" b="1" dirty="0">
                <a:solidFill>
                  <a:srgbClr val="212121"/>
                </a:solidFill>
                <a:latin typeface="Calibri" pitchFamily="34" charset="0"/>
                <a:ea typeface="Calibri" pitchFamily="34" charset="-122"/>
                <a:cs typeface="Calibri" pitchFamily="34" charset="-120"/>
              </a:rPr>
              <a:t>Final run:</a:t>
            </a:r>
            <a:endParaRPr lang="en-US" sz="1800" dirty="0"/>
          </a:p>
        </p:txBody>
      </p:sp>
      <p:sp>
        <p:nvSpPr>
          <p:cNvPr id="18" name="Text 16"/>
          <p:cNvSpPr/>
          <p:nvPr/>
        </p:nvSpPr>
        <p:spPr>
          <a:xfrm>
            <a:off x="1371600" y="3977640"/>
            <a:ext cx="1371600" cy="365760"/>
          </a:xfrm>
          <a:prstGeom prst="rect">
            <a:avLst/>
          </a:prstGeom>
          <a:noFill/>
          <a:ln/>
        </p:spPr>
        <p:txBody>
          <a:bodyPr wrap="square" rtlCol="0" anchor="ctr"/>
          <a:lstStyle/>
          <a:p>
            <a:pPr marL="342900" indent="-342900">
              <a:buSzPct val="100000"/>
              <a:buChar char="•"/>
            </a:pPr>
            <a:r>
              <a:rPr lang="en-US" sz="1600" dirty="0">
                <a:solidFill>
                  <a:srgbClr val="212121"/>
                </a:solidFill>
                <a:latin typeface="Calibri" pitchFamily="34" charset="0"/>
                <a:ea typeface="Calibri" pitchFamily="34" charset="-122"/>
                <a:cs typeface="Calibri" pitchFamily="34" charset="-120"/>
              </a:rPr>
              <a:t>train on:</a:t>
            </a:r>
            <a:endParaRPr lang="en-US" sz="1600" dirty="0"/>
          </a:p>
        </p:txBody>
      </p:sp>
      <p:sp>
        <p:nvSpPr>
          <p:cNvPr id="19" name="Shape 17"/>
          <p:cNvSpPr/>
          <p:nvPr/>
        </p:nvSpPr>
        <p:spPr>
          <a:xfrm>
            <a:off x="2926080" y="3977640"/>
            <a:ext cx="2286000" cy="365760"/>
          </a:xfrm>
          <a:prstGeom prst="rect">
            <a:avLst/>
          </a:prstGeom>
          <a:solidFill>
            <a:srgbClr val="8BC34A"/>
          </a:solidFill>
          <a:ln/>
        </p:spPr>
        <p:txBody>
          <a:bodyPr/>
          <a:lstStyle/>
          <a:p>
            <a:endParaRPr lang="en-US"/>
          </a:p>
        </p:txBody>
      </p:sp>
      <p:sp>
        <p:nvSpPr>
          <p:cNvPr id="20" name="Text 18"/>
          <p:cNvSpPr/>
          <p:nvPr/>
        </p:nvSpPr>
        <p:spPr>
          <a:xfrm>
            <a:off x="2926080" y="3977640"/>
            <a:ext cx="2286000" cy="365760"/>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training</a:t>
            </a:r>
            <a:endParaRPr lang="en-US" sz="1600" dirty="0"/>
          </a:p>
        </p:txBody>
      </p:sp>
      <p:sp>
        <p:nvSpPr>
          <p:cNvPr id="21" name="Shape 19"/>
          <p:cNvSpPr/>
          <p:nvPr/>
        </p:nvSpPr>
        <p:spPr>
          <a:xfrm>
            <a:off x="5212080" y="3977640"/>
            <a:ext cx="1280160" cy="365760"/>
          </a:xfrm>
          <a:prstGeom prst="rect">
            <a:avLst/>
          </a:prstGeom>
          <a:solidFill>
            <a:srgbClr val="FF9800"/>
          </a:solidFill>
          <a:ln/>
        </p:spPr>
        <p:txBody>
          <a:bodyPr/>
          <a:lstStyle/>
          <a:p>
            <a:endParaRPr lang="en-US"/>
          </a:p>
        </p:txBody>
      </p:sp>
      <p:sp>
        <p:nvSpPr>
          <p:cNvPr id="22" name="Text 20"/>
          <p:cNvSpPr/>
          <p:nvPr/>
        </p:nvSpPr>
        <p:spPr>
          <a:xfrm>
            <a:off x="5212080" y="3977640"/>
            <a:ext cx="1280160" cy="365760"/>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validation</a:t>
            </a:r>
            <a:endParaRPr lang="en-US" sz="1600" dirty="0"/>
          </a:p>
        </p:txBody>
      </p:sp>
      <p:sp>
        <p:nvSpPr>
          <p:cNvPr id="23" name="Text 21"/>
          <p:cNvSpPr/>
          <p:nvPr/>
        </p:nvSpPr>
        <p:spPr>
          <a:xfrm>
            <a:off x="6675120" y="3840480"/>
            <a:ext cx="1371600" cy="365760"/>
          </a:xfrm>
          <a:prstGeom prst="rect">
            <a:avLst/>
          </a:prstGeom>
          <a:noFill/>
          <a:ln/>
        </p:spPr>
        <p:txBody>
          <a:bodyPr wrap="square" rtlCol="0" anchor="ctr"/>
          <a:lstStyle/>
          <a:p>
            <a:pPr marL="0" indent="0">
              <a:buNone/>
            </a:pPr>
            <a:r>
              <a:rPr lang="en-US" sz="1400" i="1" dirty="0">
                <a:solidFill>
                  <a:srgbClr val="1565C0"/>
                </a:solidFill>
                <a:latin typeface="Calibri" pitchFamily="34" charset="0"/>
                <a:ea typeface="Calibri" pitchFamily="34" charset="-122"/>
                <a:cs typeface="Calibri" pitchFamily="34" charset="-120"/>
              </a:rPr>
              <a:t>(usually)</a:t>
            </a:r>
            <a:endParaRPr lang="en-US" sz="1400" dirty="0"/>
          </a:p>
        </p:txBody>
      </p:sp>
      <p:sp>
        <p:nvSpPr>
          <p:cNvPr id="24" name="Text 22"/>
          <p:cNvSpPr/>
          <p:nvPr/>
        </p:nvSpPr>
        <p:spPr>
          <a:xfrm>
            <a:off x="1371600" y="4434840"/>
            <a:ext cx="1371600" cy="365760"/>
          </a:xfrm>
          <a:prstGeom prst="rect">
            <a:avLst/>
          </a:prstGeom>
          <a:noFill/>
          <a:ln/>
        </p:spPr>
        <p:txBody>
          <a:bodyPr wrap="square" rtlCol="0" anchor="ctr"/>
          <a:lstStyle/>
          <a:p>
            <a:pPr marL="342900" indent="-342900">
              <a:buSzPct val="100000"/>
              <a:buChar char="•"/>
            </a:pPr>
            <a:r>
              <a:rPr lang="en-US" sz="1600" dirty="0">
                <a:solidFill>
                  <a:srgbClr val="212121"/>
                </a:solidFill>
                <a:latin typeface="Calibri" pitchFamily="34" charset="0"/>
                <a:ea typeface="Calibri" pitchFamily="34" charset="-122"/>
                <a:cs typeface="Calibri" pitchFamily="34" charset="-120"/>
              </a:rPr>
              <a:t>test on:</a:t>
            </a:r>
            <a:endParaRPr lang="en-US" sz="1600" dirty="0"/>
          </a:p>
        </p:txBody>
      </p:sp>
      <p:sp>
        <p:nvSpPr>
          <p:cNvPr id="25" name="Shape 23"/>
          <p:cNvSpPr/>
          <p:nvPr/>
        </p:nvSpPr>
        <p:spPr>
          <a:xfrm>
            <a:off x="2926080" y="4434840"/>
            <a:ext cx="1463040" cy="365760"/>
          </a:xfrm>
          <a:prstGeom prst="rect">
            <a:avLst/>
          </a:prstGeom>
          <a:solidFill>
            <a:srgbClr val="42A5F5"/>
          </a:solidFill>
          <a:ln/>
        </p:spPr>
        <p:txBody>
          <a:bodyPr/>
          <a:lstStyle/>
          <a:p>
            <a:endParaRPr lang="en-US"/>
          </a:p>
        </p:txBody>
      </p:sp>
      <p:sp>
        <p:nvSpPr>
          <p:cNvPr id="26" name="Text 24"/>
          <p:cNvSpPr/>
          <p:nvPr/>
        </p:nvSpPr>
        <p:spPr>
          <a:xfrm>
            <a:off x="2926080" y="4434840"/>
            <a:ext cx="1463040" cy="365760"/>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test</a:t>
            </a:r>
            <a:endParaRPr lang="en-US" sz="1600" dirty="0"/>
          </a:p>
        </p:txBody>
      </p:sp>
      <p:sp>
        <p:nvSpPr>
          <p:cNvPr id="27" name="Text 25"/>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457200" y="274320"/>
            <a:ext cx="8229600" cy="594360"/>
          </a:xfrm>
          <a:prstGeom prst="rect">
            <a:avLst/>
          </a:prstGeom>
          <a:solidFill>
            <a:srgbClr val="C62828"/>
          </a:solidFill>
          <a:ln/>
        </p:spPr>
        <p:txBody>
          <a:bodyPr/>
          <a:lstStyle/>
          <a:p>
            <a:endParaRPr lang="en-US"/>
          </a:p>
        </p:txBody>
      </p:sp>
      <p:sp>
        <p:nvSpPr>
          <p:cNvPr id="3" name="Text 1"/>
          <p:cNvSpPr/>
          <p:nvPr/>
        </p:nvSpPr>
        <p:spPr>
          <a:xfrm>
            <a:off x="457200" y="274320"/>
            <a:ext cx="822960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not this</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914400" y="1097280"/>
          <a:ext cx="7315200" cy="329184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65760">
                <a:tc>
                  <a:txBody>
                    <a:bodyPr/>
                    <a:lstStyle/>
                    <a:p>
                      <a:pPr marL="0" indent="0" algn="ctr">
                        <a:buNone/>
                      </a:pP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263238"/>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dataset 1</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263238"/>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dataset 2</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263238"/>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dataset 3</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solidFill>
                      <a:srgbClr val="263238"/>
                    </a:solidFill>
                  </a:tcPr>
                </a:tc>
                <a:extLst>
                  <a:ext uri="{0D108BD9-81ED-4DB2-BD59-A6C34878D82A}">
                    <a16:rowId xmlns:a16="http://schemas.microsoft.com/office/drawing/2014/main" val="10000"/>
                  </a:ext>
                </a:extLst>
              </a:tr>
              <a:tr h="365760">
                <a:tc>
                  <a:txBody>
                    <a:bodyPr/>
                    <a:lstStyle/>
                    <a:p>
                      <a:pPr marL="0" indent="0">
                        <a:buNone/>
                      </a:pPr>
                      <a:r>
                        <a:rPr lang="en-US" sz="1400" b="1" dirty="0">
                          <a:solidFill>
                            <a:srgbClr val="212121"/>
                          </a:solidFill>
                          <a:latin typeface="Calibri" pitchFamily="34" charset="0"/>
                          <a:ea typeface="Calibri" pitchFamily="34" charset="-122"/>
                          <a:cs typeface="Calibri" pitchFamily="34" charset="-120"/>
                        </a:rPr>
                        <a:t>other method 1</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0.15</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0.08</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0.27</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400" b="1" dirty="0">
                          <a:solidFill>
                            <a:srgbClr val="212121"/>
                          </a:solidFill>
                          <a:latin typeface="Calibri" pitchFamily="34" charset="0"/>
                          <a:ea typeface="Calibri" pitchFamily="34" charset="-122"/>
                          <a:cs typeface="Calibri" pitchFamily="34" charset="-120"/>
                        </a:rPr>
                        <a:t>other method 2</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0.11</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0.29</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400" b="1" dirty="0">
                          <a:solidFill>
                            <a:srgbClr val="212121"/>
                          </a:solidFill>
                          <a:latin typeface="Calibri" pitchFamily="34" charset="0"/>
                          <a:ea typeface="Calibri" pitchFamily="34" charset="-122"/>
                          <a:cs typeface="Calibri" pitchFamily="34" charset="-120"/>
                        </a:rPr>
                        <a:t>ours (k=1)</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0.89</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0.45</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b="1" dirty="0">
                          <a:solidFill>
                            <a:srgbClr val="212121"/>
                          </a:solidFill>
                          <a:latin typeface="Calibri" pitchFamily="34" charset="0"/>
                          <a:ea typeface="Calibri" pitchFamily="34" charset="-122"/>
                          <a:cs typeface="Calibri" pitchFamily="34" charset="-120"/>
                        </a:rPr>
                        <a:t>0.23</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400" b="1" dirty="0">
                          <a:solidFill>
                            <a:srgbClr val="212121"/>
                          </a:solidFill>
                          <a:latin typeface="Calibri" pitchFamily="34" charset="0"/>
                          <a:ea typeface="Calibri" pitchFamily="34" charset="-122"/>
                          <a:cs typeface="Calibri" pitchFamily="34" charset="-120"/>
                        </a:rPr>
                        <a:t>ours (k=2)</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0.09</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0.23</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0.70</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400" b="1" dirty="0">
                          <a:solidFill>
                            <a:srgbClr val="212121"/>
                          </a:solidFill>
                          <a:latin typeface="Calibri" pitchFamily="34" charset="0"/>
                          <a:ea typeface="Calibri" pitchFamily="34" charset="-122"/>
                          <a:cs typeface="Calibri" pitchFamily="34" charset="-120"/>
                        </a:rPr>
                        <a:t>ours (k=3)</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b="1" dirty="0">
                          <a:solidFill>
                            <a:srgbClr val="212121"/>
                          </a:solidFill>
                          <a:latin typeface="Calibri" pitchFamily="34" charset="0"/>
                          <a:ea typeface="Calibri" pitchFamily="34" charset="-122"/>
                          <a:cs typeface="Calibri" pitchFamily="34" charset="-120"/>
                        </a:rPr>
                        <a:t>0.08</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0.45</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0.57</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400" b="1" dirty="0">
                          <a:solidFill>
                            <a:srgbClr val="212121"/>
                          </a:solidFill>
                          <a:latin typeface="Calibri" pitchFamily="34" charset="0"/>
                          <a:ea typeface="Calibri" pitchFamily="34" charset="-122"/>
                          <a:cs typeface="Calibri" pitchFamily="34" charset="-120"/>
                        </a:rPr>
                        <a:t>ours (k=4)</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0.15</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0.56</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0.32</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400" b="1" dirty="0">
                          <a:solidFill>
                            <a:srgbClr val="212121"/>
                          </a:solidFill>
                          <a:latin typeface="Calibri" pitchFamily="34" charset="0"/>
                          <a:ea typeface="Calibri" pitchFamily="34" charset="-122"/>
                          <a:cs typeface="Calibri" pitchFamily="34" charset="-120"/>
                        </a:rPr>
                        <a:t>ours (k=5)</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0.57</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0.09</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0.88</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buNone/>
                      </a:pPr>
                      <a:r>
                        <a:rPr lang="en-US" sz="1400" b="1" dirty="0">
                          <a:solidFill>
                            <a:srgbClr val="212121"/>
                          </a:solidFill>
                          <a:latin typeface="Calibri" pitchFamily="34" charset="0"/>
                          <a:ea typeface="Calibri" pitchFamily="34" charset="-122"/>
                          <a:cs typeface="Calibri" pitchFamily="34" charset="-120"/>
                        </a:rPr>
                        <a:t>ours (k=6)</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0.58</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b="1" dirty="0">
                          <a:solidFill>
                            <a:srgbClr val="212121"/>
                          </a:solidFill>
                          <a:latin typeface="Calibri" pitchFamily="34" charset="0"/>
                          <a:ea typeface="Calibri" pitchFamily="34" charset="-122"/>
                          <a:cs typeface="Calibri" pitchFamily="34" charset="-120"/>
                        </a:rPr>
                        <a:t>0.07</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tc>
                  <a:txBody>
                    <a:bodyPr/>
                    <a:lstStyle/>
                    <a:p>
                      <a:pPr marL="0" indent="0" algn="ctr">
                        <a:buNone/>
                      </a:pPr>
                      <a:r>
                        <a:rPr lang="en-US" sz="1400" dirty="0">
                          <a:solidFill>
                            <a:srgbClr val="212121"/>
                          </a:solidFill>
                          <a:latin typeface="Calibri" pitchFamily="34" charset="0"/>
                          <a:ea typeface="Calibri" pitchFamily="34" charset="-122"/>
                          <a:cs typeface="Calibri" pitchFamily="34" charset="-120"/>
                        </a:rPr>
                        <a:t>0.89</a:t>
                      </a:r>
                      <a:endParaRPr lang="en-US" sz="1400" dirty="0">
                        <a:latin typeface="Calibri" charset="0"/>
                        <a:ea typeface="Calibri" charset="0"/>
                        <a:cs typeface="Calibri" charset="0"/>
                      </a:endParaRPr>
                    </a:p>
                  </a:txBody>
                  <a:tcPr>
                    <a:lnL w="6350" cap="flat" cmpd="sng" algn="ctr">
                      <a:solidFill>
                        <a:srgbClr val="BDBDBD"/>
                      </a:solidFill>
                      <a:prstDash val="solid"/>
                      <a:round/>
                      <a:headEnd type="none" w="med" len="med"/>
                      <a:tailEnd type="none" w="med" len="med"/>
                    </a:lnL>
                    <a:lnR w="6350" cap="flat" cmpd="sng" algn="ctr">
                      <a:solidFill>
                        <a:srgbClr val="BDBDBD"/>
                      </a:solidFill>
                      <a:prstDash val="solid"/>
                      <a:round/>
                      <a:headEnd type="none" w="med" len="med"/>
                      <a:tailEnd type="none" w="med" len="med"/>
                    </a:lnR>
                    <a:lnT w="6350" cap="flat" cmpd="sng" algn="ctr">
                      <a:solidFill>
                        <a:srgbClr val="BDBDBD"/>
                      </a:solidFill>
                      <a:prstDash val="solid"/>
                      <a:round/>
                      <a:headEnd type="none" w="med" len="med"/>
                      <a:tailEnd type="none" w="med" len="med"/>
                    </a:lnT>
                    <a:lnB w="6350" cap="flat" cmpd="sng" algn="ctr">
                      <a:solidFill>
                        <a:srgbClr val="BDBDBD"/>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A2332"/>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but this</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14400" y="868680"/>
          <a:ext cx="7315200"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11480">
                <a:tc>
                  <a:txBody>
                    <a:bodyPr/>
                    <a:lstStyle/>
                    <a:p>
                      <a:pPr marL="0" indent="0" algn="ctr">
                        <a:buNone/>
                      </a:pP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solidFill>
                      <a:srgbClr val="37474F"/>
                    </a:solidFill>
                  </a:tcPr>
                </a:tc>
                <a:tc>
                  <a:txBody>
                    <a:bodyPr/>
                    <a:lstStyle/>
                    <a:p>
                      <a:pPr marL="0" indent="0" algn="ctr">
                        <a:buNone/>
                      </a:pPr>
                      <a:r>
                        <a:rPr lang="en-US" sz="1400" b="1" dirty="0">
                          <a:solidFill>
                            <a:srgbClr val="B0BEC5"/>
                          </a:solidFill>
                          <a:latin typeface="Calibri" pitchFamily="34" charset="0"/>
                          <a:ea typeface="Calibri" pitchFamily="34" charset="-122"/>
                          <a:cs typeface="Calibri" pitchFamily="34" charset="-120"/>
                        </a:rPr>
                        <a:t>dataset 1</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solidFill>
                      <a:srgbClr val="37474F"/>
                    </a:solidFill>
                  </a:tcPr>
                </a:tc>
                <a:tc>
                  <a:txBody>
                    <a:bodyPr/>
                    <a:lstStyle/>
                    <a:p>
                      <a:pPr marL="0" indent="0" algn="ctr">
                        <a:buNone/>
                      </a:pPr>
                      <a:r>
                        <a:rPr lang="en-US" sz="1400" b="1" dirty="0">
                          <a:solidFill>
                            <a:srgbClr val="B0BEC5"/>
                          </a:solidFill>
                          <a:latin typeface="Calibri" pitchFamily="34" charset="0"/>
                          <a:ea typeface="Calibri" pitchFamily="34" charset="-122"/>
                          <a:cs typeface="Calibri" pitchFamily="34" charset="-120"/>
                        </a:rPr>
                        <a:t>dataset 2</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solidFill>
                      <a:srgbClr val="37474F"/>
                    </a:solidFill>
                  </a:tcPr>
                </a:tc>
                <a:tc>
                  <a:txBody>
                    <a:bodyPr/>
                    <a:lstStyle/>
                    <a:p>
                      <a:pPr marL="0" indent="0" algn="ctr">
                        <a:buNone/>
                      </a:pPr>
                      <a:r>
                        <a:rPr lang="en-US" sz="1400" b="1" dirty="0">
                          <a:solidFill>
                            <a:srgbClr val="B0BEC5"/>
                          </a:solidFill>
                          <a:latin typeface="Calibri" pitchFamily="34" charset="0"/>
                          <a:ea typeface="Calibri" pitchFamily="34" charset="-122"/>
                          <a:cs typeface="Calibri" pitchFamily="34" charset="-120"/>
                        </a:rPr>
                        <a:t>dataset 3</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solidFill>
                      <a:srgbClr val="37474F"/>
                    </a:solidFill>
                  </a:tcPr>
                </a:tc>
                <a:extLst>
                  <a:ext uri="{0D108BD9-81ED-4DB2-BD59-A6C34878D82A}">
                    <a16:rowId xmlns:a16="http://schemas.microsoft.com/office/drawing/2014/main" val="10000"/>
                  </a:ext>
                </a:extLst>
              </a:tr>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other method 1</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dirty="0">
                          <a:solidFill>
                            <a:srgbClr val="FFFFFF"/>
                          </a:solidFill>
                          <a:latin typeface="Calibri" pitchFamily="34" charset="0"/>
                          <a:ea typeface="Calibri" pitchFamily="34" charset="-122"/>
                          <a:cs typeface="Calibri" pitchFamily="34" charset="-120"/>
                        </a:rPr>
                        <a:t>0.15</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dirty="0">
                          <a:solidFill>
                            <a:srgbClr val="FFFFFF"/>
                          </a:solidFill>
                          <a:latin typeface="Calibri" pitchFamily="34" charset="0"/>
                          <a:ea typeface="Calibri" pitchFamily="34" charset="-122"/>
                          <a:cs typeface="Calibri" pitchFamily="34" charset="-120"/>
                        </a:rPr>
                        <a:t>0.08</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dirty="0">
                          <a:solidFill>
                            <a:srgbClr val="FFFFFF"/>
                          </a:solidFill>
                          <a:latin typeface="Calibri" pitchFamily="34" charset="0"/>
                          <a:ea typeface="Calibri" pitchFamily="34" charset="-122"/>
                          <a:cs typeface="Calibri" pitchFamily="34" charset="-120"/>
                        </a:rPr>
                        <a:t>0.27</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other method 2</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0.11</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dirty="0">
                          <a:solidFill>
                            <a:srgbClr val="FFFFFF"/>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dirty="0">
                          <a:solidFill>
                            <a:srgbClr val="FFFFFF"/>
                          </a:solidFill>
                          <a:latin typeface="Calibri" pitchFamily="34" charset="0"/>
                          <a:ea typeface="Calibri" pitchFamily="34" charset="-122"/>
                          <a:cs typeface="Calibri" pitchFamily="34" charset="-120"/>
                        </a:rPr>
                        <a:t>0.29</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lgn="ctr">
                        <a:buNone/>
                      </a:pPr>
                      <a:r>
                        <a:rPr lang="en-US" sz="1400" i="1" dirty="0">
                          <a:solidFill>
                            <a:srgbClr val="B0BEC5"/>
                          </a:solidFill>
                          <a:latin typeface="Calibri" pitchFamily="34" charset="0"/>
                          <a:ea typeface="Calibri" pitchFamily="34" charset="-122"/>
                          <a:cs typeface="Calibri" pitchFamily="34" charset="-120"/>
                        </a:rPr>
                        <a:t>k</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i="1" dirty="0">
                          <a:solidFill>
                            <a:srgbClr val="B0BEC5"/>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i="1" dirty="0">
                          <a:solidFill>
                            <a:srgbClr val="B0BEC5"/>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i="1" dirty="0">
                          <a:solidFill>
                            <a:srgbClr val="B0BEC5"/>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ours</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0.11</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dirty="0">
                          <a:solidFill>
                            <a:srgbClr val="FFFFFF"/>
                          </a:solidFill>
                          <a:latin typeface="Calibri" pitchFamily="34" charset="0"/>
                          <a:ea typeface="Calibri" pitchFamily="34" charset="-122"/>
                          <a:cs typeface="Calibri" pitchFamily="34" charset="-120"/>
                        </a:rPr>
                        <a:t>0.11</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0.24</a:t>
                      </a:r>
                      <a:endParaRPr lang="en-US" sz="1400" dirty="0">
                        <a:latin typeface="Calibri" charset="0"/>
                        <a:ea typeface="Calibri" charset="0"/>
                        <a:cs typeface="Calibri" charset="0"/>
                      </a:endParaRPr>
                    </a:p>
                  </a:txBody>
                  <a:tcP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914400" y="3200400"/>
            <a:ext cx="7315200" cy="1645920"/>
          </a:xfrm>
          <a:prstGeom prst="rect">
            <a:avLst/>
          </a:prstGeom>
          <a:noFill/>
          <a:ln/>
        </p:spPr>
        <p:txBody>
          <a:bodyPr wrap="square" rtlCol="0" anchor="ctr"/>
          <a:lstStyle/>
          <a:p>
            <a:pPr marL="0" indent="0" algn="ctr">
              <a:buNone/>
            </a:pPr>
            <a:r>
              <a:rPr lang="en-US" sz="3600" dirty="0">
                <a:solidFill>
                  <a:srgbClr val="B0BEC5"/>
                </a:solidFill>
                <a:latin typeface="Georgia" pitchFamily="34" charset="0"/>
                <a:ea typeface="Georgia" pitchFamily="34" charset="-122"/>
                <a:cs typeface="Georgia" pitchFamily="34" charset="-120"/>
              </a:rPr>
              <a:t>“</a:t>
            </a:r>
            <a:r>
              <a:rPr lang="en-US" sz="2000" b="1" dirty="0">
                <a:solidFill>
                  <a:srgbClr val="FFFFFF"/>
                </a:solidFill>
                <a:latin typeface="Calibri" pitchFamily="34" charset="0"/>
                <a:ea typeface="Calibri" pitchFamily="34" charset="-122"/>
                <a:cs typeface="Calibri" pitchFamily="34" charset="-120"/>
              </a:rPr>
              <a:t>The hyperparameter k was chosen based on a validation set split off from the training data. The test data was used only once.</a:t>
            </a:r>
            <a:r>
              <a:rPr lang="en-US" sz="3600" dirty="0">
                <a:solidFill>
                  <a:srgbClr val="B0BEC5"/>
                </a:solidFill>
                <a:latin typeface="Georgia" pitchFamily="34" charset="0"/>
                <a:ea typeface="Georgia" pitchFamily="34" charset="-122"/>
                <a:cs typeface="Georgia" pitchFamily="34" charset="-120"/>
              </a:rPr>
              <a:t>”</a:t>
            </a:r>
            <a:endParaRPr lang="en-US" sz="3600" dirty="0"/>
          </a:p>
        </p:txBody>
      </p:sp>
      <p:sp>
        <p:nvSpPr>
          <p:cNvPr id="5" name="Text 2"/>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457200" y="274320"/>
            <a:ext cx="8229600" cy="594360"/>
          </a:xfrm>
          <a:prstGeom prst="rect">
            <a:avLst/>
          </a:prstGeom>
          <a:solidFill>
            <a:srgbClr val="2E7D32"/>
          </a:solidFill>
          <a:ln/>
        </p:spPr>
        <p:txBody>
          <a:bodyPr/>
          <a:lstStyle/>
          <a:p>
            <a:endParaRPr lang="en-US"/>
          </a:p>
        </p:txBody>
      </p:sp>
      <p:sp>
        <p:nvSpPr>
          <p:cNvPr id="3" name="Text 1"/>
          <p:cNvSpPr/>
          <p:nvPr/>
        </p:nvSpPr>
        <p:spPr>
          <a:xfrm>
            <a:off x="457200" y="274320"/>
            <a:ext cx="822960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cross-validation</a:t>
            </a:r>
            <a:endParaRPr lang="en-US" sz="2400" dirty="0"/>
          </a:p>
        </p:txBody>
      </p:sp>
      <p:sp>
        <p:nvSpPr>
          <p:cNvPr id="4" name="Shape 2"/>
          <p:cNvSpPr/>
          <p:nvPr/>
        </p:nvSpPr>
        <p:spPr>
          <a:xfrm>
            <a:off x="1371600" y="1097280"/>
            <a:ext cx="5029200" cy="411480"/>
          </a:xfrm>
          <a:prstGeom prst="rect">
            <a:avLst/>
          </a:prstGeom>
          <a:solidFill>
            <a:srgbClr val="8BC34A"/>
          </a:solidFill>
          <a:ln/>
        </p:spPr>
        <p:txBody>
          <a:bodyPr/>
          <a:lstStyle/>
          <a:p>
            <a:endParaRPr lang="en-US"/>
          </a:p>
        </p:txBody>
      </p:sp>
      <p:sp>
        <p:nvSpPr>
          <p:cNvPr id="5" name="Text 3"/>
          <p:cNvSpPr/>
          <p:nvPr/>
        </p:nvSpPr>
        <p:spPr>
          <a:xfrm>
            <a:off x="1371600" y="1097280"/>
            <a:ext cx="5029200" cy="411480"/>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training</a:t>
            </a:r>
            <a:endParaRPr lang="en-US" sz="1600" dirty="0"/>
          </a:p>
        </p:txBody>
      </p:sp>
      <p:sp>
        <p:nvSpPr>
          <p:cNvPr id="6" name="Shape 4"/>
          <p:cNvSpPr/>
          <p:nvPr/>
        </p:nvSpPr>
        <p:spPr>
          <a:xfrm>
            <a:off x="1371600" y="1691640"/>
            <a:ext cx="1005840" cy="384048"/>
          </a:xfrm>
          <a:prstGeom prst="rect">
            <a:avLst/>
          </a:prstGeom>
          <a:solidFill>
            <a:srgbClr val="FF9800"/>
          </a:solidFill>
          <a:ln/>
        </p:spPr>
        <p:txBody>
          <a:bodyPr/>
          <a:lstStyle/>
          <a:p>
            <a:endParaRPr lang="en-US"/>
          </a:p>
        </p:txBody>
      </p:sp>
      <p:sp>
        <p:nvSpPr>
          <p:cNvPr id="7" name="Text 5"/>
          <p:cNvSpPr/>
          <p:nvPr/>
        </p:nvSpPr>
        <p:spPr>
          <a:xfrm>
            <a:off x="1371600" y="1691640"/>
            <a:ext cx="10058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val.</a:t>
            </a:r>
            <a:endParaRPr lang="en-US" sz="1300" dirty="0"/>
          </a:p>
        </p:txBody>
      </p:sp>
      <p:sp>
        <p:nvSpPr>
          <p:cNvPr id="8" name="Shape 6"/>
          <p:cNvSpPr/>
          <p:nvPr/>
        </p:nvSpPr>
        <p:spPr>
          <a:xfrm>
            <a:off x="2377440" y="1691640"/>
            <a:ext cx="1005840" cy="384048"/>
          </a:xfrm>
          <a:prstGeom prst="rect">
            <a:avLst/>
          </a:prstGeom>
          <a:solidFill>
            <a:srgbClr val="8BC34A"/>
          </a:solidFill>
          <a:ln/>
        </p:spPr>
        <p:txBody>
          <a:bodyPr/>
          <a:lstStyle/>
          <a:p>
            <a:endParaRPr lang="en-US"/>
          </a:p>
        </p:txBody>
      </p:sp>
      <p:sp>
        <p:nvSpPr>
          <p:cNvPr id="9" name="Shape 7"/>
          <p:cNvSpPr/>
          <p:nvPr/>
        </p:nvSpPr>
        <p:spPr>
          <a:xfrm>
            <a:off x="3383280" y="1691640"/>
            <a:ext cx="1005840" cy="384048"/>
          </a:xfrm>
          <a:prstGeom prst="rect">
            <a:avLst/>
          </a:prstGeom>
          <a:solidFill>
            <a:srgbClr val="8BC34A"/>
          </a:solidFill>
          <a:ln/>
        </p:spPr>
        <p:txBody>
          <a:bodyPr/>
          <a:lstStyle/>
          <a:p>
            <a:endParaRPr lang="en-US"/>
          </a:p>
        </p:txBody>
      </p:sp>
      <p:sp>
        <p:nvSpPr>
          <p:cNvPr id="10" name="Shape 8"/>
          <p:cNvSpPr/>
          <p:nvPr/>
        </p:nvSpPr>
        <p:spPr>
          <a:xfrm>
            <a:off x="4389120" y="1691640"/>
            <a:ext cx="1005840" cy="384048"/>
          </a:xfrm>
          <a:prstGeom prst="rect">
            <a:avLst/>
          </a:prstGeom>
          <a:solidFill>
            <a:srgbClr val="8BC34A"/>
          </a:solidFill>
          <a:ln/>
        </p:spPr>
        <p:txBody>
          <a:bodyPr/>
          <a:lstStyle/>
          <a:p>
            <a:endParaRPr lang="en-US"/>
          </a:p>
        </p:txBody>
      </p:sp>
      <p:sp>
        <p:nvSpPr>
          <p:cNvPr id="11" name="Shape 9"/>
          <p:cNvSpPr/>
          <p:nvPr/>
        </p:nvSpPr>
        <p:spPr>
          <a:xfrm>
            <a:off x="5394960" y="1691640"/>
            <a:ext cx="1005840" cy="384048"/>
          </a:xfrm>
          <a:prstGeom prst="rect">
            <a:avLst/>
          </a:prstGeom>
          <a:solidFill>
            <a:srgbClr val="8BC34A"/>
          </a:solidFill>
          <a:ln/>
        </p:spPr>
        <p:txBody>
          <a:bodyPr/>
          <a:lstStyle/>
          <a:p>
            <a:endParaRPr lang="en-US"/>
          </a:p>
        </p:txBody>
      </p:sp>
      <p:sp>
        <p:nvSpPr>
          <p:cNvPr id="12" name="Text 10"/>
          <p:cNvSpPr/>
          <p:nvPr/>
        </p:nvSpPr>
        <p:spPr>
          <a:xfrm>
            <a:off x="6675120" y="1691640"/>
            <a:ext cx="914400" cy="384048"/>
          </a:xfrm>
          <a:prstGeom prst="rect">
            <a:avLst/>
          </a:prstGeom>
          <a:noFill/>
          <a:ln/>
        </p:spPr>
        <p:txBody>
          <a:bodyPr wrap="square" rtlCol="0" anchor="ctr"/>
          <a:lstStyle/>
          <a:p>
            <a:pPr marL="0" indent="0" algn="ctr">
              <a:buNone/>
            </a:pPr>
            <a:r>
              <a:rPr lang="en-US" sz="1800" b="1" dirty="0">
                <a:solidFill>
                  <a:srgbClr val="C62828"/>
                </a:solidFill>
                <a:latin typeface="Calibri" pitchFamily="34" charset="0"/>
                <a:ea typeface="Calibri" pitchFamily="34" charset="-122"/>
                <a:cs typeface="Calibri" pitchFamily="34" charset="-120"/>
              </a:rPr>
              <a:t>0.3</a:t>
            </a:r>
            <a:endParaRPr lang="en-US" sz="1800" dirty="0"/>
          </a:p>
        </p:txBody>
      </p:sp>
      <p:sp>
        <p:nvSpPr>
          <p:cNvPr id="13" name="Shape 11"/>
          <p:cNvSpPr/>
          <p:nvPr/>
        </p:nvSpPr>
        <p:spPr>
          <a:xfrm>
            <a:off x="1371600" y="2148840"/>
            <a:ext cx="1005840" cy="384048"/>
          </a:xfrm>
          <a:prstGeom prst="rect">
            <a:avLst/>
          </a:prstGeom>
          <a:solidFill>
            <a:srgbClr val="8BC34A"/>
          </a:solidFill>
          <a:ln/>
        </p:spPr>
        <p:txBody>
          <a:bodyPr/>
          <a:lstStyle/>
          <a:p>
            <a:endParaRPr lang="en-US"/>
          </a:p>
        </p:txBody>
      </p:sp>
      <p:sp>
        <p:nvSpPr>
          <p:cNvPr id="14" name="Shape 12"/>
          <p:cNvSpPr/>
          <p:nvPr/>
        </p:nvSpPr>
        <p:spPr>
          <a:xfrm>
            <a:off x="2377440" y="2148840"/>
            <a:ext cx="1005840" cy="384048"/>
          </a:xfrm>
          <a:prstGeom prst="rect">
            <a:avLst/>
          </a:prstGeom>
          <a:solidFill>
            <a:srgbClr val="FF9800"/>
          </a:solidFill>
          <a:ln/>
        </p:spPr>
        <p:txBody>
          <a:bodyPr/>
          <a:lstStyle/>
          <a:p>
            <a:endParaRPr lang="en-US"/>
          </a:p>
        </p:txBody>
      </p:sp>
      <p:sp>
        <p:nvSpPr>
          <p:cNvPr id="15" name="Text 13"/>
          <p:cNvSpPr/>
          <p:nvPr/>
        </p:nvSpPr>
        <p:spPr>
          <a:xfrm>
            <a:off x="2377440" y="2148840"/>
            <a:ext cx="10058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val.</a:t>
            </a:r>
            <a:endParaRPr lang="en-US" sz="1300" dirty="0"/>
          </a:p>
        </p:txBody>
      </p:sp>
      <p:sp>
        <p:nvSpPr>
          <p:cNvPr id="16" name="Shape 14"/>
          <p:cNvSpPr/>
          <p:nvPr/>
        </p:nvSpPr>
        <p:spPr>
          <a:xfrm>
            <a:off x="3383280" y="2148840"/>
            <a:ext cx="1005840" cy="384048"/>
          </a:xfrm>
          <a:prstGeom prst="rect">
            <a:avLst/>
          </a:prstGeom>
          <a:solidFill>
            <a:srgbClr val="8BC34A"/>
          </a:solidFill>
          <a:ln/>
        </p:spPr>
        <p:txBody>
          <a:bodyPr/>
          <a:lstStyle/>
          <a:p>
            <a:endParaRPr lang="en-US"/>
          </a:p>
        </p:txBody>
      </p:sp>
      <p:sp>
        <p:nvSpPr>
          <p:cNvPr id="17" name="Shape 15"/>
          <p:cNvSpPr/>
          <p:nvPr/>
        </p:nvSpPr>
        <p:spPr>
          <a:xfrm>
            <a:off x="4389120" y="2148840"/>
            <a:ext cx="1005840" cy="384048"/>
          </a:xfrm>
          <a:prstGeom prst="rect">
            <a:avLst/>
          </a:prstGeom>
          <a:solidFill>
            <a:srgbClr val="8BC34A"/>
          </a:solidFill>
          <a:ln/>
        </p:spPr>
        <p:txBody>
          <a:bodyPr/>
          <a:lstStyle/>
          <a:p>
            <a:endParaRPr lang="en-US"/>
          </a:p>
        </p:txBody>
      </p:sp>
      <p:sp>
        <p:nvSpPr>
          <p:cNvPr id="18" name="Shape 16"/>
          <p:cNvSpPr/>
          <p:nvPr/>
        </p:nvSpPr>
        <p:spPr>
          <a:xfrm>
            <a:off x="5394960" y="2148840"/>
            <a:ext cx="1005840" cy="384048"/>
          </a:xfrm>
          <a:prstGeom prst="rect">
            <a:avLst/>
          </a:prstGeom>
          <a:solidFill>
            <a:srgbClr val="8BC34A"/>
          </a:solidFill>
          <a:ln/>
        </p:spPr>
        <p:txBody>
          <a:bodyPr/>
          <a:lstStyle/>
          <a:p>
            <a:endParaRPr lang="en-US"/>
          </a:p>
        </p:txBody>
      </p:sp>
      <p:sp>
        <p:nvSpPr>
          <p:cNvPr id="19" name="Text 17"/>
          <p:cNvSpPr/>
          <p:nvPr/>
        </p:nvSpPr>
        <p:spPr>
          <a:xfrm>
            <a:off x="6675120" y="2148840"/>
            <a:ext cx="914400" cy="384048"/>
          </a:xfrm>
          <a:prstGeom prst="rect">
            <a:avLst/>
          </a:prstGeom>
          <a:noFill/>
          <a:ln/>
        </p:spPr>
        <p:txBody>
          <a:bodyPr wrap="square" rtlCol="0" anchor="ctr"/>
          <a:lstStyle/>
          <a:p>
            <a:pPr marL="0" indent="0" algn="ctr">
              <a:buNone/>
            </a:pPr>
            <a:r>
              <a:rPr lang="en-US" sz="1800" b="1" dirty="0">
                <a:solidFill>
                  <a:srgbClr val="C62828"/>
                </a:solidFill>
                <a:latin typeface="Calibri" pitchFamily="34" charset="0"/>
                <a:ea typeface="Calibri" pitchFamily="34" charset="-122"/>
                <a:cs typeface="Calibri" pitchFamily="34" charset="-120"/>
              </a:rPr>
              <a:t>0.4</a:t>
            </a:r>
            <a:endParaRPr lang="en-US" sz="1800" dirty="0"/>
          </a:p>
        </p:txBody>
      </p:sp>
      <p:sp>
        <p:nvSpPr>
          <p:cNvPr id="20" name="Shape 18"/>
          <p:cNvSpPr/>
          <p:nvPr/>
        </p:nvSpPr>
        <p:spPr>
          <a:xfrm>
            <a:off x="1371600" y="2606040"/>
            <a:ext cx="1005840" cy="384048"/>
          </a:xfrm>
          <a:prstGeom prst="rect">
            <a:avLst/>
          </a:prstGeom>
          <a:solidFill>
            <a:srgbClr val="8BC34A"/>
          </a:solidFill>
          <a:ln/>
        </p:spPr>
        <p:txBody>
          <a:bodyPr/>
          <a:lstStyle/>
          <a:p>
            <a:endParaRPr lang="en-US"/>
          </a:p>
        </p:txBody>
      </p:sp>
      <p:sp>
        <p:nvSpPr>
          <p:cNvPr id="21" name="Shape 19"/>
          <p:cNvSpPr/>
          <p:nvPr/>
        </p:nvSpPr>
        <p:spPr>
          <a:xfrm>
            <a:off x="2377440" y="2606040"/>
            <a:ext cx="1005840" cy="384048"/>
          </a:xfrm>
          <a:prstGeom prst="rect">
            <a:avLst/>
          </a:prstGeom>
          <a:solidFill>
            <a:srgbClr val="8BC34A"/>
          </a:solidFill>
          <a:ln/>
        </p:spPr>
        <p:txBody>
          <a:bodyPr/>
          <a:lstStyle/>
          <a:p>
            <a:endParaRPr lang="en-US"/>
          </a:p>
        </p:txBody>
      </p:sp>
      <p:sp>
        <p:nvSpPr>
          <p:cNvPr id="22" name="Shape 20"/>
          <p:cNvSpPr/>
          <p:nvPr/>
        </p:nvSpPr>
        <p:spPr>
          <a:xfrm>
            <a:off x="3383280" y="2606040"/>
            <a:ext cx="1005840" cy="384048"/>
          </a:xfrm>
          <a:prstGeom prst="rect">
            <a:avLst/>
          </a:prstGeom>
          <a:solidFill>
            <a:srgbClr val="FF9800"/>
          </a:solidFill>
          <a:ln/>
        </p:spPr>
        <p:txBody>
          <a:bodyPr/>
          <a:lstStyle/>
          <a:p>
            <a:endParaRPr lang="en-US"/>
          </a:p>
        </p:txBody>
      </p:sp>
      <p:sp>
        <p:nvSpPr>
          <p:cNvPr id="23" name="Text 21"/>
          <p:cNvSpPr/>
          <p:nvPr/>
        </p:nvSpPr>
        <p:spPr>
          <a:xfrm>
            <a:off x="3383280" y="2606040"/>
            <a:ext cx="10058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val.</a:t>
            </a:r>
            <a:endParaRPr lang="en-US" sz="1300" dirty="0"/>
          </a:p>
        </p:txBody>
      </p:sp>
      <p:sp>
        <p:nvSpPr>
          <p:cNvPr id="24" name="Shape 22"/>
          <p:cNvSpPr/>
          <p:nvPr/>
        </p:nvSpPr>
        <p:spPr>
          <a:xfrm>
            <a:off x="4389120" y="2606040"/>
            <a:ext cx="1005840" cy="384048"/>
          </a:xfrm>
          <a:prstGeom prst="rect">
            <a:avLst/>
          </a:prstGeom>
          <a:solidFill>
            <a:srgbClr val="8BC34A"/>
          </a:solidFill>
          <a:ln/>
        </p:spPr>
        <p:txBody>
          <a:bodyPr/>
          <a:lstStyle/>
          <a:p>
            <a:endParaRPr lang="en-US"/>
          </a:p>
        </p:txBody>
      </p:sp>
      <p:sp>
        <p:nvSpPr>
          <p:cNvPr id="25" name="Shape 23"/>
          <p:cNvSpPr/>
          <p:nvPr/>
        </p:nvSpPr>
        <p:spPr>
          <a:xfrm>
            <a:off x="5394960" y="2606040"/>
            <a:ext cx="1005840" cy="384048"/>
          </a:xfrm>
          <a:prstGeom prst="rect">
            <a:avLst/>
          </a:prstGeom>
          <a:solidFill>
            <a:srgbClr val="8BC34A"/>
          </a:solidFill>
          <a:ln/>
        </p:spPr>
        <p:txBody>
          <a:bodyPr/>
          <a:lstStyle/>
          <a:p>
            <a:endParaRPr lang="en-US"/>
          </a:p>
        </p:txBody>
      </p:sp>
      <p:sp>
        <p:nvSpPr>
          <p:cNvPr id="26" name="Text 24"/>
          <p:cNvSpPr/>
          <p:nvPr/>
        </p:nvSpPr>
        <p:spPr>
          <a:xfrm>
            <a:off x="6675120" y="2606040"/>
            <a:ext cx="914400" cy="384048"/>
          </a:xfrm>
          <a:prstGeom prst="rect">
            <a:avLst/>
          </a:prstGeom>
          <a:noFill/>
          <a:ln/>
        </p:spPr>
        <p:txBody>
          <a:bodyPr wrap="square" rtlCol="0" anchor="ctr"/>
          <a:lstStyle/>
          <a:p>
            <a:pPr marL="0" indent="0" algn="ctr">
              <a:buNone/>
            </a:pPr>
            <a:r>
              <a:rPr lang="en-US" sz="1800" b="1" dirty="0">
                <a:solidFill>
                  <a:srgbClr val="C62828"/>
                </a:solidFill>
                <a:latin typeface="Calibri" pitchFamily="34" charset="0"/>
                <a:ea typeface="Calibri" pitchFamily="34" charset="-122"/>
                <a:cs typeface="Calibri" pitchFamily="34" charset="-120"/>
              </a:rPr>
              <a:t>0.1</a:t>
            </a:r>
            <a:endParaRPr lang="en-US" sz="1800" dirty="0"/>
          </a:p>
        </p:txBody>
      </p:sp>
      <p:sp>
        <p:nvSpPr>
          <p:cNvPr id="27" name="Shape 25"/>
          <p:cNvSpPr/>
          <p:nvPr/>
        </p:nvSpPr>
        <p:spPr>
          <a:xfrm>
            <a:off x="1371600" y="3063240"/>
            <a:ext cx="1005840" cy="384048"/>
          </a:xfrm>
          <a:prstGeom prst="rect">
            <a:avLst/>
          </a:prstGeom>
          <a:solidFill>
            <a:srgbClr val="8BC34A"/>
          </a:solidFill>
          <a:ln/>
        </p:spPr>
        <p:txBody>
          <a:bodyPr/>
          <a:lstStyle/>
          <a:p>
            <a:endParaRPr lang="en-US"/>
          </a:p>
        </p:txBody>
      </p:sp>
      <p:sp>
        <p:nvSpPr>
          <p:cNvPr id="28" name="Shape 26"/>
          <p:cNvSpPr/>
          <p:nvPr/>
        </p:nvSpPr>
        <p:spPr>
          <a:xfrm>
            <a:off x="2377440" y="3063240"/>
            <a:ext cx="1005840" cy="384048"/>
          </a:xfrm>
          <a:prstGeom prst="rect">
            <a:avLst/>
          </a:prstGeom>
          <a:solidFill>
            <a:srgbClr val="8BC34A"/>
          </a:solidFill>
          <a:ln/>
        </p:spPr>
        <p:txBody>
          <a:bodyPr/>
          <a:lstStyle/>
          <a:p>
            <a:endParaRPr lang="en-US"/>
          </a:p>
        </p:txBody>
      </p:sp>
      <p:sp>
        <p:nvSpPr>
          <p:cNvPr id="29" name="Shape 27"/>
          <p:cNvSpPr/>
          <p:nvPr/>
        </p:nvSpPr>
        <p:spPr>
          <a:xfrm>
            <a:off x="3383280" y="3063240"/>
            <a:ext cx="1005840" cy="384048"/>
          </a:xfrm>
          <a:prstGeom prst="rect">
            <a:avLst/>
          </a:prstGeom>
          <a:solidFill>
            <a:srgbClr val="8BC34A"/>
          </a:solidFill>
          <a:ln/>
        </p:spPr>
        <p:txBody>
          <a:bodyPr/>
          <a:lstStyle/>
          <a:p>
            <a:endParaRPr lang="en-US"/>
          </a:p>
        </p:txBody>
      </p:sp>
      <p:sp>
        <p:nvSpPr>
          <p:cNvPr id="30" name="Shape 28"/>
          <p:cNvSpPr/>
          <p:nvPr/>
        </p:nvSpPr>
        <p:spPr>
          <a:xfrm>
            <a:off x="4389120" y="3063240"/>
            <a:ext cx="1005840" cy="384048"/>
          </a:xfrm>
          <a:prstGeom prst="rect">
            <a:avLst/>
          </a:prstGeom>
          <a:solidFill>
            <a:srgbClr val="FF9800"/>
          </a:solidFill>
          <a:ln/>
        </p:spPr>
        <p:txBody>
          <a:bodyPr/>
          <a:lstStyle/>
          <a:p>
            <a:endParaRPr lang="en-US"/>
          </a:p>
        </p:txBody>
      </p:sp>
      <p:sp>
        <p:nvSpPr>
          <p:cNvPr id="31" name="Text 29"/>
          <p:cNvSpPr/>
          <p:nvPr/>
        </p:nvSpPr>
        <p:spPr>
          <a:xfrm>
            <a:off x="4389120" y="3063240"/>
            <a:ext cx="10058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val.</a:t>
            </a:r>
            <a:endParaRPr lang="en-US" sz="1300" dirty="0"/>
          </a:p>
        </p:txBody>
      </p:sp>
      <p:sp>
        <p:nvSpPr>
          <p:cNvPr id="32" name="Shape 30"/>
          <p:cNvSpPr/>
          <p:nvPr/>
        </p:nvSpPr>
        <p:spPr>
          <a:xfrm>
            <a:off x="5394960" y="3063240"/>
            <a:ext cx="1005840" cy="384048"/>
          </a:xfrm>
          <a:prstGeom prst="rect">
            <a:avLst/>
          </a:prstGeom>
          <a:solidFill>
            <a:srgbClr val="8BC34A"/>
          </a:solidFill>
          <a:ln/>
        </p:spPr>
        <p:txBody>
          <a:bodyPr/>
          <a:lstStyle/>
          <a:p>
            <a:endParaRPr lang="en-US"/>
          </a:p>
        </p:txBody>
      </p:sp>
      <p:sp>
        <p:nvSpPr>
          <p:cNvPr id="33" name="Text 31"/>
          <p:cNvSpPr/>
          <p:nvPr/>
        </p:nvSpPr>
        <p:spPr>
          <a:xfrm>
            <a:off x="6675120" y="3063240"/>
            <a:ext cx="914400" cy="384048"/>
          </a:xfrm>
          <a:prstGeom prst="rect">
            <a:avLst/>
          </a:prstGeom>
          <a:noFill/>
          <a:ln/>
        </p:spPr>
        <p:txBody>
          <a:bodyPr wrap="square" rtlCol="0" anchor="ctr"/>
          <a:lstStyle/>
          <a:p>
            <a:pPr marL="0" indent="0" algn="ctr">
              <a:buNone/>
            </a:pPr>
            <a:r>
              <a:rPr lang="en-US" sz="1800" b="1" dirty="0">
                <a:solidFill>
                  <a:srgbClr val="C62828"/>
                </a:solidFill>
                <a:latin typeface="Calibri" pitchFamily="34" charset="0"/>
                <a:ea typeface="Calibri" pitchFamily="34" charset="-122"/>
                <a:cs typeface="Calibri" pitchFamily="34" charset="-120"/>
              </a:rPr>
              <a:t>0.3</a:t>
            </a:r>
            <a:endParaRPr lang="en-US" sz="1800" dirty="0"/>
          </a:p>
        </p:txBody>
      </p:sp>
      <p:sp>
        <p:nvSpPr>
          <p:cNvPr id="34" name="Shape 32"/>
          <p:cNvSpPr/>
          <p:nvPr/>
        </p:nvSpPr>
        <p:spPr>
          <a:xfrm>
            <a:off x="1371600" y="3520440"/>
            <a:ext cx="1005840" cy="384048"/>
          </a:xfrm>
          <a:prstGeom prst="rect">
            <a:avLst/>
          </a:prstGeom>
          <a:solidFill>
            <a:srgbClr val="8BC34A"/>
          </a:solidFill>
          <a:ln/>
        </p:spPr>
        <p:txBody>
          <a:bodyPr/>
          <a:lstStyle/>
          <a:p>
            <a:endParaRPr lang="en-US"/>
          </a:p>
        </p:txBody>
      </p:sp>
      <p:sp>
        <p:nvSpPr>
          <p:cNvPr id="35" name="Shape 33"/>
          <p:cNvSpPr/>
          <p:nvPr/>
        </p:nvSpPr>
        <p:spPr>
          <a:xfrm>
            <a:off x="2377440" y="3520440"/>
            <a:ext cx="1005840" cy="384048"/>
          </a:xfrm>
          <a:prstGeom prst="rect">
            <a:avLst/>
          </a:prstGeom>
          <a:solidFill>
            <a:srgbClr val="8BC34A"/>
          </a:solidFill>
          <a:ln/>
        </p:spPr>
        <p:txBody>
          <a:bodyPr/>
          <a:lstStyle/>
          <a:p>
            <a:endParaRPr lang="en-US"/>
          </a:p>
        </p:txBody>
      </p:sp>
      <p:sp>
        <p:nvSpPr>
          <p:cNvPr id="36" name="Shape 34"/>
          <p:cNvSpPr/>
          <p:nvPr/>
        </p:nvSpPr>
        <p:spPr>
          <a:xfrm>
            <a:off x="3383280" y="3520440"/>
            <a:ext cx="1005840" cy="384048"/>
          </a:xfrm>
          <a:prstGeom prst="rect">
            <a:avLst/>
          </a:prstGeom>
          <a:solidFill>
            <a:srgbClr val="8BC34A"/>
          </a:solidFill>
          <a:ln/>
        </p:spPr>
        <p:txBody>
          <a:bodyPr/>
          <a:lstStyle/>
          <a:p>
            <a:endParaRPr lang="en-US"/>
          </a:p>
        </p:txBody>
      </p:sp>
      <p:sp>
        <p:nvSpPr>
          <p:cNvPr id="37" name="Shape 35"/>
          <p:cNvSpPr/>
          <p:nvPr/>
        </p:nvSpPr>
        <p:spPr>
          <a:xfrm>
            <a:off x="4389120" y="3520440"/>
            <a:ext cx="1005840" cy="384048"/>
          </a:xfrm>
          <a:prstGeom prst="rect">
            <a:avLst/>
          </a:prstGeom>
          <a:solidFill>
            <a:srgbClr val="8BC34A"/>
          </a:solidFill>
          <a:ln/>
        </p:spPr>
        <p:txBody>
          <a:bodyPr/>
          <a:lstStyle/>
          <a:p>
            <a:endParaRPr lang="en-US"/>
          </a:p>
        </p:txBody>
      </p:sp>
      <p:sp>
        <p:nvSpPr>
          <p:cNvPr id="38" name="Shape 36"/>
          <p:cNvSpPr/>
          <p:nvPr/>
        </p:nvSpPr>
        <p:spPr>
          <a:xfrm>
            <a:off x="5394960" y="3520440"/>
            <a:ext cx="1005840" cy="384048"/>
          </a:xfrm>
          <a:prstGeom prst="rect">
            <a:avLst/>
          </a:prstGeom>
          <a:solidFill>
            <a:srgbClr val="FF9800"/>
          </a:solidFill>
          <a:ln/>
        </p:spPr>
        <p:txBody>
          <a:bodyPr/>
          <a:lstStyle/>
          <a:p>
            <a:endParaRPr lang="en-US"/>
          </a:p>
        </p:txBody>
      </p:sp>
      <p:sp>
        <p:nvSpPr>
          <p:cNvPr id="39" name="Text 37"/>
          <p:cNvSpPr/>
          <p:nvPr/>
        </p:nvSpPr>
        <p:spPr>
          <a:xfrm>
            <a:off x="5394960" y="3520440"/>
            <a:ext cx="10058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val.</a:t>
            </a:r>
            <a:endParaRPr lang="en-US" sz="1300" dirty="0"/>
          </a:p>
        </p:txBody>
      </p:sp>
      <p:sp>
        <p:nvSpPr>
          <p:cNvPr id="40" name="Text 38"/>
          <p:cNvSpPr/>
          <p:nvPr/>
        </p:nvSpPr>
        <p:spPr>
          <a:xfrm>
            <a:off x="6675120" y="3520440"/>
            <a:ext cx="914400" cy="384048"/>
          </a:xfrm>
          <a:prstGeom prst="rect">
            <a:avLst/>
          </a:prstGeom>
          <a:noFill/>
          <a:ln/>
        </p:spPr>
        <p:txBody>
          <a:bodyPr wrap="square" rtlCol="0" anchor="ctr"/>
          <a:lstStyle/>
          <a:p>
            <a:pPr marL="0" indent="0" algn="ctr">
              <a:buNone/>
            </a:pPr>
            <a:r>
              <a:rPr lang="en-US" sz="1800" b="1" dirty="0">
                <a:solidFill>
                  <a:srgbClr val="C62828"/>
                </a:solidFill>
                <a:latin typeface="Calibri" pitchFamily="34" charset="0"/>
                <a:ea typeface="Calibri" pitchFamily="34" charset="-122"/>
                <a:cs typeface="Calibri" pitchFamily="34" charset="-120"/>
              </a:rPr>
              <a:t>0.4</a:t>
            </a:r>
            <a:endParaRPr lang="en-US" sz="1800" dirty="0"/>
          </a:p>
        </p:txBody>
      </p:sp>
      <p:sp>
        <p:nvSpPr>
          <p:cNvPr id="41" name="Shape 39"/>
          <p:cNvSpPr/>
          <p:nvPr/>
        </p:nvSpPr>
        <p:spPr>
          <a:xfrm>
            <a:off x="6400800" y="4069080"/>
            <a:ext cx="1463040" cy="0"/>
          </a:xfrm>
          <a:prstGeom prst="line">
            <a:avLst/>
          </a:prstGeom>
          <a:noFill/>
          <a:ln w="19050">
            <a:solidFill>
              <a:srgbClr val="C62828"/>
            </a:solidFill>
            <a:prstDash val="solid"/>
          </a:ln>
        </p:spPr>
        <p:txBody>
          <a:bodyPr/>
          <a:lstStyle/>
          <a:p>
            <a:endParaRPr lang="en-US"/>
          </a:p>
        </p:txBody>
      </p:sp>
      <p:sp>
        <p:nvSpPr>
          <p:cNvPr id="42" name="Text 40"/>
          <p:cNvSpPr/>
          <p:nvPr/>
        </p:nvSpPr>
        <p:spPr>
          <a:xfrm>
            <a:off x="6400800" y="4114800"/>
            <a:ext cx="1463040" cy="274320"/>
          </a:xfrm>
          <a:prstGeom prst="rect">
            <a:avLst/>
          </a:prstGeom>
          <a:noFill/>
          <a:ln/>
        </p:spPr>
        <p:txBody>
          <a:bodyPr wrap="square" rtlCol="0" anchor="ctr"/>
          <a:lstStyle/>
          <a:p>
            <a:pPr marL="0" indent="0" algn="ctr">
              <a:buNone/>
            </a:pPr>
            <a:r>
              <a:rPr lang="en-US" sz="1200" i="1" dirty="0">
                <a:solidFill>
                  <a:srgbClr val="C62828"/>
                </a:solidFill>
                <a:latin typeface="Calibri" pitchFamily="34" charset="0"/>
                <a:ea typeface="Calibri" pitchFamily="34" charset="-122"/>
                <a:cs typeface="Calibri" pitchFamily="34" charset="-120"/>
              </a:rPr>
              <a:t>average</a:t>
            </a:r>
            <a:endParaRPr lang="en-US" sz="1200" dirty="0"/>
          </a:p>
        </p:txBody>
      </p:sp>
      <p:sp>
        <p:nvSpPr>
          <p:cNvPr id="43" name="Text 41"/>
          <p:cNvSpPr/>
          <p:nvPr/>
        </p:nvSpPr>
        <p:spPr>
          <a:xfrm>
            <a:off x="6400800" y="4343400"/>
            <a:ext cx="1463040" cy="365760"/>
          </a:xfrm>
          <a:prstGeom prst="rect">
            <a:avLst/>
          </a:prstGeom>
          <a:noFill/>
          <a:ln/>
        </p:spPr>
        <p:txBody>
          <a:bodyPr wrap="square" rtlCol="0" anchor="ctr"/>
          <a:lstStyle/>
          <a:p>
            <a:pPr marL="0" indent="0" algn="ctr">
              <a:buNone/>
            </a:pPr>
            <a:r>
              <a:rPr lang="en-US" sz="2200" b="1" dirty="0">
                <a:solidFill>
                  <a:srgbClr val="C62828"/>
                </a:solidFill>
                <a:latin typeface="Calibri" pitchFamily="34" charset="0"/>
                <a:ea typeface="Calibri" pitchFamily="34" charset="-122"/>
                <a:cs typeface="Calibri" pitchFamily="34" charset="-120"/>
              </a:rPr>
              <a:t>0.3</a:t>
            </a:r>
            <a:endParaRPr lang="en-US" sz="2200" dirty="0"/>
          </a:p>
        </p:txBody>
      </p:sp>
      <p:sp>
        <p:nvSpPr>
          <p:cNvPr id="44" name="Text 42"/>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457200" y="274320"/>
            <a:ext cx="8229600" cy="594360"/>
          </a:xfrm>
          <a:prstGeom prst="rect">
            <a:avLst/>
          </a:prstGeom>
          <a:solidFill>
            <a:srgbClr val="2E7D32"/>
          </a:solidFill>
          <a:ln/>
        </p:spPr>
        <p:txBody>
          <a:bodyPr/>
          <a:lstStyle/>
          <a:p>
            <a:endParaRPr lang="en-US"/>
          </a:p>
        </p:txBody>
      </p:sp>
      <p:sp>
        <p:nvSpPr>
          <p:cNvPr id="3" name="Text 1"/>
          <p:cNvSpPr/>
          <p:nvPr/>
        </p:nvSpPr>
        <p:spPr>
          <a:xfrm>
            <a:off x="457200" y="274320"/>
            <a:ext cx="822960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temporal data: walk-forward validation</a:t>
            </a:r>
            <a:endParaRPr lang="en-US" sz="2400" dirty="0"/>
          </a:p>
        </p:txBody>
      </p:sp>
      <p:sp>
        <p:nvSpPr>
          <p:cNvPr id="4" name="Text 2"/>
          <p:cNvSpPr/>
          <p:nvPr/>
        </p:nvSpPr>
        <p:spPr>
          <a:xfrm>
            <a:off x="3200400" y="1005840"/>
            <a:ext cx="2743200" cy="320040"/>
          </a:xfrm>
          <a:prstGeom prst="rect">
            <a:avLst/>
          </a:prstGeom>
          <a:noFill/>
          <a:ln/>
        </p:spPr>
        <p:txBody>
          <a:bodyPr wrap="square" rtlCol="0" anchor="ctr"/>
          <a:lstStyle/>
          <a:p>
            <a:pPr marL="0" indent="0" algn="ctr">
              <a:buNone/>
            </a:pPr>
            <a:r>
              <a:rPr lang="en-US" sz="1400" dirty="0">
                <a:solidFill>
                  <a:srgbClr val="616161"/>
                </a:solidFill>
                <a:latin typeface="Calibri" pitchFamily="34" charset="0"/>
                <a:ea typeface="Calibri" pitchFamily="34" charset="-122"/>
                <a:cs typeface="Calibri" pitchFamily="34" charset="-120"/>
              </a:rPr>
              <a:t>time</a:t>
            </a:r>
            <a:endParaRPr lang="en-US" sz="1400" dirty="0"/>
          </a:p>
        </p:txBody>
      </p:sp>
      <p:sp>
        <p:nvSpPr>
          <p:cNvPr id="5" name="Shape 3"/>
          <p:cNvSpPr/>
          <p:nvPr/>
        </p:nvSpPr>
        <p:spPr>
          <a:xfrm>
            <a:off x="1371600" y="1325880"/>
            <a:ext cx="5029200" cy="0"/>
          </a:xfrm>
          <a:prstGeom prst="line">
            <a:avLst/>
          </a:prstGeom>
          <a:noFill/>
          <a:ln w="19050">
            <a:solidFill>
              <a:srgbClr val="616161"/>
            </a:solidFill>
            <a:prstDash val="solid"/>
          </a:ln>
        </p:spPr>
        <p:txBody>
          <a:bodyPr/>
          <a:lstStyle/>
          <a:p>
            <a:endParaRPr lang="en-US"/>
          </a:p>
        </p:txBody>
      </p:sp>
      <p:sp>
        <p:nvSpPr>
          <p:cNvPr id="6" name="Text 4"/>
          <p:cNvSpPr/>
          <p:nvPr/>
        </p:nvSpPr>
        <p:spPr>
          <a:xfrm>
            <a:off x="6126480" y="1143000"/>
            <a:ext cx="457200" cy="365760"/>
          </a:xfrm>
          <a:prstGeom prst="rect">
            <a:avLst/>
          </a:prstGeom>
          <a:noFill/>
          <a:ln/>
        </p:spPr>
        <p:txBody>
          <a:bodyPr wrap="square" rtlCol="0" anchor="ctr"/>
          <a:lstStyle/>
          <a:p>
            <a:pPr marL="0" indent="0">
              <a:buNone/>
            </a:pPr>
            <a:r>
              <a:rPr lang="en-US" sz="2000" dirty="0">
                <a:solidFill>
                  <a:srgbClr val="616161"/>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1371600" y="1463040"/>
            <a:ext cx="5029200" cy="384048"/>
          </a:xfrm>
          <a:prstGeom prst="rect">
            <a:avLst/>
          </a:prstGeom>
          <a:solidFill>
            <a:srgbClr val="8BC34A"/>
          </a:solidFill>
          <a:ln/>
        </p:spPr>
        <p:txBody>
          <a:bodyPr/>
          <a:lstStyle/>
          <a:p>
            <a:endParaRPr lang="en-US"/>
          </a:p>
        </p:txBody>
      </p:sp>
      <p:sp>
        <p:nvSpPr>
          <p:cNvPr id="8" name="Text 6"/>
          <p:cNvSpPr/>
          <p:nvPr/>
        </p:nvSpPr>
        <p:spPr>
          <a:xfrm>
            <a:off x="1371600" y="1463040"/>
            <a:ext cx="5029200" cy="384048"/>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training data</a:t>
            </a:r>
            <a:endParaRPr lang="en-US" sz="1600" dirty="0"/>
          </a:p>
        </p:txBody>
      </p:sp>
      <p:sp>
        <p:nvSpPr>
          <p:cNvPr id="9" name="Shape 7"/>
          <p:cNvSpPr/>
          <p:nvPr/>
        </p:nvSpPr>
        <p:spPr>
          <a:xfrm>
            <a:off x="1371600" y="2011680"/>
            <a:ext cx="1371600" cy="384048"/>
          </a:xfrm>
          <a:prstGeom prst="rect">
            <a:avLst/>
          </a:prstGeom>
          <a:solidFill>
            <a:srgbClr val="8BC34A"/>
          </a:solidFill>
          <a:ln/>
        </p:spPr>
        <p:txBody>
          <a:bodyPr/>
          <a:lstStyle/>
          <a:p>
            <a:endParaRPr lang="en-US"/>
          </a:p>
        </p:txBody>
      </p:sp>
      <p:sp>
        <p:nvSpPr>
          <p:cNvPr id="10" name="Text 8"/>
          <p:cNvSpPr/>
          <p:nvPr/>
        </p:nvSpPr>
        <p:spPr>
          <a:xfrm>
            <a:off x="1371600" y="2011680"/>
            <a:ext cx="1371600" cy="384048"/>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train</a:t>
            </a:r>
            <a:endParaRPr lang="en-US" sz="1600" dirty="0"/>
          </a:p>
        </p:txBody>
      </p:sp>
      <p:sp>
        <p:nvSpPr>
          <p:cNvPr id="11" name="Shape 9"/>
          <p:cNvSpPr/>
          <p:nvPr/>
        </p:nvSpPr>
        <p:spPr>
          <a:xfrm>
            <a:off x="2743200" y="2011680"/>
            <a:ext cx="457200" cy="384048"/>
          </a:xfrm>
          <a:prstGeom prst="rect">
            <a:avLst/>
          </a:prstGeom>
          <a:solidFill>
            <a:srgbClr val="FF9800"/>
          </a:solidFill>
          <a:ln/>
        </p:spPr>
        <p:txBody>
          <a:bodyPr/>
          <a:lstStyle/>
          <a:p>
            <a:endParaRPr lang="en-US"/>
          </a:p>
        </p:txBody>
      </p:sp>
      <p:sp>
        <p:nvSpPr>
          <p:cNvPr id="12" name="Text 10"/>
          <p:cNvSpPr/>
          <p:nvPr/>
        </p:nvSpPr>
        <p:spPr>
          <a:xfrm>
            <a:off x="2743200" y="2011680"/>
            <a:ext cx="457200" cy="384048"/>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v</a:t>
            </a:r>
            <a:endParaRPr lang="en-US" sz="1600" dirty="0"/>
          </a:p>
        </p:txBody>
      </p:sp>
      <p:sp>
        <p:nvSpPr>
          <p:cNvPr id="13" name="Text 11"/>
          <p:cNvSpPr/>
          <p:nvPr/>
        </p:nvSpPr>
        <p:spPr>
          <a:xfrm>
            <a:off x="6675120" y="2011680"/>
            <a:ext cx="914400" cy="384048"/>
          </a:xfrm>
          <a:prstGeom prst="rect">
            <a:avLst/>
          </a:prstGeom>
          <a:noFill/>
          <a:ln/>
        </p:spPr>
        <p:txBody>
          <a:bodyPr wrap="square" rtlCol="0" anchor="ctr"/>
          <a:lstStyle/>
          <a:p>
            <a:pPr marL="0" indent="0" algn="ctr">
              <a:buNone/>
            </a:pPr>
            <a:r>
              <a:rPr lang="en-US" sz="1800" b="1" dirty="0">
                <a:solidFill>
                  <a:srgbClr val="C62828"/>
                </a:solidFill>
                <a:latin typeface="Calibri" pitchFamily="34" charset="0"/>
                <a:ea typeface="Calibri" pitchFamily="34" charset="-122"/>
                <a:cs typeface="Calibri" pitchFamily="34" charset="-120"/>
              </a:rPr>
              <a:t>0.4</a:t>
            </a:r>
            <a:endParaRPr lang="en-US" sz="1800" dirty="0"/>
          </a:p>
        </p:txBody>
      </p:sp>
      <p:sp>
        <p:nvSpPr>
          <p:cNvPr id="14" name="Shape 12"/>
          <p:cNvSpPr/>
          <p:nvPr/>
        </p:nvSpPr>
        <p:spPr>
          <a:xfrm>
            <a:off x="1371600" y="2487168"/>
            <a:ext cx="2286000" cy="384048"/>
          </a:xfrm>
          <a:prstGeom prst="rect">
            <a:avLst/>
          </a:prstGeom>
          <a:solidFill>
            <a:srgbClr val="8BC34A"/>
          </a:solidFill>
          <a:ln/>
        </p:spPr>
        <p:txBody>
          <a:bodyPr/>
          <a:lstStyle/>
          <a:p>
            <a:endParaRPr lang="en-US"/>
          </a:p>
        </p:txBody>
      </p:sp>
      <p:sp>
        <p:nvSpPr>
          <p:cNvPr id="15" name="Text 13"/>
          <p:cNvSpPr/>
          <p:nvPr/>
        </p:nvSpPr>
        <p:spPr>
          <a:xfrm>
            <a:off x="1371600" y="2487168"/>
            <a:ext cx="2286000" cy="384048"/>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train</a:t>
            </a:r>
            <a:endParaRPr lang="en-US" sz="1600" dirty="0"/>
          </a:p>
        </p:txBody>
      </p:sp>
      <p:sp>
        <p:nvSpPr>
          <p:cNvPr id="16" name="Shape 14"/>
          <p:cNvSpPr/>
          <p:nvPr/>
        </p:nvSpPr>
        <p:spPr>
          <a:xfrm>
            <a:off x="3657600" y="2487168"/>
            <a:ext cx="457200" cy="384048"/>
          </a:xfrm>
          <a:prstGeom prst="rect">
            <a:avLst/>
          </a:prstGeom>
          <a:solidFill>
            <a:srgbClr val="FF9800"/>
          </a:solidFill>
          <a:ln/>
        </p:spPr>
        <p:txBody>
          <a:bodyPr/>
          <a:lstStyle/>
          <a:p>
            <a:endParaRPr lang="en-US"/>
          </a:p>
        </p:txBody>
      </p:sp>
      <p:sp>
        <p:nvSpPr>
          <p:cNvPr id="17" name="Text 15"/>
          <p:cNvSpPr/>
          <p:nvPr/>
        </p:nvSpPr>
        <p:spPr>
          <a:xfrm>
            <a:off x="3657600" y="2487168"/>
            <a:ext cx="457200" cy="384048"/>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v</a:t>
            </a:r>
            <a:endParaRPr lang="en-US" sz="1600" dirty="0"/>
          </a:p>
        </p:txBody>
      </p:sp>
      <p:sp>
        <p:nvSpPr>
          <p:cNvPr id="18" name="Text 16"/>
          <p:cNvSpPr/>
          <p:nvPr/>
        </p:nvSpPr>
        <p:spPr>
          <a:xfrm>
            <a:off x="6675120" y="2487168"/>
            <a:ext cx="914400" cy="384048"/>
          </a:xfrm>
          <a:prstGeom prst="rect">
            <a:avLst/>
          </a:prstGeom>
          <a:noFill/>
          <a:ln/>
        </p:spPr>
        <p:txBody>
          <a:bodyPr wrap="square" rtlCol="0" anchor="ctr"/>
          <a:lstStyle/>
          <a:p>
            <a:pPr marL="0" indent="0" algn="ctr">
              <a:buNone/>
            </a:pPr>
            <a:r>
              <a:rPr lang="en-US" sz="1800" b="1" dirty="0">
                <a:solidFill>
                  <a:srgbClr val="C62828"/>
                </a:solidFill>
                <a:latin typeface="Calibri" pitchFamily="34" charset="0"/>
                <a:ea typeface="Calibri" pitchFamily="34" charset="-122"/>
                <a:cs typeface="Calibri" pitchFamily="34" charset="-120"/>
              </a:rPr>
              <a:t>0.1</a:t>
            </a:r>
            <a:endParaRPr lang="en-US" sz="1800" dirty="0"/>
          </a:p>
        </p:txBody>
      </p:sp>
      <p:sp>
        <p:nvSpPr>
          <p:cNvPr id="19" name="Shape 17"/>
          <p:cNvSpPr/>
          <p:nvPr/>
        </p:nvSpPr>
        <p:spPr>
          <a:xfrm>
            <a:off x="1371600" y="2962656"/>
            <a:ext cx="3200400" cy="384048"/>
          </a:xfrm>
          <a:prstGeom prst="rect">
            <a:avLst/>
          </a:prstGeom>
          <a:solidFill>
            <a:srgbClr val="8BC34A"/>
          </a:solidFill>
          <a:ln/>
        </p:spPr>
        <p:txBody>
          <a:bodyPr/>
          <a:lstStyle/>
          <a:p>
            <a:endParaRPr lang="en-US"/>
          </a:p>
        </p:txBody>
      </p:sp>
      <p:sp>
        <p:nvSpPr>
          <p:cNvPr id="20" name="Text 18"/>
          <p:cNvSpPr/>
          <p:nvPr/>
        </p:nvSpPr>
        <p:spPr>
          <a:xfrm>
            <a:off x="1371600" y="2962656"/>
            <a:ext cx="3200400" cy="384048"/>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train</a:t>
            </a:r>
            <a:endParaRPr lang="en-US" sz="1600" dirty="0"/>
          </a:p>
        </p:txBody>
      </p:sp>
      <p:sp>
        <p:nvSpPr>
          <p:cNvPr id="21" name="Shape 19"/>
          <p:cNvSpPr/>
          <p:nvPr/>
        </p:nvSpPr>
        <p:spPr>
          <a:xfrm>
            <a:off x="4572000" y="2962656"/>
            <a:ext cx="457200" cy="384048"/>
          </a:xfrm>
          <a:prstGeom prst="rect">
            <a:avLst/>
          </a:prstGeom>
          <a:solidFill>
            <a:srgbClr val="FF9800"/>
          </a:solidFill>
          <a:ln/>
        </p:spPr>
        <p:txBody>
          <a:bodyPr/>
          <a:lstStyle/>
          <a:p>
            <a:endParaRPr lang="en-US"/>
          </a:p>
        </p:txBody>
      </p:sp>
      <p:sp>
        <p:nvSpPr>
          <p:cNvPr id="22" name="Text 20"/>
          <p:cNvSpPr/>
          <p:nvPr/>
        </p:nvSpPr>
        <p:spPr>
          <a:xfrm>
            <a:off x="4572000" y="2962656"/>
            <a:ext cx="457200" cy="384048"/>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v</a:t>
            </a:r>
            <a:endParaRPr lang="en-US" sz="1600" dirty="0"/>
          </a:p>
        </p:txBody>
      </p:sp>
      <p:sp>
        <p:nvSpPr>
          <p:cNvPr id="23" name="Text 21"/>
          <p:cNvSpPr/>
          <p:nvPr/>
        </p:nvSpPr>
        <p:spPr>
          <a:xfrm>
            <a:off x="6675120" y="2962656"/>
            <a:ext cx="914400" cy="384048"/>
          </a:xfrm>
          <a:prstGeom prst="rect">
            <a:avLst/>
          </a:prstGeom>
          <a:noFill/>
          <a:ln/>
        </p:spPr>
        <p:txBody>
          <a:bodyPr wrap="square" rtlCol="0" anchor="ctr"/>
          <a:lstStyle/>
          <a:p>
            <a:pPr marL="0" indent="0" algn="ctr">
              <a:buNone/>
            </a:pPr>
            <a:r>
              <a:rPr lang="en-US" sz="1800" b="1" dirty="0">
                <a:solidFill>
                  <a:srgbClr val="C62828"/>
                </a:solidFill>
                <a:latin typeface="Calibri" pitchFamily="34" charset="0"/>
                <a:ea typeface="Calibri" pitchFamily="34" charset="-122"/>
                <a:cs typeface="Calibri" pitchFamily="34" charset="-120"/>
              </a:rPr>
              <a:t>0.3</a:t>
            </a:r>
            <a:endParaRPr lang="en-US" sz="1800" dirty="0"/>
          </a:p>
        </p:txBody>
      </p:sp>
      <p:sp>
        <p:nvSpPr>
          <p:cNvPr id="24" name="Shape 22"/>
          <p:cNvSpPr/>
          <p:nvPr/>
        </p:nvSpPr>
        <p:spPr>
          <a:xfrm>
            <a:off x="1371600" y="3438144"/>
            <a:ext cx="4572000" cy="384048"/>
          </a:xfrm>
          <a:prstGeom prst="rect">
            <a:avLst/>
          </a:prstGeom>
          <a:solidFill>
            <a:srgbClr val="8BC34A"/>
          </a:solidFill>
          <a:ln/>
        </p:spPr>
        <p:txBody>
          <a:bodyPr/>
          <a:lstStyle/>
          <a:p>
            <a:endParaRPr lang="en-US"/>
          </a:p>
        </p:txBody>
      </p:sp>
      <p:sp>
        <p:nvSpPr>
          <p:cNvPr id="25" name="Text 23"/>
          <p:cNvSpPr/>
          <p:nvPr/>
        </p:nvSpPr>
        <p:spPr>
          <a:xfrm>
            <a:off x="1371600" y="3438144"/>
            <a:ext cx="4572000" cy="384048"/>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train</a:t>
            </a:r>
            <a:endParaRPr lang="en-US" sz="1600" dirty="0"/>
          </a:p>
        </p:txBody>
      </p:sp>
      <p:sp>
        <p:nvSpPr>
          <p:cNvPr id="26" name="Shape 24"/>
          <p:cNvSpPr/>
          <p:nvPr/>
        </p:nvSpPr>
        <p:spPr>
          <a:xfrm>
            <a:off x="5943600" y="3438144"/>
            <a:ext cx="457200" cy="384048"/>
          </a:xfrm>
          <a:prstGeom prst="rect">
            <a:avLst/>
          </a:prstGeom>
          <a:solidFill>
            <a:srgbClr val="FF9800"/>
          </a:solidFill>
          <a:ln/>
        </p:spPr>
        <p:txBody>
          <a:bodyPr/>
          <a:lstStyle/>
          <a:p>
            <a:endParaRPr lang="en-US"/>
          </a:p>
        </p:txBody>
      </p:sp>
      <p:sp>
        <p:nvSpPr>
          <p:cNvPr id="27" name="Text 25"/>
          <p:cNvSpPr/>
          <p:nvPr/>
        </p:nvSpPr>
        <p:spPr>
          <a:xfrm>
            <a:off x="5943600" y="3438144"/>
            <a:ext cx="457200" cy="384048"/>
          </a:xfrm>
          <a:prstGeom prst="rect">
            <a:avLst/>
          </a:prstGeom>
          <a:noFill/>
          <a:ln/>
        </p:spPr>
        <p:txBody>
          <a:bodyPr wrap="square" rtlCol="0" anchor="ctr"/>
          <a:lstStyle/>
          <a:p>
            <a:pPr marL="0" indent="0" algn="ctr">
              <a:buNone/>
            </a:pPr>
            <a:r>
              <a:rPr lang="en-US" sz="1600" b="1" dirty="0">
                <a:solidFill>
                  <a:srgbClr val="212121"/>
                </a:solidFill>
                <a:latin typeface="Calibri" pitchFamily="34" charset="0"/>
                <a:ea typeface="Calibri" pitchFamily="34" charset="-122"/>
                <a:cs typeface="Calibri" pitchFamily="34" charset="-120"/>
              </a:rPr>
              <a:t>v</a:t>
            </a:r>
            <a:endParaRPr lang="en-US" sz="1600" dirty="0"/>
          </a:p>
        </p:txBody>
      </p:sp>
      <p:sp>
        <p:nvSpPr>
          <p:cNvPr id="28" name="Text 26"/>
          <p:cNvSpPr/>
          <p:nvPr/>
        </p:nvSpPr>
        <p:spPr>
          <a:xfrm>
            <a:off x="6675120" y="3438144"/>
            <a:ext cx="914400" cy="384048"/>
          </a:xfrm>
          <a:prstGeom prst="rect">
            <a:avLst/>
          </a:prstGeom>
          <a:noFill/>
          <a:ln/>
        </p:spPr>
        <p:txBody>
          <a:bodyPr wrap="square" rtlCol="0" anchor="ctr"/>
          <a:lstStyle/>
          <a:p>
            <a:pPr marL="0" indent="0" algn="ctr">
              <a:buNone/>
            </a:pPr>
            <a:r>
              <a:rPr lang="en-US" sz="1800" b="1" dirty="0">
                <a:solidFill>
                  <a:srgbClr val="C62828"/>
                </a:solidFill>
                <a:latin typeface="Calibri" pitchFamily="34" charset="0"/>
                <a:ea typeface="Calibri" pitchFamily="34" charset="-122"/>
                <a:cs typeface="Calibri" pitchFamily="34" charset="-120"/>
              </a:rPr>
              <a:t>0.4</a:t>
            </a:r>
            <a:endParaRPr lang="en-US" sz="1800" dirty="0"/>
          </a:p>
        </p:txBody>
      </p:sp>
      <p:sp>
        <p:nvSpPr>
          <p:cNvPr id="29" name="Text 27"/>
          <p:cNvSpPr/>
          <p:nvPr/>
        </p:nvSpPr>
        <p:spPr>
          <a:xfrm>
            <a:off x="2743200" y="3575304"/>
            <a:ext cx="914400" cy="365760"/>
          </a:xfrm>
          <a:prstGeom prst="rect">
            <a:avLst/>
          </a:prstGeom>
          <a:noFill/>
          <a:ln/>
        </p:spPr>
        <p:txBody>
          <a:bodyPr wrap="square" rtlCol="0" anchor="ctr"/>
          <a:lstStyle/>
          <a:p>
            <a:pPr marL="0" indent="0" algn="ctr">
              <a:buNone/>
            </a:pPr>
            <a:r>
              <a:rPr lang="en-US" sz="2000" dirty="0">
                <a:solidFill>
                  <a:srgbClr val="616161"/>
                </a:solidFill>
                <a:latin typeface="Calibri" pitchFamily="34" charset="0"/>
                <a:ea typeface="Calibri" pitchFamily="34" charset="-122"/>
                <a:cs typeface="Calibri" pitchFamily="34" charset="-120"/>
              </a:rPr>
              <a:t>⋮</a:t>
            </a:r>
            <a:endParaRPr lang="en-US" sz="2000" dirty="0"/>
          </a:p>
        </p:txBody>
      </p:sp>
      <p:sp>
        <p:nvSpPr>
          <p:cNvPr id="30" name="Text 28"/>
          <p:cNvSpPr/>
          <p:nvPr/>
        </p:nvSpPr>
        <p:spPr>
          <a:xfrm>
            <a:off x="6675120" y="3575304"/>
            <a:ext cx="914400" cy="365760"/>
          </a:xfrm>
          <a:prstGeom prst="rect">
            <a:avLst/>
          </a:prstGeom>
          <a:noFill/>
          <a:ln/>
        </p:spPr>
        <p:txBody>
          <a:bodyPr wrap="square" rtlCol="0" anchor="ctr"/>
          <a:lstStyle/>
          <a:p>
            <a:pPr marL="0" indent="0" algn="ctr">
              <a:buNone/>
            </a:pPr>
            <a:r>
              <a:rPr lang="en-US" sz="2000" dirty="0">
                <a:solidFill>
                  <a:srgbClr val="616161"/>
                </a:solidFill>
                <a:latin typeface="Calibri" pitchFamily="34" charset="0"/>
                <a:ea typeface="Calibri" pitchFamily="34" charset="-122"/>
                <a:cs typeface="Calibri" pitchFamily="34" charset="-120"/>
              </a:rPr>
              <a:t>⋮</a:t>
            </a:r>
            <a:endParaRPr lang="en-US" sz="2000" dirty="0"/>
          </a:p>
        </p:txBody>
      </p:sp>
      <p:sp>
        <p:nvSpPr>
          <p:cNvPr id="31" name="Shape 29"/>
          <p:cNvSpPr/>
          <p:nvPr/>
        </p:nvSpPr>
        <p:spPr>
          <a:xfrm>
            <a:off x="6400800" y="3986784"/>
            <a:ext cx="1463040" cy="0"/>
          </a:xfrm>
          <a:prstGeom prst="line">
            <a:avLst/>
          </a:prstGeom>
          <a:noFill/>
          <a:ln w="19050">
            <a:solidFill>
              <a:srgbClr val="C62828"/>
            </a:solidFill>
            <a:prstDash val="solid"/>
          </a:ln>
        </p:spPr>
        <p:txBody>
          <a:bodyPr/>
          <a:lstStyle/>
          <a:p>
            <a:endParaRPr lang="en-US"/>
          </a:p>
        </p:txBody>
      </p:sp>
      <p:sp>
        <p:nvSpPr>
          <p:cNvPr id="32" name="Text 30"/>
          <p:cNvSpPr/>
          <p:nvPr/>
        </p:nvSpPr>
        <p:spPr>
          <a:xfrm>
            <a:off x="6400800" y="4032504"/>
            <a:ext cx="1463040" cy="228600"/>
          </a:xfrm>
          <a:prstGeom prst="rect">
            <a:avLst/>
          </a:prstGeom>
          <a:noFill/>
          <a:ln/>
        </p:spPr>
        <p:txBody>
          <a:bodyPr wrap="square" rtlCol="0" anchor="ctr"/>
          <a:lstStyle/>
          <a:p>
            <a:pPr marL="0" indent="0" algn="ctr">
              <a:buNone/>
            </a:pPr>
            <a:r>
              <a:rPr lang="en-US" sz="1200" i="1" dirty="0">
                <a:solidFill>
                  <a:srgbClr val="C62828"/>
                </a:solidFill>
                <a:latin typeface="Calibri" pitchFamily="34" charset="0"/>
                <a:ea typeface="Calibri" pitchFamily="34" charset="-122"/>
                <a:cs typeface="Calibri" pitchFamily="34" charset="-120"/>
              </a:rPr>
              <a:t>average</a:t>
            </a:r>
            <a:endParaRPr lang="en-US" sz="1200" dirty="0"/>
          </a:p>
        </p:txBody>
      </p:sp>
      <p:sp>
        <p:nvSpPr>
          <p:cNvPr id="33" name="Text 31"/>
          <p:cNvSpPr/>
          <p:nvPr/>
        </p:nvSpPr>
        <p:spPr>
          <a:xfrm>
            <a:off x="6400800" y="4215384"/>
            <a:ext cx="1463040" cy="365760"/>
          </a:xfrm>
          <a:prstGeom prst="rect">
            <a:avLst/>
          </a:prstGeom>
          <a:noFill/>
          <a:ln/>
        </p:spPr>
        <p:txBody>
          <a:bodyPr wrap="square" rtlCol="0" anchor="ctr"/>
          <a:lstStyle/>
          <a:p>
            <a:pPr marL="0" indent="0" algn="ctr">
              <a:buNone/>
            </a:pPr>
            <a:r>
              <a:rPr lang="en-US" sz="2200" b="1" dirty="0">
                <a:solidFill>
                  <a:srgbClr val="C62828"/>
                </a:solidFill>
                <a:latin typeface="Calibri" pitchFamily="34" charset="0"/>
                <a:ea typeface="Calibri" pitchFamily="34" charset="-122"/>
                <a:cs typeface="Calibri" pitchFamily="34" charset="-120"/>
              </a:rPr>
              <a:t>0.3</a:t>
            </a:r>
            <a:endParaRPr lang="en-US" sz="2200" dirty="0"/>
          </a:p>
        </p:txBody>
      </p:sp>
      <p:sp>
        <p:nvSpPr>
          <p:cNvPr id="34" name="Text 32"/>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AFAFA"/>
        </a:solidFill>
        <a:effectLst/>
      </p:bgPr>
    </p:bg>
    <p:spTree>
      <p:nvGrpSpPr>
        <p:cNvPr id="1" name=""/>
        <p:cNvGrpSpPr/>
        <p:nvPr/>
      </p:nvGrpSpPr>
      <p:grpSpPr>
        <a:xfrm>
          <a:off x="0" y="0"/>
          <a:ext cx="0" cy="0"/>
          <a:chOff x="0" y="0"/>
          <a:chExt cx="0" cy="0"/>
        </a:xfrm>
      </p:grpSpPr>
      <p:pic>
        <p:nvPicPr>
          <p:cNvPr id="2" name="Image 0" descr="/sessions/nifty-compassionate-lovelace/images/image20.jpg"/>
          <p:cNvPicPr>
            <a:picLocks noChangeAspect="1"/>
          </p:cNvPicPr>
          <p:nvPr/>
        </p:nvPicPr>
        <p:blipFill>
          <a:blip r:embed="rId3"/>
          <a:stretch>
            <a:fillRect/>
          </a:stretch>
        </p:blipFill>
        <p:spPr>
          <a:xfrm>
            <a:off x="274320" y="676414"/>
            <a:ext cx="8595360" cy="3676373"/>
          </a:xfrm>
          <a:prstGeom prst="rect">
            <a:avLst/>
          </a:prstGeom>
        </p:spPr>
      </p:pic>
      <p:sp>
        <p:nvSpPr>
          <p:cNvPr id="3" name="Text 0"/>
          <p:cNvSpPr/>
          <p:nvPr/>
        </p:nvSpPr>
        <p:spPr>
          <a:xfrm>
            <a:off x="457200" y="4754880"/>
            <a:ext cx="8229600" cy="274320"/>
          </a:xfrm>
          <a:prstGeom prst="rect">
            <a:avLst/>
          </a:prstGeom>
          <a:noFill/>
          <a:ln/>
        </p:spPr>
        <p:txBody>
          <a:bodyPr wrap="square" rtlCol="0" anchor="ctr"/>
          <a:lstStyle/>
          <a:p>
            <a:pPr marL="0" indent="0" algn="ctr">
              <a:buNone/>
            </a:pPr>
            <a:r>
              <a:rPr lang="en-US" sz="1000" dirty="0">
                <a:solidFill>
                  <a:srgbClr val="616161"/>
                </a:solidFill>
                <a:latin typeface="Calibri" pitchFamily="34" charset="0"/>
                <a:ea typeface="Calibri" pitchFamily="34" charset="-122"/>
                <a:cs typeface="Calibri" pitchFamily="34" charset="-120"/>
              </a:rPr>
              <a:t>source: Bergstra &amp; Bengio (2012), JMLR</a:t>
            </a:r>
            <a:endParaRPr lang="en-US" sz="1000" dirty="0"/>
          </a:p>
        </p:txBody>
      </p:sp>
      <p:sp>
        <p:nvSpPr>
          <p:cNvPr id="4" name="Text 1"/>
          <p:cNvSpPr/>
          <p:nvPr/>
        </p:nvSpPr>
        <p:spPr>
          <a:xfrm>
            <a:off x="8503920" y="4754880"/>
            <a:ext cx="457200" cy="274320"/>
          </a:xfrm>
          <a:prstGeom prst="rect">
            <a:avLst/>
          </a:prstGeom>
          <a:noFill/>
          <a:ln/>
        </p:spPr>
        <p:txBody>
          <a:bodyPr wrap="square" rtlCol="0" anchor="ctr"/>
          <a:lstStyle/>
          <a:p>
            <a:pPr marL="0" indent="0" algn="r">
              <a:buNone/>
            </a:pPr>
            <a:r>
              <a:rPr lang="en-US" sz="1000" dirty="0">
                <a:solidFill>
                  <a:srgbClr val="616161"/>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9E3E"/>
        </a:solidFill>
        <a:effectLst/>
      </p:bgPr>
    </p:bg>
    <p:spTree>
      <p:nvGrpSpPr>
        <p:cNvPr id="1" name=""/>
        <p:cNvGrpSpPr/>
        <p:nvPr/>
      </p:nvGrpSpPr>
      <p:grpSpPr>
        <a:xfrm>
          <a:off x="0" y="0"/>
          <a:ext cx="0" cy="0"/>
          <a:chOff x="0" y="0"/>
          <a:chExt cx="0" cy="0"/>
        </a:xfrm>
      </p:grpSpPr>
      <p:sp>
        <p:nvSpPr>
          <p:cNvPr id="2" name="Text 0"/>
          <p:cNvSpPr/>
          <p:nvPr/>
        </p:nvSpPr>
        <p:spPr>
          <a:xfrm>
            <a:off x="914400" y="1097280"/>
            <a:ext cx="7315200" cy="2011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anose="020F0502020204030204"/>
                <a:ea typeface="+mn-ea"/>
                <a:cs typeface="+mn-cs"/>
              </a:rPr>
              <a:t>Model Evaluation</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BBF6B"/>
                </a:solidFill>
                <a:effectLst/>
                <a:uLnTx/>
                <a:uFillTx/>
                <a:latin typeface="Calibri" panose="020F0502020204030204"/>
                <a:ea typeface="+mn-ea"/>
                <a:cs typeface="+mn-cs"/>
              </a:rPr>
              <a:t>Part 2: </a:t>
            </a:r>
            <a:r>
              <a:rPr kumimoji="0" lang="en-US" sz="2800" b="1" i="0" u="none" strike="noStrike" kern="1200" cap="none" spc="0" normalizeH="0" baseline="0" noProof="0" dirty="0">
                <a:ln>
                  <a:noFill/>
                </a:ln>
                <a:solidFill>
                  <a:srgbClr val="FFFFFF"/>
                </a:solidFill>
                <a:effectLst/>
                <a:uLnTx/>
                <a:uFillTx/>
                <a:latin typeface="Calibri" panose="020F0502020204030204"/>
                <a:ea typeface="+mn-ea"/>
                <a:cs typeface="+mn-cs"/>
              </a:rPr>
              <a:t>Statistical Testing</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914400" y="3291840"/>
            <a:ext cx="7315200" cy="1371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BBF6B"/>
                </a:solidFill>
                <a:effectLst/>
                <a:uLnTx/>
                <a:uFillTx/>
                <a:latin typeface="Calibri" panose="020F0502020204030204"/>
                <a:ea typeface="+mn-ea"/>
                <a:cs typeface="+mn-cs"/>
              </a:rPr>
              <a:t>Machine Learning</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BBF6B"/>
                </a:solidFill>
                <a:effectLst/>
                <a:uLnTx/>
                <a:uFillTx/>
                <a:latin typeface="Calibri" panose="020F0502020204030204"/>
                <a:ea typeface="+mn-ea"/>
                <a:cs typeface="+mn-cs"/>
              </a:rPr>
              <a:t>mlvu.github.io</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8C998"/>
                </a:solidFill>
                <a:effectLst/>
                <a:uLnTx/>
                <a:uFillTx/>
                <a:latin typeface="Calibri" panose="020F0502020204030204"/>
                <a:ea typeface="+mn-ea"/>
                <a:cs typeface="+mn-cs"/>
              </a:rPr>
              <a:t>Vrije Universiteit Amsterdam</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8229600" cy="548640"/>
          </a:xfrm>
          <a:prstGeom prst="rect">
            <a:avLst/>
          </a:prstGeom>
          <a:solidFill>
            <a:srgbClr val="C039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274320"/>
            <a:ext cx="82296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anose="020F0502020204030204"/>
                <a:ea typeface="+mn-ea"/>
                <a:cs typeface="+mn-cs"/>
              </a:rPr>
              <a:t>Machine Learning </a:t>
            </a:r>
            <a:r>
              <a:rPr kumimoji="0" lang="en-US" sz="2200" b="1" i="0" u="none" strike="noStrike" kern="1200" cap="none" spc="0" normalizeH="0" baseline="0" noProof="0" dirty="0">
                <a:ln>
                  <a:noFill/>
                </a:ln>
                <a:solidFill>
                  <a:srgbClr val="FFD700"/>
                </a:solidFill>
                <a:effectLst/>
                <a:uLnTx/>
                <a:uFillTx/>
                <a:latin typeface="Calibri" panose="020F0502020204030204"/>
                <a:ea typeface="+mn-ea"/>
                <a:cs typeface="+mn-cs"/>
              </a:rPr>
              <a:t>vs. </a:t>
            </a:r>
            <a:r>
              <a:rPr kumimoji="0" lang="en-US" sz="2200" b="1" i="0" u="none" strike="noStrike" kern="1200" cap="none" spc="0" normalizeH="0" baseline="0" noProof="0" dirty="0">
                <a:ln>
                  <a:noFill/>
                </a:ln>
                <a:solidFill>
                  <a:srgbClr val="FFFFFF"/>
                </a:solidFill>
                <a:effectLst/>
                <a:uLnTx/>
                <a:uFillTx/>
                <a:latin typeface="Calibri" panose="020F0502020204030204"/>
                <a:ea typeface="+mn-ea"/>
                <a:cs typeface="+mn-cs"/>
              </a:rPr>
              <a:t>Statistics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2286000" y="1097280"/>
            <a:ext cx="2743200" cy="2377440"/>
          </a:xfrm>
          <a:prstGeom prst="ellipse">
            <a:avLst/>
          </a:prstGeom>
          <a:solidFill>
            <a:srgbClr val="AED6F1">
              <a:alpha val="60000"/>
            </a:srgbClr>
          </a:solidFill>
          <a:ln w="12700">
            <a:solidFill>
              <a:srgbClr val="85C1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3840480" y="1097280"/>
            <a:ext cx="2743200" cy="2377440"/>
          </a:xfrm>
          <a:prstGeom prst="ellipse">
            <a:avLst/>
          </a:prstGeom>
          <a:solidFill>
            <a:srgbClr val="F5B7B1">
              <a:alpha val="60000"/>
            </a:srgbClr>
          </a:solidFill>
          <a:ln w="12700">
            <a:solidFill>
              <a:srgbClr val="F194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828800" y="2011680"/>
            <a:ext cx="182880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471A3"/>
                </a:solidFill>
                <a:effectLst/>
                <a:uLnTx/>
                <a:uFillTx/>
                <a:latin typeface="Calibri" panose="020F0502020204030204"/>
                <a:ea typeface="+mn-ea"/>
                <a:cs typeface="+mn-cs"/>
              </a:rPr>
              <a:t>Statistics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303520" y="2011680"/>
            <a:ext cx="137160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392B"/>
                </a:solidFill>
                <a:effectLst/>
                <a:uLnTx/>
                <a:uFillTx/>
                <a:latin typeface="Calibri" panose="020F0502020204030204"/>
                <a:ea typeface="+mn-ea"/>
                <a:cs typeface="+mn-cs"/>
              </a:rPr>
              <a:t>ML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31520" y="3657600"/>
            <a:ext cx="7680960" cy="11887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471A3"/>
                </a:solidFill>
                <a:effectLst/>
                <a:uLnTx/>
                <a:uFillTx/>
                <a:latin typeface="Calibri" panose="020F0502020204030204"/>
                <a:ea typeface="+mn-ea"/>
                <a:cs typeface="+mn-cs"/>
              </a:rPr>
              <a:t>Stats but not ML: </a:t>
            </a:r>
            <a:r>
              <a:rPr kumimoji="0" lang="en-US" sz="1400" b="0" i="0" u="none" strike="noStrike" kern="1200" cap="none" spc="0" normalizeH="0" baseline="0" noProof="0" dirty="0">
                <a:ln>
                  <a:noFill/>
                </a:ln>
                <a:solidFill>
                  <a:srgbClr val="222222"/>
                </a:solidFill>
                <a:effectLst/>
                <a:uLnTx/>
                <a:uFillTx/>
                <a:latin typeface="Calibri" panose="020F0502020204030204"/>
                <a:ea typeface="+mn-ea"/>
                <a:cs typeface="+mn-cs"/>
              </a:rPr>
              <a:t>Analyzing research results. Experiment design. Courtroom evidence.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392B"/>
                </a:solidFill>
                <a:effectLst/>
                <a:uLnTx/>
                <a:uFillTx/>
                <a:latin typeface="Calibri" panose="020F0502020204030204"/>
                <a:ea typeface="+mn-ea"/>
                <a:cs typeface="+mn-cs"/>
              </a:rPr>
              <a:t>More ML than Stats: </a:t>
            </a:r>
            <a:r>
              <a:rPr kumimoji="0" lang="en-US" sz="1400" b="0" i="0" u="none" strike="noStrike" kern="1200" cap="none" spc="0" normalizeH="0" baseline="0" noProof="0" dirty="0">
                <a:ln>
                  <a:noFill/>
                </a:ln>
                <a:solidFill>
                  <a:srgbClr val="222222"/>
                </a:solidFill>
                <a:effectLst/>
                <a:uLnTx/>
                <a:uFillTx/>
                <a:latin typeface="Calibri" panose="020F0502020204030204"/>
                <a:ea typeface="+mn-ea"/>
                <a:cs typeface="+mn-cs"/>
              </a:rPr>
              <a:t>Spam classification, movie recommendation.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8412480" y="4709160"/>
            <a:ext cx="54864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Calibri" panose="020F0502020204030204"/>
                <a:ea typeface="+mn-ea"/>
                <a:cs typeface="+mn-cs"/>
              </a:rPr>
              <a:t>30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48640" y="914400"/>
            <a:ext cx="8046720" cy="3200400"/>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1097280" y="1280160"/>
            <a:ext cx="6949440" cy="23774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222222"/>
                </a:solidFill>
                <a:effectLst/>
                <a:uLnTx/>
                <a:uFillTx/>
                <a:latin typeface="Calibri" panose="020F0502020204030204"/>
                <a:ea typeface="+mn-ea"/>
                <a:cs typeface="+mn-cs"/>
              </a:rPr>
              <a:t>Can the observed results be attributed to </a:t>
            </a:r>
            <a:r>
              <a:rPr kumimoji="0" lang="en-US" sz="2600" b="1" i="1" u="none" strike="noStrike" kern="1200" cap="none" spc="0" normalizeH="0" baseline="0" noProof="0" dirty="0">
                <a:ln>
                  <a:noFill/>
                </a:ln>
                <a:solidFill>
                  <a:srgbClr val="1B7A30"/>
                </a:solidFill>
                <a:effectLst/>
                <a:uLnTx/>
                <a:uFillTx/>
                <a:latin typeface="Calibri" panose="020F0502020204030204"/>
                <a:ea typeface="+mn-ea"/>
                <a:cs typeface="+mn-cs"/>
              </a:rPr>
              <a:t>real characteristics</a:t>
            </a:r>
            <a:r>
              <a:rPr kumimoji="0" lang="en-US" sz="2600" b="0" i="0" u="none" strike="noStrike" kern="1200" cap="none" spc="0" normalizeH="0" baseline="0" noProof="0" dirty="0">
                <a:ln>
                  <a:noFill/>
                </a:ln>
                <a:solidFill>
                  <a:srgbClr val="222222"/>
                </a:solidFill>
                <a:effectLst/>
                <a:uLnTx/>
                <a:uFillTx/>
                <a:latin typeface="Calibri" panose="020F0502020204030204"/>
                <a:ea typeface="+mn-ea"/>
                <a:cs typeface="+mn-cs"/>
              </a:rPr>
              <a:t> of the models under scrutiny or are they observed </a:t>
            </a:r>
            <a:r>
              <a:rPr kumimoji="0" lang="en-US" sz="2600" b="1" i="1" u="none" strike="noStrike" kern="1200" cap="none" spc="0" normalizeH="0" baseline="0" noProof="0" dirty="0">
                <a:ln>
                  <a:noFill/>
                </a:ln>
                <a:solidFill>
                  <a:srgbClr val="1B7A30"/>
                </a:solidFill>
                <a:effectLst/>
                <a:uLnTx/>
                <a:uFillTx/>
                <a:latin typeface="Calibri" panose="020F0502020204030204"/>
                <a:ea typeface="+mn-ea"/>
                <a:cs typeface="+mn-cs"/>
              </a:rPr>
              <a:t>by chance</a:t>
            </a:r>
            <a:r>
              <a:rPr kumimoji="0" lang="en-US" sz="2600" b="0" i="0" u="none" strike="noStrike" kern="1200" cap="none" spc="0" normalizeH="0" baseline="0" noProof="0" dirty="0">
                <a:ln>
                  <a:noFill/>
                </a:ln>
                <a:solidFill>
                  <a:srgbClr val="222222"/>
                </a:solidFill>
                <a:effectLst/>
                <a:uLnTx/>
                <a:uFillTx/>
                <a:latin typeface="Calibri" panose="020F0502020204030204"/>
                <a:ea typeface="+mn-ea"/>
                <a:cs typeface="+mn-cs"/>
              </a:rPr>
              <a:t>?</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298176" y="123245"/>
            <a:ext cx="8229600" cy="4762500"/>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298176" y="123245"/>
            <a:ext cx="8229600" cy="502920"/>
          </a:xfrm>
          <a:prstGeom prst="rect">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298176" y="123245"/>
            <a:ext cx="822960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showing confidence: </a:t>
            </a: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accuracy</a:t>
            </a:r>
          </a:p>
        </p:txBody>
      </p:sp>
      <p:sp>
        <p:nvSpPr>
          <p:cNvPr id="5" name="Text 3"/>
          <p:cNvSpPr/>
          <p:nvPr/>
        </p:nvSpPr>
        <p:spPr>
          <a:xfrm>
            <a:off x="938256" y="809045"/>
            <a:ext cx="4572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1.0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938256" y="3506525"/>
            <a:ext cx="45720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0.0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1669776" y="1403405"/>
            <a:ext cx="822960" cy="2103120"/>
          </a:xfrm>
          <a:prstGeom prst="rect">
            <a:avLst/>
          </a:prstGeom>
          <a:solidFill>
            <a:srgbClr val="82E08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669776" y="991925"/>
            <a:ext cx="822960" cy="411480"/>
          </a:xfrm>
          <a:prstGeom prst="rect">
            <a:avLst/>
          </a:prstGeom>
          <a:solidFill>
            <a:srgbClr val="F194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1669776" y="1403405"/>
            <a:ext cx="1097280" cy="0"/>
          </a:xfrm>
          <a:prstGeom prst="line">
            <a:avLst/>
          </a:prstGeom>
          <a:noFill/>
          <a:ln w="254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2858496" y="1266245"/>
            <a:ext cx="16459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Calibri" panose="020F0502020204030204"/>
                <a:ea typeface="+mn-ea"/>
                <a:cs typeface="+mn-cs"/>
              </a:rPr>
              <a:t>true accuracy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395456" y="3780845"/>
            <a:ext cx="13716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Calibri" panose="020F0502020204030204"/>
                <a:ea typeface="+mn-ea"/>
                <a:cs typeface="+mn-cs"/>
              </a:rPr>
              <a:t>true accuracy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327376" y="1037645"/>
            <a:ext cx="164592" cy="164592"/>
          </a:xfrm>
          <a:prstGeom prst="ellipse">
            <a:avLst/>
          </a:prstGeom>
          <a:solidFill>
            <a:srgbClr val="C039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5327376" y="1293677"/>
            <a:ext cx="164592" cy="164592"/>
          </a:xfrm>
          <a:prstGeom prst="ellipse">
            <a:avLst/>
          </a:prstGeom>
          <a:solidFill>
            <a:srgbClr val="C039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5327376" y="1549709"/>
            <a:ext cx="164592" cy="164592"/>
          </a:xfrm>
          <a:prstGeom prst="ellipse">
            <a:avLst/>
          </a:prstGeom>
          <a:solidFill>
            <a:srgbClr val="C039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5327376" y="1805741"/>
            <a:ext cx="164592" cy="164592"/>
          </a:xfrm>
          <a:prstGeom prst="ellipse">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5327376" y="2061773"/>
            <a:ext cx="164592" cy="164592"/>
          </a:xfrm>
          <a:prstGeom prst="ellipse">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327376" y="2317805"/>
            <a:ext cx="164592" cy="164592"/>
          </a:xfrm>
          <a:prstGeom prst="ellipse">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5327376" y="2573837"/>
            <a:ext cx="164592" cy="164592"/>
          </a:xfrm>
          <a:prstGeom prst="ellipse">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5327376" y="2829869"/>
            <a:ext cx="164592" cy="164592"/>
          </a:xfrm>
          <a:prstGeom prst="ellipse">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5327376" y="3085901"/>
            <a:ext cx="164592" cy="164592"/>
          </a:xfrm>
          <a:prstGeom prst="ellipse">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5327376" y="3341933"/>
            <a:ext cx="164592" cy="164592"/>
          </a:xfrm>
          <a:prstGeom prst="ellipse">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5053056" y="1775129"/>
            <a:ext cx="1371600" cy="0"/>
          </a:xfrm>
          <a:prstGeom prst="line">
            <a:avLst/>
          </a:prstGeom>
          <a:noFill/>
          <a:ln w="254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5871038" y="1469547"/>
            <a:ext cx="1828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Calibri" panose="020F0502020204030204"/>
                <a:ea typeface="+mn-ea"/>
                <a:cs typeface="+mn-cs"/>
              </a:rPr>
              <a:t>sample accuracy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155801" y="692364"/>
            <a:ext cx="32004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Calibri" panose="020F0502020204030204"/>
                <a:ea typeface="+mn-ea"/>
                <a:cs typeface="+mn-cs"/>
              </a:rPr>
              <a:t>accuracy on sample (the </a:t>
            </a:r>
            <a:r>
              <a:rPr kumimoji="0" lang="en-US" sz="1100" b="0" i="0" u="none" strike="noStrike" kern="1200" cap="none" spc="0" normalizeH="0" baseline="0" noProof="0" dirty="0">
                <a:ln>
                  <a:noFill/>
                </a:ln>
                <a:solidFill>
                  <a:srgbClr val="2471A3"/>
                </a:solidFill>
                <a:effectLst/>
                <a:uLnTx/>
                <a:uFillTx/>
                <a:latin typeface="Calibri" panose="020F0502020204030204"/>
                <a:ea typeface="+mn-ea"/>
                <a:cs typeface="+mn-cs"/>
              </a:rPr>
              <a:t>test data</a:t>
            </a:r>
            <a:r>
              <a:rPr kumimoji="0" lang="en-US" sz="1100" b="0" i="0" u="none" strike="noStrike" kern="1200" cap="none" spc="0" normalizeH="0" baseline="0" noProof="0" dirty="0">
                <a:ln>
                  <a:noFill/>
                </a:ln>
                <a:solidFill>
                  <a:srgbClr val="222222"/>
                </a:solidFill>
                <a:effectLst/>
                <a:uLnTx/>
                <a:uFillTx/>
                <a:latin typeface="Calibri" panose="020F0502020204030204"/>
                <a:ea typeface="+mn-ea"/>
                <a:cs typeface="+mn-cs"/>
              </a:rPr>
              <a:t>)</a:t>
            </a:r>
          </a:p>
        </p:txBody>
      </p:sp>
      <p:sp>
        <p:nvSpPr>
          <p:cNvPr id="50" name="YAxis2"/>
          <p:cNvSpPr/>
          <p:nvPr/>
        </p:nvSpPr>
        <p:spPr>
          <a:xfrm>
            <a:off x="3269976" y="2454965"/>
            <a:ext cx="0" cy="1600200"/>
          </a:xfrm>
          <a:prstGeom prst="line">
            <a:avLst/>
          </a:prstGeom>
          <a:ln w="12700">
            <a:solidFill>
              <a:srgbClr val="888888"/>
            </a:solidFill>
          </a:ln>
        </p:spPr>
        <p:txBody>
          <a:bodyPr/>
          <a:lstStyle/>
          <a:p>
            <a:endParaRPr lang="en-US"/>
          </a:p>
        </p:txBody>
      </p:sp>
      <p:sp>
        <p:nvSpPr>
          <p:cNvPr id="51" name="XAxis2"/>
          <p:cNvSpPr/>
          <p:nvPr/>
        </p:nvSpPr>
        <p:spPr>
          <a:xfrm>
            <a:off x="3269976" y="4055165"/>
            <a:ext cx="4572000" cy="0"/>
          </a:xfrm>
          <a:prstGeom prst="line">
            <a:avLst/>
          </a:prstGeom>
          <a:ln w="12700">
            <a:solidFill>
              <a:srgbClr val="888888"/>
            </a:solidFill>
          </a:ln>
        </p:spPr>
        <p:txBody>
          <a:bodyPr/>
          <a:lstStyle/>
          <a:p>
            <a:endParaRPr lang="en-US"/>
          </a:p>
        </p:txBody>
      </p:sp>
      <p:sp>
        <p:nvSpPr>
          <p:cNvPr id="52" name="YLabel_0.0"/>
          <p:cNvSpPr txBox="1"/>
          <p:nvPr/>
        </p:nvSpPr>
        <p:spPr>
          <a:xfrm>
            <a:off x="2719976" y="3955165"/>
            <a:ext cx="500000" cy="200000"/>
          </a:xfrm>
          <a:prstGeom prst="rect">
            <a:avLst/>
          </a:prstGeom>
          <a:noFill/>
          <a:ln>
            <a:noFill/>
          </a:ln>
        </p:spPr>
        <p:txBody>
          <a:bodyPr wrap="square" lIns="0" tIns="0" rIns="0" bIns="0" anchor="ctr"/>
          <a:lstStyle/>
          <a:p>
            <a:pPr algn="r">
              <a:buNone/>
            </a:pPr>
            <a:r>
              <a:rPr lang="en-US" sz="1200" dirty="0">
                <a:solidFill>
                  <a:srgbClr val="222222"/>
                </a:solidFill>
                <a:latin typeface="Calibri"/>
              </a:rPr>
              <a:t>0.0</a:t>
            </a:r>
          </a:p>
        </p:txBody>
      </p:sp>
      <p:sp>
        <p:nvSpPr>
          <p:cNvPr id="53" name="YLabel_0.15"/>
          <p:cNvSpPr txBox="1"/>
          <p:nvPr/>
        </p:nvSpPr>
        <p:spPr>
          <a:xfrm>
            <a:off x="2719976" y="3155065"/>
            <a:ext cx="500000" cy="200000"/>
          </a:xfrm>
          <a:prstGeom prst="rect">
            <a:avLst/>
          </a:prstGeom>
          <a:noFill/>
          <a:ln>
            <a:noFill/>
          </a:ln>
        </p:spPr>
        <p:txBody>
          <a:bodyPr wrap="square" lIns="0" tIns="0" rIns="0" bIns="0" anchor="ctr"/>
          <a:lstStyle/>
          <a:p>
            <a:pPr algn="r">
              <a:buNone/>
            </a:pPr>
            <a:r>
              <a:rPr lang="en-US" sz="1200" dirty="0">
                <a:solidFill>
                  <a:srgbClr val="222222"/>
                </a:solidFill>
                <a:latin typeface="Calibri"/>
              </a:rPr>
              <a:t>0.15</a:t>
            </a:r>
          </a:p>
        </p:txBody>
      </p:sp>
      <p:sp>
        <p:nvSpPr>
          <p:cNvPr id="54" name="YTick_0.15"/>
          <p:cNvSpPr/>
          <p:nvPr/>
        </p:nvSpPr>
        <p:spPr>
          <a:xfrm>
            <a:off x="3219976" y="3255065"/>
            <a:ext cx="50000" cy="0"/>
          </a:xfrm>
          <a:prstGeom prst="line">
            <a:avLst/>
          </a:prstGeom>
          <a:ln w="9525">
            <a:solidFill>
              <a:srgbClr val="888888"/>
            </a:solidFill>
          </a:ln>
        </p:spPr>
        <p:txBody>
          <a:bodyPr/>
          <a:lstStyle/>
          <a:p>
            <a:endParaRPr lang="en-US"/>
          </a:p>
        </p:txBody>
      </p:sp>
      <p:sp>
        <p:nvSpPr>
          <p:cNvPr id="55" name="YLabel_0.3"/>
          <p:cNvSpPr txBox="1"/>
          <p:nvPr/>
        </p:nvSpPr>
        <p:spPr>
          <a:xfrm>
            <a:off x="2719976" y="2354965"/>
            <a:ext cx="500000" cy="200000"/>
          </a:xfrm>
          <a:prstGeom prst="rect">
            <a:avLst/>
          </a:prstGeom>
          <a:noFill/>
          <a:ln>
            <a:noFill/>
          </a:ln>
        </p:spPr>
        <p:txBody>
          <a:bodyPr wrap="square" lIns="0" tIns="0" rIns="0" bIns="0" anchor="ctr"/>
          <a:lstStyle/>
          <a:p>
            <a:pPr algn="r">
              <a:buNone/>
            </a:pPr>
            <a:r>
              <a:rPr lang="en-US" sz="1200" dirty="0">
                <a:solidFill>
                  <a:srgbClr val="222222"/>
                </a:solidFill>
                <a:latin typeface="Calibri"/>
              </a:rPr>
              <a:t>0.3</a:t>
            </a:r>
          </a:p>
        </p:txBody>
      </p:sp>
      <p:sp>
        <p:nvSpPr>
          <p:cNvPr id="56" name="YTick_0.3"/>
          <p:cNvSpPr/>
          <p:nvPr/>
        </p:nvSpPr>
        <p:spPr>
          <a:xfrm>
            <a:off x="3219976" y="2454965"/>
            <a:ext cx="50000" cy="0"/>
          </a:xfrm>
          <a:prstGeom prst="line">
            <a:avLst/>
          </a:prstGeom>
          <a:ln w="9525">
            <a:solidFill>
              <a:srgbClr val="888888"/>
            </a:solidFill>
          </a:ln>
        </p:spPr>
        <p:txBody>
          <a:bodyPr/>
          <a:lstStyle/>
          <a:p>
            <a:endParaRPr lang="en-US"/>
          </a:p>
        </p:txBody>
      </p:sp>
      <p:sp>
        <p:nvSpPr>
          <p:cNvPr id="57" name="Bar_4"/>
          <p:cNvSpPr/>
          <p:nvPr/>
        </p:nvSpPr>
        <p:spPr>
          <a:xfrm>
            <a:off x="4908276" y="4025801"/>
            <a:ext cx="323850" cy="29364"/>
          </a:xfrm>
          <a:prstGeom prst="rect">
            <a:avLst/>
          </a:prstGeom>
          <a:solidFill>
            <a:srgbClr val="AEDD94"/>
          </a:solidFill>
          <a:ln w="6350">
            <a:solidFill>
              <a:srgbClr val="82C864"/>
            </a:solidFill>
          </a:ln>
        </p:spPr>
        <p:txBody>
          <a:bodyPr/>
          <a:lstStyle/>
          <a:p>
            <a:endParaRPr lang="en-US"/>
          </a:p>
        </p:txBody>
      </p:sp>
      <p:sp>
        <p:nvSpPr>
          <p:cNvPr id="58" name="XLabel_4"/>
          <p:cNvSpPr txBox="1"/>
          <p:nvPr/>
        </p:nvSpPr>
        <p:spPr>
          <a:xfrm>
            <a:off x="4908276" y="4085165"/>
            <a:ext cx="323850" cy="200000"/>
          </a:xfrm>
          <a:prstGeom prst="rect">
            <a:avLst/>
          </a:prstGeom>
          <a:noFill/>
          <a:ln>
            <a:noFill/>
          </a:ln>
        </p:spPr>
        <p:txBody>
          <a:bodyPr wrap="square" lIns="0" tIns="0" rIns="0" bIns="0" anchor="t"/>
          <a:lstStyle/>
          <a:p>
            <a:pPr algn="ctr">
              <a:buNone/>
            </a:pPr>
            <a:r>
              <a:rPr lang="en-US" sz="1100" dirty="0">
                <a:solidFill>
                  <a:srgbClr val="222222"/>
                </a:solidFill>
                <a:latin typeface="Calibri"/>
              </a:rPr>
              <a:t>4</a:t>
            </a:r>
          </a:p>
        </p:txBody>
      </p:sp>
      <p:sp>
        <p:nvSpPr>
          <p:cNvPr id="59" name="Bar_5"/>
          <p:cNvSpPr/>
          <p:nvPr/>
        </p:nvSpPr>
        <p:spPr>
          <a:xfrm>
            <a:off x="5289276" y="3914219"/>
            <a:ext cx="323850" cy="140946"/>
          </a:xfrm>
          <a:prstGeom prst="rect">
            <a:avLst/>
          </a:prstGeom>
          <a:solidFill>
            <a:srgbClr val="AEDD94"/>
          </a:solidFill>
          <a:ln w="6350">
            <a:solidFill>
              <a:srgbClr val="82C864"/>
            </a:solidFill>
          </a:ln>
        </p:spPr>
        <p:txBody>
          <a:bodyPr/>
          <a:lstStyle/>
          <a:p>
            <a:endParaRPr lang="en-US"/>
          </a:p>
        </p:txBody>
      </p:sp>
      <p:sp>
        <p:nvSpPr>
          <p:cNvPr id="60" name="XLabel_5"/>
          <p:cNvSpPr txBox="1"/>
          <p:nvPr/>
        </p:nvSpPr>
        <p:spPr>
          <a:xfrm>
            <a:off x="5289276" y="4085165"/>
            <a:ext cx="323850" cy="200000"/>
          </a:xfrm>
          <a:prstGeom prst="rect">
            <a:avLst/>
          </a:prstGeom>
          <a:noFill/>
          <a:ln>
            <a:noFill/>
          </a:ln>
        </p:spPr>
        <p:txBody>
          <a:bodyPr wrap="square" lIns="0" tIns="0" rIns="0" bIns="0" anchor="t"/>
          <a:lstStyle/>
          <a:p>
            <a:pPr algn="ctr">
              <a:buNone/>
            </a:pPr>
            <a:r>
              <a:rPr lang="en-US" sz="1100" dirty="0">
                <a:solidFill>
                  <a:srgbClr val="222222"/>
                </a:solidFill>
                <a:latin typeface="Calibri"/>
              </a:rPr>
              <a:t>5</a:t>
            </a:r>
          </a:p>
        </p:txBody>
      </p:sp>
      <p:sp>
        <p:nvSpPr>
          <p:cNvPr id="61" name="Bar_6"/>
          <p:cNvSpPr/>
          <p:nvPr/>
        </p:nvSpPr>
        <p:spPr>
          <a:xfrm>
            <a:off x="5670276" y="3585344"/>
            <a:ext cx="323850" cy="469821"/>
          </a:xfrm>
          <a:prstGeom prst="rect">
            <a:avLst/>
          </a:prstGeom>
          <a:solidFill>
            <a:srgbClr val="AEDD94"/>
          </a:solidFill>
          <a:ln w="6350">
            <a:solidFill>
              <a:srgbClr val="82C864"/>
            </a:solidFill>
          </a:ln>
        </p:spPr>
        <p:txBody>
          <a:bodyPr/>
          <a:lstStyle/>
          <a:p>
            <a:endParaRPr lang="en-US"/>
          </a:p>
        </p:txBody>
      </p:sp>
      <p:sp>
        <p:nvSpPr>
          <p:cNvPr id="62" name="XLabel_6"/>
          <p:cNvSpPr txBox="1"/>
          <p:nvPr/>
        </p:nvSpPr>
        <p:spPr>
          <a:xfrm>
            <a:off x="5670276" y="4085165"/>
            <a:ext cx="323850" cy="200000"/>
          </a:xfrm>
          <a:prstGeom prst="rect">
            <a:avLst/>
          </a:prstGeom>
          <a:noFill/>
          <a:ln>
            <a:noFill/>
          </a:ln>
        </p:spPr>
        <p:txBody>
          <a:bodyPr wrap="square" lIns="0" tIns="0" rIns="0" bIns="0" anchor="t"/>
          <a:lstStyle/>
          <a:p>
            <a:pPr algn="ctr">
              <a:buNone/>
            </a:pPr>
            <a:r>
              <a:rPr lang="en-US" sz="1100" dirty="0">
                <a:solidFill>
                  <a:srgbClr val="222222"/>
                </a:solidFill>
                <a:latin typeface="Calibri"/>
              </a:rPr>
              <a:t>6</a:t>
            </a:r>
          </a:p>
        </p:txBody>
      </p:sp>
      <p:sp>
        <p:nvSpPr>
          <p:cNvPr id="63" name="Bar_7"/>
          <p:cNvSpPr/>
          <p:nvPr/>
        </p:nvSpPr>
        <p:spPr>
          <a:xfrm>
            <a:off x="6051276" y="2981289"/>
            <a:ext cx="323850" cy="1073876"/>
          </a:xfrm>
          <a:prstGeom prst="rect">
            <a:avLst/>
          </a:prstGeom>
          <a:solidFill>
            <a:srgbClr val="AEDD94"/>
          </a:solidFill>
          <a:ln w="6350">
            <a:solidFill>
              <a:srgbClr val="82C864"/>
            </a:solidFill>
          </a:ln>
        </p:spPr>
        <p:txBody>
          <a:bodyPr/>
          <a:lstStyle/>
          <a:p>
            <a:endParaRPr lang="en-US"/>
          </a:p>
        </p:txBody>
      </p:sp>
      <p:sp>
        <p:nvSpPr>
          <p:cNvPr id="64" name="XLabel_7"/>
          <p:cNvSpPr txBox="1"/>
          <p:nvPr/>
        </p:nvSpPr>
        <p:spPr>
          <a:xfrm>
            <a:off x="6051276" y="4085165"/>
            <a:ext cx="323850" cy="200000"/>
          </a:xfrm>
          <a:prstGeom prst="rect">
            <a:avLst/>
          </a:prstGeom>
          <a:noFill/>
          <a:ln>
            <a:noFill/>
          </a:ln>
        </p:spPr>
        <p:txBody>
          <a:bodyPr wrap="square" lIns="0" tIns="0" rIns="0" bIns="0" anchor="t"/>
          <a:lstStyle/>
          <a:p>
            <a:pPr algn="ctr">
              <a:buNone/>
            </a:pPr>
            <a:r>
              <a:rPr lang="en-US" sz="1100" dirty="0">
                <a:solidFill>
                  <a:srgbClr val="222222"/>
                </a:solidFill>
                <a:latin typeface="Calibri"/>
              </a:rPr>
              <a:t>7</a:t>
            </a:r>
          </a:p>
        </p:txBody>
      </p:sp>
      <p:sp>
        <p:nvSpPr>
          <p:cNvPr id="65" name="Bar_8"/>
          <p:cNvSpPr/>
          <p:nvPr/>
        </p:nvSpPr>
        <p:spPr>
          <a:xfrm>
            <a:off x="6432276" y="2444351"/>
            <a:ext cx="323850" cy="1610814"/>
          </a:xfrm>
          <a:prstGeom prst="rect">
            <a:avLst/>
          </a:prstGeom>
          <a:solidFill>
            <a:srgbClr val="AEDD94"/>
          </a:solidFill>
          <a:ln w="6350">
            <a:solidFill>
              <a:srgbClr val="82C864"/>
            </a:solidFill>
          </a:ln>
        </p:spPr>
        <p:txBody>
          <a:bodyPr/>
          <a:lstStyle/>
          <a:p>
            <a:endParaRPr lang="en-US"/>
          </a:p>
        </p:txBody>
      </p:sp>
      <p:sp>
        <p:nvSpPr>
          <p:cNvPr id="66" name="XLabel_8"/>
          <p:cNvSpPr txBox="1"/>
          <p:nvPr/>
        </p:nvSpPr>
        <p:spPr>
          <a:xfrm>
            <a:off x="6432276" y="4085165"/>
            <a:ext cx="323850" cy="200000"/>
          </a:xfrm>
          <a:prstGeom prst="rect">
            <a:avLst/>
          </a:prstGeom>
          <a:noFill/>
          <a:ln>
            <a:noFill/>
          </a:ln>
        </p:spPr>
        <p:txBody>
          <a:bodyPr wrap="square" lIns="0" tIns="0" rIns="0" bIns="0" anchor="t"/>
          <a:lstStyle/>
          <a:p>
            <a:pPr algn="ctr">
              <a:buNone/>
            </a:pPr>
            <a:r>
              <a:rPr lang="en-US" sz="1100" dirty="0">
                <a:solidFill>
                  <a:srgbClr val="222222"/>
                </a:solidFill>
                <a:latin typeface="Calibri"/>
              </a:rPr>
              <a:t>8</a:t>
            </a:r>
          </a:p>
        </p:txBody>
      </p:sp>
      <p:sp>
        <p:nvSpPr>
          <p:cNvPr id="67" name="Bar_9"/>
          <p:cNvSpPr/>
          <p:nvPr/>
        </p:nvSpPr>
        <p:spPr>
          <a:xfrm>
            <a:off x="6813276" y="2623330"/>
            <a:ext cx="323850" cy="1431835"/>
          </a:xfrm>
          <a:prstGeom prst="rect">
            <a:avLst/>
          </a:prstGeom>
          <a:solidFill>
            <a:srgbClr val="AEDD94"/>
          </a:solidFill>
          <a:ln w="6350">
            <a:solidFill>
              <a:srgbClr val="82C864"/>
            </a:solidFill>
          </a:ln>
        </p:spPr>
        <p:txBody>
          <a:bodyPr/>
          <a:lstStyle/>
          <a:p>
            <a:endParaRPr lang="en-US"/>
          </a:p>
        </p:txBody>
      </p:sp>
      <p:sp>
        <p:nvSpPr>
          <p:cNvPr id="68" name="XLabel_9"/>
          <p:cNvSpPr txBox="1"/>
          <p:nvPr/>
        </p:nvSpPr>
        <p:spPr>
          <a:xfrm>
            <a:off x="6813276" y="4085165"/>
            <a:ext cx="323850" cy="200000"/>
          </a:xfrm>
          <a:prstGeom prst="rect">
            <a:avLst/>
          </a:prstGeom>
          <a:noFill/>
          <a:ln>
            <a:noFill/>
          </a:ln>
        </p:spPr>
        <p:txBody>
          <a:bodyPr wrap="square" lIns="0" tIns="0" rIns="0" bIns="0" anchor="t"/>
          <a:lstStyle/>
          <a:p>
            <a:pPr algn="ctr">
              <a:buNone/>
            </a:pPr>
            <a:r>
              <a:rPr lang="en-US" sz="1100" dirty="0">
                <a:solidFill>
                  <a:srgbClr val="222222"/>
                </a:solidFill>
                <a:latin typeface="Calibri"/>
              </a:rPr>
              <a:t>9</a:t>
            </a:r>
          </a:p>
        </p:txBody>
      </p:sp>
      <p:sp>
        <p:nvSpPr>
          <p:cNvPr id="69" name="Bar_10"/>
          <p:cNvSpPr/>
          <p:nvPr/>
        </p:nvSpPr>
        <p:spPr>
          <a:xfrm>
            <a:off x="7194276" y="3482431"/>
            <a:ext cx="323850" cy="572734"/>
          </a:xfrm>
          <a:prstGeom prst="rect">
            <a:avLst/>
          </a:prstGeom>
          <a:solidFill>
            <a:srgbClr val="AEDD94"/>
          </a:solidFill>
          <a:ln w="6350">
            <a:solidFill>
              <a:srgbClr val="82C864"/>
            </a:solidFill>
          </a:ln>
        </p:spPr>
        <p:txBody>
          <a:bodyPr/>
          <a:lstStyle/>
          <a:p>
            <a:endParaRPr lang="en-US"/>
          </a:p>
        </p:txBody>
      </p:sp>
      <p:sp>
        <p:nvSpPr>
          <p:cNvPr id="70" name="XLabel_10"/>
          <p:cNvSpPr txBox="1"/>
          <p:nvPr/>
        </p:nvSpPr>
        <p:spPr>
          <a:xfrm>
            <a:off x="7194276" y="4085165"/>
            <a:ext cx="323850" cy="200000"/>
          </a:xfrm>
          <a:prstGeom prst="rect">
            <a:avLst/>
          </a:prstGeom>
          <a:noFill/>
          <a:ln>
            <a:noFill/>
          </a:ln>
        </p:spPr>
        <p:txBody>
          <a:bodyPr wrap="square" lIns="0" tIns="0" rIns="0" bIns="0" anchor="t"/>
          <a:lstStyle/>
          <a:p>
            <a:pPr algn="ctr">
              <a:buNone/>
            </a:pPr>
            <a:r>
              <a:rPr lang="en-US" sz="1100" dirty="0">
                <a:solidFill>
                  <a:srgbClr val="222222"/>
                </a:solidFill>
                <a:latin typeface="Calibri"/>
              </a:rPr>
              <a:t>10</a:t>
            </a:r>
          </a:p>
        </p:txBody>
      </p:sp>
      <p:sp>
        <p:nvSpPr>
          <p:cNvPr id="71" name="CI_Bar"/>
          <p:cNvSpPr/>
          <p:nvPr/>
        </p:nvSpPr>
        <p:spPr>
          <a:xfrm>
            <a:off x="5289276" y="4309165"/>
            <a:ext cx="2228850" cy="76200"/>
          </a:xfrm>
          <a:prstGeom prst="rect">
            <a:avLst/>
          </a:prstGeom>
          <a:solidFill>
            <a:srgbClr val="C0392B"/>
          </a:solidFill>
          <a:ln>
            <a:noFill/>
          </a:ln>
        </p:spPr>
        <p:txBody>
          <a:bodyPr/>
          <a:lstStyle/>
          <a:p>
            <a:endParaRPr lang="en-US"/>
          </a:p>
        </p:txBody>
      </p:sp>
      <p:sp>
        <p:nvSpPr>
          <p:cNvPr id="72" name="CI_Label"/>
          <p:cNvSpPr txBox="1"/>
          <p:nvPr/>
        </p:nvSpPr>
        <p:spPr>
          <a:xfrm>
            <a:off x="5555976" y="4456221"/>
            <a:ext cx="1422400" cy="153888"/>
          </a:xfrm>
          <a:prstGeom prst="rect">
            <a:avLst/>
          </a:prstGeom>
          <a:noFill/>
          <a:ln>
            <a:noFill/>
          </a:ln>
        </p:spPr>
        <p:txBody>
          <a:bodyPr wrap="square" lIns="0" tIns="0" rIns="0" bIns="0" anchor="ctr">
            <a:spAutoFit/>
          </a:bodyPr>
          <a:lstStyle/>
          <a:p>
            <a:pPr algn="l">
              <a:buNone/>
            </a:pPr>
            <a:r>
              <a:rPr lang="en-US" sz="1000" dirty="0">
                <a:solidFill>
                  <a:srgbClr val="222222"/>
                </a:solidFill>
                <a:latin typeface="Calibri"/>
              </a:rPr>
              <a:t>confidence interval</a:t>
            </a:r>
          </a:p>
        </p:txBody>
      </p:sp>
      <p:sp>
        <p:nvSpPr>
          <p:cNvPr id="73" name="CI_Line"/>
          <p:cNvSpPr/>
          <p:nvPr/>
        </p:nvSpPr>
        <p:spPr>
          <a:xfrm>
            <a:off x="7524476" y="4347265"/>
            <a:ext cx="38100" cy="0"/>
          </a:xfrm>
          <a:prstGeom prst="line">
            <a:avLst/>
          </a:prstGeom>
          <a:ln w="9525">
            <a:solidFill>
              <a:srgbClr val="222222"/>
            </a:solidFill>
          </a:ln>
        </p:spPr>
        <p:txBody>
          <a:bodyPr/>
          <a:lstStyle/>
          <a:p>
            <a:endParaRPr lang="en-US"/>
          </a:p>
        </p:txBody>
      </p:sp>
      <p:sp>
        <p:nvSpPr>
          <p:cNvPr id="74" name="DistLabel"/>
          <p:cNvSpPr txBox="1"/>
          <p:nvPr/>
        </p:nvSpPr>
        <p:spPr>
          <a:xfrm>
            <a:off x="2825476" y="4434832"/>
            <a:ext cx="2540000" cy="600000"/>
          </a:xfrm>
          <a:prstGeom prst="rect">
            <a:avLst/>
          </a:prstGeom>
          <a:noFill/>
          <a:ln>
            <a:noFill/>
          </a:ln>
        </p:spPr>
        <p:txBody>
          <a:bodyPr wrap="square" lIns="0" tIns="0" rIns="0" bIns="0" anchor="t"/>
          <a:lstStyle/>
          <a:p>
            <a:pPr algn="l">
              <a:buNone/>
            </a:pPr>
            <a:r>
              <a:rPr lang="en-US" sz="1200" dirty="0">
                <a:solidFill>
                  <a:srgbClr val="222222"/>
                </a:solidFill>
                <a:latin typeface="Calibri"/>
              </a:rPr>
              <a:t>Distribution on sample accuracy</a:t>
            </a:r>
          </a:p>
          <a:p>
            <a:pPr algn="l">
              <a:buNone/>
            </a:pPr>
            <a:r>
              <a:rPr lang="en-US" sz="1200" dirty="0">
                <a:solidFill>
                  <a:srgbClr val="222222"/>
                </a:solidFill>
                <a:latin typeface="Calibri"/>
              </a:rPr>
              <a:t>same classifier, resampled </a:t>
            </a:r>
            <a:r>
              <a:rPr lang="en-US" sz="1200" dirty="0">
                <a:solidFill>
                  <a:srgbClr val="2471A3"/>
                </a:solidFill>
                <a:latin typeface="Calibri"/>
              </a:rPr>
              <a:t>test data</a:t>
            </a:r>
          </a:p>
        </p:txBody>
      </p:sp>
      <p:sp>
        <p:nvSpPr>
          <p:cNvPr id="100" name="YAxisLabel"/>
          <p:cNvSpPr txBox="1"/>
          <p:nvPr/>
        </p:nvSpPr>
        <p:spPr>
          <a:xfrm rot="16200000">
            <a:off x="619045" y="2185453"/>
            <a:ext cx="1506896" cy="400000"/>
          </a:xfrm>
          <a:prstGeom prst="rect">
            <a:avLst/>
          </a:prstGeom>
          <a:noFill/>
          <a:ln>
            <a:noFill/>
          </a:ln>
        </p:spPr>
        <p:txBody>
          <a:bodyPr wrap="square" lIns="0" tIns="0" rIns="0" bIns="0" anchor="ctr"/>
          <a:lstStyle/>
          <a:p>
            <a:pPr algn="ctr">
              <a:buNone/>
            </a:pPr>
            <a:r>
              <a:rPr lang="en-US" sz="1200" dirty="0">
                <a:solidFill>
                  <a:srgbClr val="222222"/>
                </a:solidFill>
                <a:latin typeface="Calibri"/>
              </a:rPr>
              <a:t>prob. </a:t>
            </a:r>
            <a:r>
              <a:rPr lang="en-US" sz="1200" dirty="0">
                <a:solidFill>
                  <a:srgbClr val="1B9E3E"/>
                </a:solidFill>
                <a:latin typeface="Calibri"/>
              </a:rPr>
              <a:t>correct</a:t>
            </a:r>
          </a:p>
        </p:txBody>
      </p:sp>
      <p:sp>
        <p:nvSpPr>
          <p:cNvPr id="101" name="IncorrectLabel"/>
          <p:cNvSpPr txBox="1"/>
          <p:nvPr/>
        </p:nvSpPr>
        <p:spPr>
          <a:xfrm rot="16200000">
            <a:off x="892738" y="966861"/>
            <a:ext cx="1200000" cy="400000"/>
          </a:xfrm>
          <a:prstGeom prst="rect">
            <a:avLst/>
          </a:prstGeom>
          <a:noFill/>
          <a:ln>
            <a:noFill/>
          </a:ln>
        </p:spPr>
        <p:txBody>
          <a:bodyPr wrap="square" lIns="0" tIns="0" rIns="0" bIns="0" anchor="ctr"/>
          <a:lstStyle/>
          <a:p>
            <a:pPr algn="ctr">
              <a:buNone/>
            </a:pPr>
            <a:r>
              <a:rPr lang="en-US" sz="1200" i="1" dirty="0">
                <a:solidFill>
                  <a:srgbClr val="C0392B"/>
                </a:solidFill>
                <a:latin typeface="Calibri"/>
              </a:rPr>
              <a:t>incorrect</a:t>
            </a:r>
          </a:p>
        </p:txBody>
      </p:sp>
      <p:sp>
        <p:nvSpPr>
          <p:cNvPr id="102" name="SlideNum"/>
          <p:cNvSpPr txBox="1"/>
          <p:nvPr/>
        </p:nvSpPr>
        <p:spPr>
          <a:xfrm>
            <a:off x="8390976" y="4433165"/>
            <a:ext cx="400000" cy="200000"/>
          </a:xfrm>
          <a:prstGeom prst="rect">
            <a:avLst/>
          </a:prstGeom>
          <a:noFill/>
          <a:ln>
            <a:noFill/>
          </a:ln>
        </p:spPr>
        <p:txBody>
          <a:bodyPr wrap="square" lIns="0" tIns="0" rIns="0" bIns="0" anchor="ctr"/>
          <a:lstStyle/>
          <a:p>
            <a:pPr algn="r">
              <a:buNone/>
            </a:pPr>
            <a:r>
              <a:rPr lang="en-US" sz="1000" dirty="0">
                <a:solidFill>
                  <a:srgbClr val="888888"/>
                </a:solidFill>
                <a:latin typeface="Calibri"/>
              </a:rPr>
              <a:t>34</a:t>
            </a:r>
          </a:p>
        </p:txBody>
      </p:sp>
      <p:sp>
        <p:nvSpPr>
          <p:cNvPr id="200" name="XLabel_0"/>
          <p:cNvSpPr txBox="1"/>
          <p:nvPr/>
        </p:nvSpPr>
        <p:spPr>
          <a:xfrm>
            <a:off x="3384276" y="4080565"/>
            <a:ext cx="330200" cy="200000"/>
          </a:xfrm>
          <a:prstGeom prst="rect">
            <a:avLst/>
          </a:prstGeom>
          <a:noFill/>
          <a:ln>
            <a:noFill/>
          </a:ln>
        </p:spPr>
        <p:txBody>
          <a:bodyPr wrap="square" lIns="0" tIns="0" rIns="0" bIns="0" anchor="t"/>
          <a:lstStyle/>
          <a:p>
            <a:pPr algn="ctr">
              <a:buNone/>
            </a:pPr>
            <a:r>
              <a:rPr lang="en-US" sz="1100" dirty="0">
                <a:solidFill>
                  <a:srgbClr val="222222"/>
                </a:solidFill>
                <a:latin typeface="Calibri"/>
              </a:rPr>
              <a:t>0</a:t>
            </a:r>
          </a:p>
        </p:txBody>
      </p:sp>
      <p:sp>
        <p:nvSpPr>
          <p:cNvPr id="201" name="XLabel_1"/>
          <p:cNvSpPr txBox="1"/>
          <p:nvPr/>
        </p:nvSpPr>
        <p:spPr>
          <a:xfrm>
            <a:off x="3765276" y="4080565"/>
            <a:ext cx="330200" cy="200000"/>
          </a:xfrm>
          <a:prstGeom prst="rect">
            <a:avLst/>
          </a:prstGeom>
          <a:noFill/>
          <a:ln>
            <a:noFill/>
          </a:ln>
        </p:spPr>
        <p:txBody>
          <a:bodyPr wrap="square" lIns="0" tIns="0" rIns="0" bIns="0" anchor="t"/>
          <a:lstStyle/>
          <a:p>
            <a:pPr algn="ctr">
              <a:buNone/>
            </a:pPr>
            <a:r>
              <a:rPr lang="en-US" sz="1100" dirty="0">
                <a:solidFill>
                  <a:srgbClr val="222222"/>
                </a:solidFill>
                <a:latin typeface="Calibri"/>
              </a:rPr>
              <a:t>1</a:t>
            </a:r>
          </a:p>
        </p:txBody>
      </p:sp>
      <p:sp>
        <p:nvSpPr>
          <p:cNvPr id="202" name="XLabel_2"/>
          <p:cNvSpPr txBox="1"/>
          <p:nvPr/>
        </p:nvSpPr>
        <p:spPr>
          <a:xfrm>
            <a:off x="4146276" y="4080565"/>
            <a:ext cx="330200" cy="200000"/>
          </a:xfrm>
          <a:prstGeom prst="rect">
            <a:avLst/>
          </a:prstGeom>
          <a:noFill/>
          <a:ln>
            <a:noFill/>
          </a:ln>
        </p:spPr>
        <p:txBody>
          <a:bodyPr wrap="square" lIns="0" tIns="0" rIns="0" bIns="0" anchor="t"/>
          <a:lstStyle/>
          <a:p>
            <a:pPr algn="ctr">
              <a:buNone/>
            </a:pPr>
            <a:r>
              <a:rPr lang="en-US" sz="1100" dirty="0">
                <a:solidFill>
                  <a:srgbClr val="222222"/>
                </a:solidFill>
                <a:latin typeface="Calibri"/>
              </a:rPr>
              <a:t>2</a:t>
            </a:r>
          </a:p>
        </p:txBody>
      </p:sp>
      <p:sp>
        <p:nvSpPr>
          <p:cNvPr id="203" name="XLabel_3"/>
          <p:cNvSpPr txBox="1"/>
          <p:nvPr/>
        </p:nvSpPr>
        <p:spPr>
          <a:xfrm>
            <a:off x="4527276" y="4080565"/>
            <a:ext cx="330200" cy="200000"/>
          </a:xfrm>
          <a:prstGeom prst="rect">
            <a:avLst/>
          </a:prstGeom>
          <a:noFill/>
          <a:ln>
            <a:noFill/>
          </a:ln>
        </p:spPr>
        <p:txBody>
          <a:bodyPr wrap="square" lIns="0" tIns="0" rIns="0" bIns="0" anchor="t"/>
          <a:lstStyle/>
          <a:p>
            <a:pPr algn="ctr">
              <a:buNone/>
            </a:pPr>
            <a:r>
              <a:rPr lang="en-US" sz="1100" dirty="0">
                <a:solidFill>
                  <a:srgbClr val="222222"/>
                </a:solidFill>
                <a:latin typeface="Calibri"/>
              </a:rPr>
              <a:t>3</a:t>
            </a:r>
          </a:p>
        </p:txBody>
      </p:sp>
    </p:spTree>
    <p:extLst>
      <p:ext uri="{BB962C8B-B14F-4D97-AF65-F5344CB8AC3E}">
        <p14:creationId xmlns:p14="http://schemas.microsoft.com/office/powerpoint/2010/main" val="2042940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457200" y="457200"/>
            <a:ext cx="8229600" cy="4389120"/>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57200"/>
            <a:ext cx="8229600" cy="502920"/>
          </a:xfrm>
          <a:prstGeom prst="rect">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57200"/>
            <a:ext cx="822960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confidence intervals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05840" y="1403405"/>
            <a:ext cx="16459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22222"/>
                </a:solidFill>
                <a:effectLst/>
                <a:uLnTx/>
                <a:uFillTx/>
                <a:latin typeface="Calibri" panose="020F0502020204030204"/>
                <a:ea typeface="+mn-ea"/>
                <a:cs typeface="+mn-cs"/>
              </a:rPr>
              <a:t>test set size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200400" y="1097280"/>
            <a:ext cx="18288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22222"/>
                </a:solidFill>
                <a:effectLst/>
                <a:uLnTx/>
                <a:uFillTx/>
                <a:latin typeface="Calibri" panose="020F0502020204030204"/>
                <a:ea typeface="+mn-ea"/>
                <a:cs typeface="+mn-cs"/>
              </a:rPr>
              <a:t>accuracy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2926080" y="1417320"/>
            <a:ext cx="4572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Calibri" panose="020F0502020204030204"/>
                <a:ea typeface="+mn-ea"/>
                <a:cs typeface="+mn-cs"/>
              </a:rPr>
              <a:t>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583680" y="1417320"/>
            <a:ext cx="4572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Calibri" panose="020F0502020204030204"/>
                <a:ea typeface="+mn-ea"/>
                <a:cs typeface="+mn-cs"/>
              </a:rPr>
              <a:t>1.0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248355" y="1965960"/>
            <a:ext cx="1371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2E86C1"/>
                </a:solidFill>
                <a:effectLst/>
                <a:uLnTx/>
                <a:uFillTx/>
                <a:latin typeface="Calibri" panose="020F0502020204030204"/>
                <a:ea typeface="+mn-ea"/>
                <a:cs typeface="+mn-cs"/>
              </a:rPr>
              <a:t>100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3200400" y="1828800"/>
            <a:ext cx="3200400" cy="320040"/>
          </a:xfrm>
          <a:prstGeom prst="rect">
            <a:avLst/>
          </a:prstGeom>
          <a:solidFill>
            <a:srgbClr val="2E86C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3200400" y="2240280"/>
            <a:ext cx="3657600" cy="320040"/>
          </a:xfrm>
          <a:prstGeom prst="rect">
            <a:avLst/>
          </a:prstGeom>
          <a:solidFill>
            <a:srgbClr val="2E86C1">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1248355" y="2880360"/>
            <a:ext cx="1371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E67E22"/>
                </a:solidFill>
                <a:effectLst/>
                <a:uLnTx/>
                <a:uFillTx/>
                <a:latin typeface="Calibri" panose="020F0502020204030204"/>
                <a:ea typeface="+mn-ea"/>
                <a:cs typeface="+mn-cs"/>
              </a:rPr>
              <a:t>1000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3200400" y="2743200"/>
            <a:ext cx="2286000" cy="320040"/>
          </a:xfrm>
          <a:prstGeom prst="rect">
            <a:avLst/>
          </a:prstGeom>
          <a:solidFill>
            <a:srgbClr val="E67E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3200400" y="3154680"/>
            <a:ext cx="3200400" cy="320040"/>
          </a:xfrm>
          <a:prstGeom prst="rect">
            <a:avLst/>
          </a:prstGeom>
          <a:solidFill>
            <a:srgbClr val="E67E22">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1248355" y="3794760"/>
            <a:ext cx="1371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1B9E3E"/>
                </a:solidFill>
                <a:effectLst/>
                <a:uLnTx/>
                <a:uFillTx/>
                <a:latin typeface="Calibri" panose="020F0502020204030204"/>
                <a:ea typeface="+mn-ea"/>
                <a:cs typeface="+mn-cs"/>
              </a:rPr>
              <a:t>10000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3200400" y="3657600"/>
            <a:ext cx="1371600" cy="320040"/>
          </a:xfrm>
          <a:prstGeom prst="rect">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3200400" y="4069080"/>
            <a:ext cx="2743200" cy="320040"/>
          </a:xfrm>
          <a:prstGeom prst="rect">
            <a:avLst/>
          </a:prstGeom>
          <a:solidFill>
            <a:srgbClr val="1B9E3E">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0" name="ErrBar_10"/>
          <p:cNvSpPr/>
          <p:nvPr/>
        </p:nvSpPr>
        <p:spPr>
          <a:xfrm>
            <a:off x="5990150" y="1892808"/>
            <a:ext cx="821300" cy="192024"/>
          </a:xfrm>
          <a:prstGeom prst="rect">
            <a:avLst/>
          </a:prstGeom>
          <a:solidFill>
            <a:srgbClr val="000000"/>
          </a:solidFill>
          <a:ln>
            <a:noFill/>
          </a:ln>
        </p:spPr>
        <p:txBody>
          <a:bodyPr/>
          <a:lstStyle/>
          <a:p>
            <a:endParaRPr lang="en-US"/>
          </a:p>
        </p:txBody>
      </p:sp>
      <p:sp>
        <p:nvSpPr>
          <p:cNvPr id="301" name="ErrBar_11"/>
          <p:cNvSpPr/>
          <p:nvPr/>
        </p:nvSpPr>
        <p:spPr>
          <a:xfrm>
            <a:off x="6499555" y="2304288"/>
            <a:ext cx="716890" cy="192024"/>
          </a:xfrm>
          <a:prstGeom prst="rect">
            <a:avLst/>
          </a:prstGeom>
          <a:solidFill>
            <a:srgbClr val="000000"/>
          </a:solidFill>
          <a:ln>
            <a:noFill/>
          </a:ln>
        </p:spPr>
        <p:txBody>
          <a:bodyPr/>
          <a:lstStyle/>
          <a:p>
            <a:endParaRPr lang="en-US"/>
          </a:p>
        </p:txBody>
      </p:sp>
      <p:sp>
        <p:nvSpPr>
          <p:cNvPr id="302" name="ErrBar_13"/>
          <p:cNvSpPr/>
          <p:nvPr/>
        </p:nvSpPr>
        <p:spPr>
          <a:xfrm>
            <a:off x="5344712" y="2807208"/>
            <a:ext cx="283376" cy="192024"/>
          </a:xfrm>
          <a:prstGeom prst="rect">
            <a:avLst/>
          </a:prstGeom>
          <a:solidFill>
            <a:srgbClr val="000000"/>
          </a:solidFill>
          <a:ln>
            <a:noFill/>
          </a:ln>
        </p:spPr>
        <p:txBody>
          <a:bodyPr/>
          <a:lstStyle/>
          <a:p>
            <a:endParaRPr lang="en-US"/>
          </a:p>
        </p:txBody>
      </p:sp>
      <p:sp>
        <p:nvSpPr>
          <p:cNvPr id="303" name="ErrBar_14"/>
          <p:cNvSpPr/>
          <p:nvPr/>
        </p:nvSpPr>
        <p:spPr>
          <a:xfrm>
            <a:off x="6270941" y="3218688"/>
            <a:ext cx="259718" cy="192024"/>
          </a:xfrm>
          <a:prstGeom prst="rect">
            <a:avLst/>
          </a:prstGeom>
          <a:solidFill>
            <a:srgbClr val="000000"/>
          </a:solidFill>
          <a:ln>
            <a:noFill/>
          </a:ln>
        </p:spPr>
        <p:txBody>
          <a:bodyPr/>
          <a:lstStyle/>
          <a:p>
            <a:endParaRPr lang="en-US"/>
          </a:p>
        </p:txBody>
      </p:sp>
      <p:sp>
        <p:nvSpPr>
          <p:cNvPr id="304" name="ErrBar_16"/>
          <p:cNvSpPr/>
          <p:nvPr/>
        </p:nvSpPr>
        <p:spPr>
          <a:xfrm>
            <a:off x="4530935" y="3721608"/>
            <a:ext cx="82130" cy="192024"/>
          </a:xfrm>
          <a:prstGeom prst="rect">
            <a:avLst/>
          </a:prstGeom>
          <a:solidFill>
            <a:srgbClr val="000000"/>
          </a:solidFill>
          <a:ln>
            <a:noFill/>
          </a:ln>
        </p:spPr>
        <p:txBody>
          <a:bodyPr/>
          <a:lstStyle/>
          <a:p>
            <a:endParaRPr lang="en-US"/>
          </a:p>
        </p:txBody>
      </p:sp>
      <p:sp>
        <p:nvSpPr>
          <p:cNvPr id="305" name="ErrBar_17"/>
          <p:cNvSpPr/>
          <p:nvPr/>
        </p:nvSpPr>
        <p:spPr>
          <a:xfrm>
            <a:off x="5899700" y="4133088"/>
            <a:ext cx="87800" cy="192024"/>
          </a:xfrm>
          <a:prstGeom prst="rect">
            <a:avLst/>
          </a:prstGeom>
          <a:solidFill>
            <a:srgbClr val="000000"/>
          </a:solidFill>
          <a:ln>
            <a:noFill/>
          </a:ln>
        </p:spPr>
        <p:txBody>
          <a:bodyPr/>
          <a:lstStyle/>
          <a:p>
            <a:endParaRPr lang="en-US"/>
          </a:p>
        </p:txBody>
      </p:sp>
    </p:spTree>
    <p:extLst>
      <p:ext uri="{BB962C8B-B14F-4D97-AF65-F5344CB8AC3E}">
        <p14:creationId xmlns:p14="http://schemas.microsoft.com/office/powerpoint/2010/main" val="3564126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457200" y="457200"/>
            <a:ext cx="8229600" cy="4389120"/>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57200"/>
            <a:ext cx="8229600" cy="502920"/>
          </a:xfrm>
          <a:prstGeom prst="rect">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57200"/>
            <a:ext cx="822960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test set size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914400" y="1280160"/>
            <a:ext cx="73152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22222"/>
                </a:solidFill>
                <a:effectLst/>
                <a:uLnTx/>
                <a:uFillTx/>
                <a:latin typeface="Calibri" panose="020F0502020204030204"/>
                <a:ea typeface="+mn-ea"/>
                <a:cs typeface="+mn-cs"/>
              </a:rPr>
              <a:t>Confidence depends on </a:t>
            </a:r>
            <a:r>
              <a:rPr kumimoji="0" lang="en-US" sz="2000" b="0" i="1" u="none" strike="noStrike" kern="1200" cap="none" spc="0" normalizeH="0" baseline="0" noProof="0" dirty="0">
                <a:ln>
                  <a:noFill/>
                </a:ln>
                <a:solidFill>
                  <a:srgbClr val="222222"/>
                </a:solidFill>
                <a:effectLst/>
                <a:uLnTx/>
                <a:uFillTx/>
                <a:latin typeface="Calibri" panose="020F0502020204030204"/>
                <a:ea typeface="+mn-ea"/>
                <a:cs typeface="+mn-cs"/>
              </a:rPr>
              <a:t>the size of the test set.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914400" y="2103120"/>
            <a:ext cx="73152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22222"/>
                </a:solidFill>
                <a:effectLst/>
                <a:uLnTx/>
                <a:uFillTx/>
                <a:latin typeface="Calibri" panose="020F0502020204030204"/>
                <a:ea typeface="+mn-ea"/>
                <a:cs typeface="+mn-cs"/>
              </a:rPr>
              <a:t>Not on the proportion train vs test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457200" y="457200"/>
            <a:ext cx="8229600" cy="4389120"/>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57200"/>
            <a:ext cx="8229600" cy="502920"/>
          </a:xfrm>
          <a:prstGeom prst="rect">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57200"/>
            <a:ext cx="822960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confidence interval estimates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572000" y="1188720"/>
            <a:ext cx="0" cy="3474720"/>
          </a:xfrm>
          <a:prstGeom prst="line">
            <a:avLst/>
          </a:prstGeom>
          <a:noFill/>
          <a:ln w="38100">
            <a:solidFill>
              <a:srgbClr val="1B9E3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731520" y="1188720"/>
            <a:ext cx="3657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B9E3E"/>
                </a:solidFill>
                <a:effectLst/>
                <a:uLnTx/>
                <a:uFillTx/>
                <a:latin typeface="Calibri" panose="020F0502020204030204"/>
                <a:ea typeface="+mn-ea"/>
                <a:cs typeface="+mn-cs"/>
              </a:rPr>
              <a:t>unobservable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846320" y="1188720"/>
            <a:ext cx="3657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B9E3E"/>
                </a:solidFill>
                <a:effectLst/>
                <a:uLnTx/>
                <a:uFillTx/>
                <a:latin typeface="Calibri" panose="020F0502020204030204"/>
                <a:ea typeface="+mn-ea"/>
                <a:cs typeface="+mn-cs"/>
              </a:rPr>
              <a:t>observable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31520" y="1828800"/>
            <a:ext cx="36576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22222"/>
                </a:solidFill>
                <a:effectLst/>
                <a:uLnTx/>
                <a:uFillTx/>
                <a:latin typeface="Calibri" panose="020F0502020204030204"/>
                <a:ea typeface="+mn-ea"/>
                <a:cs typeface="+mn-cs"/>
              </a:rPr>
              <a:t>data distribution: p(x, 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Calibri" panose="020F0502020204030204"/>
                <a:ea typeface="+mn-ea"/>
                <a:cs typeface="+mn-cs"/>
              </a:rPr>
              <a:t>instances x and classes 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846320" y="1828800"/>
            <a:ext cx="36576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66666"/>
                </a:solidFill>
                <a:effectLst/>
                <a:uLnTx/>
                <a:uFillTx/>
                <a:latin typeface="Calibri" panose="020F0502020204030204"/>
                <a:ea typeface="+mn-ea"/>
                <a:cs typeface="+mn-cs"/>
              </a:rPr>
              <a:t>dataset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31520" y="2651760"/>
            <a:ext cx="36576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22222"/>
                </a:solidFill>
                <a:effectLst/>
                <a:uLnTx/>
                <a:uFillTx/>
                <a:latin typeface="Calibri" panose="020F0502020204030204"/>
                <a:ea typeface="+mn-ea"/>
                <a:cs typeface="+mn-cs"/>
              </a:rPr>
              <a:t>true accuracy of C</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Calibri" panose="020F0502020204030204"/>
                <a:ea typeface="+mn-ea"/>
                <a:cs typeface="+mn-cs"/>
              </a:rPr>
              <a:t>probability that C(x) = t under p</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846320" y="2651760"/>
            <a:ext cx="365760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66666"/>
                </a:solidFill>
                <a:effectLst/>
                <a:uLnTx/>
                <a:uFillTx/>
                <a:latin typeface="Calibri" panose="020F0502020204030204"/>
                <a:ea typeface="+mn-ea"/>
                <a:cs typeface="+mn-cs"/>
              </a:rPr>
              <a:t>sample accuracy of C</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Calibri" panose="020F0502020204030204"/>
                <a:ea typeface="+mn-ea"/>
                <a:cs typeface="+mn-cs"/>
              </a:rPr>
              <a:t>proportion of test set that C classifies correctly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3474720"/>
            <a:ext cx="3657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22222"/>
                </a:solidFill>
                <a:effectLst/>
                <a:uLnTx/>
                <a:uFillTx/>
                <a:latin typeface="Calibri" panose="020F0502020204030204"/>
                <a:ea typeface="+mn-ea"/>
                <a:cs typeface="+mn-cs"/>
              </a:rPr>
              <a:t>true </a:t>
            </a:r>
            <a:r>
              <a:rPr kumimoji="0" lang="en-US" sz="1400" b="1" i="0" u="none" strike="noStrike" kern="1200" cap="none" spc="0" normalizeH="0" baseline="0" noProof="0" dirty="0">
                <a:ln>
                  <a:noFill/>
                </a:ln>
                <a:solidFill>
                  <a:srgbClr val="222222"/>
                </a:solidFill>
                <a:effectLst/>
                <a:uLnTx/>
                <a:uFillTx/>
                <a:latin typeface="Calibri" panose="020F0502020204030204"/>
                <a:ea typeface="+mn-ea"/>
                <a:cs typeface="+mn-cs"/>
              </a:rPr>
              <a:t>confidence interval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846320" y="3474720"/>
            <a:ext cx="3657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666666"/>
                </a:solidFill>
                <a:effectLst/>
                <a:uLnTx/>
                <a:uFillTx/>
                <a:latin typeface="Calibri" panose="020F0502020204030204"/>
                <a:ea typeface="+mn-ea"/>
                <a:cs typeface="+mn-cs"/>
              </a:rPr>
              <a:t>estimated </a:t>
            </a:r>
            <a:r>
              <a:rPr kumimoji="0" lang="en-US" sz="1400" b="1" i="0" u="none" strike="noStrike" kern="1200" cap="none" spc="0" normalizeH="0" baseline="0" noProof="0" dirty="0">
                <a:ln>
                  <a:noFill/>
                </a:ln>
                <a:solidFill>
                  <a:srgbClr val="666666"/>
                </a:solidFill>
                <a:effectLst/>
                <a:uLnTx/>
                <a:uFillTx/>
                <a:latin typeface="Calibri" panose="020F0502020204030204"/>
                <a:ea typeface="+mn-ea"/>
                <a:cs typeface="+mn-cs"/>
              </a:rPr>
              <a:t>confidence interval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31520" y="4023360"/>
            <a:ext cx="3657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22222"/>
                </a:solidFill>
                <a:effectLst/>
                <a:uLnTx/>
                <a:uFillTx/>
                <a:latin typeface="Calibri" panose="020F0502020204030204"/>
                <a:ea typeface="+mn-ea"/>
                <a:cs typeface="+mn-cs"/>
              </a:rPr>
              <a:t>true </a:t>
            </a:r>
            <a:r>
              <a:rPr kumimoji="0" lang="en-US" sz="1400" b="1" i="0" u="none" strike="noStrike" kern="1200" cap="none" spc="0" normalizeH="0" baseline="0" noProof="0" dirty="0">
                <a:ln>
                  <a:noFill/>
                </a:ln>
                <a:solidFill>
                  <a:srgbClr val="222222"/>
                </a:solidFill>
                <a:effectLst/>
                <a:uLnTx/>
                <a:uFillTx/>
                <a:latin typeface="Calibri" panose="020F0502020204030204"/>
                <a:ea typeface="+mn-ea"/>
                <a:cs typeface="+mn-cs"/>
              </a:rPr>
              <a:t>accuracy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4846320" y="4023360"/>
            <a:ext cx="3657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66666"/>
                </a:solidFill>
                <a:effectLst/>
                <a:uLnTx/>
                <a:uFillTx/>
                <a:latin typeface="Calibri" panose="020F0502020204030204"/>
                <a:ea typeface="+mn-ea"/>
                <a:cs typeface="+mn-cs"/>
              </a:rPr>
              <a:t>sample accuracy (estimated from data)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182880"/>
            <a:ext cx="8229600" cy="502920"/>
          </a:xfrm>
          <a:prstGeom prst="rect">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182880"/>
            <a:ext cx="822960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about confidence interval estimates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1005840"/>
            <a:ext cx="768096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22222"/>
                </a:solidFill>
                <a:effectLst/>
                <a:uLnTx/>
                <a:uFillTx/>
                <a:latin typeface="Calibri" panose="020F0502020204030204"/>
                <a:ea typeface="+mn-ea"/>
                <a:cs typeface="+mn-cs"/>
              </a:rPr>
              <a:t>Don’t say: </a:t>
            </a:r>
            <a:r>
              <a:rPr kumimoji="0" lang="en-US" sz="1800" b="0" i="0" u="none" strike="noStrike" kern="1200" cap="none" spc="0" normalizeH="0" baseline="0" noProof="0" dirty="0">
                <a:ln>
                  <a:noFill/>
                </a:ln>
                <a:solidFill>
                  <a:srgbClr val="C0392B"/>
                </a:solidFill>
                <a:effectLst/>
                <a:uLnTx/>
                <a:uFillTx/>
                <a:latin typeface="Calibri" panose="020F0502020204030204"/>
                <a:ea typeface="+mn-ea"/>
                <a:cs typeface="+mn-cs"/>
              </a:rPr>
              <a:t>the probability that the true mean is in </a:t>
            </a:r>
            <a:r>
              <a:rPr kumimoji="0" lang="en-US" sz="1800" b="0" i="1" u="none" strike="noStrike" kern="1200" cap="none" spc="0" normalizeH="0" baseline="0" noProof="0" dirty="0">
                <a:ln>
                  <a:noFill/>
                </a:ln>
                <a:solidFill>
                  <a:srgbClr val="C0392B"/>
                </a:solidFill>
                <a:effectLst/>
                <a:uLnTx/>
                <a:uFillTx/>
                <a:latin typeface="Calibri" panose="020F0502020204030204"/>
                <a:ea typeface="+mn-ea"/>
                <a:cs typeface="+mn-cs"/>
              </a:rPr>
              <a:t>this </a:t>
            </a:r>
            <a:r>
              <a:rPr kumimoji="0" lang="en-US" sz="1800" b="0" i="0" u="none" strike="noStrike" kern="1200" cap="none" spc="0" normalizeH="0" baseline="0" noProof="0" dirty="0">
                <a:ln>
                  <a:noFill/>
                </a:ln>
                <a:solidFill>
                  <a:srgbClr val="C0392B"/>
                </a:solidFill>
                <a:effectLst/>
                <a:uLnTx/>
                <a:uFillTx/>
                <a:latin typeface="Calibri" panose="020F0502020204030204"/>
                <a:ea typeface="+mn-ea"/>
                <a:cs typeface="+mn-cs"/>
              </a:rPr>
              <a:t>confidence interval is 95%.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31520" y="2011680"/>
            <a:ext cx="7680960" cy="12801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22222"/>
                </a:solidFill>
                <a:effectLst/>
                <a:uLnTx/>
                <a:uFillTx/>
                <a:latin typeface="Calibri" panose="020F0502020204030204"/>
                <a:ea typeface="+mn-ea"/>
                <a:cs typeface="+mn-cs"/>
              </a:rPr>
              <a:t>Do say: </a:t>
            </a:r>
            <a:r>
              <a:rPr kumimoji="0" lang="en-US" sz="1800" b="0" i="0" u="none" strike="noStrike" kern="1200" cap="none" spc="0" normalizeH="0" baseline="0" noProof="0" dirty="0">
                <a:ln>
                  <a:noFill/>
                </a:ln>
                <a:solidFill>
                  <a:srgbClr val="1B7A30"/>
                </a:solidFill>
                <a:effectLst/>
                <a:uLnTx/>
                <a:uFillTx/>
                <a:latin typeface="Calibri" panose="020F0502020204030204"/>
                <a:ea typeface="+mn-ea"/>
                <a:cs typeface="+mn-cs"/>
              </a:rPr>
              <a:t>If we repeat the experiment many times, computing the confidence interval each time; the true mean would be inside the interval in 95% of those experiments.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31520" y="3383280"/>
            <a:ext cx="76809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66666"/>
                </a:solidFill>
                <a:effectLst/>
                <a:uLnTx/>
                <a:uFillTx/>
                <a:latin typeface="Calibri" panose="020F0502020204030204"/>
                <a:ea typeface="+mn-ea"/>
                <a:cs typeface="+mn-cs"/>
              </a:rPr>
              <a:t>The confidence interval changes from experiment to experiment, not the true mean.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31520" y="3931920"/>
            <a:ext cx="768096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22222"/>
                </a:solidFill>
                <a:effectLst/>
                <a:uLnTx/>
                <a:uFillTx/>
                <a:latin typeface="Calibri" panose="020F0502020204030204"/>
                <a:ea typeface="+mn-ea"/>
                <a:cs typeface="+mn-cs"/>
              </a:rPr>
              <a:t>The estimated confidence interval for the mean is a statistic on the data, just like the mean itself or the standard deviation.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412480" y="4709160"/>
            <a:ext cx="54864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Calibri" panose="020F0502020204030204"/>
                <a:ea typeface="+mn-ea"/>
                <a:cs typeface="+mn-cs"/>
              </a:rPr>
              <a:t>41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457200" y="457200"/>
            <a:ext cx="8229600" cy="4389120"/>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57200"/>
            <a:ext cx="8229600" cy="502920"/>
          </a:xfrm>
          <a:prstGeom prst="rect">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57200"/>
            <a:ext cx="822960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interpreting error bars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Chart 0"/>
          <p:cNvGraphicFramePr/>
          <p:nvPr/>
        </p:nvGraphicFramePr>
        <p:xfrm>
          <a:off x="1371600" y="1188720"/>
          <a:ext cx="6400800" cy="34747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98100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74320" y="182880"/>
            <a:ext cx="8595360" cy="4754880"/>
          </a:xfrm>
          <a:prstGeom prst="rect">
            <a:avLst/>
          </a:prstGeom>
          <a:noFill/>
          <a:ln w="12700">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365760"/>
            <a:ext cx="22860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1B9E3E"/>
                </a:solidFill>
                <a:effectLst/>
                <a:uLnTx/>
                <a:uFillTx/>
                <a:latin typeface="Calibri" panose="020F0502020204030204"/>
                <a:ea typeface="+mn-ea"/>
                <a:cs typeface="+mn-cs"/>
              </a:rPr>
              <a:t>data: 3, 4, 6, 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Chart 0"/>
          <p:cNvGraphicFramePr/>
          <p:nvPr/>
        </p:nvGraphicFramePr>
        <p:xfrm>
          <a:off x="2286000" y="274320"/>
          <a:ext cx="640080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2560320"/>
            <a:ext cx="2103120" cy="1371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B9E3E"/>
                </a:solidFill>
                <a:effectLst/>
                <a:uLnTx/>
                <a:uFillTx/>
                <a:latin typeface="Calibri" panose="020F0502020204030204"/>
                <a:ea typeface="+mn-ea"/>
                <a:cs typeface="+mn-cs"/>
              </a:rPr>
              <a:t>data: 3, 4, 5, 2, 8, 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B9E3E"/>
                </a:solidFill>
                <a:effectLst/>
                <a:uLnTx/>
                <a:uFillTx/>
                <a:latin typeface="Calibri" panose="020F0502020204030204"/>
                <a:ea typeface="+mn-ea"/>
                <a:cs typeface="+mn-cs"/>
              </a:rPr>
              <a:t>8, 2, 3, 5, 7, 0, 2, 4,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B9E3E"/>
                </a:solidFill>
                <a:effectLst/>
                <a:uLnTx/>
                <a:uFillTx/>
                <a:latin typeface="Calibri" panose="020F0502020204030204"/>
                <a:ea typeface="+mn-ea"/>
                <a:cs typeface="+mn-cs"/>
              </a:rPr>
              <a:t>6, 7, 0, 4, 5, 1, 8, 7,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B9E3E"/>
                </a:solidFill>
                <a:effectLst/>
                <a:uLnTx/>
                <a:uFillTx/>
                <a:latin typeface="Calibri" panose="020F0502020204030204"/>
                <a:ea typeface="+mn-ea"/>
                <a:cs typeface="+mn-cs"/>
              </a:rPr>
              <a:t>1, 2, 3, 5, 7, 4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Chart 1"/>
          <p:cNvGraphicFramePr/>
          <p:nvPr/>
        </p:nvGraphicFramePr>
        <p:xfrm>
          <a:off x="2286000" y="2560320"/>
          <a:ext cx="640080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8412480" y="4709160"/>
            <a:ext cx="54864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Calibri" panose="020F0502020204030204"/>
                <a:ea typeface="+mn-ea"/>
                <a:cs typeface="+mn-cs"/>
              </a:rPr>
              <a:t>43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91985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457200" y="457200"/>
            <a:ext cx="8229600" cy="4389120"/>
          </a:xfrm>
          <a:prstGeom prst="rect">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457200"/>
            <a:ext cx="8229600" cy="502920"/>
          </a:xfrm>
          <a:prstGeom prst="rect">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457200" y="457200"/>
            <a:ext cx="822960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spread vs. confidence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914400" y="1188720"/>
            <a:ext cx="73152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22222"/>
                </a:solidFill>
                <a:effectLst/>
                <a:uLnTx/>
                <a:uFillTx/>
                <a:latin typeface="Calibri" panose="020F0502020204030204"/>
                <a:ea typeface="+mn-ea"/>
                <a:cs typeface="+mn-cs"/>
              </a:rPr>
              <a:t>standard deviation: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737360"/>
            <a:ext cx="6858000" cy="45720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Calibri" panose="020F0502020204030204"/>
                <a:ea typeface="+mn-ea"/>
                <a:cs typeface="+mn-cs"/>
              </a:rPr>
              <a:t>measure of </a:t>
            </a:r>
            <a:r>
              <a:rPr kumimoji="0" lang="en-US" sz="1600" b="1" i="0" u="none" strike="noStrike" kern="1200" cap="none" spc="0" normalizeH="0" baseline="0" noProof="0" dirty="0">
                <a:ln>
                  <a:noFill/>
                </a:ln>
                <a:solidFill>
                  <a:srgbClr val="222222"/>
                </a:solidFill>
                <a:effectLst/>
                <a:uLnTx/>
                <a:uFillTx/>
                <a:latin typeface="Calibri" panose="020F0502020204030204"/>
                <a:ea typeface="+mn-ea"/>
                <a:cs typeface="+mn-cs"/>
              </a:rPr>
              <a:t>spread</a:t>
            </a:r>
            <a:r>
              <a:rPr kumimoji="0" lang="en-US" sz="1600" b="0" i="0" u="none" strike="noStrike" kern="1200" cap="none" spc="0" normalizeH="0" baseline="0" noProof="0" dirty="0">
                <a:ln>
                  <a:noFill/>
                </a:ln>
                <a:solidFill>
                  <a:srgbClr val="222222"/>
                </a:solidFill>
                <a:effectLst/>
                <a:uLnTx/>
                <a:uFillTx/>
                <a:latin typeface="Calibri" panose="020F0502020204030204"/>
                <a:ea typeface="+mn-ea"/>
                <a:cs typeface="+mn-cs"/>
              </a:rPr>
              <a:t>, variance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914400" y="2468880"/>
            <a:ext cx="73152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22222"/>
                </a:solidFill>
                <a:effectLst/>
                <a:uLnTx/>
                <a:uFillTx/>
                <a:latin typeface="Calibri" panose="020F0502020204030204"/>
                <a:ea typeface="+mn-ea"/>
                <a:cs typeface="+mn-cs"/>
              </a:rPr>
              <a:t>standard error, confidence interval: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188720" y="3017520"/>
            <a:ext cx="6858000" cy="45720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Calibri" panose="020F0502020204030204"/>
                <a:ea typeface="+mn-ea"/>
                <a:cs typeface="+mn-cs"/>
              </a:rPr>
              <a:t>measures of </a:t>
            </a:r>
            <a:r>
              <a:rPr kumimoji="0" lang="en-US" sz="1600" b="1" i="0" u="none" strike="noStrike" kern="1200" cap="none" spc="0" normalizeH="0" baseline="0" noProof="0" dirty="0">
                <a:ln>
                  <a:noFill/>
                </a:ln>
                <a:solidFill>
                  <a:srgbClr val="222222"/>
                </a:solidFill>
                <a:effectLst/>
                <a:uLnTx/>
                <a:uFillTx/>
                <a:latin typeface="Calibri" panose="020F0502020204030204"/>
                <a:ea typeface="+mn-ea"/>
                <a:cs typeface="+mn-cs"/>
              </a:rPr>
              <a:t>confidence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188720" y="3657600"/>
            <a:ext cx="6858000" cy="7315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666666"/>
                </a:solidFill>
                <a:effectLst/>
                <a:uLnTx/>
                <a:uFillTx/>
                <a:latin typeface="Calibri" panose="020F0502020204030204"/>
                <a:ea typeface="+mn-ea"/>
                <a:cs typeface="+mn-cs"/>
              </a:rPr>
              <a:t>with more data: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66666"/>
                </a:solidFill>
                <a:effectLst/>
                <a:uLnTx/>
                <a:uFillTx/>
                <a:latin typeface="Calibri" panose="020F0502020204030204"/>
                <a:ea typeface="+mn-ea"/>
                <a:cs typeface="+mn-cs"/>
              </a:rPr>
              <a:t>std dev stays the same, std error and CI shrink</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182880"/>
            <a:ext cx="8229600" cy="502920"/>
          </a:xfrm>
          <a:prstGeom prst="rect">
            <a:avLst/>
          </a:prstGeom>
          <a:solidFill>
            <a:srgbClr val="1B9E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182880"/>
            <a:ext cx="822960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overlap</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31520" y="822960"/>
            <a:ext cx="347472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Calibri" panose="020F0502020204030204"/>
                <a:ea typeface="+mn-ea"/>
                <a:cs typeface="+mn-cs"/>
              </a:rPr>
              <a:t>standard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Calibri" panose="020F0502020204030204"/>
                <a:ea typeface="+mn-ea"/>
                <a:cs typeface="+mn-cs"/>
              </a:rPr>
              <a:t>error</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645920"/>
            <a:ext cx="731520" cy="1828800"/>
          </a:xfrm>
          <a:prstGeom prst="rect">
            <a:avLst/>
          </a:prstGeom>
          <a:solidFill>
            <a:srgbClr val="C039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2286000" y="1828800"/>
            <a:ext cx="731520" cy="1645920"/>
          </a:xfrm>
          <a:prstGeom prst="rect">
            <a:avLst/>
          </a:prstGeom>
          <a:solidFill>
            <a:srgbClr val="2E86C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737360" y="1371600"/>
            <a:ext cx="0" cy="548640"/>
          </a:xfrm>
          <a:prstGeom prst="line">
            <a:avLst/>
          </a:prstGeom>
          <a:noFill/>
          <a:ln w="381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2651760" y="1554480"/>
            <a:ext cx="0" cy="548640"/>
          </a:xfrm>
          <a:prstGeom prst="line">
            <a:avLst/>
          </a:prstGeom>
          <a:noFill/>
          <a:ln w="381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1737360" y="1645920"/>
            <a:ext cx="914400" cy="182880"/>
          </a:xfrm>
          <a:prstGeom prst="line">
            <a:avLst/>
          </a:prstGeom>
          <a:noFill/>
          <a:ln w="38100">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1371600" y="3520440"/>
            <a:ext cx="7315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392B"/>
                </a:solidFill>
                <a:effectLst/>
                <a:uLnTx/>
                <a:uFillTx/>
                <a:latin typeface="Calibri" panose="020F0502020204030204"/>
                <a:ea typeface="+mn-ea"/>
                <a:cs typeface="+mn-cs"/>
              </a:rPr>
              <a:t>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2286000" y="3520440"/>
            <a:ext cx="7315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E86C1"/>
                </a:solidFill>
                <a:effectLst/>
                <a:uLnTx/>
                <a:uFillTx/>
                <a:latin typeface="Calibri" panose="020F0502020204030204"/>
                <a:ea typeface="+mn-ea"/>
                <a:cs typeface="+mn-cs"/>
              </a:rPr>
              <a:t>B</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31520" y="3840480"/>
            <a:ext cx="347472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panose="020F0502020204030204"/>
                <a:ea typeface="+mn-ea"/>
                <a:cs typeface="+mn-cs"/>
              </a:rPr>
              <a:t>overlap implies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panose="020F0502020204030204"/>
                <a:ea typeface="+mn-ea"/>
                <a:cs typeface="+mn-cs"/>
              </a:rPr>
              <a:t>not a sign. difference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panose="020F0502020204030204"/>
                <a:ea typeface="+mn-ea"/>
                <a:cs typeface="+mn-cs"/>
              </a:rPr>
              <a:t>between A and B</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937760" y="822960"/>
            <a:ext cx="347472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Calibri" panose="020F0502020204030204"/>
                <a:ea typeface="+mn-ea"/>
                <a:cs typeface="+mn-cs"/>
              </a:rPr>
              <a:t>confidence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Calibri" panose="020F0502020204030204"/>
                <a:ea typeface="+mn-ea"/>
                <a:cs typeface="+mn-cs"/>
              </a:rPr>
              <a:t>interval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669280" y="1645920"/>
            <a:ext cx="731520" cy="1828800"/>
          </a:xfrm>
          <a:prstGeom prst="rect">
            <a:avLst/>
          </a:prstGeom>
          <a:solidFill>
            <a:srgbClr val="C0392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6583680" y="2194560"/>
            <a:ext cx="731520" cy="1280160"/>
          </a:xfrm>
          <a:prstGeom prst="rect">
            <a:avLst/>
          </a:prstGeom>
          <a:solidFill>
            <a:srgbClr val="2E86C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6035040" y="1371600"/>
            <a:ext cx="0" cy="548640"/>
          </a:xfrm>
          <a:prstGeom prst="line">
            <a:avLst/>
          </a:prstGeom>
          <a:noFill/>
          <a:ln w="381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6949440" y="1920240"/>
            <a:ext cx="0" cy="548640"/>
          </a:xfrm>
          <a:prstGeom prst="line">
            <a:avLst/>
          </a:prstGeom>
          <a:noFill/>
          <a:ln w="381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669280" y="3520440"/>
            <a:ext cx="7315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392B"/>
                </a:solidFill>
                <a:effectLst/>
                <a:uLnTx/>
                <a:uFillTx/>
                <a:latin typeface="Calibri" panose="020F0502020204030204"/>
                <a:ea typeface="+mn-ea"/>
                <a:cs typeface="+mn-cs"/>
              </a:rPr>
              <a:t>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6583680" y="3520440"/>
            <a:ext cx="73152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E86C1"/>
                </a:solidFill>
                <a:effectLst/>
                <a:uLnTx/>
                <a:uFillTx/>
                <a:latin typeface="Calibri" panose="020F0502020204030204"/>
                <a:ea typeface="+mn-ea"/>
                <a:cs typeface="+mn-cs"/>
              </a:rPr>
              <a:t>B</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937760" y="3840480"/>
            <a:ext cx="347472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panose="020F0502020204030204"/>
                <a:ea typeface="+mn-ea"/>
                <a:cs typeface="+mn-cs"/>
              </a:rPr>
              <a:t>no overlap implies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panose="020F0502020204030204"/>
                <a:ea typeface="+mn-ea"/>
                <a:cs typeface="+mn-cs"/>
              </a:rPr>
              <a:t>sign. difference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panose="020F0502020204030204"/>
                <a:ea typeface="+mn-ea"/>
                <a:cs typeface="+mn-cs"/>
              </a:rPr>
              <a:t>between A and B</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8412480" y="4709160"/>
            <a:ext cx="54864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Calibri" panose="020F0502020204030204"/>
                <a:ea typeface="+mn-ea"/>
                <a:cs typeface="+mn-cs"/>
              </a:rPr>
              <a:t>45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anose="020F0502020204030204"/>
                <a:ea typeface="+mn-ea"/>
                <a:cs typeface="+mn-cs"/>
              </a:rPr>
              <a:t>Why Stats in ML?</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640080" y="1188720"/>
            <a:ext cx="3749040" cy="3291840"/>
          </a:xfrm>
          <a:prstGeom prst="roundRect">
            <a:avLst>
              <a:gd name="adj" fmla="val 4167"/>
            </a:avLst>
          </a:prstGeom>
          <a:solidFill>
            <a:srgbClr val="E8F0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914400" y="1463040"/>
            <a:ext cx="502920" cy="502920"/>
          </a:xfrm>
          <a:prstGeom prst="ellipse">
            <a:avLst/>
          </a:prstGeom>
          <a:solidFill>
            <a:srgbClr val="2E86C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914400" y="1463040"/>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914400" y="2103120"/>
            <a:ext cx="32004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E86C1"/>
                </a:solidFill>
                <a:effectLst/>
                <a:uLnTx/>
                <a:uFillTx/>
                <a:latin typeface="Calibri" panose="020F0502020204030204"/>
                <a:ea typeface="+mn-ea"/>
                <a:cs typeface="+mn-cs"/>
              </a:rPr>
              <a:t>Show Confidence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914400" y="2560320"/>
            <a:ext cx="32004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panose="020F0502020204030204"/>
                <a:ea typeface="+mn-ea"/>
                <a:cs typeface="+mn-cs"/>
              </a:rPr>
              <a:t>Quantify certainty in predictions with confidence intervals, p-values, and statistical tests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754880" y="1188720"/>
            <a:ext cx="3749040" cy="3291840"/>
          </a:xfrm>
          <a:prstGeom prst="roundRect">
            <a:avLst>
              <a:gd name="adj" fmla="val 4167"/>
            </a:avLst>
          </a:prstGeom>
          <a:solidFill>
            <a:srgbClr val="FFF8E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5029200" y="1463040"/>
            <a:ext cx="502920" cy="502920"/>
          </a:xfrm>
          <a:prstGeom prst="ellipse">
            <a:avLst/>
          </a:prstGeom>
          <a:solidFill>
            <a:srgbClr val="E67E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0" y="1463040"/>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0" y="2103120"/>
            <a:ext cx="32004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67E22"/>
                </a:solidFill>
                <a:effectLst/>
                <a:uLnTx/>
                <a:uFillTx/>
                <a:latin typeface="Calibri" panose="020F0502020204030204"/>
                <a:ea typeface="+mn-ea"/>
                <a:cs typeface="+mn-cs"/>
              </a:rPr>
              <a:t>Show Spread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029200" y="2560320"/>
            <a:ext cx="32004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222222"/>
                </a:solidFill>
                <a:effectLst/>
                <a:uLnTx/>
                <a:uFillTx/>
                <a:latin typeface="Calibri" panose="020F0502020204030204"/>
                <a:ea typeface="+mn-ea"/>
                <a:cs typeface="+mn-cs"/>
              </a:rPr>
              <a:t>Visualize variability in data through standard deviation, variance, and distribution plots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ccentBar"/>
          <p:cNvSpPr/>
          <p:nvPr/>
        </p:nvSpPr>
        <p:spPr>
          <a:xfrm>
            <a:off x="457200" y="304800"/>
            <a:ext cx="8229600" cy="57150"/>
          </a:xfrm>
          <a:prstGeom prst="rect">
            <a:avLst/>
          </a:prstGeom>
          <a:solidFill>
            <a:srgbClr val="2C6E6A"/>
          </a:solidFill>
          <a:ln>
            <a:noFill/>
          </a:ln>
        </p:spPr>
        <p:txBody>
          <a:bodyPr/>
          <a:lstStyle/>
          <a:p>
            <a:endParaRPr lang="en-US"/>
          </a:p>
        </p:txBody>
      </p:sp>
      <p:sp>
        <p:nvSpPr>
          <p:cNvPr id="11" name="Title"/>
          <p:cNvSpPr txBox="1"/>
          <p:nvPr/>
        </p:nvSpPr>
        <p:spPr>
          <a:xfrm>
            <a:off x="457200" y="457200"/>
            <a:ext cx="8229600" cy="571500"/>
          </a:xfrm>
          <a:prstGeom prst="rect">
            <a:avLst/>
          </a:prstGeom>
          <a:noFill/>
          <a:ln>
            <a:noFill/>
          </a:ln>
        </p:spPr>
        <p:txBody>
          <a:bodyPr wrap="square" lIns="0" tIns="0" rIns="0" bIns="0" anchor="t"/>
          <a:lstStyle/>
          <a:p>
            <a:pPr algn="l">
              <a:buNone/>
            </a:pPr>
            <a:r>
              <a:rPr lang="en-US" sz="3200" b="1" dirty="0">
                <a:solidFill>
                  <a:srgbClr val="1A1A2E"/>
                </a:solidFill>
                <a:latin typeface="Calibri"/>
              </a:rPr>
              <a:t>If you show </a:t>
            </a:r>
            <a:r>
              <a:rPr lang="en-US" sz="3200" b="1" dirty="0">
                <a:solidFill>
                  <a:srgbClr val="2C6E6A"/>
                </a:solidFill>
                <a:latin typeface="Calibri"/>
              </a:rPr>
              <a:t>spread:</a:t>
            </a:r>
          </a:p>
        </p:txBody>
      </p:sp>
      <p:sp>
        <p:nvSpPr>
          <p:cNvPr id="12" name="Subtitle"/>
          <p:cNvSpPr txBox="1"/>
          <p:nvPr/>
        </p:nvSpPr>
        <p:spPr>
          <a:xfrm>
            <a:off x="457200" y="1028700"/>
            <a:ext cx="8229600" cy="400000"/>
          </a:xfrm>
          <a:prstGeom prst="rect">
            <a:avLst/>
          </a:prstGeom>
          <a:noFill/>
          <a:ln>
            <a:noFill/>
          </a:ln>
        </p:spPr>
        <p:txBody>
          <a:bodyPr wrap="square" lIns="0" tIns="0" rIns="0" bIns="0" anchor="t"/>
          <a:lstStyle/>
          <a:p>
            <a:pPr algn="l">
              <a:buNone/>
            </a:pPr>
            <a:r>
              <a:rPr lang="en-US" sz="1800" dirty="0">
                <a:solidFill>
                  <a:srgbClr val="555555"/>
                </a:solidFill>
                <a:latin typeface="Calibri"/>
              </a:rPr>
              <a:t>Describe the dimensions of variability</a:t>
            </a:r>
          </a:p>
        </p:txBody>
      </p:sp>
      <p:sp>
        <p:nvSpPr>
          <p:cNvPr id="20" name="Card0"/>
          <p:cNvSpPr/>
          <p:nvPr/>
        </p:nvSpPr>
        <p:spPr>
          <a:xfrm>
            <a:off x="457200" y="1714500"/>
            <a:ext cx="1778000" cy="2743200"/>
          </a:xfrm>
          <a:prstGeom prst="roundRect">
            <a:avLst>
              <a:gd name="adj" fmla="val 8000"/>
            </a:avLst>
          </a:prstGeom>
          <a:solidFill>
            <a:srgbClr val="EDF5F5"/>
          </a:solidFill>
          <a:ln w="19050">
            <a:solidFill>
              <a:srgbClr val="2C6E6A"/>
            </a:solidFill>
          </a:ln>
        </p:spPr>
        <p:txBody>
          <a:bodyPr/>
          <a:lstStyle/>
          <a:p>
            <a:endParaRPr lang="en-US"/>
          </a:p>
        </p:txBody>
      </p:sp>
      <p:sp>
        <p:nvSpPr>
          <p:cNvPr id="30" name="Circle0"/>
          <p:cNvSpPr/>
          <p:nvPr/>
        </p:nvSpPr>
        <p:spPr>
          <a:xfrm>
            <a:off x="1003300" y="2057400"/>
            <a:ext cx="685800" cy="685800"/>
          </a:xfrm>
          <a:prstGeom prst="ellipse">
            <a:avLst/>
          </a:prstGeom>
          <a:solidFill>
            <a:srgbClr val="2C6E6A"/>
          </a:solidFill>
          <a:ln>
            <a:noFill/>
          </a:ln>
        </p:spPr>
        <p:txBody>
          <a:bodyPr wrap="none" lIns="0" tIns="0" rIns="0" bIns="0" anchor="ctr"/>
          <a:lstStyle/>
          <a:p>
            <a:pPr algn="ctr"/>
            <a:endParaRPr lang="en-US"/>
          </a:p>
        </p:txBody>
      </p:sp>
      <p:sp>
        <p:nvSpPr>
          <p:cNvPr id="2" name="Label0"/>
          <p:cNvSpPr txBox="1"/>
          <p:nvPr/>
        </p:nvSpPr>
        <p:spPr>
          <a:xfrm>
            <a:off x="571500" y="2971800"/>
            <a:ext cx="1549400" cy="800000"/>
          </a:xfrm>
          <a:prstGeom prst="rect">
            <a:avLst/>
          </a:prstGeom>
          <a:noFill/>
          <a:ln>
            <a:noFill/>
          </a:ln>
        </p:spPr>
        <p:txBody>
          <a:bodyPr wrap="square" lIns="0" tIns="0" rIns="0" bIns="0" anchor="t"/>
          <a:lstStyle/>
          <a:p>
            <a:pPr algn="ctr">
              <a:buNone/>
            </a:pPr>
            <a:r>
              <a:rPr lang="en-US" sz="1800" b="1" dirty="0">
                <a:solidFill>
                  <a:srgbClr val="1A1A2E"/>
                </a:solidFill>
                <a:latin typeface="Calibri"/>
              </a:rPr>
              <a:t>Different
customers</a:t>
            </a:r>
          </a:p>
        </p:txBody>
      </p:sp>
      <p:sp>
        <p:nvSpPr>
          <p:cNvPr id="21" name="Card1"/>
          <p:cNvSpPr/>
          <p:nvPr/>
        </p:nvSpPr>
        <p:spPr>
          <a:xfrm>
            <a:off x="2463800" y="1714500"/>
            <a:ext cx="1778000" cy="2743200"/>
          </a:xfrm>
          <a:prstGeom prst="roundRect">
            <a:avLst>
              <a:gd name="adj" fmla="val 8000"/>
            </a:avLst>
          </a:prstGeom>
          <a:solidFill>
            <a:srgbClr val="F0F0FA"/>
          </a:solidFill>
          <a:ln w="19050">
            <a:solidFill>
              <a:srgbClr val="4A4A8A"/>
            </a:solidFill>
          </a:ln>
        </p:spPr>
        <p:txBody>
          <a:bodyPr/>
          <a:lstStyle/>
          <a:p>
            <a:endParaRPr lang="en-US"/>
          </a:p>
        </p:txBody>
      </p:sp>
      <p:sp>
        <p:nvSpPr>
          <p:cNvPr id="31" name="Circle1"/>
          <p:cNvSpPr/>
          <p:nvPr/>
        </p:nvSpPr>
        <p:spPr>
          <a:xfrm>
            <a:off x="3009900" y="2057400"/>
            <a:ext cx="685800" cy="685800"/>
          </a:xfrm>
          <a:prstGeom prst="ellipse">
            <a:avLst/>
          </a:prstGeom>
          <a:solidFill>
            <a:srgbClr val="4A4A8A"/>
          </a:solidFill>
          <a:ln>
            <a:noFill/>
          </a:ln>
        </p:spPr>
        <p:txBody>
          <a:bodyPr wrap="none" lIns="0" tIns="0" rIns="0" bIns="0" anchor="ctr"/>
          <a:lstStyle/>
          <a:p>
            <a:pPr algn="ctr"/>
            <a:endParaRPr lang="en-US"/>
          </a:p>
        </p:txBody>
      </p:sp>
      <p:sp>
        <p:nvSpPr>
          <p:cNvPr id="3" name="Label1"/>
          <p:cNvSpPr txBox="1"/>
          <p:nvPr/>
        </p:nvSpPr>
        <p:spPr>
          <a:xfrm>
            <a:off x="2578100" y="2971800"/>
            <a:ext cx="1549400" cy="800000"/>
          </a:xfrm>
          <a:prstGeom prst="rect">
            <a:avLst/>
          </a:prstGeom>
          <a:noFill/>
          <a:ln>
            <a:noFill/>
          </a:ln>
        </p:spPr>
        <p:txBody>
          <a:bodyPr wrap="square" lIns="0" tIns="0" rIns="0" bIns="0" anchor="t"/>
          <a:lstStyle/>
          <a:p>
            <a:pPr algn="ctr">
              <a:buNone/>
            </a:pPr>
            <a:r>
              <a:rPr lang="en-US" sz="1800" b="1" dirty="0">
                <a:solidFill>
                  <a:srgbClr val="1A1A2E"/>
                </a:solidFill>
                <a:latin typeface="Calibri"/>
              </a:rPr>
              <a:t>Different
domains</a:t>
            </a:r>
          </a:p>
        </p:txBody>
      </p:sp>
      <p:sp>
        <p:nvSpPr>
          <p:cNvPr id="22" name="Card2"/>
          <p:cNvSpPr/>
          <p:nvPr/>
        </p:nvSpPr>
        <p:spPr>
          <a:xfrm>
            <a:off x="4470400" y="1714500"/>
            <a:ext cx="1778000" cy="2743200"/>
          </a:xfrm>
          <a:prstGeom prst="roundRect">
            <a:avLst>
              <a:gd name="adj" fmla="val 8000"/>
            </a:avLst>
          </a:prstGeom>
          <a:solidFill>
            <a:srgbClr val="FFF5EE"/>
          </a:solidFill>
          <a:ln w="19050">
            <a:solidFill>
              <a:srgbClr val="C0784A"/>
            </a:solidFill>
          </a:ln>
        </p:spPr>
        <p:txBody>
          <a:bodyPr/>
          <a:lstStyle/>
          <a:p>
            <a:endParaRPr lang="en-US"/>
          </a:p>
        </p:txBody>
      </p:sp>
      <p:sp>
        <p:nvSpPr>
          <p:cNvPr id="32" name="Circle2"/>
          <p:cNvSpPr/>
          <p:nvPr/>
        </p:nvSpPr>
        <p:spPr>
          <a:xfrm>
            <a:off x="5016500" y="2057400"/>
            <a:ext cx="685800" cy="685800"/>
          </a:xfrm>
          <a:prstGeom prst="ellipse">
            <a:avLst/>
          </a:prstGeom>
          <a:solidFill>
            <a:srgbClr val="C0784A"/>
          </a:solidFill>
          <a:ln>
            <a:noFill/>
          </a:ln>
        </p:spPr>
        <p:txBody>
          <a:bodyPr wrap="none" lIns="0" tIns="0" rIns="0" bIns="0" anchor="ctr"/>
          <a:lstStyle/>
          <a:p>
            <a:pPr algn="ctr"/>
            <a:endParaRPr lang="en-US"/>
          </a:p>
        </p:txBody>
      </p:sp>
      <p:sp>
        <p:nvSpPr>
          <p:cNvPr id="4" name="Label2"/>
          <p:cNvSpPr txBox="1"/>
          <p:nvPr/>
        </p:nvSpPr>
        <p:spPr>
          <a:xfrm>
            <a:off x="4584700" y="2971800"/>
            <a:ext cx="1549400" cy="800000"/>
          </a:xfrm>
          <a:prstGeom prst="rect">
            <a:avLst/>
          </a:prstGeom>
          <a:noFill/>
          <a:ln>
            <a:noFill/>
          </a:ln>
        </p:spPr>
        <p:txBody>
          <a:bodyPr wrap="square" lIns="0" tIns="0" rIns="0" bIns="0" anchor="t"/>
          <a:lstStyle/>
          <a:p>
            <a:pPr algn="ctr">
              <a:buNone/>
            </a:pPr>
            <a:r>
              <a:rPr lang="en-US" sz="1800" b="1" dirty="0">
                <a:solidFill>
                  <a:srgbClr val="1A1A2E"/>
                </a:solidFill>
                <a:latin typeface="Calibri"/>
              </a:rPr>
              <a:t>Different model
parameters</a:t>
            </a:r>
          </a:p>
        </p:txBody>
      </p:sp>
      <p:sp>
        <p:nvSpPr>
          <p:cNvPr id="23" name="Card3"/>
          <p:cNvSpPr/>
          <p:nvPr/>
        </p:nvSpPr>
        <p:spPr>
          <a:xfrm>
            <a:off x="6477000" y="1714500"/>
            <a:ext cx="1778000" cy="2743200"/>
          </a:xfrm>
          <a:prstGeom prst="roundRect">
            <a:avLst>
              <a:gd name="adj" fmla="val 8000"/>
            </a:avLst>
          </a:prstGeom>
          <a:solidFill>
            <a:srgbClr val="F5F5F5"/>
          </a:solidFill>
          <a:ln w="19050">
            <a:solidFill>
              <a:srgbClr val="777777"/>
            </a:solidFill>
          </a:ln>
        </p:spPr>
        <p:txBody>
          <a:bodyPr/>
          <a:lstStyle/>
          <a:p>
            <a:endParaRPr lang="en-US"/>
          </a:p>
        </p:txBody>
      </p:sp>
      <p:sp>
        <p:nvSpPr>
          <p:cNvPr id="33" name="Circle3"/>
          <p:cNvSpPr/>
          <p:nvPr/>
        </p:nvSpPr>
        <p:spPr>
          <a:xfrm>
            <a:off x="7023100" y="2057400"/>
            <a:ext cx="685800" cy="685800"/>
          </a:xfrm>
          <a:prstGeom prst="ellipse">
            <a:avLst/>
          </a:prstGeom>
          <a:solidFill>
            <a:srgbClr val="777777"/>
          </a:solidFill>
          <a:ln>
            <a:noFill/>
          </a:ln>
        </p:spPr>
        <p:txBody>
          <a:bodyPr wrap="none" lIns="0" tIns="0" rIns="0" bIns="0" anchor="ctr"/>
          <a:lstStyle/>
          <a:p>
            <a:pPr algn="ctr"/>
            <a:endParaRPr lang="en-US"/>
          </a:p>
        </p:txBody>
      </p:sp>
      <p:sp>
        <p:nvSpPr>
          <p:cNvPr id="5" name="Label3"/>
          <p:cNvSpPr txBox="1"/>
          <p:nvPr/>
        </p:nvSpPr>
        <p:spPr>
          <a:xfrm>
            <a:off x="6591300" y="2971800"/>
            <a:ext cx="1549400" cy="800000"/>
          </a:xfrm>
          <a:prstGeom prst="rect">
            <a:avLst/>
          </a:prstGeom>
          <a:noFill/>
          <a:ln>
            <a:noFill/>
          </a:ln>
        </p:spPr>
        <p:txBody>
          <a:bodyPr wrap="square" lIns="0" tIns="0" rIns="0" bIns="0" anchor="t"/>
          <a:lstStyle/>
          <a:p>
            <a:pPr algn="ctr">
              <a:buNone/>
            </a:pPr>
            <a:r>
              <a:rPr lang="en-US" sz="1800" b="1" dirty="0">
                <a:solidFill>
                  <a:srgbClr val="1A1A2E"/>
                </a:solidFill>
                <a:latin typeface="Calibri"/>
              </a:rPr>
              <a:t>…</a:t>
            </a:r>
          </a:p>
        </p:txBody>
      </p:sp>
      <p:pic>
        <p:nvPicPr>
          <p:cNvPr id="34" name="Graphic 34" descr="Customers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19200" y="2146300"/>
            <a:ext cx="457200" cy="457200"/>
          </a:xfrm>
          <a:prstGeom prst="rect">
            <a:avLst/>
          </a:prstGeom>
        </p:spPr>
      </p:pic>
      <p:pic>
        <p:nvPicPr>
          <p:cNvPr id="35" name="Graphic 35" descr="Domains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25800" y="2146300"/>
            <a:ext cx="457200" cy="457200"/>
          </a:xfrm>
          <a:prstGeom prst="rect">
            <a:avLst/>
          </a:prstGeom>
        </p:spPr>
      </p:pic>
      <p:pic>
        <p:nvPicPr>
          <p:cNvPr id="36" name="Graphic 36" descr="Parameters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2400" y="2146300"/>
            <a:ext cx="457200" cy="457200"/>
          </a:xfrm>
          <a:prstGeom prst="rect">
            <a:avLst/>
          </a:prstGeom>
        </p:spPr>
      </p:pic>
      <p:pic>
        <p:nvPicPr>
          <p:cNvPr id="37" name="Graphic 37" descr="More icon"/>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39610" y="2156239"/>
            <a:ext cx="457200" cy="457200"/>
          </a:xfrm>
          <a:prstGeom prst="rect">
            <a:avLst/>
          </a:prstGeom>
        </p:spPr>
      </p:pic>
    </p:spTree>
    <p:extLst>
      <p:ext uri="{BB962C8B-B14F-4D97-AF65-F5344CB8AC3E}">
        <p14:creationId xmlns:p14="http://schemas.microsoft.com/office/powerpoint/2010/main" val="17121694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1371600"/>
            <a:ext cx="7315200" cy="10972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Model Evaluation</a:t>
            </a: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914400" y="2468880"/>
            <a:ext cx="731520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0D9488"/>
                </a:solidFill>
                <a:effectLst/>
                <a:uLnTx/>
                <a:uFillTx/>
                <a:latin typeface="Georgia" pitchFamily="34" charset="0"/>
                <a:ea typeface="Georgia" pitchFamily="34" charset="-122"/>
                <a:cs typeface="Georgia" pitchFamily="34" charset="-120"/>
              </a:rPr>
              <a:t>Part 3: </a:t>
            </a:r>
            <a:r>
              <a:rPr kumimoji="0" lang="en-US" sz="26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Evaluation Metrics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14400" y="3474720"/>
            <a:ext cx="7315200" cy="1097280"/>
          </a:xfrm>
          <a:prstGeom prst="rect">
            <a:avLst/>
          </a:prstGeom>
          <a:noFill/>
          <a:ln/>
        </p:spPr>
        <p:txBody>
          <a:bodyPr wrap="square"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Machine Learning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mlvu.github.io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Vrije Universiteit Amsterdam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Regression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731520" y="1188720"/>
            <a:ext cx="0" cy="2560320"/>
          </a:xfrm>
          <a:prstGeom prst="line">
            <a:avLst/>
          </a:prstGeom>
          <a:noFill/>
          <a:ln w="19050">
            <a:solidFill>
              <a:srgbClr val="64748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731520" y="3749040"/>
            <a:ext cx="2926080" cy="0"/>
          </a:xfrm>
          <a:prstGeom prst="line">
            <a:avLst/>
          </a:prstGeom>
          <a:noFill/>
          <a:ln w="19050">
            <a:solidFill>
              <a:srgbClr val="64748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14400" y="3474720"/>
            <a:ext cx="2560320" cy="0"/>
          </a:xfrm>
          <a:prstGeom prst="line">
            <a:avLst/>
          </a:prstGeom>
          <a:noFill/>
          <a:ln w="31750">
            <a:solidFill>
              <a:srgbClr val="EF44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133856" y="314553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408176" y="287121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682496" y="268833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1865376" y="232257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2139696" y="213969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414016" y="195681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2688336" y="168249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2962656" y="149961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3145536" y="131673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1188720" y="3200400"/>
            <a:ext cx="0" cy="45720"/>
          </a:xfrm>
          <a:prstGeom prst="line">
            <a:avLst/>
          </a:prstGeom>
          <a:noFill/>
          <a:ln w="12700">
            <a:solidFill>
              <a:srgbClr val="3B82F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1737360" y="2743200"/>
            <a:ext cx="0" cy="0"/>
          </a:xfrm>
          <a:prstGeom prst="line">
            <a:avLst/>
          </a:prstGeom>
          <a:noFill/>
          <a:ln w="12700">
            <a:solidFill>
              <a:srgbClr val="3B82F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2194560" y="2194560"/>
            <a:ext cx="0" cy="137160"/>
          </a:xfrm>
          <a:prstGeom prst="line">
            <a:avLst/>
          </a:prstGeom>
          <a:noFill/>
          <a:ln w="12700">
            <a:solidFill>
              <a:srgbClr val="3B82F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2743200" y="1737360"/>
            <a:ext cx="0" cy="182880"/>
          </a:xfrm>
          <a:prstGeom prst="line">
            <a:avLst/>
          </a:prstGeom>
          <a:noFill/>
          <a:ln w="12700">
            <a:solidFill>
              <a:srgbClr val="3B82F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3200400" y="1371600"/>
            <a:ext cx="0" cy="91440"/>
          </a:xfrm>
          <a:prstGeom prst="line">
            <a:avLst/>
          </a:prstGeom>
          <a:noFill/>
          <a:ln w="12700">
            <a:solidFill>
              <a:srgbClr val="3B82F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114800" y="1097280"/>
            <a:ext cx="45720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Loss function: Mean Squared Error</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4114800" y="1645920"/>
            <a:ext cx="4572000" cy="731520"/>
          </a:xfrm>
          <a:prstGeom prst="rect">
            <a:avLst/>
          </a:prstGeom>
          <a:solidFill>
            <a:srgbClr val="FFFFFF"/>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4114800" y="1645920"/>
            <a:ext cx="4572000" cy="7315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293B"/>
                </a:solidFill>
                <a:effectLst/>
                <a:uLnTx/>
                <a:uFillTx/>
                <a:latin typeface="Consolas" pitchFamily="34" charset="0"/>
                <a:ea typeface="Consolas" pitchFamily="34" charset="-122"/>
                <a:cs typeface="Consolas" pitchFamily="34" charset="-120"/>
              </a:rPr>
              <a:t>MSE  =  (1/n)  ∑ᵢ  ( f(xᵢ) − tᵢ )²</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114800" y="2651760"/>
            <a:ext cx="45720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Evaluation function: Root Mean Squared Error</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114800" y="3200400"/>
            <a:ext cx="4572000" cy="731520"/>
          </a:xfrm>
          <a:prstGeom prst="rect">
            <a:avLst/>
          </a:prstGeom>
          <a:solidFill>
            <a:srgbClr val="FFFFFF"/>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4114800" y="3200400"/>
            <a:ext cx="4572000" cy="7315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293B"/>
                </a:solidFill>
                <a:effectLst/>
                <a:uLnTx/>
                <a:uFillTx/>
                <a:latin typeface="Consolas" pitchFamily="34" charset="0"/>
                <a:ea typeface="Consolas" pitchFamily="34" charset="-122"/>
                <a:cs typeface="Consolas" pitchFamily="34" charset="-120"/>
              </a:rPr>
              <a:t>RMSE  =  √[ (1/n) ∑ᵢ ( f(xᵢ) − tᵢ )²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114800" y="4114800"/>
            <a:ext cx="45720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RMSE has the same units as the output → easier to interpret.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Bias and Variance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1828800"/>
            <a:ext cx="8229600" cy="0"/>
          </a:xfrm>
          <a:prstGeom prst="line">
            <a:avLst/>
          </a:prstGeom>
          <a:noFill/>
          <a:ln w="25400">
            <a:solidFill>
              <a:srgbClr val="1E29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2286000" y="1691640"/>
            <a:ext cx="0" cy="274320"/>
          </a:xfrm>
          <a:prstGeom prst="line">
            <a:avLst/>
          </a:prstGeom>
          <a:noFill/>
          <a:ln w="25400">
            <a:solidFill>
              <a:srgbClr val="1E29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2011680" y="2011680"/>
            <a:ext cx="54864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920240" y="1005840"/>
            <a:ext cx="82296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optimal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120640" y="1005840"/>
            <a:ext cx="73152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true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400800" y="1005840"/>
            <a:ext cx="914400" cy="6400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measured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596128" y="1755648"/>
            <a:ext cx="146304" cy="146304"/>
          </a:xfrm>
          <a:prstGeom prst="ellipse">
            <a:avLst/>
          </a:prstGeom>
          <a:solidFill>
            <a:srgbClr val="0D9488">
              <a:alpha val="6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5870448" y="1755648"/>
            <a:ext cx="146304" cy="146304"/>
          </a:xfrm>
          <a:prstGeom prst="ellipse">
            <a:avLst/>
          </a:prstGeom>
          <a:solidFill>
            <a:srgbClr val="0D9488">
              <a:alpha val="6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6144768" y="1755648"/>
            <a:ext cx="146304" cy="146304"/>
          </a:xfrm>
          <a:prstGeom prst="ellipse">
            <a:avLst/>
          </a:prstGeom>
          <a:solidFill>
            <a:srgbClr val="0D9488">
              <a:alpha val="6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6327648" y="1755648"/>
            <a:ext cx="146304" cy="146304"/>
          </a:xfrm>
          <a:prstGeom prst="ellipse">
            <a:avLst/>
          </a:prstGeom>
          <a:solidFill>
            <a:srgbClr val="0D9488">
              <a:alpha val="6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6510528" y="1755648"/>
            <a:ext cx="146304" cy="146304"/>
          </a:xfrm>
          <a:prstGeom prst="ellipse">
            <a:avLst/>
          </a:prstGeom>
          <a:solidFill>
            <a:srgbClr val="0D9488">
              <a:alpha val="6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6693408" y="1755648"/>
            <a:ext cx="146304" cy="146304"/>
          </a:xfrm>
          <a:prstGeom prst="ellipse">
            <a:avLst/>
          </a:prstGeom>
          <a:solidFill>
            <a:srgbClr val="0D9488">
              <a:alpha val="6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6876288" y="1755648"/>
            <a:ext cx="146304" cy="146304"/>
          </a:xfrm>
          <a:prstGeom prst="ellipse">
            <a:avLst/>
          </a:prstGeom>
          <a:solidFill>
            <a:srgbClr val="0D9488">
              <a:alpha val="6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5413248" y="1755648"/>
            <a:ext cx="146304" cy="146304"/>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2286000" y="2743200"/>
            <a:ext cx="3200400" cy="0"/>
          </a:xfrm>
          <a:prstGeom prst="line">
            <a:avLst/>
          </a:prstGeom>
          <a:noFill/>
          <a:ln w="31750">
            <a:solidFill>
              <a:srgbClr val="3B82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457200" y="2606040"/>
            <a:ext cx="164592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B82F6"/>
                </a:solidFill>
                <a:effectLst/>
                <a:uLnTx/>
                <a:uFillTx/>
                <a:latin typeface="Georgia" pitchFamily="34" charset="0"/>
                <a:ea typeface="Georgia" pitchFamily="34" charset="-122"/>
                <a:cs typeface="Georgia" pitchFamily="34" charset="-120"/>
              </a:rPr>
              <a:t>Bias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5486400" y="3291840"/>
            <a:ext cx="1371600" cy="0"/>
          </a:xfrm>
          <a:prstGeom prst="line">
            <a:avLst/>
          </a:prstGeom>
          <a:noFill/>
          <a:ln w="31750">
            <a:solidFill>
              <a:srgbClr val="F59E0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57200" y="3154680"/>
            <a:ext cx="164592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59E0B"/>
                </a:solidFill>
                <a:effectLst/>
                <a:uLnTx/>
                <a:uFillTx/>
                <a:latin typeface="Georgia" pitchFamily="34" charset="0"/>
                <a:ea typeface="Georgia" pitchFamily="34" charset="-122"/>
                <a:cs typeface="Georgia" pitchFamily="34" charset="-120"/>
              </a:rPr>
              <a:t>Variance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1371600" y="3840480"/>
            <a:ext cx="914400" cy="0"/>
          </a:xfrm>
          <a:prstGeom prst="line">
            <a:avLst/>
          </a:prstGeom>
          <a:noFill/>
          <a:ln w="25400">
            <a:solidFill>
              <a:srgbClr val="64748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274320" y="3703320"/>
            <a:ext cx="109728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Irreducible Error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Bias and Variance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731520"/>
            <a:ext cx="3657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B82F6"/>
                </a:solidFill>
                <a:effectLst/>
                <a:uLnTx/>
                <a:uFillTx/>
                <a:latin typeface="Calibri" pitchFamily="34" charset="0"/>
                <a:ea typeface="Calibri" pitchFamily="34" charset="-122"/>
                <a:cs typeface="Calibri" pitchFamily="34" charset="-120"/>
              </a:rPr>
              <a:t>low bias</a:t>
            </a:r>
            <a:r>
              <a:rPr kumimoji="0" lang="en-US" sz="14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 </a:t>
            </a:r>
            <a:r>
              <a:rPr kumimoji="0" lang="en-US" sz="1400" b="1" i="0" u="none" strike="noStrike" kern="1200" cap="none" spc="0" normalizeH="0" baseline="0" noProof="0" dirty="0">
                <a:ln>
                  <a:noFill/>
                </a:ln>
                <a:solidFill>
                  <a:srgbClr val="F59E0B"/>
                </a:solidFill>
                <a:effectLst/>
                <a:uLnTx/>
                <a:uFillTx/>
                <a:latin typeface="Calibri" pitchFamily="34" charset="0"/>
                <a:ea typeface="Calibri" pitchFamily="34" charset="-122"/>
                <a:cs typeface="Calibri" pitchFamily="34" charset="-120"/>
              </a:rPr>
              <a:t>low variance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051560"/>
            <a:ext cx="8229600" cy="0"/>
          </a:xfrm>
          <a:prstGeom prst="line">
            <a:avLst/>
          </a:prstGeom>
          <a:noFill/>
          <a:ln w="19050">
            <a:solidFill>
              <a:srgbClr val="CBD5E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4114800" y="960120"/>
            <a:ext cx="0" cy="182880"/>
          </a:xfrm>
          <a:prstGeom prst="line">
            <a:avLst/>
          </a:prstGeom>
          <a:noFill/>
          <a:ln w="19050">
            <a:solidFill>
              <a:srgbClr val="1E29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4142232" y="98755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4233672" y="98755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325112" y="98755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416552" y="98755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4507992" y="98755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1783080"/>
            <a:ext cx="3657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B82F6"/>
                </a:solidFill>
                <a:effectLst/>
                <a:uLnTx/>
                <a:uFillTx/>
                <a:latin typeface="Calibri" pitchFamily="34" charset="0"/>
                <a:ea typeface="Calibri" pitchFamily="34" charset="-122"/>
                <a:cs typeface="Calibri" pitchFamily="34" charset="-120"/>
              </a:rPr>
              <a:t>low bias</a:t>
            </a:r>
            <a:r>
              <a:rPr kumimoji="0" lang="en-US" sz="14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 </a:t>
            </a:r>
            <a:r>
              <a:rPr kumimoji="0" lang="en-US" sz="1400" b="1" i="0" u="none" strike="noStrike" kern="1200" cap="none" spc="0" normalizeH="0" baseline="0" noProof="0" dirty="0">
                <a:ln>
                  <a:noFill/>
                </a:ln>
                <a:solidFill>
                  <a:srgbClr val="F59E0B"/>
                </a:solidFill>
                <a:effectLst/>
                <a:uLnTx/>
                <a:uFillTx/>
                <a:latin typeface="Calibri" pitchFamily="34" charset="0"/>
                <a:ea typeface="Calibri" pitchFamily="34" charset="-122"/>
                <a:cs typeface="Calibri" pitchFamily="34" charset="-120"/>
              </a:rPr>
              <a:t>high variance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2103120"/>
            <a:ext cx="8229600" cy="0"/>
          </a:xfrm>
          <a:prstGeom prst="line">
            <a:avLst/>
          </a:prstGeom>
          <a:noFill/>
          <a:ln w="19050">
            <a:solidFill>
              <a:srgbClr val="CBD5E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4114800" y="2011680"/>
            <a:ext cx="0" cy="182880"/>
          </a:xfrm>
          <a:prstGeom prst="line">
            <a:avLst/>
          </a:prstGeom>
          <a:noFill/>
          <a:ln w="19050">
            <a:solidFill>
              <a:srgbClr val="1E29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3136392" y="203911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3593592" y="203911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142232" y="203911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4965192" y="203911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5422392" y="203911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5879592" y="203911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57200" y="2834640"/>
            <a:ext cx="3657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B82F6"/>
                </a:solidFill>
                <a:effectLst/>
                <a:uLnTx/>
                <a:uFillTx/>
                <a:latin typeface="Calibri" pitchFamily="34" charset="0"/>
                <a:ea typeface="Calibri" pitchFamily="34" charset="-122"/>
                <a:cs typeface="Calibri" pitchFamily="34" charset="-120"/>
              </a:rPr>
              <a:t>high bias</a:t>
            </a:r>
            <a:r>
              <a:rPr kumimoji="0" lang="en-US" sz="14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 </a:t>
            </a:r>
            <a:r>
              <a:rPr kumimoji="0" lang="en-US" sz="1400" b="1" i="0" u="none" strike="noStrike" kern="1200" cap="none" spc="0" normalizeH="0" baseline="0" noProof="0" dirty="0">
                <a:ln>
                  <a:noFill/>
                </a:ln>
                <a:solidFill>
                  <a:srgbClr val="F59E0B"/>
                </a:solidFill>
                <a:effectLst/>
                <a:uLnTx/>
                <a:uFillTx/>
                <a:latin typeface="Calibri" pitchFamily="34" charset="0"/>
                <a:ea typeface="Calibri" pitchFamily="34" charset="-122"/>
                <a:cs typeface="Calibri" pitchFamily="34" charset="-120"/>
              </a:rPr>
              <a:t>low variance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457200" y="3154680"/>
            <a:ext cx="8229600" cy="0"/>
          </a:xfrm>
          <a:prstGeom prst="line">
            <a:avLst/>
          </a:prstGeom>
          <a:noFill/>
          <a:ln w="19050">
            <a:solidFill>
              <a:srgbClr val="CBD5E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4114800" y="3063240"/>
            <a:ext cx="0" cy="182880"/>
          </a:xfrm>
          <a:prstGeom prst="line">
            <a:avLst/>
          </a:prstGeom>
          <a:noFill/>
          <a:ln w="19050">
            <a:solidFill>
              <a:srgbClr val="1E29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6336792" y="309067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6428232" y="309067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6519672" y="309067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6611112" y="309067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6702552" y="309067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457200" y="3886200"/>
            <a:ext cx="3657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B82F6"/>
                </a:solidFill>
                <a:effectLst/>
                <a:uLnTx/>
                <a:uFillTx/>
                <a:latin typeface="Calibri" pitchFamily="34" charset="0"/>
                <a:ea typeface="Calibri" pitchFamily="34" charset="-122"/>
                <a:cs typeface="Calibri" pitchFamily="34" charset="-120"/>
              </a:rPr>
              <a:t>high bias</a:t>
            </a:r>
            <a:r>
              <a:rPr kumimoji="0" lang="en-US" sz="14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 </a:t>
            </a:r>
            <a:r>
              <a:rPr kumimoji="0" lang="en-US" sz="1400" b="1" i="0" u="none" strike="noStrike" kern="1200" cap="none" spc="0" normalizeH="0" baseline="0" noProof="0" dirty="0">
                <a:ln>
                  <a:noFill/>
                </a:ln>
                <a:solidFill>
                  <a:srgbClr val="F59E0B"/>
                </a:solidFill>
                <a:effectLst/>
                <a:uLnTx/>
                <a:uFillTx/>
                <a:latin typeface="Calibri" pitchFamily="34" charset="0"/>
                <a:ea typeface="Calibri" pitchFamily="34" charset="-122"/>
                <a:cs typeface="Calibri" pitchFamily="34" charset="-120"/>
              </a:rPr>
              <a:t>high variance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457200" y="4206240"/>
            <a:ext cx="8229600" cy="0"/>
          </a:xfrm>
          <a:prstGeom prst="line">
            <a:avLst/>
          </a:prstGeom>
          <a:noFill/>
          <a:ln w="19050">
            <a:solidFill>
              <a:srgbClr val="CBD5E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4114800" y="4114800"/>
            <a:ext cx="0" cy="182880"/>
          </a:xfrm>
          <a:prstGeom prst="line">
            <a:avLst/>
          </a:prstGeom>
          <a:noFill/>
          <a:ln w="19050">
            <a:solidFill>
              <a:srgbClr val="1E29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4965192" y="414223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5605272" y="414223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6336792" y="414223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p:cNvSpPr/>
          <p:nvPr/>
        </p:nvSpPr>
        <p:spPr>
          <a:xfrm>
            <a:off x="7068312" y="414223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p:cNvSpPr/>
          <p:nvPr/>
        </p:nvSpPr>
        <p:spPr>
          <a:xfrm>
            <a:off x="7708392" y="4142232"/>
            <a:ext cx="128016" cy="128016"/>
          </a:xfrm>
          <a:prstGeom prst="ellipse">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Bias and Variance: Dartboard Metaphor</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960120"/>
            <a:ext cx="2286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Low Variance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0" y="960120"/>
            <a:ext cx="2286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High Variance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132320" y="1554480"/>
            <a:ext cx="1371600" cy="8229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B82F6"/>
                </a:solidFill>
                <a:effectLst/>
                <a:uLnTx/>
                <a:uFillTx/>
                <a:latin typeface="Calibri" pitchFamily="34" charset="0"/>
                <a:ea typeface="Calibri" pitchFamily="34" charset="-122"/>
                <a:cs typeface="Calibri" pitchFamily="34" charset="-120"/>
              </a:rPr>
              <a:t>Low</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B82F6"/>
                </a:solidFill>
                <a:effectLst/>
                <a:uLnTx/>
                <a:uFillTx/>
                <a:latin typeface="Calibri" pitchFamily="34" charset="0"/>
                <a:ea typeface="Calibri" pitchFamily="34" charset="-122"/>
                <a:cs typeface="Calibri" pitchFamily="34" charset="-120"/>
              </a:rPr>
              <a:t>Bias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132320" y="3200400"/>
            <a:ext cx="1371600" cy="8229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B82F6"/>
                </a:solidFill>
                <a:effectLst/>
                <a:uLnTx/>
                <a:uFillTx/>
                <a:latin typeface="Calibri" pitchFamily="34" charset="0"/>
                <a:ea typeface="Calibri" pitchFamily="34" charset="-122"/>
                <a:cs typeface="Calibri" pitchFamily="34" charset="-120"/>
              </a:rPr>
              <a:t>High</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B82F6"/>
                </a:solidFill>
                <a:effectLst/>
                <a:uLnTx/>
                <a:uFillTx/>
                <a:latin typeface="Calibri" pitchFamily="34" charset="0"/>
                <a:ea typeface="Calibri" pitchFamily="34" charset="-122"/>
                <a:cs typeface="Calibri" pitchFamily="34" charset="-120"/>
              </a:rPr>
              <a:t>Bias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1005840" y="1325880"/>
            <a:ext cx="1188720" cy="1188720"/>
          </a:xfrm>
          <a:prstGeom prst="ellipse">
            <a:avLst/>
          </a:prstGeom>
          <a:solidFill>
            <a:srgbClr val="F1F5F9"/>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161288" y="1481328"/>
            <a:ext cx="877824" cy="877824"/>
          </a:xfrm>
          <a:prstGeom prst="ellipse">
            <a:avLst/>
          </a:prstGeom>
          <a:solidFill>
            <a:srgbClr val="CBD5E1"/>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1325880" y="1645920"/>
            <a:ext cx="548640" cy="548640"/>
          </a:xfrm>
          <a:prstGeom prst="ellipse">
            <a:avLst/>
          </a:prstGeom>
          <a:solidFill>
            <a:srgbClr val="94A3B8"/>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481328" y="1801368"/>
            <a:ext cx="237744" cy="237744"/>
          </a:xfrm>
          <a:prstGeom prst="ellipse">
            <a:avLst/>
          </a:prstGeom>
          <a:solidFill>
            <a:srgbClr val="0D9488"/>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554480" y="187452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1600200" y="1901952"/>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1527048" y="1911096"/>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1572768" y="1856232"/>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5120640" y="1325880"/>
            <a:ext cx="1188720" cy="1188720"/>
          </a:xfrm>
          <a:prstGeom prst="ellipse">
            <a:avLst/>
          </a:prstGeom>
          <a:solidFill>
            <a:srgbClr val="F1F5F9"/>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5276088" y="1481328"/>
            <a:ext cx="877824" cy="877824"/>
          </a:xfrm>
          <a:prstGeom prst="ellipse">
            <a:avLst/>
          </a:prstGeom>
          <a:solidFill>
            <a:srgbClr val="CBD5E1"/>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440680" y="1645920"/>
            <a:ext cx="548640" cy="548640"/>
          </a:xfrm>
          <a:prstGeom prst="ellipse">
            <a:avLst/>
          </a:prstGeom>
          <a:solidFill>
            <a:srgbClr val="94A3B8"/>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5596128" y="1801368"/>
            <a:ext cx="237744" cy="237744"/>
          </a:xfrm>
          <a:prstGeom prst="ellipse">
            <a:avLst/>
          </a:prstGeom>
          <a:solidFill>
            <a:srgbClr val="0D9488"/>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5943600" y="205740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5440680" y="201168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5760720" y="160020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5532120" y="169164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897880" y="178308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1005840" y="2971800"/>
            <a:ext cx="1188720" cy="1188720"/>
          </a:xfrm>
          <a:prstGeom prst="ellipse">
            <a:avLst/>
          </a:prstGeom>
          <a:solidFill>
            <a:srgbClr val="F1F5F9"/>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1161288" y="3127248"/>
            <a:ext cx="877824" cy="877824"/>
          </a:xfrm>
          <a:prstGeom prst="ellipse">
            <a:avLst/>
          </a:prstGeom>
          <a:solidFill>
            <a:srgbClr val="CBD5E1"/>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1325880" y="3291840"/>
            <a:ext cx="548640" cy="548640"/>
          </a:xfrm>
          <a:prstGeom prst="ellipse">
            <a:avLst/>
          </a:prstGeom>
          <a:solidFill>
            <a:srgbClr val="94A3B8"/>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1481328" y="3447288"/>
            <a:ext cx="237744" cy="237744"/>
          </a:xfrm>
          <a:prstGeom prst="ellipse">
            <a:avLst/>
          </a:prstGeom>
          <a:solidFill>
            <a:srgbClr val="0D9488"/>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1965960" y="384048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2011680" y="379476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1938528" y="3867912"/>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1993392" y="3813048"/>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5120640" y="2971800"/>
            <a:ext cx="1188720" cy="1188720"/>
          </a:xfrm>
          <a:prstGeom prst="ellipse">
            <a:avLst/>
          </a:prstGeom>
          <a:solidFill>
            <a:srgbClr val="F1F5F9"/>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5276088" y="3127248"/>
            <a:ext cx="877824" cy="877824"/>
          </a:xfrm>
          <a:prstGeom prst="ellipse">
            <a:avLst/>
          </a:prstGeom>
          <a:solidFill>
            <a:srgbClr val="CBD5E1"/>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p:cNvSpPr/>
          <p:nvPr/>
        </p:nvSpPr>
        <p:spPr>
          <a:xfrm>
            <a:off x="5440680" y="3291840"/>
            <a:ext cx="548640" cy="548640"/>
          </a:xfrm>
          <a:prstGeom prst="ellipse">
            <a:avLst/>
          </a:prstGeom>
          <a:solidFill>
            <a:srgbClr val="94A3B8"/>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p:cNvSpPr/>
          <p:nvPr/>
        </p:nvSpPr>
        <p:spPr>
          <a:xfrm>
            <a:off x="5596128" y="3447288"/>
            <a:ext cx="237744" cy="237744"/>
          </a:xfrm>
          <a:prstGeom prst="ellipse">
            <a:avLst/>
          </a:prstGeom>
          <a:solidFill>
            <a:srgbClr val="0D9488"/>
          </a:solidFill>
          <a:ln w="6350">
            <a:solidFill>
              <a:srgbClr val="94A3B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6126480" y="379476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5577840" y="397764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p:cNvSpPr/>
          <p:nvPr/>
        </p:nvSpPr>
        <p:spPr>
          <a:xfrm>
            <a:off x="6217920" y="342900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p:cNvSpPr/>
          <p:nvPr/>
        </p:nvSpPr>
        <p:spPr>
          <a:xfrm>
            <a:off x="5852160" y="402336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p:cNvSpPr/>
          <p:nvPr/>
        </p:nvSpPr>
        <p:spPr>
          <a:xfrm>
            <a:off x="5486400" y="3611880"/>
            <a:ext cx="91440" cy="91440"/>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457200" y="4754880"/>
            <a:ext cx="82296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Metaphor source: scott.fortmann-roe.com/docs/BiasVariance.html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High Bias: Underfitting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731520" y="1188720"/>
            <a:ext cx="0" cy="2743200"/>
          </a:xfrm>
          <a:prstGeom prst="line">
            <a:avLst/>
          </a:prstGeom>
          <a:noFill/>
          <a:ln w="19050">
            <a:solidFill>
              <a:srgbClr val="64748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731520" y="3931920"/>
            <a:ext cx="3200400" cy="0"/>
          </a:xfrm>
          <a:prstGeom prst="line">
            <a:avLst/>
          </a:prstGeom>
          <a:noFill/>
          <a:ln w="19050">
            <a:solidFill>
              <a:srgbClr val="64748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14400" y="3474720"/>
            <a:ext cx="2743200" cy="0"/>
          </a:xfrm>
          <a:prstGeom prst="line">
            <a:avLst/>
          </a:prstGeom>
          <a:noFill/>
          <a:ln w="31750">
            <a:solidFill>
              <a:srgbClr val="EF44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042416" y="351129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316736" y="305409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591056" y="268833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1865376" y="223113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2139696" y="204825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414016" y="204825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2688336" y="223113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2962656" y="250545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3236976" y="287121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4389120" y="1188720"/>
            <a:ext cx="4389120" cy="320040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389120" y="1188720"/>
            <a:ext cx="73152" cy="3200400"/>
          </a:xfrm>
          <a:prstGeom prst="rect">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663440" y="1280160"/>
            <a:ext cx="39319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B82F6"/>
                </a:solidFill>
                <a:effectLst/>
                <a:uLnTx/>
                <a:uFillTx/>
                <a:latin typeface="Georgia" pitchFamily="34" charset="0"/>
                <a:ea typeface="Georgia" pitchFamily="34" charset="-122"/>
                <a:cs typeface="Georgia" pitchFamily="34" charset="-120"/>
              </a:rPr>
              <a:t>What happens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663440" y="1691640"/>
            <a:ext cx="3931920" cy="91440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The model is too simple to capture the true shape of the data. A linear model forced through data with a parabolic pattern cannot follow the curve.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663440" y="2651760"/>
            <a:ext cx="39319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B82F6"/>
                </a:solidFill>
                <a:effectLst/>
                <a:uLnTx/>
                <a:uFillTx/>
                <a:latin typeface="Georgia" pitchFamily="34" charset="0"/>
                <a:ea typeface="Georgia" pitchFamily="34" charset="-122"/>
                <a:cs typeface="Georgia" pitchFamily="34" charset="-120"/>
              </a:rPr>
              <a:t>Characteristics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663440" y="3017520"/>
            <a:ext cx="3931920" cy="11887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Poor assumptions or poor model capacity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Error stays the same when you resample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300" b="0" i="1"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Also called underfitting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High Variance: Overfitting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731520" y="1188720"/>
            <a:ext cx="0" cy="2743200"/>
          </a:xfrm>
          <a:prstGeom prst="line">
            <a:avLst/>
          </a:prstGeom>
          <a:noFill/>
          <a:ln w="19050">
            <a:solidFill>
              <a:srgbClr val="64748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731520" y="3931920"/>
            <a:ext cx="3200400" cy="0"/>
          </a:xfrm>
          <a:prstGeom prst="line">
            <a:avLst/>
          </a:prstGeom>
          <a:noFill/>
          <a:ln w="19050">
            <a:solidFill>
              <a:srgbClr val="64748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14400" y="3383280"/>
            <a:ext cx="274320" cy="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188720" y="3108960"/>
            <a:ext cx="182880" cy="18288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371600" y="3291840"/>
            <a:ext cx="182880" cy="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554480" y="2651760"/>
            <a:ext cx="182880" cy="18288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1737360" y="2834640"/>
            <a:ext cx="182880" cy="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1920240" y="2286000"/>
            <a:ext cx="274320" cy="18288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194560" y="2468880"/>
            <a:ext cx="182880" cy="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2377440" y="2011680"/>
            <a:ext cx="182880" cy="18288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2560320" y="2194560"/>
            <a:ext cx="182880" cy="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2743200" y="1737360"/>
            <a:ext cx="182880" cy="18288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2926080" y="1920240"/>
            <a:ext cx="274320" cy="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3200400" y="1463040"/>
            <a:ext cx="182880" cy="182880"/>
          </a:xfrm>
          <a:prstGeom prst="line">
            <a:avLst/>
          </a:prstGeom>
          <a:noFill/>
          <a:ln w="254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859536" y="332841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1316736" y="323697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1499616" y="259689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1865376" y="223113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2322576" y="195681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2688336" y="168249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3145536" y="1408176"/>
            <a:ext cx="109728" cy="109728"/>
          </a:xfrm>
          <a:prstGeom prst="ellipse">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4389120" y="1188720"/>
            <a:ext cx="4389120" cy="320040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4389120" y="1188720"/>
            <a:ext cx="73152" cy="3200400"/>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4663440" y="1280160"/>
            <a:ext cx="39319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59E0B"/>
                </a:solidFill>
                <a:effectLst/>
                <a:uLnTx/>
                <a:uFillTx/>
                <a:latin typeface="Georgia" pitchFamily="34" charset="0"/>
                <a:ea typeface="Georgia" pitchFamily="34" charset="-122"/>
                <a:cs typeface="Georgia" pitchFamily="34" charset="-120"/>
              </a:rPr>
              <a:t>What happens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4663440" y="1691640"/>
            <a:ext cx="3931920" cy="91440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The model has enough capacity to follow every random fluctuation in the training data. It fits perfectly but will fail on new data.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663440" y="2651760"/>
            <a:ext cx="39319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59E0B"/>
                </a:solidFill>
                <a:effectLst/>
                <a:uLnTx/>
                <a:uFillTx/>
                <a:latin typeface="Georgia" pitchFamily="34" charset="0"/>
                <a:ea typeface="Georgia" pitchFamily="34" charset="-122"/>
                <a:cs typeface="Georgia" pitchFamily="34" charset="-120"/>
              </a:rPr>
              <a:t>Characteristics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4663440" y="3017520"/>
            <a:ext cx="3931920" cy="11887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High model capacity, captures noise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Error varies wildly when you resample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300" b="0" i="1"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Also called overfitting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Making the Tradeoff</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1097280"/>
            <a:ext cx="8229600" cy="1005840"/>
          </a:xfrm>
          <a:prstGeom prst="rect">
            <a:avLst/>
          </a:prstGeom>
          <a:solidFill>
            <a:srgbClr val="DBEAFE"/>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097280"/>
            <a:ext cx="73152" cy="1005840"/>
          </a:xfrm>
          <a:prstGeom prst="rect">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731520" y="1170432"/>
            <a:ext cx="7772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B82F6"/>
                </a:solidFill>
                <a:effectLst/>
                <a:uLnTx/>
                <a:uFillTx/>
                <a:latin typeface="Georgia" pitchFamily="34" charset="0"/>
                <a:ea typeface="Georgia" pitchFamily="34" charset="-122"/>
                <a:cs typeface="Georgia" pitchFamily="34" charset="-120"/>
              </a:rPr>
              <a:t>Reducing Bias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31520" y="1481328"/>
            <a:ext cx="7772400" cy="50292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Increase model capacity.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Increase number of features.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57200" y="2377440"/>
            <a:ext cx="8229600" cy="1005840"/>
          </a:xfrm>
          <a:prstGeom prst="rect">
            <a:avLst/>
          </a:prstGeom>
          <a:solidFill>
            <a:srgbClr val="FEF3C7"/>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377440"/>
            <a:ext cx="73152" cy="1005840"/>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731520" y="2450592"/>
            <a:ext cx="7772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59E0B"/>
                </a:solidFill>
                <a:effectLst/>
                <a:uLnTx/>
                <a:uFillTx/>
                <a:latin typeface="Georgia" pitchFamily="34" charset="0"/>
                <a:ea typeface="Georgia" pitchFamily="34" charset="-122"/>
                <a:cs typeface="Georgia" pitchFamily="34" charset="-120"/>
              </a:rPr>
              <a:t>Reducing Variance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31520" y="2761488"/>
            <a:ext cx="7772400" cy="50292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Reduce model capacity.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Add regularization.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Reduce tree depth.</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3703320"/>
            <a:ext cx="8229600" cy="1051560"/>
          </a:xfrm>
          <a:prstGeom prst="rect">
            <a:avLst/>
          </a:prstGeom>
          <a:solidFill>
            <a:srgbClr val="CCFBF1"/>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3703320"/>
            <a:ext cx="73152" cy="1051560"/>
          </a:xfrm>
          <a:prstGeom prst="rect">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31520" y="3776472"/>
            <a:ext cx="7772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D9488"/>
                </a:solidFill>
                <a:effectLst/>
                <a:uLnTx/>
                <a:uFillTx/>
                <a:latin typeface="Georgia" pitchFamily="34" charset="0"/>
                <a:ea typeface="Georgia" pitchFamily="34" charset="-122"/>
                <a:cs typeface="Georgia" pitchFamily="34" charset="-120"/>
              </a:rPr>
              <a:t>k-NN Regression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31520" y="4087368"/>
            <a:ext cx="7772400" cy="59436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Increase k → increase bias, decrease variance.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k=1: high variance  |  k=25: high bias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457200" y="4800600"/>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Often a real tradeoff: reducing bias increases variance and vice versa.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1188720"/>
            <a:ext cx="731520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Evaluating Classification</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2286000" y="2560320"/>
            <a:ext cx="4572000" cy="2286000"/>
          </a:xfrm>
          <a:prstGeom prst="rect">
            <a:avLst/>
          </a:prstGeom>
          <a:noFill/>
          <a:ln/>
        </p:spPr>
        <p:txBody>
          <a:bodyPr wrap="square" rtlCol="0" anchor="ctr"/>
          <a:lstStyle/>
          <a:p>
            <a:pPr marL="0" marR="0" lvl="0" indent="0" algn="ctr" defTabSz="914400" rtl="0" eaLnBrk="1" fontAlgn="auto" latinLnBrk="0" hangingPunct="1">
              <a:lnSpc>
                <a:spcPct val="18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Class imbalance, cost imbalance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8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Confusion matrix</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8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True positive rate, true negative rate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8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Precision, recall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8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ROC plot, coverage matrix, AUC</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Example: Breast Cancer Screening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1051560"/>
            <a:ext cx="8229600" cy="384048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731520" y="1188720"/>
            <a:ext cx="76809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93B"/>
                </a:solidFill>
                <a:effectLst/>
                <a:uLnTx/>
                <a:uFillTx/>
                <a:latin typeface="Georgia" pitchFamily="34" charset="0"/>
                <a:ea typeface="Georgia" pitchFamily="34" charset="-122"/>
                <a:cs typeface="Georgia" pitchFamily="34" charset="-120"/>
              </a:rPr>
              <a:t>Should all women over 50 be screened for breast cancer?</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31520" y="1737360"/>
            <a:ext cx="7680960" cy="82296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This is a classification problem: the instances are people, the target label is "has cancer" or "has no cancer." More screening seems obviously good — but we need to account for classifier quality and the costs of mistakes.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731520" y="2743200"/>
            <a:ext cx="3657600" cy="1463040"/>
          </a:xfrm>
          <a:prstGeom prst="rect">
            <a:avLst/>
          </a:prstGeom>
          <a:solidFill>
            <a:srgbClr val="CCFB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731520" y="2743200"/>
            <a:ext cx="54864" cy="1463040"/>
          </a:xfrm>
          <a:prstGeom prst="rect">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960120" y="2788920"/>
            <a:ext cx="32918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9488"/>
                </a:solidFill>
                <a:effectLst/>
                <a:uLnTx/>
                <a:uFillTx/>
                <a:latin typeface="Georgia" pitchFamily="34" charset="0"/>
                <a:ea typeface="Georgia" pitchFamily="34" charset="-122"/>
                <a:cs typeface="Georgia" pitchFamily="34" charset="-120"/>
              </a:rPr>
              <a:t>Class Imbalance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960120" y="3108960"/>
            <a:ext cx="3291840" cy="91440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~1% of screened women will have breast cancer. Far more negatives than positives.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754880" y="2743200"/>
            <a:ext cx="3657600" cy="1463040"/>
          </a:xfrm>
          <a:prstGeom prst="rect">
            <a:avLst/>
          </a:prstGeom>
          <a:solidFill>
            <a:srgbClr val="FEF3C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754880" y="2743200"/>
            <a:ext cx="54864" cy="1463040"/>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983480" y="2788920"/>
            <a:ext cx="32918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59E0B"/>
                </a:solidFill>
                <a:effectLst/>
                <a:uLnTx/>
                <a:uFillTx/>
                <a:latin typeface="Georgia" pitchFamily="34" charset="0"/>
                <a:ea typeface="Georgia" pitchFamily="34" charset="-122"/>
                <a:cs typeface="Georgia" pitchFamily="34" charset="-120"/>
              </a:rPr>
              <a:t>Cost Imbalance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983480" y="3108960"/>
            <a:ext cx="3291840" cy="91440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Missing a cancer (FN) is far worse than a false alarm (FP), but false positives have real costs too.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31520" y="4389120"/>
            <a:ext cx="76809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Accuracy alone is misleading when classes and costs are imbalanced.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Misleading Accuracy Headlines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1051560"/>
            <a:ext cx="8229600" cy="118872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731520" y="1097280"/>
            <a:ext cx="768096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293B"/>
                </a:solidFill>
                <a:effectLst/>
                <a:uLnTx/>
                <a:uFillTx/>
                <a:latin typeface="Georgia" pitchFamily="34" charset="0"/>
                <a:ea typeface="Georgia" pitchFamily="34" charset="-122"/>
                <a:cs typeface="Georgia" pitchFamily="34" charset="-120"/>
              </a:rPr>
              <a:t>"AI judge correctly predicts court case results 80% of time"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31520" y="1691640"/>
            <a:ext cx="768096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VentureBeat, October 2016</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2468880"/>
            <a:ext cx="3931920" cy="2103120"/>
          </a:xfrm>
          <a:prstGeom prst="rect">
            <a:avLst/>
          </a:prstGeom>
          <a:solidFill>
            <a:srgbClr val="FEE2E2"/>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457200" y="2468880"/>
            <a:ext cx="54864" cy="2103120"/>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31520" y="2560320"/>
            <a:ext cx="347472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F4444"/>
                </a:solidFill>
                <a:effectLst/>
                <a:uLnTx/>
                <a:uFillTx/>
                <a:latin typeface="Georgia" pitchFamily="34" charset="0"/>
                <a:ea typeface="Georgia" pitchFamily="34" charset="-122"/>
                <a:cs typeface="Georgia" pitchFamily="34" charset="-120"/>
              </a:rPr>
              <a:t>First question to ask:</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31520" y="2926080"/>
            <a:ext cx="3474720" cy="137160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What was the class distribution in the training data? If 90% are acquittals, 80% accuracy is trivial — a majority class classifier achieves 90%.</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754880" y="2468880"/>
            <a:ext cx="3931920" cy="2103120"/>
          </a:xfrm>
          <a:prstGeom prst="rect">
            <a:avLst/>
          </a:prstGeom>
          <a:solidFill>
            <a:srgbClr val="FEF3C7"/>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754880" y="2468880"/>
            <a:ext cx="54864" cy="2103120"/>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029200" y="2560320"/>
            <a:ext cx="347472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59E0B"/>
                </a:solidFill>
                <a:effectLst/>
                <a:uLnTx/>
                <a:uFillTx/>
                <a:latin typeface="Georgia" pitchFamily="34" charset="0"/>
                <a:ea typeface="Georgia" pitchFamily="34" charset="-122"/>
                <a:cs typeface="Georgia" pitchFamily="34" charset="-120"/>
              </a:rPr>
              <a:t>In this case: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029200" y="2926080"/>
            <a:ext cx="3474720" cy="137160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Classes were balanced 50/50, so 80% is notable. But a model trained on balanced data will fail in production where classes are not 50/50.</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Class Imbalance vs Cost Imbalance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1097280"/>
            <a:ext cx="8229600" cy="155448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097280"/>
            <a:ext cx="73152" cy="1554480"/>
          </a:xfrm>
          <a:prstGeom prst="rect">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777240" y="1188720"/>
            <a:ext cx="76809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D9488"/>
                </a:solidFill>
                <a:effectLst/>
                <a:uLnTx/>
                <a:uFillTx/>
                <a:latin typeface="Georgia" pitchFamily="34" charset="0"/>
                <a:ea typeface="Georgia" pitchFamily="34" charset="-122"/>
                <a:cs typeface="Georgia" pitchFamily="34" charset="-120"/>
              </a:rPr>
              <a:t>Class Imbalance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77240" y="1600200"/>
            <a:ext cx="76809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How much more likely is a </a:t>
            </a:r>
            <a:r>
              <a:rPr kumimoji="0" lang="en-US" sz="1600" b="1" i="0" u="none" strike="noStrike" kern="1200" cap="none" spc="0" normalizeH="0" baseline="0" noProof="0" dirty="0">
                <a:ln>
                  <a:noFill/>
                </a:ln>
                <a:solidFill>
                  <a:srgbClr val="3B82F6"/>
                </a:solidFill>
                <a:effectLst/>
                <a:uLnTx/>
                <a:uFillTx/>
                <a:latin typeface="Calibri" pitchFamily="34" charset="0"/>
                <a:ea typeface="Calibri" pitchFamily="34" charset="-122"/>
                <a:cs typeface="Calibri" pitchFamily="34" charset="-120"/>
              </a:rPr>
              <a:t>Positive</a:t>
            </a:r>
            <a:r>
              <a:rPr kumimoji="0" lang="en-US" sz="16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 example than a </a:t>
            </a:r>
            <a:r>
              <a:rPr kumimoji="0" lang="en-US" sz="16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Negative</a:t>
            </a:r>
            <a:r>
              <a:rPr kumimoji="0" lang="en-US" sz="16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 example?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77240" y="2057400"/>
            <a:ext cx="76809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When one class vastly outnumbers the other, accuracy can be misleading.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926080"/>
            <a:ext cx="8229600" cy="155448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57200" y="2926080"/>
            <a:ext cx="73152" cy="1554480"/>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3017520"/>
            <a:ext cx="76809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59E0B"/>
                </a:solidFill>
                <a:effectLst/>
                <a:uLnTx/>
                <a:uFillTx/>
                <a:latin typeface="Georgia" pitchFamily="34" charset="0"/>
                <a:ea typeface="Georgia" pitchFamily="34" charset="-122"/>
                <a:cs typeface="Georgia" pitchFamily="34" charset="-120"/>
              </a:rPr>
              <a:t>Cost Imbalance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77240" y="3429000"/>
            <a:ext cx="76809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How much </a:t>
            </a:r>
            <a:r>
              <a:rPr kumimoji="0" lang="en-US" sz="1600" b="1" i="1"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worse</a:t>
            </a:r>
            <a:r>
              <a:rPr kumimoji="0" lang="en-US" sz="16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 is a mislabeled </a:t>
            </a:r>
            <a:r>
              <a:rPr kumimoji="0" lang="en-US" sz="1600" b="1" i="0" u="none" strike="noStrike" kern="1200" cap="none" spc="0" normalizeH="0" baseline="0" noProof="0" dirty="0">
                <a:ln>
                  <a:noFill/>
                </a:ln>
                <a:solidFill>
                  <a:srgbClr val="3B82F6"/>
                </a:solidFill>
                <a:effectLst/>
                <a:uLnTx/>
                <a:uFillTx/>
                <a:latin typeface="Calibri" pitchFamily="34" charset="0"/>
                <a:ea typeface="Calibri" pitchFamily="34" charset="-122"/>
                <a:cs typeface="Calibri" pitchFamily="34" charset="-120"/>
              </a:rPr>
              <a:t>Positive</a:t>
            </a:r>
            <a:r>
              <a:rPr kumimoji="0" lang="en-US" sz="16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 example than a mislabeled </a:t>
            </a:r>
            <a:r>
              <a:rPr kumimoji="0" lang="en-US" sz="16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Negative</a:t>
            </a:r>
            <a:r>
              <a:rPr kumimoji="0" lang="en-US" sz="16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 example?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77240" y="3886200"/>
            <a:ext cx="76809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Different types of misclassification carry different real-world costs.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Cost Imbalance: Examples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1051560"/>
            <a:ext cx="8229600" cy="96012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051560"/>
            <a:ext cx="73152" cy="960120"/>
          </a:xfrm>
          <a:prstGeom prst="rect">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777240" y="1097280"/>
            <a:ext cx="768096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D9488"/>
                </a:solidFill>
                <a:effectLst/>
                <a:uLnTx/>
                <a:uFillTx/>
                <a:latin typeface="Georgia" pitchFamily="34" charset="0"/>
                <a:ea typeface="Georgia" pitchFamily="34" charset="-122"/>
                <a:cs typeface="Georgia" pitchFamily="34" charset="-120"/>
              </a:rPr>
              <a:t>Disease diagnosis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77240" y="1435608"/>
            <a:ext cx="76809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FN: </a:t>
            </a: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Sending a sick person home</a:t>
            </a: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vs   </a:t>
            </a:r>
            <a:r>
              <a:rPr kumimoji="0" lang="en-US" sz="1300" b="1" i="0" u="none" strike="noStrike" kern="1200" cap="none" spc="0" normalizeH="0" baseline="0" noProof="0" dirty="0">
                <a:ln>
                  <a:noFill/>
                </a:ln>
                <a:solidFill>
                  <a:srgbClr val="F59E0B"/>
                </a:solidFill>
                <a:effectLst/>
                <a:uLnTx/>
                <a:uFillTx/>
                <a:latin typeface="Calibri" pitchFamily="34" charset="0"/>
                <a:ea typeface="Calibri" pitchFamily="34" charset="-122"/>
                <a:cs typeface="Calibri" pitchFamily="34" charset="-120"/>
              </a:rPr>
              <a:t>FP: </a:t>
            </a: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Invasive tests on a healthy person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57200" y="2194560"/>
            <a:ext cx="8229600" cy="96012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2194560"/>
            <a:ext cx="73152" cy="960120"/>
          </a:xfrm>
          <a:prstGeom prst="rect">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777240" y="2240280"/>
            <a:ext cx="768096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B82F6"/>
                </a:solidFill>
                <a:effectLst/>
                <a:uLnTx/>
                <a:uFillTx/>
                <a:latin typeface="Georgia" pitchFamily="34" charset="0"/>
                <a:ea typeface="Georgia" pitchFamily="34" charset="-122"/>
                <a:cs typeface="Georgia" pitchFamily="34" charset="-120"/>
              </a:rPr>
              <a:t>Spam classification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2578608"/>
            <a:ext cx="76809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FN: </a:t>
            </a: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Deleting a valid email</a:t>
            </a: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vs   </a:t>
            </a:r>
            <a:r>
              <a:rPr kumimoji="0" lang="en-US" sz="1300" b="1" i="0" u="none" strike="noStrike" kern="1200" cap="none" spc="0" normalizeH="0" baseline="0" noProof="0" dirty="0">
                <a:ln>
                  <a:noFill/>
                </a:ln>
                <a:solidFill>
                  <a:srgbClr val="F59E0B"/>
                </a:solidFill>
                <a:effectLst/>
                <a:uLnTx/>
                <a:uFillTx/>
                <a:latin typeface="Calibri" pitchFamily="34" charset="0"/>
                <a:ea typeface="Calibri" pitchFamily="34" charset="-122"/>
                <a:cs typeface="Calibri" pitchFamily="34" charset="-120"/>
              </a:rPr>
              <a:t>FP: </a:t>
            </a: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Showing user a single spam email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3337560"/>
            <a:ext cx="8229600" cy="96012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3337560"/>
            <a:ext cx="73152" cy="960120"/>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77240" y="3383280"/>
            <a:ext cx="768096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59E0B"/>
                </a:solidFill>
                <a:effectLst/>
                <a:uLnTx/>
                <a:uFillTx/>
                <a:latin typeface="Georgia" pitchFamily="34" charset="0"/>
                <a:ea typeface="Georgia" pitchFamily="34" charset="-122"/>
                <a:cs typeface="Georgia" pitchFamily="34" charset="-120"/>
              </a:rPr>
              <a:t>Financial fraud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77240" y="3721608"/>
            <a:ext cx="76809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FN: </a:t>
            </a: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Missing a fraud in progress</a:t>
            </a: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vs   </a:t>
            </a:r>
            <a:r>
              <a:rPr kumimoji="0" lang="en-US" sz="1300" b="1" i="0" u="none" strike="noStrike" kern="1200" cap="none" spc="0" normalizeH="0" baseline="0" noProof="0" dirty="0">
                <a:ln>
                  <a:noFill/>
                </a:ln>
                <a:solidFill>
                  <a:srgbClr val="F59E0B"/>
                </a:solidFill>
                <a:effectLst/>
                <a:uLnTx/>
                <a:uFillTx/>
                <a:latin typeface="Calibri" pitchFamily="34" charset="0"/>
                <a:ea typeface="Calibri" pitchFamily="34" charset="-122"/>
                <a:cs typeface="Calibri" pitchFamily="34" charset="-120"/>
              </a:rPr>
              <a:t>FP: </a:t>
            </a: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Expert reviews a harmless transaction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457200" y="4206240"/>
            <a:ext cx="8229600" cy="64008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Domain-specific evaluation: assign a cost to each misclassification type, multiply by frequency. Minimize total cost (dollars lost, time lost, lives lost).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Class Imbalance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 name="Chart 0"/>
          <p:cNvGraphicFramePr/>
          <p:nvPr/>
        </p:nvGraphicFramePr>
        <p:xfrm>
          <a:off x="457200" y="1005840"/>
          <a:ext cx="50292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760720" y="1188720"/>
            <a:ext cx="3017520" cy="329184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760720" y="1188720"/>
            <a:ext cx="54864" cy="3291840"/>
          </a:xfrm>
          <a:prstGeom prst="rect">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989320" y="1371600"/>
            <a:ext cx="2651760" cy="2743200"/>
          </a:xfrm>
          <a:prstGeom prst="rect">
            <a:avLst/>
          </a:prstGeom>
          <a:noFill/>
          <a:ln/>
        </p:spPr>
        <p:txBody>
          <a:bodyPr wrap="square"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 classifier on this data might look good with 95% accuracy — but so does always predicting Negative.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Class Imbalance: Majority Class Baseline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6" name="Table 0"/>
          <p:cNvGraphicFramePr>
            <a:graphicFrameLocks noGrp="1"/>
          </p:cNvGraphicFramePr>
          <p:nvPr/>
        </p:nvGraphicFramePr>
        <p:xfrm>
          <a:off x="457200" y="1097280"/>
          <a:ext cx="4572000" cy="2286000"/>
        </p:xfrm>
        <a:graphic>
          <a:graphicData uri="http://schemas.openxmlformats.org/drawingml/2006/table">
            <a:tbl>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9488"/>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Error</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Other method 1</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0.15</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Other method 2</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000000"/>
                          </a:solidFill>
                          <a:latin typeface="Calibri" pitchFamily="34" charset="0"/>
                          <a:ea typeface="Calibri" pitchFamily="34" charset="-122"/>
                          <a:cs typeface="Calibri" pitchFamily="34" charset="-120"/>
                        </a:rPr>
                        <a:t>Majority class</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000000"/>
                          </a:solidFill>
                          <a:latin typeface="Calibri" pitchFamily="34" charset="0"/>
                          <a:ea typeface="Calibri" pitchFamily="34" charset="-122"/>
                          <a:cs typeface="Calibri" pitchFamily="34" charset="-120"/>
                        </a:rPr>
                        <a:t>0.05</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000000"/>
                          </a:solidFill>
                          <a:latin typeface="Calibri" pitchFamily="34" charset="0"/>
                          <a:ea typeface="Calibri" pitchFamily="34" charset="-122"/>
                          <a:cs typeface="Calibri" pitchFamily="34" charset="-120"/>
                        </a:rPr>
                        <a:t>Our model</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EF4444"/>
                          </a:solidFill>
                          <a:latin typeface="Calibri" pitchFamily="34" charset="0"/>
                          <a:ea typeface="Calibri" pitchFamily="34" charset="-122"/>
                          <a:cs typeface="Calibri" pitchFamily="34" charset="-120"/>
                        </a:rPr>
                        <a:t>0.05</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Shape 1"/>
          <p:cNvSpPr/>
          <p:nvPr/>
        </p:nvSpPr>
        <p:spPr>
          <a:xfrm>
            <a:off x="5303520" y="1097280"/>
            <a:ext cx="3474720" cy="1828800"/>
          </a:xfrm>
          <a:prstGeom prst="rect">
            <a:avLst/>
          </a:prstGeom>
          <a:solidFill>
            <a:srgbClr val="CCFBF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303520" y="1097280"/>
            <a:ext cx="54864" cy="1828800"/>
          </a:xfrm>
          <a:prstGeom prst="rect">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577840" y="1188720"/>
            <a:ext cx="301752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D9488"/>
                </a:solidFill>
                <a:effectLst/>
                <a:uLnTx/>
                <a:uFillTx/>
                <a:latin typeface="Georgia" pitchFamily="34" charset="0"/>
                <a:ea typeface="Georgia" pitchFamily="34" charset="-122"/>
                <a:cs typeface="Georgia" pitchFamily="34" charset="-120"/>
              </a:rPr>
              <a:t>Majority Class Classifier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577840" y="1554480"/>
            <a:ext cx="3017520" cy="118872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Assigns every instance the most prevalent class. This is a baseline — not a real model, but it calibrates your expectations.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457200" y="3657600"/>
            <a:ext cx="8229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With 95/5 imbalance, the useful error range is only 0 to 0.05. Anything worse than that is useless.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Class Imbalance: Train/Test Split Problem</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1097280"/>
            <a:ext cx="82296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10,000 instances total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914400" y="1508760"/>
            <a:ext cx="6583680" cy="457200"/>
          </a:xfrm>
          <a:prstGeom prst="rect">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914400" y="1508760"/>
            <a:ext cx="658368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training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7498080" y="1508760"/>
            <a:ext cx="731520" cy="457200"/>
          </a:xfrm>
          <a:prstGeom prst="rect">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498080" y="1508760"/>
            <a:ext cx="731520"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2194560"/>
            <a:ext cx="82296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1,000 test instances with 5% positives: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914400" y="2606040"/>
            <a:ext cx="6254496" cy="457200"/>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914400" y="2606040"/>
            <a:ext cx="6254496" cy="4572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950 negative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7168896" y="2606040"/>
            <a:ext cx="329184" cy="457200"/>
          </a:xfrm>
          <a:prstGeom prst="rect">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3337560"/>
            <a:ext cx="8229600" cy="1463040"/>
          </a:xfrm>
          <a:prstGeom prst="rect">
            <a:avLst/>
          </a:prstGeom>
          <a:solidFill>
            <a:srgbClr val="FEF3C7"/>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3337560"/>
            <a:ext cx="54864" cy="1463040"/>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731520" y="3383280"/>
            <a:ext cx="77724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59E0B"/>
                </a:solidFill>
                <a:effectLst/>
                <a:uLnTx/>
                <a:uFillTx/>
                <a:latin typeface="Georgia" pitchFamily="34" charset="0"/>
                <a:ea typeface="Georgia" pitchFamily="34" charset="-122"/>
                <a:cs typeface="Georgia" pitchFamily="34" charset="-120"/>
              </a:rPr>
              <a:t>The problem</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31520" y="3749040"/>
            <a:ext cx="7772400" cy="91440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Only 50 positive instances in the test set. Your evaluation is essentially: how many of these 50 did you find? That gives you only ~50 distinguishable performance levels. Making the test set bigger steals from already-scarce positive training examples.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Other Performance Metrics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1051560"/>
            <a:ext cx="8229600" cy="59436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051560"/>
            <a:ext cx="54864" cy="594360"/>
          </a:xfrm>
          <a:prstGeom prst="rect">
            <a:avLst/>
          </a:prstGeom>
          <a:solidFill>
            <a:srgbClr val="1E29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777240" y="1097280"/>
            <a:ext cx="3200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93B"/>
                </a:solidFill>
                <a:effectLst/>
                <a:uLnTx/>
                <a:uFillTx/>
                <a:latin typeface="Georgia" pitchFamily="34" charset="0"/>
                <a:ea typeface="Georgia" pitchFamily="34" charset="-122"/>
                <a:cs typeface="Georgia" pitchFamily="34" charset="-120"/>
              </a:rPr>
              <a:t>Confusion matrix</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114800" y="1097280"/>
            <a:ext cx="438912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Full breakdown of predictions vs actual classes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457200" y="1801368"/>
            <a:ext cx="8229600" cy="59436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1801368"/>
            <a:ext cx="54864" cy="594360"/>
          </a:xfrm>
          <a:prstGeom prst="rect">
            <a:avLst/>
          </a:prstGeom>
          <a:solidFill>
            <a:srgbClr val="0D948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777240" y="1847088"/>
            <a:ext cx="3200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D9488"/>
                </a:solidFill>
                <a:effectLst/>
                <a:uLnTx/>
                <a:uFillTx/>
                <a:latin typeface="Georgia" pitchFamily="34" charset="0"/>
                <a:ea typeface="Georgia" pitchFamily="34" charset="-122"/>
                <a:cs typeface="Georgia" pitchFamily="34" charset="-120"/>
              </a:rPr>
              <a:t>Precision, recall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114800" y="1847088"/>
            <a:ext cx="438912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Focus on the positive class predictions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2551176"/>
            <a:ext cx="8229600" cy="59436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2551176"/>
            <a:ext cx="54864" cy="594360"/>
          </a:xfrm>
          <a:prstGeom prst="rect">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77240" y="2596896"/>
            <a:ext cx="3200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B82F6"/>
                </a:solidFill>
                <a:effectLst/>
                <a:uLnTx/>
                <a:uFillTx/>
                <a:latin typeface="Georgia" pitchFamily="34" charset="0"/>
                <a:ea typeface="Georgia" pitchFamily="34" charset="-122"/>
                <a:cs typeface="Georgia" pitchFamily="34" charset="-120"/>
              </a:rPr>
              <a:t>True positive rate, false positive rate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4114800" y="2596896"/>
            <a:ext cx="438912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Rates relative to actual positives and negatives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7200" y="3300984"/>
            <a:ext cx="8229600" cy="59436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57200" y="3300984"/>
            <a:ext cx="54864" cy="594360"/>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777240" y="3346704"/>
            <a:ext cx="3200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59E0B"/>
                </a:solidFill>
                <a:effectLst/>
                <a:uLnTx/>
                <a:uFillTx/>
                <a:latin typeface="Georgia" pitchFamily="34" charset="0"/>
                <a:ea typeface="Georgia" pitchFamily="34" charset="-122"/>
                <a:cs typeface="Georgia" pitchFamily="34" charset="-120"/>
              </a:rPr>
              <a:t>ROC plot, AUC</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114800" y="3346704"/>
            <a:ext cx="438912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Threshold-independent performance curves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4050792"/>
            <a:ext cx="8229600" cy="594360"/>
          </a:xfrm>
          <a:prstGeom prst="rect">
            <a:avLst/>
          </a:prstGeom>
          <a:solidFill>
            <a:srgbClr val="FFFFFF"/>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457200" y="4050792"/>
            <a:ext cx="54864" cy="594360"/>
          </a:xfrm>
          <a:prstGeom prst="rect">
            <a:avLst/>
          </a:prstGeom>
          <a:solidFill>
            <a:srgbClr val="3341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777240" y="4096512"/>
            <a:ext cx="3200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34155"/>
                </a:solidFill>
                <a:effectLst/>
                <a:uLnTx/>
                <a:uFillTx/>
                <a:latin typeface="Georgia" pitchFamily="34" charset="0"/>
                <a:ea typeface="Georgia" pitchFamily="34" charset="-122"/>
                <a:cs typeface="Georgia" pitchFamily="34" charset="-120"/>
              </a:rPr>
              <a:t>Coverage matrix</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114800" y="4096512"/>
            <a:ext cx="438912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Evaluate across operating points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57200" y="4709160"/>
            <a:ext cx="8229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Most of these only matter with class or cost imbalance. For balanced datasets, accuracy may suffice.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Confusion Matrix</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1188720"/>
            <a:ext cx="3200400" cy="3200400"/>
          </a:xfrm>
          <a:prstGeom prst="line">
            <a:avLst/>
          </a:prstGeom>
          <a:noFill/>
          <a:ln w="19050">
            <a:solidFill>
              <a:srgbClr val="64748B"/>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298448" y="1572768"/>
            <a:ext cx="146304" cy="146304"/>
          </a:xfrm>
          <a:prstGeom prst="ellipse">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755648" y="1389888"/>
            <a:ext cx="146304" cy="146304"/>
          </a:xfrm>
          <a:prstGeom prst="ellipse">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2029968" y="1755648"/>
            <a:ext cx="146304" cy="146304"/>
          </a:xfrm>
          <a:prstGeom prst="ellipse">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572768" y="2121408"/>
            <a:ext cx="146304" cy="146304"/>
          </a:xfrm>
          <a:prstGeom prst="ellipse">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2212848" y="1298448"/>
            <a:ext cx="146304" cy="146304"/>
          </a:xfrm>
          <a:prstGeom prst="ellipse">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2487168" y="1938528"/>
            <a:ext cx="146304" cy="146304"/>
          </a:xfrm>
          <a:prstGeom prst="ellipse">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rot="2700000">
            <a:off x="841248" y="2670048"/>
            <a:ext cx="146304" cy="146304"/>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rot="2700000">
            <a:off x="1115568" y="3127248"/>
            <a:ext cx="146304" cy="146304"/>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rot="2700000">
            <a:off x="1572768" y="3401568"/>
            <a:ext cx="146304" cy="146304"/>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rot="2700000">
            <a:off x="2029968" y="3584448"/>
            <a:ext cx="146304" cy="146304"/>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rot="2700000">
            <a:off x="1298448" y="3767328"/>
            <a:ext cx="146304" cy="146304"/>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rot="2700000">
            <a:off x="658368" y="3401568"/>
            <a:ext cx="146304" cy="146304"/>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rot="2700000">
            <a:off x="1755648" y="2852928"/>
            <a:ext cx="146304" cy="146304"/>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rot="2700000">
            <a:off x="2852928" y="1572768"/>
            <a:ext cx="146304" cy="146304"/>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1024128" y="2212848"/>
            <a:ext cx="146304" cy="146304"/>
          </a:xfrm>
          <a:prstGeom prst="ellipse">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841248" y="1938528"/>
            <a:ext cx="146304" cy="146304"/>
          </a:xfrm>
          <a:prstGeom prst="ellipse">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029200" y="1051560"/>
            <a:ext cx="27432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predicted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rot="16200000">
            <a:off x="4206240" y="2011680"/>
            <a:ext cx="548640" cy="18288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actual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2" name="Table 0"/>
          <p:cNvGraphicFramePr>
            <a:graphicFrameLocks noGrp="1"/>
          </p:cNvGraphicFramePr>
          <p:nvPr/>
        </p:nvGraphicFramePr>
        <p:xfrm>
          <a:off x="4754880" y="1371600"/>
          <a:ext cx="3657600" cy="914400"/>
        </p:xfrm>
        <a:graphic>
          <a:graphicData uri="http://schemas.openxmlformats.org/drawingml/2006/table">
            <a:tbl>
              <a:tblPr/>
              <a:tblGrid>
                <a:gridCol w="5486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411480">
                <a:tc>
                  <a:txBody>
                    <a:bodyPr/>
                    <a:lstStyle/>
                    <a:p>
                      <a:pPr marL="0" indent="0">
                        <a:buNone/>
                      </a:pP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b="1" dirty="0">
                          <a:solidFill>
                            <a:srgbClr val="3B82F6"/>
                          </a:solidFill>
                          <a:latin typeface="Calibri" pitchFamily="34" charset="0"/>
                          <a:ea typeface="Calibri" pitchFamily="34" charset="-122"/>
                          <a:cs typeface="Calibri" pitchFamily="34" charset="-120"/>
                        </a:rPr>
                        <a:t>pos</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400" b="1" dirty="0">
                          <a:solidFill>
                            <a:srgbClr val="EF4444"/>
                          </a:solidFill>
                          <a:latin typeface="Calibri" pitchFamily="34" charset="0"/>
                          <a:ea typeface="Calibri" pitchFamily="34" charset="-122"/>
                          <a:cs typeface="Calibri" pitchFamily="34" charset="-120"/>
                        </a:rPr>
                        <a:t>neg</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0"/>
                  </a:ext>
                </a:extLst>
              </a:tr>
              <a:tr h="640080">
                <a:tc>
                  <a:txBody>
                    <a:bodyPr/>
                    <a:lstStyle/>
                    <a:p>
                      <a:pPr marL="0" indent="0" algn="ctr">
                        <a:buNone/>
                      </a:pPr>
                      <a:r>
                        <a:rPr lang="en-US" sz="1400" b="1" dirty="0">
                          <a:solidFill>
                            <a:srgbClr val="3B82F6"/>
                          </a:solidFill>
                          <a:latin typeface="Calibri" pitchFamily="34" charset="0"/>
                          <a:ea typeface="Calibri" pitchFamily="34" charset="-122"/>
                          <a:cs typeface="Calibri" pitchFamily="34" charset="-120"/>
                        </a:rPr>
                        <a:t>pos</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2200" b="1" dirty="0">
                          <a:solidFill>
                            <a:srgbClr val="000000"/>
                          </a:solidFill>
                          <a:latin typeface="Calibri" pitchFamily="34" charset="0"/>
                          <a:ea typeface="Calibri" pitchFamily="34" charset="-122"/>
                          <a:cs typeface="Calibri" pitchFamily="34" charset="-120"/>
                        </a:rPr>
                        <a:t>6</a:t>
                      </a:r>
                      <a:endParaRPr lang="en-US" sz="2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2200" b="1" dirty="0">
                          <a:solidFill>
                            <a:srgbClr val="000000"/>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E2E2"/>
                    </a:solidFill>
                  </a:tcPr>
                </a:tc>
                <a:tc>
                  <a:txBody>
                    <a:bodyPr/>
                    <a:lstStyle/>
                    <a:p>
                      <a:pPr marL="0" indent="0" algn="ctr">
                        <a:buNone/>
                      </a:pPr>
                      <a:r>
                        <a:rPr lang="en-US" sz="1400" b="1" dirty="0">
                          <a:solidFill>
                            <a:srgbClr val="64748B"/>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lgn="ctr">
                        <a:buNone/>
                      </a:pPr>
                      <a:r>
                        <a:rPr lang="en-US" sz="1400" b="1" dirty="0">
                          <a:solidFill>
                            <a:srgbClr val="EF4444"/>
                          </a:solidFill>
                          <a:latin typeface="Calibri" pitchFamily="34" charset="0"/>
                          <a:ea typeface="Calibri" pitchFamily="34" charset="-122"/>
                          <a:cs typeface="Calibri" pitchFamily="34" charset="-120"/>
                        </a:rPr>
                        <a:t>neg</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2200" b="1" dirty="0">
                          <a:solidFill>
                            <a:srgbClr val="000000"/>
                          </a:solidFill>
                          <a:latin typeface="Calibri" pitchFamily="34" charset="0"/>
                          <a:ea typeface="Calibri" pitchFamily="34" charset="-122"/>
                          <a:cs typeface="Calibri" pitchFamily="34" charset="-120"/>
                        </a:rPr>
                        <a:t>2</a:t>
                      </a:r>
                      <a:endParaRPr lang="en-US" sz="2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E2E2"/>
                    </a:solidFill>
                  </a:tcPr>
                </a:tc>
                <a:tc>
                  <a:txBody>
                    <a:bodyPr/>
                    <a:lstStyle/>
                    <a:p>
                      <a:pPr marL="0" indent="0" algn="ctr">
                        <a:buNone/>
                      </a:pPr>
                      <a:r>
                        <a:rPr lang="en-US" sz="2200" b="1" dirty="0">
                          <a:solidFill>
                            <a:srgbClr val="000000"/>
                          </a:solidFill>
                          <a:latin typeface="Calibri" pitchFamily="34" charset="0"/>
                          <a:ea typeface="Calibri" pitchFamily="34" charset="-122"/>
                          <a:cs typeface="Calibri" pitchFamily="34" charset="-120"/>
                        </a:rPr>
                        <a:t>5</a:t>
                      </a:r>
                      <a:endParaRPr lang="en-US" sz="2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1400" b="1" dirty="0">
                          <a:solidFill>
                            <a:srgbClr val="64748B"/>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64748B"/>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64748B"/>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E293B"/>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3" name="Text 20"/>
          <p:cNvSpPr/>
          <p:nvPr/>
        </p:nvSpPr>
        <p:spPr>
          <a:xfrm>
            <a:off x="457200" y="4206240"/>
            <a:ext cx="8229600" cy="640080"/>
          </a:xfrm>
          <a:prstGeom prst="rect">
            <a:avLst/>
          </a:prstGeom>
          <a:noFill/>
          <a:ln/>
        </p:spPr>
        <p:txBody>
          <a:bodyPr wrap="square"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Diagonal = correct predictions. Off-diagonal = errors.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Reveals the balance of false positives vs false negatives.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True Positives, False Positives, FN, TN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1188720"/>
            <a:ext cx="3200400" cy="3200400"/>
          </a:xfrm>
          <a:prstGeom prst="line">
            <a:avLst/>
          </a:prstGeom>
          <a:noFill/>
          <a:ln w="19050">
            <a:solidFill>
              <a:srgbClr val="64748B"/>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298448" y="1572768"/>
            <a:ext cx="146304" cy="146304"/>
          </a:xfrm>
          <a:prstGeom prst="ellipse">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755648" y="1389888"/>
            <a:ext cx="146304" cy="146304"/>
          </a:xfrm>
          <a:prstGeom prst="ellipse">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2029968" y="1755648"/>
            <a:ext cx="146304" cy="146304"/>
          </a:xfrm>
          <a:prstGeom prst="ellipse">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572768" y="2121408"/>
            <a:ext cx="146304" cy="146304"/>
          </a:xfrm>
          <a:prstGeom prst="ellipse">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2212848" y="1298448"/>
            <a:ext cx="146304" cy="146304"/>
          </a:xfrm>
          <a:prstGeom prst="ellipse">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1024128" y="2212848"/>
            <a:ext cx="146304" cy="146304"/>
          </a:xfrm>
          <a:prstGeom prst="ellipse">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841248" y="1938528"/>
            <a:ext cx="146304" cy="146304"/>
          </a:xfrm>
          <a:prstGeom prst="ellipse">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1572768" y="3401568"/>
            <a:ext cx="146304" cy="146304"/>
          </a:xfrm>
          <a:prstGeom prst="ellipse">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2029968" y="3584448"/>
            <a:ext cx="146304" cy="146304"/>
          </a:xfrm>
          <a:prstGeom prst="ellipse">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1298448" y="3767328"/>
            <a:ext cx="146304" cy="146304"/>
          </a:xfrm>
          <a:prstGeom prst="ellipse">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658368" y="3401568"/>
            <a:ext cx="146304" cy="146304"/>
          </a:xfrm>
          <a:prstGeom prst="ellipse">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1755648" y="2852928"/>
            <a:ext cx="146304" cy="146304"/>
          </a:xfrm>
          <a:prstGeom prst="ellipse">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2852928" y="1572768"/>
            <a:ext cx="146304" cy="146304"/>
          </a:xfrm>
          <a:prstGeom prst="ellipse">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2670048" y="2670048"/>
            <a:ext cx="146304" cy="146304"/>
          </a:xfrm>
          <a:prstGeom prst="ellipse">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548640" y="4572000"/>
            <a:ext cx="137160" cy="137160"/>
          </a:xfrm>
          <a:prstGeom prst="ellipse">
            <a:avLst/>
          </a:prstGeom>
          <a:solidFill>
            <a:srgbClr val="22C55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777240" y="4526280"/>
            <a:ext cx="731520"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2C55E"/>
                </a:solidFill>
                <a:effectLst/>
                <a:uLnTx/>
                <a:uFillTx/>
                <a:latin typeface="Calibri" pitchFamily="34" charset="0"/>
                <a:ea typeface="Calibri" pitchFamily="34" charset="-122"/>
                <a:cs typeface="Calibri" pitchFamily="34" charset="-120"/>
              </a:rPr>
              <a:t>Correct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1645920" y="4572000"/>
            <a:ext cx="137160" cy="137160"/>
          </a:xfrm>
          <a:prstGeom prst="ellipse">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1874520" y="4526280"/>
            <a:ext cx="457200"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59E0B"/>
                </a:solidFill>
                <a:effectLst/>
                <a:uLnTx/>
                <a:uFillTx/>
                <a:latin typeface="Calibri" pitchFamily="34" charset="0"/>
                <a:ea typeface="Calibri" pitchFamily="34" charset="-122"/>
                <a:cs typeface="Calibri" pitchFamily="34" charset="-120"/>
              </a:rPr>
              <a:t>FP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2377440" y="4572000"/>
            <a:ext cx="137160" cy="137160"/>
          </a:xfrm>
          <a:prstGeom prst="ellipse">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2606040" y="4526280"/>
            <a:ext cx="457200"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FN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5029200" y="1097280"/>
            <a:ext cx="27432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predicted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5" name="Table 0"/>
          <p:cNvGraphicFramePr>
            <a:graphicFrameLocks noGrp="1"/>
          </p:cNvGraphicFramePr>
          <p:nvPr/>
        </p:nvGraphicFramePr>
        <p:xfrm>
          <a:off x="4754880" y="1188720"/>
          <a:ext cx="2926080" cy="914400"/>
        </p:xfrm>
        <a:graphic>
          <a:graphicData uri="http://schemas.openxmlformats.org/drawingml/2006/table">
            <a:tbl>
              <a:tblPr/>
              <a:tblGrid>
                <a:gridCol w="4572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65760">
                <a:tc>
                  <a:txBody>
                    <a:bodyPr/>
                    <a:lstStyle/>
                    <a:p>
                      <a:pPr marL="0" indent="0">
                        <a:buNone/>
                      </a:pP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300" b="1" dirty="0">
                          <a:solidFill>
                            <a:srgbClr val="3B82F6"/>
                          </a:solidFill>
                          <a:latin typeface="Calibri" pitchFamily="34" charset="0"/>
                          <a:ea typeface="Calibri" pitchFamily="34" charset="-122"/>
                          <a:cs typeface="Calibri" pitchFamily="34" charset="-120"/>
                        </a:rPr>
                        <a:t>pos</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300" b="1" dirty="0">
                          <a:solidFill>
                            <a:srgbClr val="EF4444"/>
                          </a:solidFill>
                          <a:latin typeface="Calibri" pitchFamily="34" charset="0"/>
                          <a:ea typeface="Calibri" pitchFamily="34" charset="-122"/>
                          <a:cs typeface="Calibri" pitchFamily="34" charset="-120"/>
                        </a:rPr>
                        <a:t>neg</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0"/>
                  </a:ext>
                </a:extLst>
              </a:tr>
              <a:tr h="685800">
                <a:tc>
                  <a:txBody>
                    <a:bodyPr/>
                    <a:lstStyle/>
                    <a:p>
                      <a:pPr marL="0" indent="0" algn="ctr">
                        <a:buNone/>
                      </a:pPr>
                      <a:r>
                        <a:rPr lang="en-US" sz="1300" b="1" dirty="0">
                          <a:solidFill>
                            <a:srgbClr val="3B82F6"/>
                          </a:solidFill>
                          <a:latin typeface="Calibri" pitchFamily="34" charset="0"/>
                          <a:ea typeface="Calibri" pitchFamily="34" charset="-122"/>
                          <a:cs typeface="Calibri" pitchFamily="34" charset="-120"/>
                        </a:rPr>
                        <a:t>pos</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b="1" dirty="0">
                          <a:solidFill>
                            <a:srgbClr val="22C55E"/>
                          </a:solidFill>
                          <a:latin typeface="Calibri" pitchFamily="34" charset="0"/>
                          <a:ea typeface="Calibri" pitchFamily="34" charset="-122"/>
                          <a:cs typeface="Calibri" pitchFamily="34" charset="-120"/>
                        </a:rPr>
                        <a:t>True</a:t>
                      </a:r>
                      <a:endParaRPr lang="en-US" sz="1300" dirty="0">
                        <a:latin typeface="Calibri" charset="0"/>
                        <a:ea typeface="Calibri" charset="0"/>
                        <a:cs typeface="Calibri" charset="0"/>
                      </a:endParaRPr>
                    </a:p>
                    <a:p>
                      <a:pPr marL="0" indent="0" algn="ctr">
                        <a:buNone/>
                      </a:pPr>
                      <a:r>
                        <a:rPr lang="en-US" sz="1300" b="1" dirty="0">
                          <a:solidFill>
                            <a:srgbClr val="22C55E"/>
                          </a:solidFill>
                          <a:latin typeface="Calibri" pitchFamily="34" charset="0"/>
                          <a:ea typeface="Calibri" pitchFamily="34" charset="-122"/>
                          <a:cs typeface="Calibri" pitchFamily="34" charset="-120"/>
                        </a:rPr>
                        <a:t>Positives</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1300" b="1" dirty="0">
                          <a:solidFill>
                            <a:srgbClr val="EF4444"/>
                          </a:solidFill>
                          <a:latin typeface="Calibri" pitchFamily="34" charset="0"/>
                          <a:ea typeface="Calibri" pitchFamily="34" charset="-122"/>
                          <a:cs typeface="Calibri" pitchFamily="34" charset="-120"/>
                        </a:rPr>
                        <a:t>False</a:t>
                      </a:r>
                      <a:endParaRPr lang="en-US" sz="1300" dirty="0">
                        <a:latin typeface="Calibri" charset="0"/>
                        <a:ea typeface="Calibri" charset="0"/>
                        <a:cs typeface="Calibri" charset="0"/>
                      </a:endParaRPr>
                    </a:p>
                    <a:p>
                      <a:pPr marL="0" indent="0" algn="ctr">
                        <a:buNone/>
                      </a:pPr>
                      <a:r>
                        <a:rPr lang="en-US" sz="1300" b="1" dirty="0">
                          <a:solidFill>
                            <a:srgbClr val="EF4444"/>
                          </a:solidFill>
                          <a:latin typeface="Calibri" pitchFamily="34" charset="0"/>
                          <a:ea typeface="Calibri" pitchFamily="34" charset="-122"/>
                          <a:cs typeface="Calibri" pitchFamily="34" charset="-120"/>
                        </a:rPr>
                        <a:t>Negatives</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E2E2"/>
                    </a:solidFill>
                  </a:tcPr>
                </a:tc>
                <a:extLst>
                  <a:ext uri="{0D108BD9-81ED-4DB2-BD59-A6C34878D82A}">
                    <a16:rowId xmlns:a16="http://schemas.microsoft.com/office/drawing/2014/main" val="10001"/>
                  </a:ext>
                </a:extLst>
              </a:tr>
              <a:tr h="685800">
                <a:tc>
                  <a:txBody>
                    <a:bodyPr/>
                    <a:lstStyle/>
                    <a:p>
                      <a:pPr marL="0" indent="0" algn="ctr">
                        <a:buNone/>
                      </a:pPr>
                      <a:r>
                        <a:rPr lang="en-US" sz="1300" b="1" dirty="0">
                          <a:solidFill>
                            <a:srgbClr val="EF4444"/>
                          </a:solidFill>
                          <a:latin typeface="Calibri" pitchFamily="34" charset="0"/>
                          <a:ea typeface="Calibri" pitchFamily="34" charset="-122"/>
                          <a:cs typeface="Calibri" pitchFamily="34" charset="-120"/>
                        </a:rPr>
                        <a:t>neg</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b="1" dirty="0">
                          <a:solidFill>
                            <a:srgbClr val="EF4444"/>
                          </a:solidFill>
                          <a:latin typeface="Calibri" pitchFamily="34" charset="0"/>
                          <a:ea typeface="Calibri" pitchFamily="34" charset="-122"/>
                          <a:cs typeface="Calibri" pitchFamily="34" charset="-120"/>
                        </a:rPr>
                        <a:t>False</a:t>
                      </a:r>
                      <a:endParaRPr lang="en-US" sz="1300" dirty="0">
                        <a:latin typeface="Calibri" charset="0"/>
                        <a:ea typeface="Calibri" charset="0"/>
                        <a:cs typeface="Calibri" charset="0"/>
                      </a:endParaRPr>
                    </a:p>
                    <a:p>
                      <a:pPr marL="0" indent="0" algn="ctr">
                        <a:buNone/>
                      </a:pPr>
                      <a:r>
                        <a:rPr lang="en-US" sz="1300" b="1" dirty="0">
                          <a:solidFill>
                            <a:srgbClr val="EF4444"/>
                          </a:solidFill>
                          <a:latin typeface="Calibri" pitchFamily="34" charset="0"/>
                          <a:ea typeface="Calibri" pitchFamily="34" charset="-122"/>
                          <a:cs typeface="Calibri" pitchFamily="34" charset="-120"/>
                        </a:rPr>
                        <a:t>Positives</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E2E2"/>
                    </a:solidFill>
                  </a:tcPr>
                </a:tc>
                <a:tc>
                  <a:txBody>
                    <a:bodyPr/>
                    <a:lstStyle/>
                    <a:p>
                      <a:pPr marL="0" indent="0" algn="ctr">
                        <a:buNone/>
                      </a:pPr>
                      <a:r>
                        <a:rPr lang="en-US" sz="1300" b="1" dirty="0">
                          <a:solidFill>
                            <a:srgbClr val="22C55E"/>
                          </a:solidFill>
                          <a:latin typeface="Calibri" pitchFamily="34" charset="0"/>
                          <a:ea typeface="Calibri" pitchFamily="34" charset="-122"/>
                          <a:cs typeface="Calibri" pitchFamily="34" charset="-120"/>
                        </a:rPr>
                        <a:t>True</a:t>
                      </a:r>
                      <a:endParaRPr lang="en-US" sz="1300" dirty="0">
                        <a:latin typeface="Calibri" charset="0"/>
                        <a:ea typeface="Calibri" charset="0"/>
                        <a:cs typeface="Calibri" charset="0"/>
                      </a:endParaRPr>
                    </a:p>
                    <a:p>
                      <a:pPr marL="0" indent="0" algn="ctr">
                        <a:buNone/>
                      </a:pPr>
                      <a:r>
                        <a:rPr lang="en-US" sz="1300" b="1" dirty="0">
                          <a:solidFill>
                            <a:srgbClr val="22C55E"/>
                          </a:solidFill>
                          <a:latin typeface="Calibri" pitchFamily="34" charset="0"/>
                          <a:ea typeface="Calibri" pitchFamily="34" charset="-122"/>
                          <a:cs typeface="Calibri" pitchFamily="34" charset="-120"/>
                        </a:rPr>
                        <a:t>Negatives</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CFCE7"/>
                    </a:solidFill>
                  </a:tcPr>
                </a:tc>
                <a:extLst>
                  <a:ext uri="{0D108BD9-81ED-4DB2-BD59-A6C34878D82A}">
                    <a16:rowId xmlns:a16="http://schemas.microsoft.com/office/drawing/2014/main" val="10002"/>
                  </a:ext>
                </a:extLst>
              </a:tr>
            </a:tbl>
          </a:graphicData>
        </a:graphic>
      </p:graphicFrame>
      <p:sp>
        <p:nvSpPr>
          <p:cNvPr id="26" name="Text 23"/>
          <p:cNvSpPr/>
          <p:nvPr/>
        </p:nvSpPr>
        <p:spPr>
          <a:xfrm>
            <a:off x="4754880" y="3108960"/>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2C55E"/>
                </a:solidFill>
                <a:effectLst/>
                <a:uLnTx/>
                <a:uFillTx/>
                <a:latin typeface="Calibri" pitchFamily="34" charset="0"/>
                <a:ea typeface="Calibri" pitchFamily="34" charset="-122"/>
                <a:cs typeface="Calibri" pitchFamily="34" charset="-120"/>
              </a:rPr>
              <a:t>True Positive: </a:t>
            </a:r>
            <a:r>
              <a:rPr kumimoji="0" lang="en-US" sz="11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Actually positive, predicted positive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4754880" y="3429000"/>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False Positive: </a:t>
            </a:r>
            <a:r>
              <a:rPr kumimoji="0" lang="en-US" sz="11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Actually negative, predicted positive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4754880" y="3749040"/>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False Negative: </a:t>
            </a:r>
            <a:r>
              <a:rPr kumimoji="0" lang="en-US" sz="11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Actually positive, predicted negative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4754880" y="4069080"/>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2C55E"/>
                </a:solidFill>
                <a:effectLst/>
                <a:uLnTx/>
                <a:uFillTx/>
                <a:latin typeface="Calibri" pitchFamily="34" charset="0"/>
                <a:ea typeface="Calibri" pitchFamily="34" charset="-122"/>
                <a:cs typeface="Calibri" pitchFamily="34" charset="-120"/>
              </a:rPr>
              <a:t>True Negative: </a:t>
            </a:r>
            <a:r>
              <a:rPr kumimoji="0" lang="en-US" sz="11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Actually negative, predicted negative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91440"/>
            <a:ext cx="8229600" cy="5943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With Class Imbalance: Majority Class Baseline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57200" y="1051560"/>
            <a:ext cx="8229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Majority class classifier on imbalanced data (96% positive):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2743200" y="1508760"/>
            <a:ext cx="36576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predicted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rot="16200000">
            <a:off x="1645920" y="2468880"/>
            <a:ext cx="731520" cy="18288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actual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1" name="Table 0"/>
          <p:cNvGraphicFramePr>
            <a:graphicFrameLocks noGrp="1"/>
          </p:cNvGraphicFramePr>
          <p:nvPr/>
        </p:nvGraphicFramePr>
        <p:xfrm>
          <a:off x="2286000" y="1828800"/>
          <a:ext cx="4572000" cy="914400"/>
        </p:xfrm>
        <a:graphic>
          <a:graphicData uri="http://schemas.openxmlformats.org/drawingml/2006/table">
            <a:tbl>
              <a:tblPr/>
              <a:tblGrid>
                <a:gridCol w="7315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457200">
                <a:tc>
                  <a:txBody>
                    <a:bodyPr/>
                    <a:lstStyle/>
                    <a:p>
                      <a:pPr marL="0" indent="0">
                        <a:buNone/>
                      </a:pP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600" b="1" dirty="0">
                          <a:solidFill>
                            <a:srgbClr val="3B82F6"/>
                          </a:solidFill>
                          <a:latin typeface="Calibri" pitchFamily="34" charset="0"/>
                          <a:ea typeface="Calibri" pitchFamily="34" charset="-122"/>
                          <a:cs typeface="Calibri" pitchFamily="34" charset="-120"/>
                        </a:rPr>
                        <a:t>pos</a:t>
                      </a:r>
                      <a:endParaRPr lang="en-US" sz="16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600" b="1" dirty="0">
                          <a:solidFill>
                            <a:srgbClr val="EF4444"/>
                          </a:solidFill>
                          <a:latin typeface="Calibri" pitchFamily="34" charset="0"/>
                          <a:ea typeface="Calibri" pitchFamily="34" charset="-122"/>
                          <a:cs typeface="Calibri" pitchFamily="34" charset="-120"/>
                        </a:rPr>
                        <a:t>neg</a:t>
                      </a:r>
                      <a:endParaRPr lang="en-US" sz="16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0"/>
                  </a:ext>
                </a:extLst>
              </a:tr>
              <a:tr h="822960">
                <a:tc>
                  <a:txBody>
                    <a:bodyPr/>
                    <a:lstStyle/>
                    <a:p>
                      <a:pPr marL="0" indent="0" algn="ctr">
                        <a:buNone/>
                      </a:pPr>
                      <a:r>
                        <a:rPr lang="en-US" sz="1600" b="1" dirty="0">
                          <a:solidFill>
                            <a:srgbClr val="3B82F6"/>
                          </a:solidFill>
                          <a:latin typeface="Calibri" pitchFamily="34" charset="0"/>
                          <a:ea typeface="Calibri" pitchFamily="34" charset="-122"/>
                          <a:cs typeface="Calibri" pitchFamily="34" charset="-120"/>
                        </a:rPr>
                        <a:t>pos</a:t>
                      </a:r>
                      <a:endParaRPr lang="en-US" sz="16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2800" b="1" dirty="0">
                          <a:solidFill>
                            <a:srgbClr val="000000"/>
                          </a:solidFill>
                          <a:latin typeface="Calibri" pitchFamily="34" charset="0"/>
                          <a:ea typeface="Calibri" pitchFamily="34" charset="-122"/>
                          <a:cs typeface="Calibri" pitchFamily="34" charset="-120"/>
                        </a:rPr>
                        <a:t>385</a:t>
                      </a:r>
                      <a:endParaRPr lang="en-US" sz="28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2800" b="1" dirty="0">
                          <a:solidFill>
                            <a:srgbClr val="000000"/>
                          </a:solidFill>
                          <a:latin typeface="Calibri" pitchFamily="34" charset="0"/>
                          <a:ea typeface="Calibri" pitchFamily="34" charset="-122"/>
                          <a:cs typeface="Calibri" pitchFamily="34" charset="-120"/>
                        </a:rPr>
                        <a:t>0</a:t>
                      </a:r>
                      <a:endParaRPr lang="en-US" sz="28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E2E2"/>
                    </a:solidFill>
                  </a:tcPr>
                </a:tc>
                <a:tc>
                  <a:txBody>
                    <a:bodyPr/>
                    <a:lstStyle/>
                    <a:p>
                      <a:pPr marL="0" indent="0" algn="ctr">
                        <a:buNone/>
                      </a:pPr>
                      <a:r>
                        <a:rPr lang="en-US" sz="1400" b="1" dirty="0">
                          <a:solidFill>
                            <a:srgbClr val="64748B"/>
                          </a:solidFill>
                          <a:latin typeface="Calibri" pitchFamily="34" charset="0"/>
                          <a:ea typeface="Calibri" pitchFamily="34" charset="-122"/>
                          <a:cs typeface="Calibri" pitchFamily="34" charset="-120"/>
                        </a:rPr>
                        <a:t>385</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822960">
                <a:tc>
                  <a:txBody>
                    <a:bodyPr/>
                    <a:lstStyle/>
                    <a:p>
                      <a:pPr marL="0" indent="0" algn="ctr">
                        <a:buNone/>
                      </a:pPr>
                      <a:r>
                        <a:rPr lang="en-US" sz="1600" b="1" dirty="0">
                          <a:solidFill>
                            <a:srgbClr val="EF4444"/>
                          </a:solidFill>
                          <a:latin typeface="Calibri" pitchFamily="34" charset="0"/>
                          <a:ea typeface="Calibri" pitchFamily="34" charset="-122"/>
                          <a:cs typeface="Calibri" pitchFamily="34" charset="-120"/>
                        </a:rPr>
                        <a:t>neg</a:t>
                      </a:r>
                      <a:endParaRPr lang="en-US" sz="16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2800" b="1" dirty="0">
                          <a:solidFill>
                            <a:srgbClr val="000000"/>
                          </a:solidFill>
                          <a:latin typeface="Calibri" pitchFamily="34" charset="0"/>
                          <a:ea typeface="Calibri" pitchFamily="34" charset="-122"/>
                          <a:cs typeface="Calibri" pitchFamily="34" charset="-120"/>
                        </a:rPr>
                        <a:t>15</a:t>
                      </a:r>
                      <a:endParaRPr lang="en-US" sz="28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E2E2"/>
                    </a:solidFill>
                  </a:tcPr>
                </a:tc>
                <a:tc>
                  <a:txBody>
                    <a:bodyPr/>
                    <a:lstStyle/>
                    <a:p>
                      <a:pPr marL="0" indent="0" algn="ctr">
                        <a:buNone/>
                      </a:pPr>
                      <a:r>
                        <a:rPr lang="en-US" sz="2800" b="1" dirty="0">
                          <a:solidFill>
                            <a:srgbClr val="000000"/>
                          </a:solidFill>
                          <a:latin typeface="Calibri" pitchFamily="34" charset="0"/>
                          <a:ea typeface="Calibri" pitchFamily="34" charset="-122"/>
                          <a:cs typeface="Calibri" pitchFamily="34" charset="-120"/>
                        </a:rPr>
                        <a:t>0</a:t>
                      </a:r>
                      <a:endParaRPr lang="en-US" sz="28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1400" b="1" dirty="0">
                          <a:solidFill>
                            <a:srgbClr val="64748B"/>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64748B"/>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64748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400" b="1" dirty="0">
                          <a:solidFill>
                            <a:srgbClr val="1E293B"/>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457200" y="3931920"/>
            <a:ext cx="8229600" cy="914400"/>
          </a:xfrm>
          <a:prstGeom prst="rect">
            <a:avLst/>
          </a:prstGeom>
          <a:solidFill>
            <a:srgbClr val="FEE2E2"/>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457200" y="3931920"/>
            <a:ext cx="54864" cy="914400"/>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731520" y="3977640"/>
            <a:ext cx="7772400" cy="822960"/>
          </a:xfrm>
          <a:prstGeom prst="rect">
            <a:avLst/>
          </a:prstGeom>
          <a:noFill/>
          <a:ln/>
        </p:spPr>
        <p:txBody>
          <a:bodyPr wrap="square"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Predicting everything as positive gives 96.25% accuracy (385/400) but is completely useless — it misses 0% of negatives. The confusion matrix reveals what accuracy hides.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C4A4A24-A908-C047-BCDF-9E3437518EDB}">
  <we:reference id="wa200010001" version="1.0.0.1" store="en-US" storeType="OMEX"/>
  <we:alternateReferences>
    <we:reference id="wa200010001"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2914</TotalTime>
  <Words>5154</Words>
  <Application>Microsoft Macintosh PowerPoint</Application>
  <PresentationFormat>On-screen Show (16:9)</PresentationFormat>
  <Paragraphs>698</Paragraphs>
  <Slides>55</Slides>
  <Notes>53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55</vt:i4>
      </vt:variant>
    </vt:vector>
  </HeadingPairs>
  <TitlesOfParts>
    <vt:vector size="62" baseType="lpstr">
      <vt:lpstr>Aptos</vt:lpstr>
      <vt:lpstr>Arial</vt:lpstr>
      <vt:lpstr>Calibri</vt:lpstr>
      <vt:lpstr>Consolas</vt:lpstr>
      <vt:lpstr>Georgia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Methodology I</dc:title>
  <dc:subject>PptxGenJS Presentation</dc:subject>
  <dc:creator>Fabio Casati</dc:creator>
  <cp:lastModifiedBy>Casati, Fabio</cp:lastModifiedBy>
  <cp:revision>9</cp:revision>
  <dcterms:created xsi:type="dcterms:W3CDTF">2026-03-20T10:32:01Z</dcterms:created>
  <dcterms:modified xsi:type="dcterms:W3CDTF">2026-03-22T11:41:23Z</dcterms:modified>
</cp:coreProperties>
</file>