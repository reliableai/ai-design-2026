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09"/>
  </p:notesMasterIdLst>
  <p:sldIdLst>
    <p:sldId id="383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0" r:id="rId22"/>
    <p:sldId id="281" r:id="rId23"/>
    <p:sldId id="282" r:id="rId24"/>
    <p:sldId id="285" r:id="rId25"/>
    <p:sldId id="286" r:id="rId26"/>
    <p:sldId id="287" r:id="rId27"/>
    <p:sldId id="289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380" r:id="rId36"/>
    <p:sldId id="298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2" r:id="rId46"/>
    <p:sldId id="313" r:id="rId47"/>
    <p:sldId id="314" r:id="rId48"/>
    <p:sldId id="315" r:id="rId49"/>
    <p:sldId id="316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2" r:id="rId65"/>
    <p:sldId id="333" r:id="rId66"/>
    <p:sldId id="334" r:id="rId67"/>
    <p:sldId id="335" r:id="rId68"/>
    <p:sldId id="336" r:id="rId69"/>
    <p:sldId id="337" r:id="rId70"/>
    <p:sldId id="338" r:id="rId71"/>
    <p:sldId id="339" r:id="rId72"/>
    <p:sldId id="340" r:id="rId73"/>
    <p:sldId id="341" r:id="rId74"/>
    <p:sldId id="342" r:id="rId75"/>
    <p:sldId id="343" r:id="rId76"/>
    <p:sldId id="344" r:id="rId77"/>
    <p:sldId id="345" r:id="rId78"/>
    <p:sldId id="346" r:id="rId79"/>
    <p:sldId id="347" r:id="rId80"/>
    <p:sldId id="348" r:id="rId81"/>
    <p:sldId id="349" r:id="rId82"/>
    <p:sldId id="350" r:id="rId83"/>
    <p:sldId id="351" r:id="rId84"/>
    <p:sldId id="352" r:id="rId85"/>
    <p:sldId id="353" r:id="rId86"/>
    <p:sldId id="354" r:id="rId87"/>
    <p:sldId id="355" r:id="rId88"/>
    <p:sldId id="356" r:id="rId89"/>
    <p:sldId id="357" r:id="rId90"/>
    <p:sldId id="358" r:id="rId91"/>
    <p:sldId id="359" r:id="rId92"/>
    <p:sldId id="360" r:id="rId93"/>
    <p:sldId id="361" r:id="rId94"/>
    <p:sldId id="362" r:id="rId95"/>
    <p:sldId id="363" r:id="rId96"/>
    <p:sldId id="364" r:id="rId97"/>
    <p:sldId id="365" r:id="rId98"/>
    <p:sldId id="366" r:id="rId99"/>
    <p:sldId id="367" r:id="rId100"/>
    <p:sldId id="368" r:id="rId101"/>
    <p:sldId id="369" r:id="rId102"/>
    <p:sldId id="370" r:id="rId103"/>
    <p:sldId id="371" r:id="rId104"/>
    <p:sldId id="372" r:id="rId105"/>
    <p:sldId id="373" r:id="rId106"/>
    <p:sldId id="374" r:id="rId107"/>
    <p:sldId id="375" r:id="rId10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68904"/>
  </p:normalViewPr>
  <p:slideViewPr>
    <p:cSldViewPr snapToGrid="0" snapToObjects="1">
      <p:cViewPr varScale="1">
        <p:scale>
          <a:sx n="81" d="100"/>
          <a:sy n="81" d="100"/>
        </p:scale>
        <p:origin x="6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theme" Target="theme/theme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tableStyles" Target="tableStyle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58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You compare models to 8igure out which is the best.</a:t>
            </a:r>
          </a:p>
          <a:p>
            <a:r>
              <a:rPr dirty="0"/>
              <a:t>Ultimately, to choose which model you want to use in</a:t>
            </a:r>
          </a:p>
          <a:p>
            <a:r>
              <a:rPr dirty="0"/>
              <a:t>production.</a:t>
            </a:r>
          </a:p>
          <a:p>
            <a:r>
              <a:rPr dirty="0"/>
              <a:t>This could be literally the production version of a piece of</a:t>
            </a:r>
          </a:p>
          <a:p>
            <a:r>
              <a:rPr dirty="0"/>
              <a:t>software, or just the model whose predictions you decide to</a:t>
            </a:r>
          </a:p>
          <a:p>
            <a:r>
              <a:rPr dirty="0"/>
              <a:t>use in the future.</a:t>
            </a:r>
          </a:p>
          <a:p>
            <a:r>
              <a:rPr dirty="0"/>
              <a:t>Sometimes you are comparing different model types (a</a:t>
            </a:r>
          </a:p>
          <a:p>
            <a:r>
              <a:rPr dirty="0"/>
              <a:t>decision tree vs a linear model), but you might also be</a:t>
            </a:r>
          </a:p>
          <a:p>
            <a:r>
              <a:rPr dirty="0"/>
              <a:t>comparing different ways of con8iguring the same model</a:t>
            </a:r>
          </a:p>
          <a:p>
            <a:r>
              <a:rPr dirty="0"/>
              <a:t>type. For instance in the </a:t>
            </a:r>
            <a:r>
              <a:rPr dirty="0" err="1"/>
              <a:t>kNN</a:t>
            </a:r>
            <a:r>
              <a:rPr dirty="0"/>
              <a:t> classi8ier, how many</a:t>
            </a:r>
          </a:p>
          <a:p>
            <a:r>
              <a:rPr dirty="0" err="1"/>
              <a:t>neighbours</a:t>
            </a:r>
            <a:r>
              <a:rPr dirty="0"/>
              <a:t> (k) should we look at to determine our</a:t>
            </a:r>
          </a:p>
          <a:p>
            <a:r>
              <a:rPr dirty="0"/>
              <a:t>classi8ication?</a:t>
            </a:r>
          </a:p>
          <a:p>
            <a:r>
              <a:rPr dirty="0"/>
              <a:t>With the 2D dataset, we can look at the decision boundary,</a:t>
            </a:r>
          </a:p>
          <a:p>
            <a:r>
              <a:rPr dirty="0"/>
              <a:t>and make a visual judgment. Usually, that’s not the case: our</a:t>
            </a:r>
          </a:p>
          <a:p>
            <a:r>
              <a:rPr dirty="0"/>
              <a:t>feature space will have hundreds of dimensions, and we’ll</a:t>
            </a:r>
          </a:p>
          <a:p>
            <a:r>
              <a:rPr dirty="0"/>
              <a:t>need to measure the performance of 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We’ve already seen what happens when you evaluate on the</a:t>
            </a:r>
          </a:p>
          <a:p>
            <a:r>
              <a:t>training data. A model that 8its the training data perfectly</a:t>
            </a:r>
          </a:p>
          <a:p>
            <a:r>
              <a:t>may not be much use when it comes to data you haven't</a:t>
            </a:r>
          </a:p>
          <a:p>
            <a:r>
              <a:t>seen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the 8irst thing we do in machine learning is withhold</a:t>
            </a:r>
          </a:p>
          <a:p>
            <a:r>
              <a:t>some data. We train our classi8iers on the training data and</a:t>
            </a:r>
          </a:p>
          <a:p>
            <a:r>
              <a:t>test on the test data. That way, if we get good performance,</a:t>
            </a:r>
          </a:p>
          <a:p>
            <a:r>
              <a:t>we know that we’re likely to get a good performance on</a:t>
            </a:r>
          </a:p>
          <a:p>
            <a:r>
              <a:t>future data as well, and we haven’t just memorised random</a:t>
            </a:r>
          </a:p>
          <a:p>
            <a:r>
              <a:t>8luctuations in the training data.</a:t>
            </a:r>
          </a:p>
          <a:p>
            <a:r>
              <a:t>How should we split our data? The most important factor is</a:t>
            </a:r>
          </a:p>
          <a:p>
            <a:r>
              <a:t>the size in instances of the test data. The bigger this</a:t>
            </a:r>
          </a:p>
          <a:p>
            <a:r>
              <a:t>number, the more precise our estimate of our model’s error.</a:t>
            </a:r>
          </a:p>
          <a:p>
            <a:r>
              <a:t>Ideally, we separate 10 000 test instances, and use</a:t>
            </a:r>
          </a:p>
          <a:p>
            <a:r>
              <a:t>whatever we have left over as training data. Unfortunately,</a:t>
            </a:r>
          </a:p>
          <a:p>
            <a:r>
              <a:t>this is not always realistic. We’ll look at this a little more</a:t>
            </a:r>
          </a:p>
          <a:p>
            <a:r>
              <a:t>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But even if we withhold some test data, we can still go</a:t>
            </a:r>
          </a:p>
          <a:p>
            <a:r>
              <a:t>wrong. We’ll use k nearest neighbours (kNN) as a running</a:t>
            </a:r>
          </a:p>
          <a:p>
            <a:r>
              <a:t>example. Remember, kNN assigns the class of the k nearest</a:t>
            </a:r>
          </a:p>
          <a:p>
            <a:r>
              <a:t>points.</a:t>
            </a:r>
          </a:p>
          <a:p>
            <a:r>
              <a:t>k is what is called a hyperparameter. We need to choose</a:t>
            </a:r>
          </a:p>
          <a:p>
            <a:r>
              <a:t>its value in some way before we run the algorithm. The</a:t>
            </a:r>
          </a:p>
          <a:p>
            <a:r>
              <a:t>algorithm doesn't specify how it should be chosen. One way</a:t>
            </a:r>
          </a:p>
          <a:p>
            <a:r>
              <a:t>of choosing k is to try a few values, and to see for which k</a:t>
            </a:r>
          </a:p>
          <a:p>
            <a:r>
              <a:t>we get the best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will use the data from the 8irst lecture as an example.</a:t>
            </a:r>
          </a:p>
          <a:p>
            <a:r>
              <a:t>We will take a small subsample of the dataset, so that the</a:t>
            </a:r>
          </a:p>
          <a:p>
            <a:r>
              <a:t>effects that we want to illustrate become exaggerated.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we’ve tested 12 different values of k on the same test</a:t>
            </a:r>
          </a:p>
          <a:p>
            <a:r>
              <a:t>data (using quite a small test set to illustrate the idea). We</a:t>
            </a:r>
          </a:p>
          <a:p>
            <a:r>
              <a:t>can see that for k=1, we get the best performance. We</a:t>
            </a:r>
          </a:p>
          <a:p>
            <a:r>
              <a:t>plotted the test data (with the training data in low opacity).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best run. Should we conclude that k=1 is</a:t>
            </a:r>
          </a:p>
          <a:p>
            <a:r>
              <a:t>de8initely a better setting than k=2 or k=3? Should we</a:t>
            </a:r>
          </a:p>
          <a:p>
            <a:r>
              <a:t>conclude that we can expect an error of 0.16 on any future</a:t>
            </a:r>
          </a:p>
          <a:p>
            <a:r>
              <a:t>data from the same source?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this case, we have some more data from the same source,</a:t>
            </a:r>
          </a:p>
          <a:p>
            <a:r>
              <a:t>so we can evaluate the classi8iers again on a fresh test set.</a:t>
            </a:r>
          </a:p>
          <a:p>
            <a:r>
              <a:t>This is a luxury we don't normally have (we normally use all</a:t>
            </a:r>
          </a:p>
          <a:p>
            <a:r>
              <a:t>the data we are given).</a:t>
            </a:r>
          </a:p>
          <a:p>
            <a:r>
              <a:t>What we see is that k=1 no longer gives us the best</a:t>
            </a:r>
          </a:p>
          <a:p>
            <a:r>
              <a:t>performance. In fact, we get a radically different best value</a:t>
            </a:r>
          </a:p>
          <a:p>
            <a:r>
              <a:t>of k, and k=1 now gives us the highest error in the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one of the the new best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same models, different test sets and the conclusions are</a:t>
            </a:r>
          </a:p>
          <a:p>
            <a:r>
              <a:t>entirely different. We were diligent in splitting our dataset</a:t>
            </a:r>
          </a:p>
          <a:p>
            <a:r>
              <a:t>and evaluating only on withheld data, and yet if we had</a:t>
            </a:r>
          </a:p>
          <a:p>
            <a:r>
              <a:t>done only one run on one dataset, as we normally would,</a:t>
            </a:r>
          </a:p>
          <a:p>
            <a:r>
              <a:t>we would have concluded that k=1 is the best setting and</a:t>
            </a:r>
          </a:p>
          <a:p>
            <a:r>
              <a:t>that an error of 0.16 can be expected with that value.</a:t>
            </a:r>
          </a:p>
          <a:p>
            <a:r>
              <a:t>If we look at the k=1 model from the second run (the one</a:t>
            </a:r>
          </a:p>
          <a:p>
            <a:r>
              <a:t>we chose), we will see that the performance on the new test</a:t>
            </a:r>
          </a:p>
          <a:p>
            <a:r>
              <a:t>set is terrible. If we select a model in this way and take it</a:t>
            </a:r>
          </a:p>
          <a:p>
            <a:r>
              <a:t>into production, we will 8ind that it performs terribly.</a:t>
            </a:r>
          </a:p>
          <a:p>
            <a:r>
              <a:t>So what's happening here?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essentially the over8itting problem again. Our</a:t>
            </a:r>
          </a:p>
          <a:p>
            <a:r>
              <a:t>method of choosing the hyperparameter k is just another</a:t>
            </a:r>
          </a:p>
          <a:p>
            <a:r>
              <a:t>learning algorithm. By testing so many values of k on such a</a:t>
            </a:r>
          </a:p>
          <a:p>
            <a:r>
              <a:t>small amount of test data, we are over8itting our choice of k</a:t>
            </a:r>
          </a:p>
          <a:p>
            <a:r>
              <a:t>on the test data. The model we choose 8its well because of</a:t>
            </a:r>
          </a:p>
          <a:p>
            <a:r>
              <a:t>random 8luctuations in the data. When we resample the</a:t>
            </a:r>
          </a:p>
          <a:p>
            <a:r>
              <a:t>data, these 8luctuations disappear and the performance</a:t>
            </a:r>
          </a:p>
          <a:p>
            <a:r>
              <a:t>drops.</a:t>
            </a:r>
          </a:p>
          <a:p>
            <a:r>
              <a:t>This is an instance of the multiple testing problem in</a:t>
            </a:r>
          </a:p>
          <a:p>
            <a:r>
              <a:t>statistics. We’re testing so many things, that the likelihood</a:t>
            </a:r>
          </a:p>
          <a:p>
            <a:r>
              <a:t>of a noticeable effect popping up by chance increases. We</a:t>
            </a:r>
          </a:p>
          <a:p>
            <a:r>
              <a:t>are in danger of ascribing meaning to random 8luctuations.</a:t>
            </a:r>
          </a:p>
          <a:p>
            <a:r>
              <a:t>Speci8ically, in our case, the k=1 classi8ier got lucky on a</a:t>
            </a:r>
          </a:p>
          <a:p>
            <a:r>
              <a:t>few examples, that just happened to fall on the right side of</a:t>
            </a:r>
          </a:p>
          <a:p>
            <a:r>
              <a:t>the decision boundary. If we draw some new data, the same</a:t>
            </a:r>
          </a:p>
          <a:p>
            <a:r>
              <a:t>classi8ier won't be lucky again. The more different values of</a:t>
            </a:r>
          </a:p>
          <a:p>
            <a:r>
              <a:t>k we try, the more we are in danger of this kind of random</a:t>
            </a:r>
          </a:p>
          <a:p>
            <a:r>
              <a:t>luck determining which hyperparameters come out 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There are many different approaches to machine learning</a:t>
            </a:r>
          </a:p>
          <a:p>
            <a:r>
              <a:t>experimentation, and not every paper you see will follow</a:t>
            </a:r>
          </a:p>
          <a:p>
            <a:r>
              <a:t>this approach, but this is the most common one.</a:t>
            </a:r>
          </a:p>
          <a:p>
            <a:r>
              <a:t>It’s important to mention in your paper that you followed</a:t>
            </a:r>
          </a:p>
          <a:p>
            <a:r>
              <a:t>this approach, since the reader can’t usually see it from the</a:t>
            </a:r>
          </a:p>
          <a:p>
            <a:r>
              <a:t>presented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Just to emphasize the important point: the more you use</a:t>
            </a:r>
          </a:p>
          <a:p>
            <a:r>
              <a:t>the test data, the less reliable your conclusions become.</a:t>
            </a:r>
          </a:p>
          <a:p>
            <a:r>
              <a:t>Figure out what the end of your project is, and do not touch</a:t>
            </a:r>
          </a:p>
          <a:p>
            <a:r>
              <a:t>the test data until the end.</a:t>
            </a:r>
          </a:p>
          <a:p>
            <a:r>
              <a:t>In really important and long-term projects, it’s not a bad</a:t>
            </a:r>
          </a:p>
          <a:p>
            <a:r>
              <a:t>idea to withhold multiple test sets. This allows you to still</a:t>
            </a:r>
          </a:p>
          <a:p>
            <a:r>
              <a:t>test your conclusions in case you’ve ended up using the</a:t>
            </a:r>
          </a:p>
          <a:p>
            <a:r>
              <a:t>original test data too often.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means that you need to test which model to use, which</a:t>
            </a:r>
          </a:p>
          <a:p>
            <a:r>
              <a:t>hyperparameters to give it, and how to extract your</a:t>
            </a:r>
          </a:p>
          <a:p>
            <a:r>
              <a:t>features only on the training data. In order not to evaluate</a:t>
            </a:r>
          </a:p>
          <a:p>
            <a:r>
              <a:t>on the training data for these evaluations, you usually split</a:t>
            </a:r>
          </a:p>
          <a:p>
            <a:r>
              <a:t>the training data again: into a (new) training set and a</a:t>
            </a:r>
          </a:p>
          <a:p>
            <a:r>
              <a:t>validation set.</a:t>
            </a:r>
          </a:p>
          <a:p>
            <a:r>
              <a:t>Ideally, your validation data is the same size as your test set,</a:t>
            </a:r>
          </a:p>
          <a:p>
            <a:r>
              <a:t>but you can make it a little smaller to get some more</a:t>
            </a:r>
          </a:p>
          <a:p>
            <a:r>
              <a:t>training data.</a:t>
            </a:r>
          </a:p>
          <a:p>
            <a:r>
              <a:t>This means that you need to carefully plan your research</a:t>
            </a:r>
          </a:p>
          <a:p>
            <a:r>
              <a:t>process. If you start out with just a single split and keep</a:t>
            </a:r>
          </a:p>
          <a:p>
            <a:r>
              <a:t>testing on the same test data, there’s no going back (you</a:t>
            </a:r>
          </a:p>
          <a:p>
            <a:r>
              <a:t>can’t unsee your test data). And usually, you don’t have the</a:t>
            </a:r>
          </a:p>
          <a:p>
            <a:r>
              <a:t>means to gather some new dataset.</a:t>
            </a:r>
          </a:p>
          <a:p>
            <a:r>
              <a:t>It’s usually 8ine in the 8inal run to append the validation</a:t>
            </a:r>
          </a:p>
          <a:p>
            <a:r>
              <a:t>data to your training data. This is not always the case</a:t>
            </a:r>
          </a:p>
          <a:p>
            <a:r>
              <a:t>however, so if you use a standard benchmark you should</a:t>
            </a:r>
          </a:p>
          <a:p>
            <a:r>
              <a:t>check if this is allowed, and if you use your own dataset, you</a:t>
            </a:r>
          </a:p>
          <a:p>
            <a:r>
              <a:t>should describe carefully whether you do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may seem like a simple principle to follow, but it goes</a:t>
            </a:r>
          </a:p>
          <a:p>
            <a:r>
              <a:t>wrong a lot. Not just in student papers, also in published</a:t>
            </a:r>
          </a:p>
          <a:p>
            <a:r>
              <a:t>research.</a:t>
            </a:r>
          </a:p>
          <a:p>
            <a:r>
              <a:t>Here’s what you might come across in a bad machine</a:t>
            </a:r>
          </a:p>
          <a:p>
            <a:r>
              <a:t>learning paper. In this (8ictional) example, the authors are</a:t>
            </a:r>
          </a:p>
          <a:p>
            <a:r>
              <a:t>introducing a new method (labeled ours) which has a</a:t>
            </a:r>
          </a:p>
          <a:p>
            <a:r>
              <a:t>hyperparameter k. They are claiming that their model beats</a:t>
            </a:r>
          </a:p>
          <a:p>
            <a:r>
              <a:t>every baseline, because their numbers are higher (for</a:t>
            </a:r>
          </a:p>
          <a:p>
            <a:r>
              <a:t>speci8ic hyperparameters).</a:t>
            </a:r>
          </a:p>
          <a:p>
            <a:r>
              <a:t>These numbers create three impressions that are not</a:t>
            </a:r>
          </a:p>
          <a:p>
            <a:r>
              <a:t>actually validated by this experiment:</a:t>
            </a:r>
          </a:p>
          <a:p>
            <a:r>
              <a:t>That the authors have a better model than the two other •</a:t>
            </a:r>
          </a:p>
          <a:p>
            <a:r>
              <a:t>methods shown.</a:t>
            </a:r>
          </a:p>
          <a:p>
            <a:r>
              <a:t>That if you want to run the model on dataset 1, you •</a:t>
            </a:r>
          </a:p>
          <a:p>
            <a:r>
              <a:t>should use k=3</a:t>
            </a:r>
          </a:p>
          <a:p>
            <a:r>
              <a:t>That if you have data like dataset 1, you can then expect •</a:t>
            </a:r>
          </a:p>
          <a:p>
            <a:r>
              <a:t>an error of 0.08.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what we should do instead. We should use the</a:t>
            </a:r>
          </a:p>
          <a:p>
            <a:r>
              <a:t>training data (with validation withheld) to select our</a:t>
            </a:r>
          </a:p>
          <a:p>
            <a:r>
              <a:t>hyperparameters, make a single choice for k for each</a:t>
            </a:r>
          </a:p>
          <a:p>
            <a:r>
              <a:t>different dataset, and then estimate the accuracy of only</a:t>
            </a:r>
          </a:p>
          <a:p>
            <a:r>
              <a:t>that model.</a:t>
            </a:r>
          </a:p>
          <a:p>
            <a:r>
              <a:t>Note that the numbers have changed, because in the</a:t>
            </a:r>
          </a:p>
          <a:p>
            <a:r>
              <a:t>previous example the authors gave themselves an</a:t>
            </a:r>
          </a:p>
          <a:p>
            <a:r>
              <a:t>advantage by multiple testing. With a proper validation</a:t>
            </a:r>
          </a:p>
          <a:p>
            <a:r>
              <a:t>split, that advantage disappears. These numbers are worse,</a:t>
            </a:r>
          </a:p>
          <a:p>
            <a:r>
              <a:t>but more accurate. (I made these numbers up, but this is</a:t>
            </a:r>
          </a:p>
          <a:p>
            <a:r>
              <a:t>the sort of thing you might see)</a:t>
            </a:r>
          </a:p>
          <a:p>
            <a:r>
              <a:t>Now, we can actually draw the conclusions that the table</a:t>
            </a:r>
          </a:p>
          <a:p>
            <a:r>
              <a:t>implies:</a:t>
            </a:r>
          </a:p>
          <a:p>
            <a:r>
              <a:t>On dataset 3, the new method is the best. •</a:t>
            </a:r>
          </a:p>
          <a:p>
            <a:r>
              <a:t>If we want to use the method on dataset 3 (or similar •</a:t>
            </a:r>
          </a:p>
          <a:p>
            <a:r>
              <a:t>data) we should use k=2</a:t>
            </a:r>
          </a:p>
          <a:p>
            <a:r>
              <a:t>If our data is similar to that of dataset 3, we could expect 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 you’ve split off a test and validation set, you may be</a:t>
            </a:r>
          </a:p>
          <a:p>
            <a:r>
              <a:t>left with very little training data. If this is the case, you can</a:t>
            </a:r>
          </a:p>
          <a:p>
            <a:r>
              <a:t>make better use of your training data by performing cross-</a:t>
            </a:r>
          </a:p>
          <a:p>
            <a:r>
              <a:t>validation. You split your data into 5 chunks (“folds”) and</a:t>
            </a:r>
          </a:p>
          <a:p>
            <a:r>
              <a:t>for each speci8ic choice of hyperparameters that you want</a:t>
            </a:r>
          </a:p>
          <a:p>
            <a:r>
              <a:t>to test, you do 8ive runs: each with one of the folds as</a:t>
            </a:r>
          </a:p>
          <a:p>
            <a:r>
              <a:t>validation data. You then average the scores of these runs.</a:t>
            </a:r>
          </a:p>
          <a:p>
            <a:r>
              <a:t>This can be costly (because you need to train 8ive times as</a:t>
            </a:r>
          </a:p>
          <a:p>
            <a:r>
              <a:t>many classi8iers), but you ensure that every instance has</a:t>
            </a:r>
          </a:p>
          <a:p>
            <a:r>
              <a:t>been used as a training example once.</a:t>
            </a:r>
          </a:p>
          <a:p>
            <a:r>
              <a:t>After selecting your hyperparameters with crossvalidation,</a:t>
            </a:r>
          </a:p>
          <a:p>
            <a:r>
              <a:t>you still test once on the test data.</a:t>
            </a:r>
          </a:p>
          <a:p>
            <a:r>
              <a:t>You may occasionally see papers that estimate error of their</a:t>
            </a:r>
          </a:p>
          <a:p>
            <a:r>
              <a:t>8inally chosen model by cross validation as well (splitting</a:t>
            </a:r>
          </a:p>
          <a:p>
            <a:r>
              <a:t>off multiple test sets), but this is a complicated business,</a:t>
            </a:r>
          </a:p>
          <a:p>
            <a:r>
              <a:t>and has fallen out of fashion. We won’t go into in this</a:t>
            </a:r>
          </a:p>
          <a:p>
            <a:r>
              <a:t>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you want to do cross-validation in such time sensitive</a:t>
            </a:r>
          </a:p>
          <a:p>
            <a:r>
              <a:t>data, you’ll have to slice the dataset like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you are going to use some kind of automated search,</a:t>
            </a:r>
          </a:p>
          <a:p>
            <a:r>
              <a:t>trying a bunch of different combinations of hyperparameter</a:t>
            </a:r>
          </a:p>
          <a:p>
            <a:r>
              <a:t>values, and then trying random samples in the hyper</a:t>
            </a:r>
          </a:p>
          <a:p>
            <a:r>
              <a:t>parameter space is often better than exhaustively checking</a:t>
            </a:r>
          </a:p>
          <a:p>
            <a:r>
              <a:t>a grid. This picture neatly illustrates why. If one parameter</a:t>
            </a:r>
          </a:p>
          <a:p>
            <a:r>
              <a:t>turns out not to be important, and another does, a grid</a:t>
            </a:r>
          </a:p>
          <a:p>
            <a:r>
              <a:t>search restricts us to only three samples over the important</a:t>
            </a:r>
          </a:p>
          <a:p>
            <a:r>
              <a:t>parameter, at the cost training nine different models.</a:t>
            </a:r>
          </a:p>
          <a:p>
            <a:r>
              <a:t>If we randomize the samples, we get nine different values of</a:t>
            </a:r>
          </a:p>
          <a:p>
            <a:r>
              <a:t>each parameter at the same cost.</a:t>
            </a:r>
          </a:p>
          <a:p>
            <a:r>
              <a:t>source: http://www.jmlr.org/papers/volume13/</a:t>
            </a:r>
          </a:p>
          <a:p>
            <a:r>
              <a:t>bergstra12a/bergstra12a.pdf (recommended reading)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|section|Statistical Testing|</a:t>
            </a:r>
          </a:p>
          <a:p>
            <a:r>
              <a:t>|video|https://surfdrive.surf.nl/8iles/index.php/s/</a:t>
            </a:r>
          </a:p>
          <a:p>
            <a:r>
              <a:t>AoCsdmxAmof17Y9/download|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noted in the 8irst lecture, statistics and ML are very</a:t>
            </a:r>
          </a:p>
          <a:p>
            <a:r>
              <a:t>closely related. It’s surprising then, that when we perform</a:t>
            </a:r>
          </a:p>
          <a:p>
            <a:r>
              <a:t>ML experiments, we use relatively little of the statistics</a:t>
            </a:r>
          </a:p>
          <a:p>
            <a:r>
              <a:t>toolkit. We don’t often do signi+icance tests, for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brings us to the main question that statistical analysis</a:t>
            </a:r>
          </a:p>
          <a:p>
            <a:r>
              <a:t>is meant to answer. If we do things properly, and we have a</a:t>
            </a:r>
          </a:p>
          <a:p>
            <a:r>
              <a:t>large dataset, our estimate will be close to the true value.</a:t>
            </a:r>
          </a:p>
          <a:p>
            <a:r>
              <a:t>Often, we can even prove how close it is likely to be. But</a:t>
            </a:r>
          </a:p>
          <a:p>
            <a:r>
              <a:t>there will be some difference, which will be entirely</a:t>
            </a:r>
          </a:p>
          <a:p>
            <a:r>
              <a:t>random.</a:t>
            </a:r>
          </a:p>
          <a:p>
            <a:r>
              <a:t>So, when we estimate the test accuracy of models A and B</a:t>
            </a:r>
          </a:p>
          <a:p>
            <a:r>
              <a:t>and we see that classi8ier A is better than classi8ier B</a:t>
            </a:r>
          </a:p>
          <a:p>
            <a:r>
              <a:t>because their estimated accuracies on the test set are .997</a:t>
            </a:r>
          </a:p>
          <a:p>
            <a:r>
              <a:t>and .998 respectively, can we really trust that statement?</a:t>
            </a:r>
          </a:p>
          <a:p>
            <a:r>
              <a:t>Maybe this random noise we get when we compute the</a:t>
            </a:r>
          </a:p>
          <a:p>
            <a:r>
              <a:t>estimate of the accuracy caused this difference. In other</a:t>
            </a:r>
          </a:p>
          <a:p>
            <a:r>
              <a:t>words, how sure can we be, from these values, that the</a:t>
            </a:r>
          </a:p>
          <a:p>
            <a:r>
              <a:t>true accuracy of A is also higher than the true accuracy</a:t>
            </a:r>
          </a:p>
          <a:p>
            <a:r>
              <a:t>of B?</a:t>
            </a:r>
          </a:p>
          <a:p>
            <a:r>
              <a:t>quote source: http://www.icmla-conference.org/icmla11/</a:t>
            </a:r>
          </a:p>
          <a:p>
            <a:r>
              <a:t>PE_Tutorial.pdf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way of doing this is to compute a con+idence interval.</a:t>
            </a:r>
          </a:p>
          <a:p>
            <a:r>
              <a:t>Here we see the process of computing a sample accuracy in</a:t>
            </a:r>
          </a:p>
          <a:p>
            <a:r>
              <a:t>a simple animation: we start with the true accuracy (for</a:t>
            </a:r>
          </a:p>
          <a:p>
            <a:r>
              <a:t>some given classi8ier, on the data distribution) which is</a:t>
            </a:r>
          </a:p>
          <a:p>
            <a:r>
              <a:t>somewhere between 0 and 1. We sample a bunch of points</a:t>
            </a:r>
          </a:p>
          <a:p>
            <a:r>
              <a:t>from the data distribution (our test set), and take the</a:t>
            </a:r>
          </a:p>
          <a:p>
            <a:r>
              <a:t>relative frequency of correctly classi8ied instances as the</a:t>
            </a:r>
          </a:p>
          <a:p>
            <a:r>
              <a:t>sample accuracy.</a:t>
            </a:r>
          </a:p>
          <a:p>
            <a:r>
              <a:t>Here, in the top half of the slide we model the process of</a:t>
            </a:r>
          </a:p>
          <a:p>
            <a:r>
              <a:t>taking one instance of our test set and seeing whether the</a:t>
            </a:r>
          </a:p>
          <a:p>
            <a:r>
              <a:t>classi8ier classi8ies it correctly as a single random draw</a:t>
            </a:r>
          </a:p>
          <a:p>
            <a:r>
              <a:t>resulting in the outcome correct or incorrect. We'll see in</a:t>
            </a:r>
          </a:p>
          <a:p>
            <a:r>
              <a:t>the next lecture that this type of distribution is called a</a:t>
            </a:r>
          </a:p>
          <a:p>
            <a:r>
              <a:t>Bernoulli distribution.</a:t>
            </a:r>
          </a:p>
          <a:p>
            <a:r>
              <a:t>The whole process of sampling the entire test set and</a:t>
            </a:r>
          </a:p>
          <a:p>
            <a:r>
              <a:t>computing the sample accuracy is also a random process. If</a:t>
            </a:r>
          </a:p>
          <a:p>
            <a:r>
              <a:t>we were to repeat it, sampling a new test set, we'd get a</a:t>
            </a:r>
          </a:p>
          <a:p>
            <a:r>
              <a:t>different value for the sample accuracy. To simplify this, we</a:t>
            </a:r>
          </a:p>
          <a:p>
            <a:r>
              <a:t>can look at the total number of instances in our sample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size of this con8idence interval depends on two factors:</a:t>
            </a:r>
          </a:p>
          <a:p>
            <a:r>
              <a:t>the true accuracy and the size of the test set. Here are some</a:t>
            </a:r>
          </a:p>
          <a:p>
            <a:r>
              <a:t>examples for different accuracies and test set sizes.</a:t>
            </a:r>
          </a:p>
          <a:p>
            <a:r>
              <a:t>This tells us that if the true success probability (accuracy)</a:t>
            </a:r>
          </a:p>
          <a:p>
            <a:r>
              <a:t>of a classi8ier is 0.5, and the test set contains 100 examples,</a:t>
            </a:r>
          </a:p>
          <a:p>
            <a:r>
              <a:t>our con8idence interval has size 0.2. This means that even if</a:t>
            </a:r>
          </a:p>
          <a:p>
            <a:r>
              <a:t>we report 0.5 as the accuracy, we may well be wrong by as</a:t>
            </a:r>
          </a:p>
          <a:p>
            <a:r>
              <a:t>much as 0.1 either side.</a:t>
            </a:r>
          </a:p>
          <a:p>
            <a:r>
              <a:t>Even if these con8idence intervals are usually not reported,</a:t>
            </a:r>
          </a:p>
          <a:p>
            <a:r>
              <a:t>you can easily work them out (or look them up) yourself.</a:t>
            </a:r>
          </a:p>
          <a:p>
            <a:r>
              <a:t>So, if you see someone say that classi8ier A is better than</a:t>
            </a:r>
          </a:p>
          <a:p>
            <a:r>
              <a:t>classi8ier B because A scored 60% accuracy and and B score</a:t>
            </a:r>
          </a:p>
          <a:p>
            <a:r>
              <a:t>59%, on a test set of 100 instances, you have reason to be</a:t>
            </a:r>
          </a:p>
          <a:p>
            <a:r>
              <a:t>sceptical.</a:t>
            </a:r>
          </a:p>
          <a:p>
            <a:r>
              <a:t>In short, this is why large test sets are important. Without</a:t>
            </a:r>
          </a:p>
          <a:p>
            <a:r>
              <a:t>at least 1000 instances in your test data, you cannot reliably</a:t>
            </a:r>
          </a:p>
          <a:p>
            <a:r>
              <a:t>tell the difference between two classi8iers.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you don’t have the luxury of a large test set, you may need</a:t>
            </a:r>
          </a:p>
          <a:p>
            <a:r>
              <a:t>to do some statistical testing to see whether the effect</a:t>
            </a:r>
          </a:p>
          <a:p>
            <a:r>
              <a:t>you’ve observed (classi8ier A is better than classi8ier B) is</a:t>
            </a:r>
          </a:p>
          <a:p>
            <a:r>
              <a:t>genuine or down to random chance. It’s generally accepted</a:t>
            </a:r>
          </a:p>
          <a:p>
            <a:r>
              <a:t>that Alpaydin’s 5x2 cross validation is the best test for this</a:t>
            </a:r>
          </a:p>
          <a:p>
            <a:r>
              <a:t>purpose. It’s out of scope for this course, but follow the link</a:t>
            </a:r>
          </a:p>
          <a:p>
            <a:r>
              <a:t>if you run into this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good concepts to help us think about what we are</a:t>
            </a:r>
          </a:p>
          <a:p>
            <a:r>
              <a:t>measuring when we compute metrics on our test data. But</a:t>
            </a:r>
          </a:p>
          <a:p>
            <a:r>
              <a:t>it's important to realize that these are unobservable values.</a:t>
            </a:r>
          </a:p>
          <a:p>
            <a:r>
              <a:t>We can only work out the true con8idence interval for the</a:t>
            </a:r>
          </a:p>
          <a:p>
            <a:r>
              <a:t>sample accuracy if we know the true accuracy. This puts the</a:t>
            </a:r>
          </a:p>
          <a:p>
            <a:r>
              <a:t>con8idence intervals we've talked about so far in the</a:t>
            </a:r>
          </a:p>
          <a:p>
            <a:r>
              <a:t>unobservable column.</a:t>
            </a:r>
          </a:p>
          <a:p>
            <a:r>
              <a:t>So what about all those con8idence intervals you see</a:t>
            </a:r>
          </a:p>
          <a:p>
            <a:r>
              <a:t>reported in the literature? These are estimated con8idence</a:t>
            </a:r>
          </a:p>
          <a:p>
            <a:r>
              <a:t>intervals. They are usually computed in the same way as the</a:t>
            </a:r>
          </a:p>
          <a:p>
            <a:r>
              <a:t>true con8idence interval, but wherever we need the true</a:t>
            </a:r>
          </a:p>
          <a:p>
            <a:r>
              <a:t>value of some metric, we replace it by its estimate. This</a:t>
            </a:r>
          </a:p>
          <a:p>
            <a:r>
              <a:t>gives us a con8idence interval that isn't as correct as the</a:t>
            </a:r>
          </a:p>
          <a:p>
            <a:r>
              <a:t>true con8idence interval, and one that would change slightly</a:t>
            </a:r>
          </a:p>
          <a:p>
            <a:r>
              <a:t>if we were to resample the test set, but we can at least</a:t>
            </a:r>
          </a:p>
          <a:p>
            <a:r>
              <a:t>compute it, and it generally behaves in roughly the same</a:t>
            </a:r>
          </a:p>
          <a:p>
            <a:r>
              <a:t>way as the true con8idence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When we use the phrase con&gt;idence interval to refer to this</a:t>
            </a:r>
          </a:p>
          <a:p>
            <a:r>
              <a:t>kind of estimate, it's important to speak about it correctly.</a:t>
            </a:r>
          </a:p>
          <a:p>
            <a:r>
              <a:t>There is no probability associated with the true mean at all.</a:t>
            </a:r>
          </a:p>
          <a:p>
            <a:r>
              <a:t>It is simply an objective, determined value (which we don’t</a:t>
            </a:r>
          </a:p>
          <a:p>
            <a:r>
              <a:t>know). The probability comes from sampling, and from</a:t>
            </a:r>
          </a:p>
          <a:p>
            <a:r>
              <a:t>computing the interval from a sample.</a:t>
            </a:r>
          </a:p>
          <a:p>
            <a:r>
              <a:t>So instead of having a 8ixed interval, with the true mean</a:t>
            </a:r>
          </a:p>
          <a:p>
            <a:r>
              <a:t>jumping around probabilistically, we have a 8ixed true mean</a:t>
            </a:r>
          </a:p>
          <a:p>
            <a:r>
              <a:t>around which we get an interval that jumps around if we</a:t>
            </a:r>
          </a:p>
          <a:p>
            <a:r>
              <a:t>resample the data. The probability of it jumping so much</a:t>
            </a:r>
          </a:p>
          <a:p>
            <a:r>
              <a:t>that it no longer contains the true mean is 5%.</a:t>
            </a:r>
          </a:p>
          <a:p>
            <a:r>
              <a:t>This is typical frequentist agonizing over what the phrase</a:t>
            </a:r>
          </a:p>
          <a:p>
            <a:r>
              <a:t>“probability” means. Con&gt;idence intervals are a uniquely</a:t>
            </a:r>
          </a:p>
          <a:p>
            <a:r>
              <a:t>frequentist tool. If the distinction on the slide doesn’t make</a:t>
            </a:r>
          </a:p>
          <a:p>
            <a:r>
              <a:t>sense to you, look back to the probability video in the</a:t>
            </a:r>
          </a:p>
          <a:p>
            <a:r>
              <a:t>preliminaries.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very relevant question is how do you interpret error</a:t>
            </a:r>
          </a:p>
          <a:p>
            <a:r>
              <a:t>bars?</a:t>
            </a:r>
          </a:p>
          <a:p>
            <a:r>
              <a:t>If you see a picture like this, showing the mean runtime of</a:t>
            </a:r>
          </a:p>
          <a:p>
            <a:r>
              <a:t>an experiment, measured for three models, and averaged</a:t>
            </a:r>
          </a:p>
          <a:p>
            <a:r>
              <a:t>over a number of runs, what would you imagine the error</a:t>
            </a:r>
          </a:p>
          <a:p>
            <a:r>
              <a:t>bars denote? We've seen standard deviations, standard</a:t>
            </a:r>
          </a:p>
          <a:p>
            <a:r>
              <a:t>errors and con8idence intervals. What do error bars</a:t>
            </a:r>
          </a:p>
          <a:p>
            <a:r>
              <a:t>represent?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truth is that there is no standard de8inition for what</a:t>
            </a:r>
          </a:p>
          <a:p>
            <a:r>
              <a:t>error bars denote, and if the authors didn’t specify what</a:t>
            </a:r>
          </a:p>
          <a:p>
            <a:r>
              <a:t>their error bars indicate, the authors messed up.</a:t>
            </a:r>
          </a:p>
          <a:p>
            <a:r>
              <a:t>These are the three most common options. If you didn't</a:t>
            </a:r>
          </a:p>
          <a:p>
            <a:r>
              <a:t>quite get all the details of the previous slides, this slide</a:t>
            </a:r>
          </a:p>
          <a:p>
            <a:r>
              <a:t>illustrates the most important distinction: If we sample</a:t>
            </a:r>
          </a:p>
          <a:p>
            <a:r>
              <a:t>more data, the estimate of our standard deviation</a:t>
            </a:r>
          </a:p>
          <a:p>
            <a:r>
              <a:t>becomes more accurate. It’s an estimate of a property of our</a:t>
            </a:r>
          </a:p>
          <a:p>
            <a:r>
              <a:t>data distribution. The error bars representing standard</a:t>
            </a:r>
          </a:p>
          <a:p>
            <a:r>
              <a:t>deviation don't get smaller, they just get closer to their</a:t>
            </a:r>
          </a:p>
          <a:p>
            <a:r>
              <a:t>correct size (which may be very wide around the head of</a:t>
            </a:r>
          </a:p>
          <a:p>
            <a:r>
              <a:t>the bar).</a:t>
            </a:r>
          </a:p>
          <a:p>
            <a:r>
              <a:t>The standard error and the con8idence interval are</a:t>
            </a:r>
          </a:p>
          <a:p>
            <a:r>
              <a:t>indicators of how con8ident we are about our estimate of</a:t>
            </a:r>
          </a:p>
          <a:p>
            <a:r>
              <a:t>the mean of our data. For these, the more data we have, the</a:t>
            </a:r>
          </a:p>
          <a:p>
            <a:r>
              <a:t>smaller they get. As we saw earlier, under the right</a:t>
            </a:r>
          </a:p>
          <a:p>
            <a:r>
              <a:t>assumptions, the 95% con8idence interval is roughly twice</a:t>
            </a:r>
          </a:p>
          <a:p>
            <a:r>
              <a:t>the standard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Under certain assumptions, the standard error of two</a:t>
            </a:r>
          </a:p>
          <a:p>
            <a:r>
              <a:t>estimates can tell you whether a Student's t test allows you</a:t>
            </a:r>
          </a:p>
          <a:p>
            <a:r>
              <a:t>to reject the null hypothesis that the two distributions are</a:t>
            </a:r>
          </a:p>
          <a:p>
            <a:r>
              <a:t>the same. This would allow you to say, for instance, that</a:t>
            </a:r>
          </a:p>
          <a:p>
            <a:r>
              <a:t>there is a statistically signi8icant difference between the</a:t>
            </a:r>
          </a:p>
          <a:p>
            <a:r>
              <a:t>accuracy estimates on two classi8iers. As we said before,</a:t>
            </a:r>
          </a:p>
          <a:p>
            <a:r>
              <a:t>such testing is not very popular in machine learning, so we</a:t>
            </a:r>
          </a:p>
          <a:p>
            <a:r>
              <a:t>won't go into it in detail, but this can offer an additional</a:t>
            </a:r>
          </a:p>
          <a:p>
            <a:r>
              <a:t>perspective on error bars.</a:t>
            </a:r>
          </a:p>
          <a:p>
            <a:r>
              <a:t>We won’t discuss the Student’s t test in detail, but it’s a</a:t>
            </a:r>
          </a:p>
          <a:p>
            <a:r>
              <a:t>common test for comparing two normally distributed values.</a:t>
            </a:r>
          </a:p>
          <a:p>
            <a:r>
              <a:t>Say you plot the mean squared error for regression models</a:t>
            </a:r>
          </a:p>
          <a:p>
            <a:r>
              <a:t>A and B, together with some error bars. Does the the fact</a:t>
            </a:r>
          </a:p>
          <a:p>
            <a:r>
              <a:t>that the error bars overlap or not tell you whether the</a:t>
            </a:r>
          </a:p>
          <a:p>
            <a:r>
              <a:t>measured difference between the two models is statistically</a:t>
            </a:r>
          </a:p>
          <a:p>
            <a:r>
              <a:t>signi8icant? That is, does it indicate whether we can</a:t>
            </a:r>
          </a:p>
          <a:p>
            <a:r>
              <a:t>conclude that A is a better model than B?</a:t>
            </a:r>
          </a:p>
          <a:p>
            <a:r>
              <a:t>Yes, but we have to be careful. For standard error bars, the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of this was about showing con+idence: showing how</a:t>
            </a:r>
          </a:p>
          <a:p>
            <a:r>
              <a:t>reliable our numbers are as estimates of the true values that</a:t>
            </a:r>
          </a:p>
          <a:p>
            <a:r>
              <a:t>we can’t observe.</a:t>
            </a:r>
          </a:p>
          <a:p>
            <a:r>
              <a:t>Showing spread is more about providing insight to the</a:t>
            </a:r>
          </a:p>
          <a:p>
            <a:r>
              <a:t>reader. Say I train a classi8ier by gradient descent. If I have a</a:t>
            </a:r>
          </a:p>
          <a:p>
            <a:r>
              <a:t>big test set, I can very con&gt;idently measure and report the</a:t>
            </a:r>
          </a:p>
          <a:p>
            <a:r>
              <a:t>accuracy of this particular classi8ier. However, gradient</a:t>
            </a:r>
          </a:p>
          <a:p>
            <a:r>
              <a:t>descent uses random initialization. If I repeat the training</a:t>
            </a:r>
          </a:p>
          <a:p>
            <a:r>
              <a:t>process, I may end up in a different local minimum, and get</a:t>
            </a:r>
          </a:p>
          <a:p>
            <a:r>
              <a:t>a different classi8ication performance. It’s likely that I also</a:t>
            </a:r>
          </a:p>
          <a:p>
            <a:r>
              <a:t>want to communicate how much the measured</a:t>
            </a:r>
          </a:p>
          <a:p>
            <a:r>
              <a:t>performance is dependent on this randomness. In short,</a:t>
            </a:r>
          </a:p>
          <a:p>
            <a:r>
              <a:t>how lucky did we get in our choice of classi8ier?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we have a large enough test set, we know that the</a:t>
            </a:r>
          </a:p>
          <a:p>
            <a:r>
              <a:t>con8idence interval for our measurement of the</a:t>
            </a:r>
          </a:p>
          <a:p>
            <a:r>
              <a:t>performance is small enough. But we also want to know</a:t>
            </a:r>
          </a:p>
          <a:p>
            <a:r>
              <a:t>how much the randomness in our process affects the result.</a:t>
            </a:r>
          </a:p>
          <a:p>
            <a:r>
              <a:t>What is the probability that repeating the process (on the</a:t>
            </a:r>
          </a:p>
          <a:p>
            <a:r>
              <a:t>same data, or on new data) produces wildly different</a:t>
            </a:r>
          </a:p>
          <a:p>
            <a:r>
              <a:t>results?</a:t>
            </a:r>
          </a:p>
          <a:p>
            <a:r>
              <a:t>For factors like the initialisation of gradient descent, this is</a:t>
            </a:r>
          </a:p>
          <a:p>
            <a:r>
              <a:t>easy to test: you just rerun a few times on the same data.</a:t>
            </a:r>
          </a:p>
          <a:p>
            <a:r>
              <a:t>But how do you test how robust the results are against</a:t>
            </a:r>
          </a:p>
          <a:p>
            <a:r>
              <a:t>sampling a new dataset?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this video we'll look at how to evaluate regression and</a:t>
            </a:r>
          </a:p>
          <a:p>
            <a:r>
              <a:t>classi8ication experiments. There will be a few pointers on</a:t>
            </a:r>
          </a:p>
          <a:p>
            <a:r>
              <a:t>regression, but the main topic will be classi8ication</a:t>
            </a:r>
          </a:p>
          <a:p>
            <a:r>
              <a:t>experiments.</a:t>
            </a:r>
          </a:p>
          <a:p>
            <a:r>
              <a:t>|section|Metrics|</a:t>
            </a:r>
          </a:p>
          <a:p>
            <a:r>
              <a:t>|video|https://surfdrive.surf.nl/8iles/index.php/s/</a:t>
            </a:r>
          </a:p>
          <a:p>
            <a:r>
              <a:t>TrR5TrtLDZLBs08/download|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thing to pay attention to is that if you use MSE loss, you</a:t>
            </a:r>
          </a:p>
          <a:p>
            <a:r>
              <a:t>may want to report the square root (the RMSE). The RMSE</a:t>
            </a:r>
          </a:p>
          <a:p>
            <a:r>
              <a:t>is minimised at the same places as the MSE, but it’s easier</a:t>
            </a:r>
          </a:p>
          <a:p>
            <a:r>
              <a:t>to interpret, because it has the same units as the original</a:t>
            </a:r>
          </a:p>
          <a:p>
            <a:r>
              <a:t>output value.</a:t>
            </a:r>
          </a:p>
          <a:p>
            <a:r>
              <a:t>For instance, if your outputs are in meters, then your MSE is</a:t>
            </a:r>
          </a:p>
          <a:p>
            <a:r>
              <a:t>measured in square meters, but your RMSE is also</a:t>
            </a:r>
          </a:p>
          <a:p>
            <a:r>
              <a:t>measured in 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Bias and variance are good concepts to keep in mind when</a:t>
            </a:r>
          </a:p>
          <a:p>
            <a:r>
              <a:t>thinking about regression performance. The bias is the</a:t>
            </a:r>
          </a:p>
          <a:p>
            <a:r>
              <a:t>difference between your optimal MSE and the true MSE.</a:t>
            </a:r>
          </a:p>
          <a:p>
            <a:r>
              <a:t>This is the part of your error that is down to fundamental</a:t>
            </a:r>
          </a:p>
          <a:p>
            <a:r>
              <a:t>problems with your model: for instance, you are 8itting a</a:t>
            </a:r>
          </a:p>
          <a:p>
            <a:r>
              <a:t>line trough data with a parabolic pattern. This part stays the</a:t>
            </a:r>
          </a:p>
          <a:p>
            <a:r>
              <a:t>same if you resample your data.</a:t>
            </a:r>
          </a:p>
          <a:p>
            <a:r>
              <a:t>The variance is the difference between the true MSE and</a:t>
            </a:r>
          </a:p>
          <a:p>
            <a:r>
              <a:t>the measured MSE. This is the part of your error that is</a:t>
            </a:r>
          </a:p>
          <a:p>
            <a:r>
              <a:t>down to aspects of the random sampling of the data. This</a:t>
            </a:r>
          </a:p>
          <a:p>
            <a:r>
              <a:t>part changes when you resample your data.</a:t>
            </a:r>
          </a:p>
          <a:p>
            <a:r>
              <a:t>Normally, we train a regression model once, and get one</a:t>
            </a:r>
          </a:p>
          <a:p>
            <a:r>
              <a:t>MSE value. This gives us one dot on the axis above. Without</a:t>
            </a:r>
          </a:p>
          <a:p>
            <a:r>
              <a:t>repeating the process on freshly sampled data, we can't tell</a:t>
            </a:r>
          </a:p>
          <a:p>
            <a:r>
              <a:t>how our error falls apart in bias and variance. However, we</a:t>
            </a:r>
          </a:p>
          <a:p>
            <a:r>
              <a:t>can usually get some contextual clues, or investigate using</a:t>
            </a:r>
          </a:p>
          <a:p>
            <a:r>
              <a:t>resampling.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a metaphor that is often used to describe bias and</a:t>
            </a:r>
          </a:p>
          <a:p>
            <a:r>
              <a:t>variance: a dartboard.</a:t>
            </a:r>
          </a:p>
          <a:p>
            <a:r>
              <a:t>Remember, this is a metaphor for our RMSE error estimate.</a:t>
            </a:r>
          </a:p>
          <a:p>
            <a:r>
              <a:t>That means that normally, we have only one dart and we</a:t>
            </a:r>
          </a:p>
          <a:p>
            <a:r>
              <a:t>can’t tell whether our error is due to high bias or high</a:t>
            </a:r>
          </a:p>
          <a:p>
            <a:r>
              <a:t>variance.</a:t>
            </a:r>
          </a:p>
          <a:p>
            <a:r>
              <a:t>image source: http://scott.fortmann-roe.com/docs/</a:t>
            </a:r>
          </a:p>
          <a:p>
            <a:r>
              <a:t>BiasVariance.html (recommended reading)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 bias tends to happen when the model is too simple to</a:t>
            </a:r>
          </a:p>
          <a:p>
            <a:r>
              <a:t>follow the true "shape" of the data. Linear models in low-</a:t>
            </a:r>
          </a:p>
          <a:p>
            <a:r>
              <a:t>dimensional spaces often have this problem. Here, we see</a:t>
            </a:r>
          </a:p>
          <a:p>
            <a:r>
              <a:t>that the data has a slight curve, which is clearly part of its</a:t>
            </a:r>
          </a:p>
          <a:p>
            <a:r>
              <a:t>natural pattern, and something the model should learn.</a:t>
            </a:r>
          </a:p>
          <a:p>
            <a:r>
              <a:t>Since it's restricted to a line, however, it cannot make this</a:t>
            </a:r>
          </a:p>
          <a:p>
            <a:r>
              <a:t>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 variance happens when the model has the capacity to</a:t>
            </a:r>
          </a:p>
          <a:p>
            <a:r>
              <a:t>follow the shape of the data perfectly, but it does it so</a:t>
            </a:r>
          </a:p>
          <a:p>
            <a:r>
              <a:t>perfectly that it tends to get thrown off by small</a:t>
            </a:r>
          </a:p>
          <a:p>
            <a:r>
              <a:t>8luctuations.</a:t>
            </a:r>
          </a:p>
          <a:p>
            <a:r>
              <a:t>Here, the model doesn't just follow the natural curve of the</a:t>
            </a:r>
          </a:p>
          <a:p>
            <a:r>
              <a:t>data, it goes in and out of every random 8luctuation to</a:t>
            </a:r>
          </a:p>
          <a:p>
            <a:r>
              <a:t>model every single point perfectly.</a:t>
            </a:r>
          </a:p>
          <a:p>
            <a:r>
              <a:t>Even though this model (a regression tree) 8its the data</a:t>
            </a:r>
          </a:p>
          <a:p>
            <a:r>
              <a:t>perfectly, if we resample the data, we are stuck with all</a:t>
            </a:r>
          </a:p>
          <a:p>
            <a:r>
              <a:t>sorts of weird peaks that won’t 8it the new data. This is</a:t>
            </a:r>
          </a:p>
          <a:p>
            <a:r>
              <a:t>where the variance comes from. The true error varies</a:t>
            </a:r>
          </a:p>
          <a:p>
            <a:r>
              <a:t>wildly, because the model captures every single random</a:t>
            </a:r>
          </a:p>
          <a:p>
            <a:r>
              <a:t>8luctuation in the training data. These 8luctuation will cause</a:t>
            </a:r>
          </a:p>
          <a:p>
            <a:r>
              <a:t>a large error in the test data, which we put down to</a:t>
            </a:r>
          </a:p>
          <a:p>
            <a:r>
              <a:t>variance rather than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will see techniques for all of these in the coming weeks.</a:t>
            </a:r>
          </a:p>
          <a:p>
            <a:r>
              <a:t>Note that often, it really is a tradeoff: reducing the bias,</a:t>
            </a:r>
          </a:p>
          <a:p>
            <a:r>
              <a:t>increases the variance and vice versa.</a:t>
            </a:r>
          </a:p>
          <a:p>
            <a:r>
              <a:t>For some algorithms, there is a single parameter that allows</a:t>
            </a:r>
          </a:p>
          <a:p>
            <a:r>
              <a:t>us to make the bias/variance tradeoff. kNN is one example:</a:t>
            </a:r>
          </a:p>
          <a:p>
            <a:r>
              <a:t>low k values give us high variance, high k values give us</a:t>
            </a:r>
          </a:p>
          <a:p>
            <a:r>
              <a:t>high bias.</a:t>
            </a:r>
          </a:p>
          <a:p>
            <a:r>
              <a:t>In the strictest de&gt;inition of bias and variance, these concepts</a:t>
            </a:r>
          </a:p>
          <a:p>
            <a:r>
              <a:t>only apply to the mean squared error, where they explictly</a:t>
            </a:r>
          </a:p>
          <a:p>
            <a:r>
              <a:t>appear as terms if you rewrite the error in a certain way.</a:t>
            </a:r>
          </a:p>
          <a:p>
            <a:r>
              <a:t>However, in general machine learning parlance, the terms</a:t>
            </a:r>
          </a:p>
          <a:p>
            <a:r>
              <a:t>are applied to any regression error, and they are roughly</a:t>
            </a:r>
          </a:p>
          <a:p>
            <a:r>
              <a:t>synonymous with under- and over&gt;itting.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now move to classi8ication. We'll start by explaining</a:t>
            </a:r>
          </a:p>
          <a:p>
            <a:r>
              <a:t>these four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Here's one example domain: breast cancer screening</a:t>
            </a:r>
          </a:p>
          <a:p>
            <a:r>
              <a:t>A recurring discussion in the Dutch media is the question</a:t>
            </a:r>
          </a:p>
          <a:p>
            <a:r>
              <a:t>whether all women over 50 be screened for breast cancer.</a:t>
            </a:r>
          </a:p>
          <a:p>
            <a:r>
              <a:t>This is an analogy for classi8ication: the instances are</a:t>
            </a:r>
          </a:p>
          <a:p>
            <a:r>
              <a:t>people and the target label is “has cancer” or “has no</a:t>
            </a:r>
          </a:p>
          <a:p>
            <a:r>
              <a:t>cancer.” You may think that this is a no-brainer: the more</a:t>
            </a:r>
          </a:p>
          <a:p>
            <a:r>
              <a:t>tests we do, the more lives saved. But we need to take into</a:t>
            </a:r>
          </a:p>
          <a:p>
            <a:r>
              <a:t>account how good the classi8ier is, and how bad the</a:t>
            </a:r>
          </a:p>
          <a:p>
            <a:r>
              <a:t>consequences are of it making a mistake.</a:t>
            </a:r>
          </a:p>
          <a:p>
            <a:r>
              <a:t>The 8irst problem this example illustrates is class</a:t>
            </a:r>
          </a:p>
          <a:p>
            <a:r>
              <a:t>imbalance. Unlike the classi8iers we've seen so far, this</a:t>
            </a:r>
          </a:p>
          <a:p>
            <a:r>
              <a:t>example has, thankfully, far more negatives than positives.</a:t>
            </a:r>
          </a:p>
          <a:p>
            <a:r>
              <a:t>In a given year the people in this age group for whom breast</a:t>
            </a:r>
          </a:p>
          <a:p>
            <a:r>
              <a:t>cancer will manifest is about half a percent. This includes</a:t>
            </a:r>
          </a:p>
          <a:p>
            <a:r>
              <a:t>men, for whom breast cancer is rare (but not impossible),</a:t>
            </a:r>
          </a:p>
          <a:p>
            <a:r>
              <a:t>so when we talk about screening for women over 50, we</a:t>
            </a:r>
          </a:p>
          <a:p>
            <a:r>
              <a:t>should probably assume about 1% positives.</a:t>
            </a:r>
          </a:p>
          <a:p>
            <a:r>
              <a:t>This means that we need to be very careful when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the next time you see a headline like this, your 8irst</a:t>
            </a:r>
          </a:p>
          <a:p>
            <a:r>
              <a:t>question should be: what was the class distribution in the</a:t>
            </a:r>
          </a:p>
          <a:p>
            <a:r>
              <a:t>training data? If 90% of the cases in the training data are</a:t>
            </a:r>
          </a:p>
          <a:p>
            <a:r>
              <a:t>acquittals, this is not a very impressive result.</a:t>
            </a:r>
          </a:p>
          <a:p>
            <a:r>
              <a:t>As it happens, in this case the classes were balanced 50/50,</a:t>
            </a:r>
          </a:p>
          <a:p>
            <a:r>
              <a:t>so 80 percent is at least notable. However, now we have a</a:t>
            </a:r>
          </a:p>
          <a:p>
            <a:r>
              <a:t>classi8ier trained on arti8icially balanced data. In a</a:t>
            </a:r>
          </a:p>
          <a:p>
            <a:r>
              <a:t>production environment (whatever that means here), the</a:t>
            </a:r>
          </a:p>
          <a:p>
            <a:r>
              <a:t>classes are likely not balanced 50/50, so this speci8ic</a:t>
            </a:r>
          </a:p>
          <a:p>
            <a:r>
              <a:t>classi8ier will be of no further use.</a:t>
            </a:r>
          </a:p>
          <a:p>
            <a:r>
              <a:t>Here is the original paper: https://peerj.com/articles/</a:t>
            </a:r>
          </a:p>
          <a:p>
            <a:r>
              <a:t>cs-93/#fn-6 There are some issues with this research</a:t>
            </a:r>
          </a:p>
          <a:p>
            <a:r>
              <a:t>beyond the class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Another reason to mistrust accuracy is cost imbalance. In</a:t>
            </a:r>
          </a:p>
          <a:p>
            <a:r>
              <a:t>breast cancer screening are two types of misclassi8ication:</a:t>
            </a:r>
          </a:p>
          <a:p>
            <a:r>
              <a:t>diagnosing a healthy person with cancer and diagnosing a</a:t>
            </a:r>
          </a:p>
          <a:p>
            <a:r>
              <a:t>person with cancer as healthy. Both come with a cost but</a:t>
            </a:r>
          </a:p>
          <a:p>
            <a:r>
              <a:t>not the same cost.</a:t>
            </a:r>
          </a:p>
          <a:p>
            <a:r>
              <a:t>We can either miss a cancer diagnosis (a false negative),</a:t>
            </a:r>
          </a:p>
          <a:p>
            <a:r>
              <a:t>which means the cancer will be caught much later and be</a:t>
            </a:r>
          </a:p>
          <a:p>
            <a:r>
              <a:t>much harder to treat. However, diagnosing a healthy person</a:t>
            </a:r>
          </a:p>
          <a:p>
            <a:r>
              <a:t>with cancer (a false positive) means they will be sent for</a:t>
            </a:r>
          </a:p>
          <a:p>
            <a:r>
              <a:t>unnecessary invasive testing and suffer great psychological</a:t>
            </a:r>
          </a:p>
          <a:p>
            <a:r>
              <a:t>stress. The cost of this is much less than the cost of missing</a:t>
            </a:r>
          </a:p>
          <a:p>
            <a:r>
              <a:t>a positive, but it isn't zero.</a:t>
            </a:r>
          </a:p>
          <a:p>
            <a:r>
              <a:t>This is what the discussion in the media centers on. If the</a:t>
            </a:r>
          </a:p>
          <a:p>
            <a:r>
              <a:t>screening causes many more false negatives than false</a:t>
            </a:r>
          </a:p>
          <a:p>
            <a:r>
              <a:t>positives, it may mean that the cost to human lives balances</a:t>
            </a:r>
          </a:p>
          <a:p>
            <a:r>
              <a:t>out, and the net effect of the screening isn't to save more</a:t>
            </a:r>
          </a:p>
          <a:p>
            <a:r>
              <a:t>lives.</a:t>
            </a:r>
          </a:p>
          <a:p>
            <a:r>
              <a:t>There is of course, also the 8inancial cost of screening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some examples of problems with cost imbalance</a:t>
            </a:r>
          </a:p>
          <a:p>
            <a:r>
              <a:t>In all these cases, one misclassi8ication one way costs much</a:t>
            </a:r>
          </a:p>
          <a:p>
            <a:r>
              <a:t>more than a misclassi8ication the other way. But both cost</a:t>
            </a:r>
          </a:p>
          <a:p>
            <a:r>
              <a:t>something. The time of an expert reviewer is not free, even</a:t>
            </a:r>
          </a:p>
          <a:p>
            <a:r>
              <a:t>though 8ive minutes of his time may be much cheaper than</a:t>
            </a:r>
          </a:p>
          <a:p>
            <a:r>
              <a:t>the cost of letting a single fraud go unchecked. In such a</a:t>
            </a:r>
          </a:p>
          <a:p>
            <a:r>
              <a:t>case, you may decide that missing one fraud is as costly as</a:t>
            </a:r>
          </a:p>
          <a:p>
            <a:r>
              <a:t>having an expert review 500 harmless transactions. This is</a:t>
            </a:r>
          </a:p>
          <a:p>
            <a:r>
              <a:t>then the general balance you are hoping for: one false</a:t>
            </a:r>
          </a:p>
          <a:p>
            <a:r>
              <a:t>negative for every 500 false positives.</a:t>
            </a:r>
          </a:p>
          <a:p>
            <a:r>
              <a:t>If you’re lucky, both types of misclassi8ication have the same</a:t>
            </a:r>
          </a:p>
          <a:p>
            <a:r>
              <a:t>unit, and you can turn your error (an estimate of the</a:t>
            </a:r>
          </a:p>
          <a:p>
            <a:r>
              <a:t>number of misclassi8ications) into a domain speci8ic</a:t>
            </a:r>
          </a:p>
          <a:p>
            <a:r>
              <a:t>evaluation function (like estimated dollars lost, or time</a:t>
            </a:r>
          </a:p>
          <a:p>
            <a:r>
              <a:t>saved). You simply assign a cost to each type if</a:t>
            </a:r>
          </a:p>
          <a:p>
            <a:r>
              <a:t>misclassi+ication, and multiply it by how often that</a:t>
            </a:r>
          </a:p>
          <a:p>
            <a:r>
              <a:t>misclassi+ication occurs in the test set. The total is the</a:t>
            </a:r>
          </a:p>
          <a:p>
            <a:r>
              <a:t>evaluation function you want to minimize.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a pretty imbalanced dataset (though still not as</a:t>
            </a:r>
          </a:p>
          <a:p>
            <a:r>
              <a:t>imbalanced as the cancer/not cancer problem). It looks</a:t>
            </a:r>
          </a:p>
          <a:p>
            <a:r>
              <a:t>pretty dif8icult. What would be a good performance on this</a:t>
            </a:r>
          </a:p>
          <a:p>
            <a:r>
              <a:t>task?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we've seen, even though an error of 0.05 might sound</a:t>
            </a:r>
          </a:p>
          <a:p>
            <a:r>
              <a:t>pretty good, but on an imbalanced dataset like this, there is</a:t>
            </a:r>
          </a:p>
          <a:p>
            <a:r>
              <a:t>a very simple classi8ier that gets that performance easily.</a:t>
            </a:r>
          </a:p>
          <a:p>
            <a:r>
              <a:t>The classi8ier that assigns anything the class with the most</a:t>
            </a:r>
          </a:p>
          <a:p>
            <a:r>
              <a:t>instances. We call this the majority class classi+ier.</a:t>
            </a:r>
          </a:p>
          <a:p>
            <a:r>
              <a:t>The majority class classi8ier is an example of a baseline, a</a:t>
            </a:r>
          </a:p>
          <a:p>
            <a:r>
              <a:t>simple method that is not meant to be used as a real model,</a:t>
            </a:r>
          </a:p>
          <a:p>
            <a:r>
              <a:t>but that can help you calibrate the performance scores. In</a:t>
            </a:r>
          </a:p>
          <a:p>
            <a:r>
              <a:t>this case, it tells you that you’re really only interested in in</a:t>
            </a:r>
          </a:p>
          <a:p>
            <a:r>
              <a:t>the error range from 0 to 0.05. Any higher error than that is</a:t>
            </a:r>
          </a:p>
          <a:p>
            <a:r>
              <a:t>pretty useless.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another way that class imbalance can screw things</a:t>
            </a:r>
          </a:p>
          <a:p>
            <a:r>
              <a:t>up for you. You might think you have a pretty decent</a:t>
            </a:r>
          </a:p>
          <a:p>
            <a:r>
              <a:t>amount of data with 10 000 instances. However if you split</a:t>
            </a:r>
          </a:p>
          <a:p>
            <a:r>
              <a:t>off a test set of 1 000 instances, you'd be left with just 50</a:t>
            </a:r>
          </a:p>
          <a:p>
            <a:r>
              <a:t>instances of the positive class in your data. Practically, your</a:t>
            </a:r>
          </a:p>
          <a:p>
            <a:r>
              <a:t>8inal evaluation will just be a question of how many of these</a:t>
            </a:r>
          </a:p>
          <a:p>
            <a:r>
              <a:t>50 positives you detect. This means that you can really only</a:t>
            </a:r>
          </a:p>
          <a:p>
            <a:r>
              <a:t>have 50 “levels of performance” that you can distinguish</a:t>
            </a:r>
          </a:p>
          <a:p>
            <a:r>
              <a:t>b e tw e e n .</a:t>
            </a:r>
          </a:p>
          <a:p>
            <a:r>
              <a:t>Yo u c a n m ake a bigger test set of course (and you probably</a:t>
            </a:r>
          </a:p>
          <a:p>
            <a:r>
              <a:t>should) but that leads to problems in your training data.</a:t>
            </a:r>
          </a:p>
          <a:p>
            <a:r>
              <a:t>Since you’re essentially building a detector for positives, it</a:t>
            </a:r>
          </a:p>
          <a:p>
            <a:r>
              <a:t>doesn’t help if you can only give it 100 examples of what a</a:t>
            </a:r>
          </a:p>
          <a:p>
            <a:r>
              <a:t>positive looks like.</a:t>
            </a:r>
          </a:p>
          <a:p>
            <a:r>
              <a:t>In the next lecture, we’ll look at some tricks we can use to</a:t>
            </a:r>
          </a:p>
          <a:p>
            <a:r>
              <a:t>boost performance on such imbalanced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best thing to do under class and cost imbalance, is to</a:t>
            </a:r>
          </a:p>
          <a:p>
            <a:r>
              <a:t>look at your performance in more detail. We’ll look at six</a:t>
            </a:r>
          </a:p>
          <a:p>
            <a:r>
              <a:t>different ways to measure classi8ier performance.</a:t>
            </a:r>
          </a:p>
          <a:p>
            <a:r>
              <a:t>Most of these are only relevant if you have class or cost</a:t>
            </a:r>
          </a:p>
          <a:p>
            <a:r>
              <a:t>imbalance. If you have a nice, balanced dataset, it’s likely</a:t>
            </a:r>
          </a:p>
          <a:p>
            <a:r>
              <a:t>that error or accuracy is all you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confusion matrix (also known as a contingency</a:t>
            </a:r>
          </a:p>
          <a:p>
            <a:r>
              <a:t>table). It's simply a table with the actual classes on the</a:t>
            </a:r>
          </a:p>
          <a:p>
            <a:r>
              <a:t>rows, and the predicted classes on the columns, and a tally</a:t>
            </a:r>
          </a:p>
          <a:p>
            <a:r>
              <a:t>in each cell of how often each actual class is given a</a:t>
            </a:r>
          </a:p>
          <a:p>
            <a:r>
              <a:t>particular prediction. On the diagonal we tally all the</a:t>
            </a:r>
          </a:p>
          <a:p>
            <a:r>
              <a:t>correct classi8ications and off the diagonal we tally all the</a:t>
            </a:r>
          </a:p>
          <a:p>
            <a:r>
              <a:t>possible mistakes.</a:t>
            </a:r>
          </a:p>
          <a:p>
            <a:r>
              <a:t>A confusion matrix doesn’t give you a single number, so it’s</a:t>
            </a:r>
          </a:p>
          <a:p>
            <a:r>
              <a:t>more dif8icult to compare two classi8iers by their confusion</a:t>
            </a:r>
          </a:p>
          <a:p>
            <a:r>
              <a:t>matrices, but it’s a good way to get insight into what your</a:t>
            </a:r>
          </a:p>
          <a:p>
            <a:r>
              <a:t>classi8ier is actually doing.</a:t>
            </a:r>
          </a:p>
          <a:p>
            <a:r>
              <a:t>Note that for a binary classi8ication problem, we are getting</a:t>
            </a:r>
          </a:p>
          <a:p>
            <a:r>
              <a:t>the two types of mistakes (false positives and false</a:t>
            </a:r>
          </a:p>
          <a:p>
            <a:r>
              <a:t>negatives) along the second diagonal. If we have cost</a:t>
            </a:r>
          </a:p>
          <a:p>
            <a:r>
              <a:t>imbalance, the balance between these two values gives us a</a:t>
            </a:r>
          </a:p>
          <a:p>
            <a:r>
              <a:t>quick insight into how well the classi8ier is aligned with our</a:t>
            </a:r>
          </a:p>
          <a:p>
            <a:r>
              <a:t>estimate for the misclassi8ication costs.</a:t>
            </a:r>
          </a:p>
          <a:p>
            <a:r>
              <a:t>You can plot the confusion matrix for either the training,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call accurately classi8ied instances true positives and</a:t>
            </a:r>
          </a:p>
          <a:p>
            <a:r>
              <a:t>true negatives. Misclassi8ications are called false positives</a:t>
            </a:r>
          </a:p>
          <a:p>
            <a:r>
              <a:t>and false negatives.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we see the confusion matrix for the majority class</a:t>
            </a:r>
          </a:p>
          <a:p>
            <a:r>
              <a:t>baseline (the classi8ier that calls everything positive) in a</a:t>
            </a:r>
          </a:p>
          <a:p>
            <a:r>
              <a:t>problem with high class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Precision and recall are two metrics that express a tradeoff</a:t>
            </a:r>
          </a:p>
          <a:p>
            <a:r>
              <a:t>between the two types of mistakes.</a:t>
            </a:r>
          </a:p>
          <a:p>
            <a:r>
              <a:t>Precision: what proportion of the returned positives are</a:t>
            </a:r>
          </a:p>
          <a:p>
            <a:r>
              <a:t>actually positive?</a:t>
            </a:r>
          </a:p>
          <a:p>
            <a:r>
              <a:t>Recall: what proportion of the existing positives did we</a:t>
            </a:r>
          </a:p>
          <a:p>
            <a:r>
              <a:t>8ind?</a:t>
            </a:r>
          </a:p>
          <a:p>
            <a:r>
              <a:t>The idea is that we usually want to 8ind as many positives as</a:t>
            </a:r>
          </a:p>
          <a:p>
            <a:r>
              <a:t>possible, so we should be eager to label things positive,</a:t>
            </a:r>
          </a:p>
          <a:p>
            <a:r>
              <a:t>increasing the recall, but if we are too eager, we will label</a:t>
            </a:r>
          </a:p>
          <a:p>
            <a:r>
              <a:t>lots of negatives as positive as well, which will hurt our</a:t>
            </a:r>
          </a:p>
          <a:p>
            <a:r>
              <a:t>precision. Our main challenge in designing a classi8ier in the</a:t>
            </a:r>
          </a:p>
          <a:p>
            <a:r>
              <a:t>face of cost and class imbalance, is to 8ind the right tradeoff</a:t>
            </a:r>
          </a:p>
          <a:p>
            <a:r>
              <a:t>between precision and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It always takes me a minute to 8igure out what precision</a:t>
            </a:r>
          </a:p>
          <a:p>
            <a:r>
              <a:t>and recall mean in any given situation, and I usually consult</a:t>
            </a:r>
          </a:p>
          <a:p>
            <a:r>
              <a:t>this diagram from Wikipedia to help me out.</a:t>
            </a:r>
          </a:p>
          <a:p>
            <a:r>
              <a:t>The idea is that the goal of the classi8ier is to select the</a:t>
            </a:r>
          </a:p>
          <a:p>
            <a:r>
              <a:t>positives in the dataset. The more it selects, the higher its</a:t>
            </a:r>
          </a:p>
          <a:p>
            <a:r>
              <a:t>recall, but the lower its precision, as more negatives end up</a:t>
            </a:r>
          </a:p>
          <a:p>
            <a:r>
              <a:t>in the selection.</a:t>
            </a:r>
          </a:p>
          <a:p>
            <a:r>
              <a:t>source: By Walber - own work, CC BY-SA 4.0, https://</a:t>
            </a:r>
          </a:p>
          <a:p>
            <a:r>
              <a:t>commons.wikimedia.org/w/index.php?</a:t>
            </a:r>
          </a:p>
          <a:p>
            <a:r>
              <a:t>curid=36926283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There are many more metrics which you can derive from</a:t>
            </a:r>
          </a:p>
          <a:p>
            <a:r>
              <a:t>the confusion matrix. Wikipedia provides a helpful table, in</a:t>
            </a:r>
          </a:p>
          <a:p>
            <a:r>
              <a:t>case you ever come across them. For most purposes,</a:t>
            </a:r>
          </a:p>
          <a:p>
            <a:r>
              <a:t>precision, recall, accuracy and balanced accuracy are</a:t>
            </a:r>
          </a:p>
          <a:p>
            <a:r>
              <a:t>suf8icient.</a:t>
            </a:r>
          </a:p>
          <a:p>
            <a:r>
              <a:t>Note that some terms, like recall, go by many different</a:t>
            </a:r>
          </a:p>
          <a:p>
            <a:r>
              <a:t>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of these metrics can be applied to different datasets.</a:t>
            </a:r>
          </a:p>
          <a:p>
            <a:r>
              <a:t>When we compute (say) accuracy on the test set, we talk</a:t>
            </a:r>
          </a:p>
          <a:p>
            <a:r>
              <a:t>about test accuracy. This is computed—only once—at the</a:t>
            </a:r>
          </a:p>
          <a:p>
            <a:r>
              <a:t>very end of our project, to show that our conclusions are</a:t>
            </a:r>
          </a:p>
          <a:p>
            <a:r>
              <a:t>true.</a:t>
            </a:r>
          </a:p>
          <a:p>
            <a:r>
              <a:t>When we compute it on the validation set we call it</a:t>
            </a:r>
          </a:p>
          <a:p>
            <a:r>
              <a:t>validation accuracy. We compute this to help us choose</a:t>
            </a:r>
          </a:p>
          <a:p>
            <a:r>
              <a:t>good hyperparameters.</a:t>
            </a:r>
          </a:p>
          <a:p>
            <a:r>
              <a:t>And, predictably, when we compute it on the training data,</a:t>
            </a:r>
          </a:p>
          <a:p>
            <a:r>
              <a:t>we call it training accuracy. Remember that in the 8irst</a:t>
            </a:r>
          </a:p>
          <a:p>
            <a:r>
              <a:t>lecture I said, emphatically, that you should never judge</a:t>
            </a:r>
          </a:p>
          <a:p>
            <a:r>
              <a:t>your model on how it performs on the training set. Why</a:t>
            </a:r>
          </a:p>
          <a:p>
            <a:r>
              <a:t>then, would you ever want to compute the training accuracy</a:t>
            </a:r>
          </a:p>
          <a:p>
            <a:r>
              <a:t>(or any other metrics on the training data)?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answer is that the difference between your validation</a:t>
            </a:r>
          </a:p>
          <a:p>
            <a:r>
              <a:t>accuracy and your training accuracy, will tell you whether</a:t>
            </a:r>
          </a:p>
          <a:p>
            <a:r>
              <a:t>or not your model is over8itting (matching the data too</a:t>
            </a:r>
          </a:p>
          <a:p>
            <a:r>
              <a:t>well) or under8itting (not matching the data well enough).</a:t>
            </a:r>
          </a:p>
          <a:p>
            <a:r>
              <a:t>The difference between the training and validation sets is</a:t>
            </a:r>
          </a:p>
          <a:p>
            <a:r>
              <a:t>called the generalization gap. As in, it's the amount of</a:t>
            </a:r>
          </a:p>
          <a:p>
            <a:r>
              <a:t>performance that won't generalize to data that isn't your</a:t>
            </a:r>
          </a:p>
          <a:p>
            <a:r>
              <a:t>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source: Jim Unger, Herman.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|section|PR, ROC and AUC|</a:t>
            </a:r>
          </a:p>
          <a:p>
            <a:r>
              <a:t>|video|https://surfdrive.surf.nl/8iles/index.php/s/</a:t>
            </a:r>
          </a:p>
          <a:p>
            <a:r>
              <a:t>p6Atngg3Q5AzMiz/download|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return to the metrics of precision and recall. We often</a:t>
            </a:r>
          </a:p>
          <a:p>
            <a:r>
              <a:t>have to make a tradeoff between high precision and high</a:t>
            </a:r>
          </a:p>
          <a:p>
            <a:r>
              <a:t>recall. We can boost our recall by calling more things</a:t>
            </a:r>
          </a:p>
          <a:p>
            <a:r>
              <a:t>positive. The drawback is that our precision will go down if</a:t>
            </a:r>
          </a:p>
          <a:p>
            <a:r>
              <a:t>this means including more negatives among the things we</a:t>
            </a:r>
          </a:p>
          <a:p>
            <a:r>
              <a:t>call positive. We can boost our precision by calling fewer</a:t>
            </a:r>
          </a:p>
          <a:p>
            <a:r>
              <a:t>things positive, which will hurt our recall.</a:t>
            </a:r>
          </a:p>
          <a:p>
            <a:r>
              <a:t>How exactly we make the tradeoff depends on our cost</a:t>
            </a:r>
          </a:p>
          <a:p>
            <a:r>
              <a:t>imbalance, and our class imbalance. To help us investigate,</a:t>
            </a:r>
          </a:p>
          <a:p>
            <a:r>
              <a:t>we can plot the precision and recall we get from different</a:t>
            </a:r>
          </a:p>
          <a:p>
            <a:r>
              <a:t>classi8iers.</a:t>
            </a:r>
          </a:p>
          <a:p>
            <a:r>
              <a:t>source: By Walber - own work, CC BY-SA 4.0, https://</a:t>
            </a:r>
          </a:p>
          <a:p>
            <a:r>
              <a:t>commons.wikimedia.org/w/index.php?</a:t>
            </a:r>
          </a:p>
          <a:p>
            <a:r>
              <a:t>curid=36926283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Another pair of metrics that provides this kind of tradeoff</a:t>
            </a:r>
          </a:p>
          <a:p>
            <a:r>
              <a:t>are the true positive and false negative rate.</a:t>
            </a:r>
          </a:p>
          <a:p>
            <a:r>
              <a:t>true positive rate: what proportion of the actual positives</a:t>
            </a:r>
          </a:p>
          <a:p>
            <a:r>
              <a:t>did we get right. The higher the better. I.e. How many of the</a:t>
            </a:r>
          </a:p>
          <a:p>
            <a:r>
              <a:t>people with cancer did we detect.</a:t>
            </a:r>
          </a:p>
          <a:p>
            <a:r>
              <a:t>false positive rate: what proportion of the actual negatives</a:t>
            </a:r>
          </a:p>
          <a:p>
            <a:r>
              <a:t>did we get wrong (by labelling them as positives). The</a:t>
            </a:r>
          </a:p>
          <a:p>
            <a:r>
              <a:t>lower the better. I.e. How many healthy people did we</a:t>
            </a:r>
          </a:p>
          <a:p>
            <a:r>
              <a:t>diagnose with cancer.</a:t>
            </a:r>
          </a:p>
          <a:p>
            <a:r>
              <a:t>The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want to get the TPR as high as possible, and the FPR as</a:t>
            </a:r>
          </a:p>
          <a:p>
            <a:r>
              <a:t>low as possible. That means the TPR/FPR space has the</a:t>
            </a:r>
          </a:p>
          <a:p>
            <a:r>
              <a:t>best classi8ier in the top left corner. This space is called ROC</a:t>
            </a:r>
          </a:p>
          <a:p>
            <a:r>
              <a:t>space.</a:t>
            </a:r>
          </a:p>
          <a:p>
            <a:r>
              <a:t>Again, the orange points are the extremes, and easy to</a:t>
            </a:r>
          </a:p>
          <a:p>
            <a:r>
              <a:t>achieve.</a:t>
            </a:r>
          </a:p>
          <a:p>
            <a:r>
              <a:t>ROC stands for receiver-operating characteristic. Like so</a:t>
            </a:r>
          </a:p>
          <a:p>
            <a:r>
              <a:t>many names in machine learning , this is a historical artifact,</a:t>
            </a:r>
          </a:p>
          <a:p>
            <a:r>
              <a:t>a leftover from its invention in WWII to improve the detection</a:t>
            </a:r>
          </a:p>
          <a:p>
            <a:r>
              <a:t>of Japanese aircraft from radar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far we’ve thought of FPR/TPR and precision/recall as a</a:t>
            </a:r>
          </a:p>
          <a:p>
            <a:r>
              <a:t>way to analyze a given set of models.</a:t>
            </a:r>
          </a:p>
          <a:p>
            <a:r>
              <a:t>However, what if we had a single classi8ier, but we could</a:t>
            </a:r>
          </a:p>
          <a:p>
            <a:r>
              <a:t>control how eager it was to call things positive? If we made</a:t>
            </a:r>
          </a:p>
          <a:p>
            <a:r>
              <a:t>it entirely timid, it would classify nothing as positive and</a:t>
            </a:r>
          </a:p>
          <a:p>
            <a:r>
              <a:t>start in the bottom left corner. As it grew more brave, it</a:t>
            </a:r>
          </a:p>
          <a:p>
            <a:r>
              <a:t>would start classifying some things as positive, but only if it</a:t>
            </a:r>
          </a:p>
          <a:p>
            <a:r>
              <a:t>was really sure, and its true positive rate would go up. If we</a:t>
            </a:r>
          </a:p>
          <a:p>
            <a:r>
              <a:t>made it even more daring, it would start getting some</a:t>
            </a:r>
          </a:p>
          <a:p>
            <a:r>
              <a:t>things wrong and both the TPR and the FPR would increase.</a:t>
            </a:r>
          </a:p>
          <a:p>
            <a:r>
              <a:t>Finally, it would end up classifying everything as positive,</a:t>
            </a:r>
          </a:p>
          <a:p>
            <a:r>
              <a:t>and end up on the top right corner.</a:t>
            </a:r>
          </a:p>
          <a:p>
            <a:r>
              <a:t>The curve this classi8ier would trace out, would give us an</a:t>
            </a:r>
          </a:p>
          <a:p>
            <a:r>
              <a:t>indication of its performance, independent of how brave or</a:t>
            </a:r>
          </a:p>
          <a:p>
            <a:r>
              <a:t>how timid we make it. How can we build such a classi8ier?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can achieve this by turning a regular classi8ier into a</a:t>
            </a:r>
          </a:p>
          <a:p>
            <a:r>
              <a:t>ranking classi+ier (also known as a scoring classi+ier). A</a:t>
            </a:r>
          </a:p>
          <a:p>
            <a:r>
              <a:t>ranking classi8ier doesn’t just provide classes, it also gives a</a:t>
            </a:r>
          </a:p>
          <a:p>
            <a:r>
              <a:t>score of how negative or how positive a point is. We can use</a:t>
            </a:r>
          </a:p>
          <a:p>
            <a:r>
              <a:t>this to rank the points from most negative to most positive.</a:t>
            </a:r>
          </a:p>
          <a:p>
            <a:r>
              <a:t>How to do this depends on the type of model we use. Here’s</a:t>
            </a:r>
          </a:p>
          <a:p>
            <a:r>
              <a:t>how to do it for a linear classi8ier. We simply measure the</a:t>
            </a:r>
          </a:p>
          <a:p>
            <a:r>
              <a:t>distance to the decision boundary. We can now scale our</a:t>
            </a:r>
          </a:p>
          <a:p>
            <a:r>
              <a:t>classi8ier from timid to bold by moving the decision</a:t>
            </a:r>
          </a:p>
          <a:p>
            <a:r>
              <a:t>boundary from left to right.</a:t>
            </a:r>
          </a:p>
          <a:p>
            <a:r>
              <a:t>After we have a ranking, we can scale the eagerness of the</a:t>
            </a:r>
          </a:p>
          <a:p>
            <a:r>
              <a:t>classi8ier to make things positive. by moving the threshold</a:t>
            </a:r>
          </a:p>
          <a:p>
            <a:r>
              <a:t>(the dotted line) from left to right, the classi8ier becomes</a:t>
            </a:r>
          </a:p>
          <a:p>
            <a:r>
              <a:t>more eager to call things negative. This allows us to trade</a:t>
            </a:r>
          </a:p>
          <a:p>
            <a:r>
              <a:t>off the true positive rate and the false positive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can make a big matrix of all the pairs for which we know</a:t>
            </a:r>
          </a:p>
          <a:p>
            <a:r>
              <a:t>how they should be ranked: negative points on the</a:t>
            </a:r>
          </a:p>
          <a:p>
            <a:r>
              <a:t>horizontal axis, positive on the vertical. The more sure we</a:t>
            </a:r>
          </a:p>
          <a:p>
            <a:r>
              <a:t>are that a point is positive, the closer we put it to the</a:t>
            </a:r>
          </a:p>
          <a:p>
            <a:r>
              <a:t>bottom left corner. This is called a coverage matrix. We</a:t>
            </a:r>
          </a:p>
          <a:p>
            <a:r>
              <a:t>color a cell green if the corresponding points are ranked the</a:t>
            </a:r>
          </a:p>
          <a:p>
            <a:r>
              <a:t>right way round, and red if they are ranked the wrong way</a:t>
            </a:r>
          </a:p>
          <a:p>
            <a:r>
              <a:t>round.</a:t>
            </a:r>
          </a:p>
          <a:p>
            <a:r>
              <a:t>Note that the proportion of this table that is red, is the</a:t>
            </a:r>
          </a:p>
          <a:p>
            <a:r>
              <a:t>probability of making a ranking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coverage matrix shows us exactly what happens to the</a:t>
            </a:r>
          </a:p>
          <a:p>
            <a:r>
              <a:t>true positive rate and the false positive rate if we move the</a:t>
            </a:r>
          </a:p>
          <a:p>
            <a:r>
              <a:t>threshold from the right to the left. We get exactly the kind</a:t>
            </a:r>
          </a:p>
          <a:p>
            <a:r>
              <a:t>of behaviour we talked about earlier. We move from the all-</a:t>
            </a:r>
          </a:p>
          <a:p>
            <a:r>
              <a:t>positive classi8ier step by step to the all-negative classi8ier.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one of the question types on the exam. People very</a:t>
            </a:r>
          </a:p>
          <a:p>
            <a:r>
              <a:t>often make mistakes in this question, so make sure you</a:t>
            </a:r>
          </a:p>
          <a:p>
            <a:r>
              <a:t>understand what a ranking error is. It's not a misclassi+ied</a:t>
            </a:r>
          </a:p>
          <a:p>
            <a:r>
              <a:t>example. It's a property of a pair of examples.</a:t>
            </a:r>
          </a:p>
          <a:p>
            <a:r>
              <a:t>There are more details in the third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means we can create any classi8ier in this green area,</a:t>
            </a:r>
          </a:p>
          <a:p>
            <a:r>
              <a:t>called the convex hull of the set of green dots. This is called</a:t>
            </a:r>
          </a:p>
          <a:p>
            <a:r>
              <a:t>the area under the (ROC) curve.</a:t>
            </a:r>
          </a:p>
          <a:p>
            <a:r>
              <a:t>The AUC is a good indication of the quality of the classi8ier.</a:t>
            </a:r>
          </a:p>
          <a:p>
            <a:r>
              <a:t>Every point in the green shaded area is a classi&gt;ier we now</a:t>
            </a:r>
          </a:p>
          <a:p>
            <a:r>
              <a:t>how to make, so the bigger this area, the more classi&gt;iers we</a:t>
            </a:r>
          </a:p>
          <a:p>
            <a:r>
              <a:t>can make (although the ones on the boundary are the only</a:t>
            </a:r>
          </a:p>
          <a:p>
            <a:r>
              <a:t>ones we’d ever want to use).</a:t>
            </a:r>
          </a:p>
          <a:p>
            <a:r>
              <a:t>If we have no idea of how we want to make the tradeoff</a:t>
            </a:r>
          </a:p>
          <a:p>
            <a:r>
              <a:t>between the TPR and the FPR, the AUC may be a good way</a:t>
            </a:r>
          </a:p>
          <a:p>
            <a:r>
              <a:t>to compare classi8iers in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we saw before: normalizing the coverage matrix gives us</a:t>
            </a:r>
          </a:p>
          <a:p>
            <a:r>
              <a:t>the ROC space (barring some small differences that</a:t>
            </a:r>
          </a:p>
          <a:p>
            <a:r>
              <a:t>disappear for large datasets). The area under the ROC curve</a:t>
            </a:r>
          </a:p>
          <a:p>
            <a:r>
              <a:t>is an estimate of the green proportion of the coverage</a:t>
            </a:r>
          </a:p>
          <a:p>
            <a:r>
              <a:t>matrix. This gives us a good way to interpret the AUC.</a:t>
            </a:r>
          </a:p>
          <a:p>
            <a:r>
              <a:t>The AUC (in ROC space) is an estimate of the probability</a:t>
            </a:r>
          </a:p>
          <a:p>
            <a:r>
              <a:t>that a ranking classi+ier puts a randomly drawn pair of</a:t>
            </a:r>
          </a:p>
          <a:p>
            <a:r>
              <a:t>positive and negative examples in the correct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look at how this works for another type of classi8ier. To</a:t>
            </a:r>
          </a:p>
          <a:p>
            <a:r>
              <a:t>reiterate, how we get a ranking from a classi+ier</a:t>
            </a:r>
          </a:p>
          <a:p>
            <a:r>
              <a:t>depends entirely on the model class.</a:t>
            </a:r>
          </a:p>
          <a:p>
            <a:r>
              <a:t>The decision tree is an example of a partitioning classi8ier. Is</a:t>
            </a:r>
          </a:p>
          <a:p>
            <a:r>
              <a:t>splits the feature space into partitions, and assigns each</a:t>
            </a:r>
          </a:p>
          <a:p>
            <a:r>
              <a:t>partition, also known as a segment, a class. All instances in</a:t>
            </a:r>
          </a:p>
          <a:p>
            <a:r>
              <a:t>the segment get the same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this example we have an instance space that has been</a:t>
            </a:r>
          </a:p>
          <a:p>
            <a:r>
              <a:t>split into four segments by a decision tree. We rank the</a:t>
            </a:r>
          </a:p>
          <a:p>
            <a:r>
              <a:t>segments by the proportion of positive points. We then put</a:t>
            </a:r>
          </a:p>
          <a:p>
            <a:r>
              <a:t>all points in one region on the same level in the ranking.</a:t>
            </a:r>
          </a:p>
          <a:p>
            <a:r>
              <a:t>In this example, b is more negative than a, because b’s</a:t>
            </a:r>
          </a:p>
          <a:p>
            <a:r>
              <a:t>segment contains only negative examples, whereas a’s</a:t>
            </a:r>
          </a:p>
          <a:p>
            <a:r>
              <a:t>segment contains a mix of positive and negative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means that for some pairs (like f,z), the classi8ier ranks</a:t>
            </a:r>
          </a:p>
          <a:p>
            <a:r>
              <a:t>them as “the same”. We’ll color these cells orange in the</a:t>
            </a:r>
          </a:p>
          <a:p>
            <a:r>
              <a:t>coverage matrix.</a:t>
            </a:r>
          </a:p>
          <a:p>
            <a:r>
              <a:t>For large datasets, these regions will not contribute much</a:t>
            </a:r>
          </a:p>
          <a:p>
            <a:r>
              <a:t>to the total area under the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 alternative to the ROC is the precision/recall curve. It</a:t>
            </a:r>
          </a:p>
          <a:p>
            <a:r>
              <a:t>works in exactly the same way, but has precision and recall</a:t>
            </a:r>
          </a:p>
          <a:p>
            <a:r>
              <a:t>on the axes.</a:t>
            </a:r>
          </a:p>
          <a:p>
            <a:r>
              <a:t>As you can see in this tweet, in many settings the PR curve</a:t>
            </a:r>
          </a:p>
          <a:p>
            <a:r>
              <a:t>can be much more informative, especially when you’re a</a:t>
            </a:r>
          </a:p>
          <a:p>
            <a:r>
              <a:t>plotting the curves. Practically, it’s little effort to just plot</a:t>
            </a:r>
          </a:p>
          <a:p>
            <a:r>
              <a:t>both, and judge which one is more informative.</a:t>
            </a:r>
          </a:p>
          <a:p>
            <a:r>
              <a:t>ROC has the bene8it of an intuitive interpretation for the</a:t>
            </a:r>
          </a:p>
          <a:p>
            <a:r>
              <a:t>AUC (the probability of ordering a random pair the right</a:t>
            </a:r>
          </a:p>
          <a:p>
            <a:r>
              <a:t>way round). I haven’t yet found a similar interpretation for</a:t>
            </a:r>
          </a:p>
          <a:p>
            <a:r>
              <a:t>the PR-AUC.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interpret the AUC, you should know not just what</a:t>
            </a:r>
          </a:p>
          <a:p>
            <a:r>
              <a:t>classi8ier was used, but how it was made into a collection of</a:t>
            </a:r>
          </a:p>
          <a:p>
            <a:r>
              <a:t>classi8iers. You should also know whether it’s the area</a:t>
            </a:r>
          </a:p>
          <a:p>
            <a:r>
              <a:t>under an ROC curve, or a precision/recall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put a classi8ier into production, a ranking may not be</a:t>
            </a:r>
          </a:p>
          <a:p>
            <a:r>
              <a:t>enough. Sometimes, you just need to produce a single</a:t>
            </a:r>
          </a:p>
          <a:p>
            <a:r>
              <a:t>answer. In that case, you can still use the ROC and PR curves</a:t>
            </a:r>
          </a:p>
          <a:p>
            <a:r>
              <a:t>to tune your hyperparameters and choose your model, but</a:t>
            </a:r>
          </a:p>
          <a:p>
            <a:r>
              <a:t>ultimately, you’ll need to choose a threshold as well: the</a:t>
            </a:r>
          </a:p>
          <a:p>
            <a:r>
              <a:t>point at which you decide to call something a positive.</a:t>
            </a:r>
          </a:p>
          <a:p>
            <a:r>
              <a:t>This is more of a software development issue than a</a:t>
            </a:r>
          </a:p>
          <a:p>
            <a:r>
              <a:t>scienti8ic choice. Often, you have to look carefully at the</a:t>
            </a:r>
          </a:p>
          <a:p>
            <a:r>
              <a:t>curves, perhaps together with the end users, to make a</a:t>
            </a:r>
          </a:p>
          <a:p>
            <a:r>
              <a:t>decision.</a:t>
            </a:r>
          </a:p>
          <a:p>
            <a:r>
              <a:t>The second approach works best with probabilistic</a:t>
            </a:r>
          </a:p>
          <a:p>
            <a:r>
              <a:t>classi8iers, which we’ll discuss next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|section|Social Impact 2|</a:t>
            </a:r>
          </a:p>
          <a:p>
            <a:r>
              <a:t>|video|https://surfdrive.surf.nl/8iles/index.php/s/</a:t>
            </a:r>
          </a:p>
          <a:p>
            <a:r>
              <a:t>6o4T6Xzi8EAc1x5/download|</a:t>
            </a:r>
          </a:p>
          <a:p>
            <a:r>
              <a:t>Model evaluation is not just about showing how well your</a:t>
            </a:r>
          </a:p>
          <a:p>
            <a:r>
              <a:t>model works. It’s also about working out what it means to</a:t>
            </a:r>
          </a:p>
          <a:p>
            <a:r>
              <a:t>get a certain performance. And more importantly, what it</a:t>
            </a:r>
          </a:p>
          <a:p>
            <a:r>
              <a:t>doesn’t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this video, we will use the following research as a</a:t>
            </a:r>
          </a:p>
          <a:p>
            <a:r>
              <a:t>running example. In 2017 researchers from Stanford built a</a:t>
            </a:r>
          </a:p>
          <a:p>
            <a:r>
              <a:t>classi8ier that predicted sexual orientation (restricted to the</a:t>
            </a:r>
          </a:p>
          <a:p>
            <a:r>
              <a:t>classes “heterosexual” and “gay”) from pro8ile image taken</a:t>
            </a:r>
          </a:p>
          <a:p>
            <a:r>
              <a:t>from a dating site. They reported 91% ROC-AUC on men</a:t>
            </a:r>
          </a:p>
          <a:p>
            <a:r>
              <a:t>and 83% ROC-AUC on women.</a:t>
            </a:r>
          </a:p>
          <a:p>
            <a:r>
              <a:t>The results were immediately cited as evidence of a</a:t>
            </a:r>
          </a:p>
          <a:p>
            <a:r>
              <a:t>biological link between biology and sexual orientation. The</a:t>
            </a:r>
          </a:p>
          <a:p>
            <a:r>
              <a:t>following important caveats were largely overlooked in</a:t>
            </a:r>
          </a:p>
          <a:p>
            <a:r>
              <a:t>media reports:</a:t>
            </a:r>
          </a:p>
          <a:p>
            <a:r>
              <a:t>Some of the performance came from facial landmarks •</a:t>
            </a:r>
          </a:p>
          <a:p>
            <a:r>
              <a:t>(roundness, length of nose, distance between eyes, etc),</a:t>
            </a:r>
          </a:p>
          <a:p>
            <a:r>
              <a:t>but some came from super8icial details like hairstyle,</a:t>
            </a:r>
          </a:p>
          <a:p>
            <a:r>
              <a:t>lighting and grooming.</a:t>
            </a:r>
          </a:p>
          <a:p>
            <a:r>
              <a:t>The results were true when averaged over a large •</a:t>
            </a:r>
          </a:p>
          <a:p>
            <a:r>
              <a:t>population. It’s true that women live longer than men on</a:t>
            </a:r>
          </a:p>
          <a:p>
            <a:r>
              <a:t>average, but that doesn’t mean that there are no old men.</a:t>
            </a:r>
          </a:p>
          <a:p>
            <a:r>
              <a:t>Likewise, the fact that you can guess orientation based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Like in the previous video, we’ll look at some important</a:t>
            </a:r>
          </a:p>
          <a:p>
            <a:r>
              <a:t>questions to ask yourself when you come up against a topic</a:t>
            </a:r>
          </a:p>
          <a:p>
            <a:r>
              <a:t>like this. Let’s ask the same questions again (with some new</a:t>
            </a:r>
          </a:p>
          <a:p>
            <a:r>
              <a:t>ones thrown in for good measure).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these cases, it’s important to know your history.</a:t>
            </a:r>
          </a:p>
          <a:p>
            <a:r>
              <a:t>Physiognomy is the study which attempts to infer character</a:t>
            </a:r>
          </a:p>
          <a:p>
            <a:r>
              <a:t>from facial features.</a:t>
            </a:r>
          </a:p>
          <a:p>
            <a:r>
              <a:t>In this case there’s is a long history of scientists claiming to</a:t>
            </a:r>
          </a:p>
          <a:p>
            <a:r>
              <a:t>be able to divine personal attributes (most often</a:t>
            </a:r>
          </a:p>
          <a:p>
            <a:r>
              <a:t>“criminality”) from the structure of a subject’s face. This is</a:t>
            </a:r>
          </a:p>
          <a:p>
            <a:r>
              <a:t>called physiogmony and almost any claim made has been</a:t>
            </a:r>
          </a:p>
          <a:p>
            <a:r>
              <a:t>conclusively disproven, and based on poor scienti8ic</a:t>
            </a:r>
          </a:p>
          <a:p>
            <a:r>
              <a:t>practice and spurious correlations.</a:t>
            </a:r>
          </a:p>
          <a:p>
            <a:r>
              <a:t>That doesn’t mean, of course, that the entire idea of</a:t>
            </a:r>
          </a:p>
          <a:p>
            <a:r>
              <a:t>physiognomy is conclusively disproven. Just because people</a:t>
            </a:r>
          </a:p>
          <a:p>
            <a:r>
              <a:t>got it wrong in the past doesn’t mean there couldn’t still be</a:t>
            </a:r>
          </a:p>
          <a:p>
            <a:r>
              <a:t>a link. But it does mean that when we are stumbling into</a:t>
            </a:r>
          </a:p>
          <a:p>
            <a:r>
              <a:t>the same area with new tools, we should be aware of the</a:t>
            </a:r>
          </a:p>
          <a:p>
            <a:r>
              <a:t>mistakes made in the past, so that we can be careful not to</a:t>
            </a:r>
          </a:p>
          <a:p>
            <a:r>
              <a:t>repeat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next thing to be aware of is what you’re looking at. This</a:t>
            </a:r>
          </a:p>
          <a:p>
            <a:r>
              <a:t>is especially important with modern systems that can look</a:t>
            </a:r>
          </a:p>
          <a:p>
            <a:r>
              <a:t>at raw image data without extracting speci8ic, interpretable</a:t>
            </a:r>
          </a:p>
          <a:p>
            <a:r>
              <a:t>features.</a:t>
            </a:r>
          </a:p>
          <a:p>
            <a:r>
              <a:t>Here a visualization of a classi8ier looking at a chest x-ray</a:t>
            </a:r>
          </a:p>
          <a:p>
            <a:r>
              <a:t>and making a prediction of whether the patient has</a:t>
            </a:r>
          </a:p>
          <a:p>
            <a:r>
              <a:t>Cardiomegaly (an enlarged heart). The positive values in</a:t>
            </a:r>
          </a:p>
          <a:p>
            <a:r>
              <a:t>the heat map indicate that those regions are important for</a:t>
            </a:r>
          </a:p>
          <a:p>
            <a:r>
              <a:t>the current classi8ication. The largest values are near the</a:t>
            </a:r>
          </a:p>
          <a:p>
            <a:r>
              <a:t>heart, which is what we expect.</a:t>
            </a:r>
          </a:p>
          <a:p>
            <a:r>
              <a:t>The colors are a bit misleading, since the black background</a:t>
            </a:r>
          </a:p>
          <a:p>
            <a:r>
              <a:t>washes them out. Pay more attention to the actual numbers.</a:t>
            </a:r>
          </a:p>
          <a:p>
            <a:r>
              <a:t>However, the classi8ier is also getting a positive</a:t>
            </a:r>
          </a:p>
          <a:p>
            <a:r>
              <a:t>contribution from the “PORTABLE” label in the top right</a:t>
            </a:r>
          </a:p>
          <a:p>
            <a:r>
              <a:t>corner and the marker on the right. These indicate that the</a:t>
            </a:r>
          </a:p>
          <a:p>
            <a:r>
              <a:t>x-ray was taken with a portable scanner. Such scanners are</a:t>
            </a:r>
          </a:p>
          <a:p>
            <a:r>
              <a:t>only used when a patient’s condition has progressed so far</a:t>
            </a:r>
          </a:p>
          <a:p>
            <a:r>
              <a:t>that they can’t leave their house. In such cases it’s a safe bet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problems are often called “Clever Hans” effects.</a:t>
            </a:r>
          </a:p>
          <a:p>
            <a:r>
              <a:t>Clever Hans, or der Kluge Hans, was an early-20th century</a:t>
            </a:r>
          </a:p>
          <a:p>
            <a:r>
              <a:t>German horse, who appeared to be able to do arithmetic.</a:t>
            </a:r>
          </a:p>
          <a:p>
            <a:r>
              <a:t>As it turned out, Hans was not doing arithmetic, but just</a:t>
            </a:r>
          </a:p>
          <a:p>
            <a:r>
              <a:t>reading the body language of its handler, to see whether it</a:t>
            </a:r>
          </a:p>
          <a:p>
            <a:r>
              <a:t>was moving towards the right answer. This is impressive in</a:t>
            </a:r>
          </a:p>
          <a:p>
            <a:r>
              <a:t>itself, of course, but it does mean that Hans didn’t show the</a:t>
            </a:r>
          </a:p>
          <a:p>
            <a:r>
              <a:t>kind of intelligence that was being attributed to him.</a:t>
            </a:r>
          </a:p>
          <a:p>
            <a:r>
              <a:t>Crucially, this was not a hoax. The handler truly believed that</a:t>
            </a:r>
          </a:p>
          <a:p>
            <a:r>
              <a:t>Hans was able to do arithmetic, and had no idea that he was</a:t>
            </a:r>
          </a:p>
          <a:p>
            <a:r>
              <a:t>guiding him subconsciously. This, incidentally is also why</a:t>
            </a:r>
          </a:p>
          <a:p>
            <a:r>
              <a:t>double-blind experiments are so important in other &gt;ields.</a:t>
            </a:r>
          </a:p>
          <a:p>
            <a:r>
              <a:t>For us, Hans serves as a powerful reminder that just</a:t>
            </a:r>
          </a:p>
          <a:p>
            <a:r>
              <a:t>because we’re seeing the performance we were hoping for,</a:t>
            </a:r>
          </a:p>
          <a:p>
            <a:r>
              <a:t>doesn’t mean we’re seeing it for the reasons we were hoping</a:t>
            </a:r>
          </a:p>
          <a:p>
            <a:r>
              <a:t>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related question you should ask when you 8ind that you</a:t>
            </a:r>
          </a:p>
          <a:p>
            <a:r>
              <a:t>can successfully predict X from Y is which causes which?</a:t>
            </a:r>
          </a:p>
          <a:p>
            <a:r>
              <a:t>eimanyapgosesi bolene ftfehctes olfevfatri,e dfrom [1], shows a feature that</a:t>
            </a:r>
          </a:p>
          <a:p>
            <a:r>
              <a:t>ftothuenspdec trwumhoefn attempting to predict criminality</a:t>
            </a:r>
          </a:p>
          <a:p>
            <a:r>
              <a:t>hoanve tahe dsaamteainsteents itoyfd ifs-aces of criminals and non-criminals.</a:t>
            </a:r>
          </a:p>
          <a:p>
            <a:r>
              <a:t>foefv etryhienpiurt i m8iangedtointhegasv eir-s that the angle made by the corners</a:t>
            </a:r>
          </a:p>
          <a:p>
            <a:r>
              <a:t>of the mouth and the tip of the nose is a highly predictive</a:t>
            </a:r>
          </a:p>
          <a:p>
            <a:r>
              <a:t>PTEhGeso aftudetchodoinrgste cshu-ggest that such facial features are</a:t>
            </a:r>
          </a:p>
          <a:p>
            <a:r>
              <a:t>noyfd ecvriciem-deipnenadelnitt,y</a:t>
            </a:r>
          </a:p>
          <a:p>
            <a:r>
              <a:t>wonhCernim wineal iltoyok at the dataset we see that it’s not</a:t>
            </a:r>
          </a:p>
          <a:p>
            <a:r>
              <a:t>ufcetiaont,uonreewsa yooff tashseess ifnagcthee, so much as the expression that</a:t>
            </a:r>
          </a:p>
          <a:p>
            <a:r>
              <a:t>iIldna ntdhteest “clnasosifine-rscwriithminal” photographs, the subjects hold</a:t>
            </a:r>
          </a:p>
          <a:p>
            <a:r>
              <a:t>flithgehclta sssimficaitlioen, eaxpse riimse cntos.mmon, whereas in the criminal set the</a:t>
            </a:r>
          </a:p>
          <a:p>
            <a:r>
              <a:t>expressions have a more explicitly relaxed jaw. What we’re</a:t>
            </a:r>
          </a:p>
          <a:p>
            <a:r>
              <a:t>thheehyrpeo thaersiest hnatosttil lffaacceial features, so much as facial</a:t>
            </a:r>
          </a:p>
          <a:p>
            <a:r>
              <a:t>roughaspossible.</a:t>
            </a:r>
          </a:p>
          <a:p>
            <a:r>
              <a:t>This is important, because it changes the interpretation of</a:t>
            </a:r>
          </a:p>
          <a:p>
            <a:r>
              <a:t>t th r e e cl a s s i fi c a t io n m e th o d s w o rk o n i m a g e</a:t>
            </a:r>
          </a:p>
          <a:p>
            <a:r>
              <a:t>mt ha e erv ea su au tel tth se rc oe rmf rpm al ne cte se ol ny . The physiognomical interpretation is n t h e n d l i p o a</a:t>
            </a:r>
          </a:p>
          <a:p>
            <a:r>
              <a:t>f e at ur e s , i n c lu d in g 1 . F a c ia l la n d m a rk p o i n t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Let’s go back to the sexuality classi8ier. What might a Clever</a:t>
            </a:r>
          </a:p>
          <a:p>
            <a:r>
              <a:t>Hans effect look like here? In the most extreme case, you</a:t>
            </a:r>
          </a:p>
          <a:p>
            <a:r>
              <a:t>might expect a classi8ier just to look at the background of</a:t>
            </a:r>
          </a:p>
          <a:p>
            <a:r>
              <a:t>the image. The authors were more careful here than you</a:t>
            </a:r>
          </a:p>
          <a:p>
            <a:r>
              <a:t>249</a:t>
            </a:r>
          </a:p>
          <a:p>
            <a:r>
              <a:t>might expect:</a:t>
            </a:r>
          </a:p>
          <a:p>
            <a:r>
              <a:t>The background of the image was blurred and the the •</a:t>
            </a:r>
          </a:p>
          <a:p>
            <a:r>
              <a:t>facial features (eyes, nose, mouth) were detected and</a:t>
            </a:r>
          </a:p>
          <a:p>
            <a:r>
              <a:t>aligned.</a:t>
            </a:r>
          </a:p>
          <a:p>
            <a:r>
              <a:t>The focus of the classi8ier was investigated with saliency •</a:t>
            </a:r>
          </a:p>
          <a:p>
            <a:r>
              <a:t>maps (indicators of where the model is looking). This is a</a:t>
            </a:r>
          </a:p>
          <a:p>
            <a:r>
              <a:t>fallible method, but it does show a general focus on the</a:t>
            </a:r>
          </a:p>
          <a:p>
            <a:r>
              <a:t>face. (Still, remember how small the effect was in the ep e n d e n t v a ri a b l e ) u s in g 5 0 0 s i n g u la r v al u e s e x tr a c te d</a:t>
            </a:r>
          </a:p>
          <a:p>
            <a:r>
              <a:t>-F a c e s c o r e s ( i n d e p e n d en t v a r i a b le s) . L e a s t a b s o lu t e</a:t>
            </a:r>
          </a:p>
          <a:p>
            <a:r>
              <a:t>saliency map for the chest X-ray.)</a:t>
            </a:r>
          </a:p>
          <a:p>
            <a:r>
              <a:t>A second classi8ier was fed only facial landmarks: the • s e t t o 1 ; t h e r e g u la r i z a t i o n p a r a m e t e r w a s a u t o m a t i - %</a:t>
            </a:r>
          </a:p>
          <a:p>
            <a:r>
              <a:t>t e d u s i n g 1 0 - f o l d c r o s s - v a l i d a t i o n .</a:t>
            </a:r>
          </a:p>
          <a:p>
            <a:r>
              <a:t>position of the eyes, roundness of the jaw, etc. That is, the h e m o d e l b u i l t o n t h e t r a i n i n g s e t , c o m b i n i n g t h e S V D</a:t>
            </a:r>
          </a:p>
          <a:p>
            <a:r>
              <a:t>l i t y r e d u c t i o n a n d l o g i s t i c r e g r e s s i o n , w a s u s e d t o p r e -</a:t>
            </a:r>
          </a:p>
          <a:p>
            <a:r>
              <a:t>u a l o r i e n t a t i o n o f t h e p a r t i c i p a n t s i n t h e t e s t s e t . T h i s photo was translated to a series of explicit features. The</a:t>
            </a:r>
          </a:p>
          <a:p>
            <a:r>
              <a:t>suggestion being that this prevents Clever Hans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Another question we suggested in the last video is whether</a:t>
            </a:r>
          </a:p>
          <a:p>
            <a:r>
              <a:t>the target label you’ve chosen is saying what you think it’s</a:t>
            </a:r>
          </a:p>
          <a:p>
            <a:r>
              <a:t>saying.</a:t>
            </a:r>
          </a:p>
          <a:p>
            <a:r>
              <a:t>Here, the authors inferred sexuality from the stated</a:t>
            </a:r>
          </a:p>
          <a:p>
            <a:r>
              <a:t>preference in the dating pro8ile. This is clearly correlated</a:t>
            </a:r>
          </a:p>
          <a:p>
            <a:r>
              <a:t>with sexuality, but not the same thing. Firstly, sexuality is</a:t>
            </a:r>
          </a:p>
          <a:p>
            <a:r>
              <a:t>one of those attributes (like movie genre) that can only be</a:t>
            </a:r>
          </a:p>
          <a:p>
            <a:r>
              <a:t>crudely approximated by a set of 8inite categories.</a:t>
            </a:r>
          </a:p>
          <a:p>
            <a:r>
              <a:t>Moreover, for many people it’s not a 8ixed attribute, and it is</a:t>
            </a:r>
          </a:p>
          <a:p>
            <a:r>
              <a:t>subject to some evolution throughout their life.</a:t>
            </a:r>
          </a:p>
          <a:p>
            <a:r>
              <a:t>The stated preference on a dating pro8ile also means that</a:t>
            </a:r>
          </a:p>
          <a:p>
            <a:r>
              <a:t>you are capturing only those gay people who are willing to</a:t>
            </a:r>
          </a:p>
          <a:p>
            <a:r>
              <a:t>live (relatively) openly as gay. This may be highly dependent</a:t>
            </a:r>
          </a:p>
          <a:p>
            <a:r>
              <a:t>on social background. It’s certainly conceivable that in</a:t>
            </a:r>
          </a:p>
          <a:p>
            <a:r>
              <a:t>poorer subcultures, people are less likely to come out as</a:t>
            </a:r>
          </a:p>
          <a:p>
            <a:r>
              <a:t>gay, either to their community or to themselves.</a:t>
            </a:r>
          </a:p>
          <a:p>
            <a:r>
              <a:t>This means that what we’re detecting when we’re</a:t>
            </a:r>
          </a:p>
          <a:p>
            <a:r>
              <a:t>classifying a face in this dataset as “gay” is more likely a</a:t>
            </a:r>
          </a:p>
          <a:p>
            <a:r>
              <a:t>combination of factors that are correlation to that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So, what kind of hypotheses can we think of for what is</a:t>
            </a:r>
          </a:p>
          <a:p>
            <a:r>
              <a:t>causing the performance of the classi8ier?</a:t>
            </a:r>
          </a:p>
          <a:p>
            <a:r>
              <a:t>The authors observe that in their dataset the heterosexual</a:t>
            </a:r>
          </a:p>
          <a:p>
            <a:r>
              <a:t>men are more likely have facial hair. That’s most likely to be</a:t>
            </a:r>
          </a:p>
          <a:p>
            <a:r>
              <a:t>a grooming choice, based on the differences in gay and</a:t>
            </a:r>
          </a:p>
          <a:p>
            <a:r>
              <a:t>heterosexual subcultures.</a:t>
            </a:r>
          </a:p>
          <a:p>
            <a:r>
              <a:t>For other correlations, such as that between sexuality and</a:t>
            </a:r>
          </a:p>
          <a:p>
            <a:r>
              <a:t>nose length, the authors suggest the prenatal hormone</a:t>
            </a:r>
          </a:p>
          <a:p>
            <a:r>
              <a:t>theory, a theory that relates prenatal hormone levels in the</a:t>
            </a:r>
          </a:p>
          <a:p>
            <a:r>
              <a:t>m o t h e r w i th t h e s e x ua l it y o f t h e s u b je ct . I n s h o r t , a</a:t>
            </a:r>
          </a:p>
          <a:p>
            <a:r>
              <a:t>bio l o g i c a l m e c h a n is m t h a t is r e s p o n s ib le f o r b o t h th e</a:t>
            </a:r>
          </a:p>
          <a:p>
            <a:r>
              <a:t>(slight) variation in facial features and the variation in</a:t>
            </a:r>
          </a:p>
          <a:p>
            <a:r>
              <a:t>sexual preference.</a:t>
            </a:r>
          </a:p>
          <a:p>
            <a:r>
              <a:t>But that’s not the only possibility. In the previous slide, we</a:t>
            </a:r>
          </a:p>
          <a:p>
            <a:r>
              <a:t>saw that it’s dif8icult to separate facial features from facial</a:t>
            </a:r>
          </a:p>
          <a:p>
            <a:r>
              <a:t>expressions. However, even if we somehow eliminate the</a:t>
            </a:r>
          </a:p>
          <a:p>
            <a:r>
              <a:t>expression, that doesn’t mean that every facial feature we</a:t>
            </a:r>
          </a:p>
          <a:p>
            <a:r>
              <a:t>see is determined at birth. For instance, the roundness of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authors plotted the four average faces for the classes</a:t>
            </a:r>
          </a:p>
          <a:p>
            <a:r>
              <a:t>male/female and gay/heterosexual in their dataset. Here</a:t>
            </a:r>
          </a:p>
          <a:p>
            <a:r>
              <a:t>are the four options. It’s a peculiar property of datasets of</a:t>
            </a:r>
          </a:p>
          <a:p>
            <a:r>
              <a:t>(aligned) faces that the mean is often quite a realistic face</a:t>
            </a:r>
          </a:p>
          <a:p>
            <a:r>
              <a:t>itself.</a:t>
            </a:r>
          </a:p>
          <a:p>
            <a:r>
              <a:t>Consider this plot with the hypotheses on the previous</a:t>
            </a:r>
          </a:p>
          <a:p>
            <a:r>
              <a:t>slide. What differences do you see? Pay particular attention</a:t>
            </a:r>
          </a:p>
          <a:p>
            <a:r>
              <a:t>to the differences in skin tone, grooming, body weight, and</a:t>
            </a:r>
          </a:p>
          <a:p>
            <a:r>
              <a:t>the presence of glasses.</a:t>
            </a:r>
          </a:p>
          <a:p>
            <a:r>
              <a:t>I’ll leave you to decide which you think is the more likely</a:t>
            </a:r>
          </a:p>
          <a:p>
            <a:r>
              <a:t>explanation for these difference: choice of presentation,</a:t>
            </a:r>
          </a:p>
          <a:p>
            <a:r>
              <a:t>social class, or sexuality.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authors repeated their experiments by classifying</a:t>
            </a:r>
          </a:p>
          <a:p>
            <a:r>
              <a:t>based purely on facial landmarks. The idea is that we can 253</a:t>
            </a:r>
          </a:p>
          <a:p>
            <a:r>
              <a:t>detect landmarks very accurately, and classifying on these</a:t>
            </a:r>
          </a:p>
          <a:p>
            <a:r>
              <a:t>alone removes a lot of sources for potential Clever Hans</a:t>
            </a:r>
          </a:p>
          <a:p>
            <a:r>
              <a:t>effects.</a:t>
            </a:r>
          </a:p>
          <a:p>
            <a:r>
              <a:t>We see that all subsets of the face landmarks allow for some</a:t>
            </a:r>
          </a:p>
          <a:p>
            <a:r>
              <a:t>predictive performance, but there is a clear difference</a:t>
            </a:r>
          </a:p>
          <a:p>
            <a:r>
              <a:t>between them. Note that just because we are isolating</a:t>
            </a:r>
          </a:p>
          <a:p>
            <a:r>
              <a:t>landmarks, doesn’t mean that we are focusing only on</a:t>
            </a:r>
          </a:p>
          <a:p>
            <a:r>
              <a:t>biological causes. As we saw earlier, the shape of the mouth</a:t>
            </a:r>
          </a:p>
          <a:p>
            <a:r>
              <a:t>is determined more by expression than by facial features,</a:t>
            </a:r>
          </a:p>
          <a:p>
            <a:r>
              <a:t>and the roundness of the jaw is partly determined by body</a:t>
            </a:r>
          </a:p>
          <a:p>
            <a:r>
              <a:t>weight, which is correlated with social class.</a:t>
            </a:r>
          </a:p>
          <a:p>
            <a:r>
              <a:t>We will discuss the AUC metric in the third lecture. For now,</a:t>
            </a:r>
          </a:p>
          <a:p>
            <a:r>
              <a:t>you can think of a classi8ier with 81% AUC as one that,</a:t>
            </a:r>
          </a:p>
          <a:p>
            <a:r>
              <a:t>given a random pair of gay and heterosexual instances from</a:t>
            </a:r>
          </a:p>
          <a:p>
            <a:r>
              <a:t>the data, will successfully select the gay instance 81% of the</a:t>
            </a:r>
          </a:p>
          <a:p>
            <a:r>
              <a:t>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interpret numbers like these, it’s good to get some points</a:t>
            </a:r>
          </a:p>
          <a:p>
            <a:r>
              <a:t>of reference. If we try to guess somebody’s gender or sex</a:t>
            </a:r>
          </a:p>
          <a:p>
            <a:r>
              <a:t>(the distinction doesn’t matter much for such a crude</a:t>
            </a:r>
          </a:p>
          <a:p>
            <a:r>
              <a:t>guess), while knowing nothing about them except their</a:t>
            </a:r>
          </a:p>
          <a:p>
            <a:r>
              <a:t>age, the best we can expect to do is slightly better than</a:t>
            </a:r>
          </a:p>
          <a:p>
            <a:r>
              <a:t>chance level (51% of our guesses will be correct). The</a:t>
            </a:r>
          </a:p>
          <a:p>
            <a:r>
              <a:t>reason we can get better than chance level is that women</a:t>
            </a:r>
          </a:p>
          <a:p>
            <a:r>
              <a:t>tend to live longer than men. This means that if we guess</a:t>
            </a:r>
          </a:p>
          <a:p>
            <a:r>
              <a:t>“female” for older people, we are a little bit more likely to</a:t>
            </a:r>
          </a:p>
          <a:p>
            <a:r>
              <a:t>be correct.</a:t>
            </a:r>
          </a:p>
          <a:p>
            <a:r>
              <a:t>If we restrict ourselves to older people, the effect becomes</a:t>
            </a:r>
          </a:p>
          <a:p>
            <a:r>
              <a:t>more pronounced and we can get to the level the sexuality</a:t>
            </a:r>
          </a:p>
          <a:p>
            <a:r>
              <a:t>classi8ier achieved (based purely on noses in the female</a:t>
            </a:r>
          </a:p>
          <a:p>
            <a:r>
              <a:t>part of the data). This can help us to interpret the AUC the</a:t>
            </a:r>
          </a:p>
          <a:p>
            <a:r>
              <a:t>authors managed to achieve. Note that this accuracy is</a:t>
            </a:r>
          </a:p>
          <a:p>
            <a:r>
              <a:t>achieved by calling everybody female, and the AUC is</a:t>
            </a:r>
          </a:p>
          <a:p>
            <a:r>
              <a:t>achieved by guessing that the older person in a pair is</a:t>
            </a:r>
          </a:p>
          <a:p>
            <a:r>
              <a:t>always female. Think about that. If you walk into a care</a:t>
            </a:r>
          </a:p>
          <a:p>
            <a:r>
              <a:t>home blindfolded and simply call everybody female,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provide some points of references for ROC curves, here</a:t>
            </a:r>
          </a:p>
          <a:p>
            <a:r>
              <a:t>are all the curves you can achieve for sex/gender</a:t>
            </a:r>
          </a:p>
          <a:p>
            <a:r>
              <a:t>classi8ication based on a single physical measurement. For</a:t>
            </a:r>
          </a:p>
          <a:p>
            <a:r>
              <a:t>some of these we get very impressive looking curves. But is</a:t>
            </a:r>
          </a:p>
          <a:p>
            <a:r>
              <a:t>the word "detection" really appropriate when you are</a:t>
            </a:r>
          </a:p>
          <a:p>
            <a:r>
              <a:t>making one physical measurement and predicting sex or</a:t>
            </a:r>
          </a:p>
          <a:p>
            <a:r>
              <a:t>gender based on that?</a:t>
            </a:r>
          </a:p>
          <a:p>
            <a:r>
              <a:t>The lowest AUC comes from using buttock circumference as</a:t>
            </a:r>
          </a:p>
          <a:p>
            <a:r>
              <a:t>a feature, and the highest from using neck circumference.</a:t>
            </a:r>
          </a:p>
          <a:p>
            <a:r>
              <a:t>Since these are soldiers, it's likely that differences due to</a:t>
            </a:r>
          </a:p>
          <a:p>
            <a:r>
              <a:t>muscle volume are more pronounced here than they would</a:t>
            </a:r>
          </a:p>
          <a:p>
            <a:r>
              <a:t>be generally. This plot is for the complete, unbalanced data</a:t>
            </a:r>
          </a:p>
          <a:p>
            <a:r>
              <a:t>so there is a 4:1 class imbalance (male:female).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the histograms per sex/gender for the ANSUR</a:t>
            </a:r>
          </a:p>
          <a:p>
            <a:r>
              <a:t>data. There is a big discrepancy, but notice also how big the</a:t>
            </a:r>
          </a:p>
          <a:p>
            <a:r>
              <a:t>area of overlap is.</a:t>
            </a:r>
          </a:p>
          <a:p>
            <a:r>
              <a:t>This is always what we should imagine when people say</a:t>
            </a:r>
          </a:p>
          <a:p>
            <a:r>
              <a:t>that property A is predictive for attribute B. Just because</a:t>
            </a:r>
          </a:p>
          <a:p>
            <a:r>
              <a:t>there’s some difference between the populations doesn’t</a:t>
            </a:r>
          </a:p>
          <a:p>
            <a:r>
              <a:t>mean that there are no short men or tall women. And most</a:t>
            </a:r>
          </a:p>
          <a:p>
            <a:r>
              <a:t>importantly it doesn’t mean that being short makes you in</a:t>
            </a:r>
          </a:p>
          <a:p>
            <a:r>
              <a:t>some way more feminine or being tall makes you in some</a:t>
            </a:r>
          </a:p>
          <a:p>
            <a:r>
              <a:t>way more masculine.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After all that, it’s natural to ask whether this research</a:t>
            </a:r>
          </a:p>
          <a:p>
            <a:r>
              <a:t>project was a mistake. In short, were the authors wrong to</a:t>
            </a:r>
          </a:p>
          <a:p>
            <a:r>
              <a:t>do this, and if so in what way? This is a question of values</a:t>
            </a:r>
          </a:p>
          <a:p>
            <a:r>
              <a:t>rather than science, so it’s up to you to decide. I’ll just note</a:t>
            </a:r>
          </a:p>
          <a:p>
            <a:r>
              <a:t>some important points to consider.</a:t>
            </a:r>
          </a:p>
          <a:p>
            <a:r>
              <a:t>Firstly, the authors weren’t looking to prove this point one</a:t>
            </a:r>
          </a:p>
          <a:p>
            <a:r>
              <a:t>way or another, and they initially stumbled on to their</a:t>
            </a:r>
          </a:p>
          <a:p>
            <a:r>
              <a:t>8indings. Given that a result has been established, it’s most</a:t>
            </a:r>
          </a:p>
          <a:p>
            <a:r>
              <a:t>often unethical not to report it. So long as that reporting is</a:t>
            </a:r>
          </a:p>
          <a:p>
            <a:r>
              <a:t>done carefully and responsibly, of course.</a:t>
            </a:r>
          </a:p>
          <a:p>
            <a:r>
              <a:t>The stated aim of the paper is not to make any claims about</a:t>
            </a:r>
          </a:p>
          <a:p>
            <a:r>
              <a:t>causal mechanisms. The authors are less interested in</a:t>
            </a:r>
          </a:p>
          <a:p>
            <a:r>
              <a:t>whether the classi8ier picks up on grooming choices of</a:t>
            </a:r>
          </a:p>
          <a:p>
            <a:r>
              <a:t>biological features, than in whether the guess can be made</a:t>
            </a:r>
          </a:p>
          <a:p>
            <a:r>
              <a:t>with some success at all.</a:t>
            </a:r>
          </a:p>
          <a:p>
            <a:r>
              <a:t>If we decide that the result did need to be reported, we may</a:t>
            </a:r>
          </a:p>
          <a:p>
            <a:r>
              <a:t>consider whether the authors were guilty of poor framing.</a:t>
            </a:r>
          </a:p>
          <a:p>
            <a:r>
              <a:t>The use of the word detecting is subject 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you 8ind yourself in the unfortunate situation of having to</a:t>
            </a:r>
          </a:p>
          <a:p>
            <a:r>
              <a:t>publish something controversial like this, or having to</a:t>
            </a:r>
          </a:p>
          <a:p>
            <a:r>
              <a:t>interpret somebody else's work on a controversial topic,</a:t>
            </a:r>
          </a:p>
          <a:p>
            <a:r>
              <a:t>keep these tips in mind.</a:t>
            </a:r>
          </a:p>
          <a:p>
            <a:r>
              <a:t>Finally, and this is a personal opinion, so make of it what</a:t>
            </a:r>
          </a:p>
          <a:p>
            <a:r>
              <a:t>you will: if you read about research like this in a newspaper,</a:t>
            </a:r>
          </a:p>
          <a:p>
            <a:r>
              <a:t>or on social media, remember that you are an academic (or</a:t>
            </a:r>
          </a:p>
          <a:p>
            <a:r>
              <a:t>at least you will be when you graduate). That comes with a</a:t>
            </a:r>
          </a:p>
          <a:p>
            <a:r>
              <a:t>certain responsibility to dig into the primary research</a:t>
            </a:r>
          </a:p>
          <a:p>
            <a:r>
              <a:t>before you make a judgment. Don't just trust the journalists,</a:t>
            </a:r>
          </a:p>
          <a:p>
            <a:r>
              <a:t>or worse, the commenters on Twitter. If you really want to</a:t>
            </a:r>
          </a:p>
          <a:p>
            <a:r>
              <a:t>give your opinion on a situation like this, dig out the</a:t>
            </a:r>
          </a:p>
          <a:p>
            <a:r>
              <a:t>original paper and read it. If you don't, the most honest</a:t>
            </a:r>
          </a:p>
          <a:p>
            <a:r>
              <a:t>thing to do is to withhold judgment.</a:t>
            </a:r>
          </a:p>
          <a:p>
            <a:r>
              <a:t>What you you will 8ind when you dig down, is almost always</a:t>
            </a:r>
          </a:p>
          <a:p>
            <a:r>
              <a:t>that the truth is much more subtle than the news and social</a:t>
            </a:r>
          </a:p>
          <a:p>
            <a:r>
              <a:t>media make it look. In this speci8ic case, the majority of</a:t>
            </a:r>
          </a:p>
          <a:p>
            <a:r>
              <a:t>criticism leveled at the authors was simply inaccurate.</a:t>
            </a:r>
          </a:p>
          <a:p>
            <a:r>
              <a:t>There are valid and serious criticisms of the paper, but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I’m indebted to people on twitter for helping me to see the</a:t>
            </a:r>
          </a:p>
          <a:p>
            <a:r>
              <a:t>different angles on this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|section|No Free Lunch|</a:t>
            </a:r>
          </a:p>
          <a:p>
            <a:r>
              <a:t>|video|https://surfdrive.surf.nl/8iles/index.php/s/</a:t>
            </a:r>
          </a:p>
          <a:p>
            <a:r>
              <a:t>Ox1323uBQfMfwmX/download|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end with a very short, but important discussion.</a:t>
            </a:r>
          </a:p>
          <a:p>
            <a:r>
              <a:t>A question that often arises is: which classi&gt;ier, model, search</a:t>
            </a:r>
          </a:p>
          <a:p>
            <a:r>
              <a:t>method, etc. is the best, independent of the data? Before we</a:t>
            </a:r>
          </a:p>
          <a:p>
            <a:r>
              <a:t>see the data, can we make a best guess for which</a:t>
            </a:r>
          </a:p>
          <a:p>
            <a:r>
              <a:t>approaches to try? Are there some methods that always</a:t>
            </a:r>
          </a:p>
          <a:p>
            <a:r>
              <a:t>work really well?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the 90s two researchers, named Wolpert and MacReady</a:t>
            </a:r>
          </a:p>
          <a:p>
            <a:r>
              <a:t>published a proof of an important theorem. The details are</a:t>
            </a:r>
          </a:p>
          <a:p>
            <a:r>
              <a:t>technical, but it basically stated that if we look at</a:t>
            </a:r>
          </a:p>
          <a:p>
            <a:r>
              <a:t>optimization algorithms (of which machine learning</a:t>
            </a:r>
          </a:p>
          <a:p>
            <a:r>
              <a:t>algorithms are a speci8ic instance), by averaging their</a:t>
            </a:r>
          </a:p>
          <a:p>
            <a:r>
              <a:t>performance over all possible tasks, they all perform</a:t>
            </a:r>
          </a:p>
          <a:p>
            <a:r>
              <a:t>exactly the same. That is, if we want to know which</a:t>
            </a:r>
          </a:p>
          <a:p>
            <a:r>
              <a:t>algorithm is the best independent of the task, we cannot tell</a:t>
            </a:r>
          </a:p>
          <a:p>
            <a:r>
              <a:t>them apart by their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another example, that should show you what a</a:t>
            </a:r>
          </a:p>
          <a:p>
            <a:r>
              <a:t>strange result the no free lunch theorem is. The common</a:t>
            </a:r>
          </a:p>
          <a:p>
            <a:r>
              <a:t>practice of dataset splitting and choosing a model by its test</a:t>
            </a:r>
          </a:p>
          <a:p>
            <a:r>
              <a:t>set performance is also an algorithm. We do it manually, but</a:t>
            </a:r>
          </a:p>
          <a:p>
            <a:r>
              <a:t>we could also program it into a computer. Let's say we want</a:t>
            </a:r>
          </a:p>
          <a:p>
            <a:r>
              <a:t>to choose between two methods A and B. We can follow the</a:t>
            </a:r>
          </a:p>
          <a:p>
            <a:r>
              <a:t>normal approach: split the data, apply both and choose</a:t>
            </a:r>
          </a:p>
          <a:p>
            <a:r>
              <a:t>whichever performs best. Call this method C.</a:t>
            </a:r>
          </a:p>
          <a:p>
            <a:r>
              <a:t>We can also do a ridiculous, counter-intuitive thing and</a:t>
            </a:r>
          </a:p>
          <a:p>
            <a:r>
              <a:t>choose the method that performs worst. Call this method D.</a:t>
            </a:r>
          </a:p>
          <a:p>
            <a:r>
              <a:t>The no free lunch theorem says that method D should</a:t>
            </a:r>
          </a:p>
          <a:p>
            <a:r>
              <a:t>outperform method C just as often as the other way around.</a:t>
            </a:r>
          </a:p>
          <a:p>
            <a:r>
              <a:t>The kind of datasets where this happens are the ones where</a:t>
            </a:r>
          </a:p>
          <a:p>
            <a:r>
              <a:t>the test set happens to behave very differently from the</a:t>
            </a:r>
          </a:p>
          <a:p>
            <a:r>
              <a:t>training set. Since we usually make the split randomly, these</a:t>
            </a:r>
          </a:p>
          <a:p>
            <a:r>
              <a:t>would be very unusual or unlikely datasets, and we feel</a:t>
            </a:r>
          </a:p>
          <a:p>
            <a:r>
              <a:t>justi8ied in using method C. Still, this only works because</a:t>
            </a:r>
          </a:p>
          <a:p>
            <a:r>
              <a:t>we are able to make certain assumptions about our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a way, we’re back to the problem of induction. For any</a:t>
            </a:r>
          </a:p>
          <a:p>
            <a:r>
              <a:t>given situation where a learning method works, there’s a</a:t>
            </a:r>
          </a:p>
          <a:p>
            <a:r>
              <a:t>situation where it doesn’t. Induction (aka. learning from</a:t>
            </a:r>
          </a:p>
          <a:p>
            <a:r>
              <a:t>experience) works in practice, but there are exceptions, and</a:t>
            </a:r>
          </a:p>
          <a:p>
            <a:r>
              <a:t>we can't tell just by looking at the data when it will and</a:t>
            </a:r>
          </a:p>
          <a:p>
            <a:r>
              <a:t>won't work.</a:t>
            </a:r>
          </a:p>
          <a:p>
            <a:r>
              <a:t>Note that if there were some algorithm that could tell us</a:t>
            </a:r>
          </a:p>
          <a:p>
            <a:r>
              <a:t>which situation we were in, we could just use this algorithm</a:t>
            </a:r>
          </a:p>
          <a:p>
            <a:r>
              <a:t>to select our learning method, and beat the NFL theorem.</a:t>
            </a:r>
          </a:p>
          <a:p>
            <a:r>
              <a:t>In short, we need to make some assumptions about the</a:t>
            </a:r>
          </a:p>
          <a:p>
            <a:r>
              <a:t>nature of whatever it was that created our data. Without</a:t>
            </a:r>
          </a:p>
          <a:p>
            <a:r>
              <a:t>such assumptions, learning doesn't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an increasingly important phrase in machine</a:t>
            </a:r>
          </a:p>
          <a:p>
            <a:r>
              <a:t>learning. The inductive bias of a method or model are those</a:t>
            </a:r>
          </a:p>
          <a:p>
            <a:r>
              <a:t>assumptions about the domain that are, explicitly or</a:t>
            </a:r>
          </a:p>
          <a:p>
            <a:r>
              <a:t>implicitly, hardcoded into the model.</a:t>
            </a:r>
          </a:p>
          <a:p>
            <a:r>
              <a:t>For instance, in a linear regression model, the assumption is</a:t>
            </a:r>
          </a:p>
          <a:p>
            <a:r>
              <a:t>that all instances lie on a line (or the higher-dimensional</a:t>
            </a:r>
          </a:p>
          <a:p>
            <a:r>
              <a:t>equivalent). If this assumption isn't violated too much, the</a:t>
            </a:r>
          </a:p>
          <a:p>
            <a:r>
              <a:t>model is a good 8it for the data. If the assumption is violated</a:t>
            </a:r>
          </a:p>
          <a:p>
            <a:r>
              <a:t>very badly, we need to look for ways to change the</a:t>
            </a:r>
          </a:p>
          <a:p>
            <a:r>
              <a:t>inductive bias, for instance by picking a different model, or</a:t>
            </a:r>
          </a:p>
          <a:p>
            <a:r>
              <a:t>by enriching the linear model with extra features, like we</a:t>
            </a:r>
          </a:p>
          <a:p>
            <a:r>
              <a:t>will do in the next lecture.</a:t>
            </a:r>
          </a:p>
          <a:p>
            <a:r>
              <a:t>We can summarize the business of machine learning and</a:t>
            </a:r>
          </a:p>
          <a:p>
            <a:r>
              <a:t>data science as follows. The business of the machine</a:t>
            </a:r>
          </a:p>
          <a:p>
            <a:r>
              <a:t>learning researcher is to create a variety of models with</a:t>
            </a:r>
          </a:p>
          <a:p>
            <a:r>
              <a:t>helpful inductive biases. The business of the data scientist is</a:t>
            </a:r>
          </a:p>
          <a:p>
            <a:r>
              <a:t>to 8igure out which of the available inductive biases is</a:t>
            </a:r>
          </a:p>
          <a:p>
            <a:r>
              <a:t>helpful for any given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“out” to the NFL Theorem, is that there is a “universal</a:t>
            </a:r>
          </a:p>
          <a:p>
            <a:r>
              <a:t>distribution” governing all processes that create data.</a:t>
            </a:r>
          </a:p>
          <a:p>
            <a:r>
              <a:t>The NFL Theorem implicitly assumes that all datasets are</a:t>
            </a:r>
          </a:p>
          <a:p>
            <a:r>
              <a:t>equally likely. Since this is not the case, there is some other,</a:t>
            </a:r>
          </a:p>
          <a:p>
            <a:r>
              <a:t>non-uniform distribution that tells us which datasets are</a:t>
            </a:r>
          </a:p>
          <a:p>
            <a:r>
              <a:t>more likely than others, averaged over all possible settings.</a:t>
            </a:r>
          </a:p>
          <a:p>
            <a:r>
              <a:t>Using such a universal data distribution, we could (in</a:t>
            </a:r>
          </a:p>
          <a:p>
            <a:r>
              <a:t>theory) work out a universally best learning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don't have too many practical ideas about the properties</a:t>
            </a:r>
          </a:p>
          <a:p>
            <a:r>
              <a:t>of such a universal distribution, but one thing that crops up</a:t>
            </a:r>
          </a:p>
          <a:p>
            <a:r>
              <a:t>a lot is that simple data is necessarily more likely than</a:t>
            </a:r>
          </a:p>
          <a:p>
            <a:r>
              <a:t>complex data.</a:t>
            </a:r>
          </a:p>
          <a:p>
            <a:r>
              <a:t>This suggests that in learning we should have a simplicity</a:t>
            </a:r>
          </a:p>
          <a:p>
            <a:r>
              <a:t>bias. If there are two models that both 8it the data, one very</a:t>
            </a:r>
          </a:p>
          <a:p>
            <a:r>
              <a:t>simple, like a linear model, and one very complex, like a</a:t>
            </a:r>
          </a:p>
          <a:p>
            <a:r>
              <a:t>very big decision tree, then it's more likely that the simple</a:t>
            </a:r>
          </a:p>
          <a:p>
            <a:r>
              <a:t>model generated the data.</a:t>
            </a:r>
          </a:p>
          <a:p>
            <a:r>
              <a:t>Such simplicity biases can be implemented in many</a:t>
            </a:r>
          </a:p>
          <a:p>
            <a:r>
              <a:t>different ways, and we'll see some concrete examples as the</a:t>
            </a:r>
          </a:p>
          <a:p>
            <a:r>
              <a:t>course progresses.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E8ECF4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E8ECF4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E8ECF4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E8ECF4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E8ECF4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8ECF4"/>
          </a:solidFill>
        </a:defRPr>
      </a:defPPr>
      <a:lvl1pPr marL="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rgbClr val="E8ECF4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8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8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8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8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8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8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8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8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8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8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8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8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8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8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8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8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8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8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8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8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8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05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5.jpg"/>
          <p:cNvPicPr>
            <a:picLocks noChangeAspect="1"/>
          </p:cNvPicPr>
          <p:nvPr/>
        </p:nvPicPr>
        <p:blipFill>
          <a:blip r:embed="rId3"/>
          <a:srcRect r="5730" b="2022"/>
          <a:stretch>
            <a:fillRect/>
          </a:stretch>
        </p:blipFill>
        <p:spPr>
          <a:xfrm>
            <a:off x="349469" y="617243"/>
            <a:ext cx="11493062" cy="52317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51"/>
            <a:ext cx="12191695" cy="67392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76" y="1275377"/>
            <a:ext cx="12191695" cy="4307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5705"/>
            <a:ext cx="12191695" cy="48265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124"/>
            <a:ext cx="12191695" cy="66177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4562"/>
            <a:ext cx="12191695" cy="3528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842"/>
            <a:ext cx="12191695" cy="55483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1554"/>
            <a:ext cx="12191695" cy="48948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1709"/>
            <a:ext cx="12191695" cy="521458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2789"/>
            <a:ext cx="12191695" cy="191242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1388881"/>
            <a:ext cx="12191695" cy="37649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4777"/>
            <a:ext cx="12191695" cy="53084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2314"/>
            <a:ext cx="12191695" cy="435337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4090"/>
            <a:ext cx="12191695" cy="43698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3337"/>
            <a:ext cx="12191695" cy="363132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5742"/>
            <a:ext cx="12191695" cy="404651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421" y="2094067"/>
            <a:ext cx="12191695" cy="266986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DF87-B9F9-9C44-0A5A-1397ADEDC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3600" b="1" dirty="0"/>
              <a:t>Why Stats in 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89780-0F6D-162C-1F66-1234332B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ard Confidence"/>
          <p:cNvSpPr/>
          <p:nvPr/>
        </p:nvSpPr>
        <p:spPr>
          <a:xfrm>
            <a:off x="762000" y="1524000"/>
            <a:ext cx="5080000" cy="45720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0">
            <a:noFill/>
          </a:ln>
        </p:spPr>
        <p:txBody>
          <a:bodyPr wrap="square" lIns="228600" tIns="914400" rIns="228600" bIns="182880" anchor="t"/>
          <a:lstStyle/>
          <a:p>
            <a:pPr algn="l">
              <a:buNone/>
            </a:pPr>
            <a:r>
              <a:rPr lang="en-US" sz="2400" b="1" dirty="0">
                <a:solidFill>
                  <a:srgbClr val="1A56DB"/>
                </a:solidFill>
              </a:rPr>
              <a:t>Show Confidence</a:t>
            </a:r>
          </a:p>
          <a:p>
            <a:pPr algn="l">
              <a:buNone/>
            </a:pPr>
            <a:r>
              <a:rPr lang="en-US" sz="1800" dirty="0">
                <a:solidFill>
                  <a:srgbClr val="3C4043"/>
                </a:solidFill>
              </a:rPr>
              <a:t>Quantify certainty in predictions with confidence intervals, p-values, and statistical tests</a:t>
            </a:r>
          </a:p>
        </p:txBody>
      </p:sp>
      <p:sp>
        <p:nvSpPr>
          <p:cNvPr id="11" name="Card Spread"/>
          <p:cNvSpPr/>
          <p:nvPr/>
        </p:nvSpPr>
        <p:spPr>
          <a:xfrm>
            <a:off x="6350000" y="1524000"/>
            <a:ext cx="5080000" cy="4572000"/>
          </a:xfrm>
          <a:prstGeom prst="roundRect">
            <a:avLst>
              <a:gd name="adj" fmla="val 8000"/>
            </a:avLst>
          </a:prstGeom>
          <a:solidFill>
            <a:srgbClr val="FEF3E0"/>
          </a:solidFill>
          <a:ln w="0">
            <a:noFill/>
          </a:ln>
        </p:spPr>
        <p:txBody>
          <a:bodyPr wrap="square" lIns="228600" tIns="914400" rIns="228600" bIns="182880" anchor="t"/>
          <a:lstStyle/>
          <a:p>
            <a:pPr algn="l">
              <a:buNone/>
            </a:pPr>
            <a:r>
              <a:rPr lang="en-US" sz="2400" b="1" dirty="0">
                <a:solidFill>
                  <a:srgbClr val="E67700"/>
                </a:solidFill>
              </a:rPr>
              <a:t>Show Spread</a:t>
            </a:r>
          </a:p>
          <a:p>
            <a:pPr algn="l">
              <a:buNone/>
            </a:pPr>
            <a:r>
              <a:rPr lang="en-US" sz="1800" dirty="0">
                <a:solidFill>
                  <a:srgbClr val="3C4043"/>
                </a:solidFill>
              </a:rPr>
              <a:t>Visualize variability in data through standard deviation, variance, and distribution plots</a:t>
            </a:r>
          </a:p>
        </p:txBody>
      </p:sp>
      <p:pic>
        <p:nvPicPr>
          <p:cNvPr id="12" name="Graphic 12" descr="Confidence shield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200" y="1676400"/>
            <a:ext cx="558800" cy="558800"/>
          </a:xfrm>
          <a:prstGeom prst="rect">
            <a:avLst/>
          </a:prstGeom>
        </p:spPr>
      </p:pic>
      <p:pic>
        <p:nvPicPr>
          <p:cNvPr id="13" name="Graphic 13" descr="Bar chart spread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3200" y="16764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344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225"/>
            <a:ext cx="12191695" cy="47255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0486"/>
            <a:ext cx="12191695" cy="551702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4860"/>
            <a:ext cx="12191695" cy="238827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66148"/>
            <a:ext cx="12191695" cy="232570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6236"/>
            <a:ext cx="12191695" cy="426552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58165"/>
            <a:ext cx="12191695" cy="174167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8406"/>
            <a:ext cx="12191695" cy="5481187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9733"/>
            <a:ext cx="12191695" cy="433853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3066"/>
            <a:ext cx="12191695" cy="4251867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6382"/>
            <a:ext cx="12191695" cy="300523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6000"/>
            <a:ext cx="12191695" cy="500599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0421"/>
            <a:ext cx="12191695" cy="5277157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9134"/>
            <a:ext cx="12191695" cy="533973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0892"/>
            <a:ext cx="12191695" cy="3796216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0533"/>
            <a:ext cx="12191695" cy="293693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1862"/>
            <a:ext cx="12191695" cy="321427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098"/>
            <a:ext cx="12191695" cy="407780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124"/>
            <a:ext cx="12191695" cy="661775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02826"/>
            <a:ext cx="12191695" cy="2652348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2179"/>
            <a:ext cx="12191695" cy="3733641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9156"/>
            <a:ext cx="12191695" cy="387968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7351"/>
            <a:ext cx="12191695" cy="3823297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344"/>
            <a:ext cx="12191695" cy="547531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6365"/>
            <a:ext cx="12191695" cy="474527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51"/>
            <a:ext cx="12191695" cy="6739298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3615"/>
            <a:ext cx="12191695" cy="3050769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124"/>
            <a:ext cx="12191695" cy="6617752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1591"/>
            <a:ext cx="12191695" cy="5634817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0527"/>
            <a:ext cx="12191695" cy="4056945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8852"/>
            <a:ext cx="12191695" cy="2680295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468"/>
            <a:ext cx="12191695" cy="6733063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9475"/>
            <a:ext cx="12191695" cy="3379049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6065"/>
            <a:ext cx="12191695" cy="524587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4"/>
            <a:ext cx="12191695" cy="6612091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0584"/>
            <a:ext cx="12191695" cy="3236832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40"/>
            <a:ext cx="12191695" cy="662252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4690"/>
            <a:ext cx="12191695" cy="336862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9548"/>
            <a:ext cx="12191695" cy="17189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DarkTeal">
      <a:dk1>
        <a:srgbClr val="FFFFFF"/>
      </a:dk1>
      <a:lt1>
        <a:srgbClr val="1A1F2E"/>
      </a:lt1>
      <a:dk2>
        <a:srgbClr val="E8ECF4"/>
      </a:dk2>
      <a:lt2>
        <a:srgbClr val="212738"/>
      </a:lt2>
      <a:accent1>
        <a:srgbClr val="FFFFFF"/>
      </a:accent1>
      <a:accent2>
        <a:srgbClr val="F59E0B"/>
      </a:accent2>
      <a:accent3>
        <a:srgbClr val="16A34A"/>
      </a:accent3>
      <a:accent4>
        <a:srgbClr val="8A94A6"/>
      </a:accent4>
      <a:accent5>
        <a:srgbClr val="DC2626"/>
      </a:accent5>
      <a:accent6>
        <a:srgbClr val="80FFF0"/>
      </a:accent6>
      <a:hlink>
        <a:srgbClr val="FFFFFF"/>
      </a:hlink>
      <a:folHlink>
        <a:srgbClr val="8A94A6"/>
      </a:folHlink>
    </a:clrScheme>
    <a:fontScheme name="Calibri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5910636-4640-4D40-9933-078D7E3E0053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12042</Words>
  <Application>Microsoft Macintosh PowerPoint</Application>
  <PresentationFormat>Widescreen</PresentationFormat>
  <Paragraphs>1125</Paragraphs>
  <Slides>106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106</vt:i4>
      </vt:variant>
    </vt:vector>
  </HeadingPairs>
  <TitlesOfParts>
    <vt:vector size="110" baseType="lpstr">
      <vt:lpstr>Arial</vt:lpstr>
      <vt:lpstr>Calibri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Stats in ML?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Casati, Fabio</cp:lastModifiedBy>
  <cp:revision>5</cp:revision>
  <dcterms:created xsi:type="dcterms:W3CDTF">2013-01-27T09:14:16Z</dcterms:created>
  <dcterms:modified xsi:type="dcterms:W3CDTF">2026-03-20T10:42:45Z</dcterms:modified>
  <cp:category/>
</cp:coreProperties>
</file>