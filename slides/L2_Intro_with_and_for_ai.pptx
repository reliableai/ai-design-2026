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0" r:id="rId2"/>
    <p:sldId id="311" r:id="rId3"/>
    <p:sldId id="326" r:id="rId4"/>
    <p:sldId id="313" r:id="rId5"/>
    <p:sldId id="325" r:id="rId6"/>
    <p:sldId id="277" r:id="rId7"/>
    <p:sldId id="32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D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53"/>
    <p:restoredTop sz="94625"/>
  </p:normalViewPr>
  <p:slideViewPr>
    <p:cSldViewPr snapToGrid="0" snapToObjects="1">
      <p:cViewPr varScale="1">
        <p:scale>
          <a:sx n="69" d="100"/>
          <a:sy n="69" d="100"/>
        </p:scale>
        <p:origin x="224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19" y="752509"/>
            <a:ext cx="7513071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400" b="1" i="0">
                <a:solidFill>
                  <a:srgbClr val="FFFFFF"/>
                </a:solidFill>
                <a:latin typeface="Segoe UI" pitchFamily="34" charset="0"/>
              </a:defRPr>
            </a:pPr>
            <a:r>
              <a:rPr lang="en-US" dirty="0"/>
              <a:t>The many roles of AI in Software. </a:t>
            </a:r>
          </a:p>
          <a:p>
            <a:pPr algn="l">
              <a:defRPr sz="5400" b="1" i="0">
                <a:solidFill>
                  <a:srgbClr val="FFFFFF"/>
                </a:solidFill>
                <a:latin typeface="Segoe UI" pitchFamily="34" charset="0"/>
              </a:defRPr>
            </a:pPr>
            <a:endParaRPr lang="en-US" sz="4000" dirty="0"/>
          </a:p>
          <a:p>
            <a:pPr algn="l">
              <a:defRPr sz="5400" b="1" i="0">
                <a:solidFill>
                  <a:srgbClr val="FFFFFF"/>
                </a:solidFill>
                <a:latin typeface="Segoe UI" pitchFamily="34" charset="0"/>
              </a:defRPr>
            </a:pPr>
            <a:r>
              <a:rPr lang="en-US" sz="4000" i="1" dirty="0"/>
              <a:t>March 2026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46358"/>
            <a:ext cx="7138316" cy="6355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0D2C6"/>
                </a:solidFill>
                <a:latin typeface="Calibri"/>
              </a:defRPr>
            </a:pPr>
            <a:r>
              <a:rPr sz="2400" dirty="0"/>
              <a:t>reliableai.github.io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94998"/>
            <a:ext cx="7138316" cy="6355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 i="0">
                <a:solidFill>
                  <a:srgbClr val="8B92B3"/>
                </a:solidFill>
                <a:latin typeface="Calibri"/>
              </a:defRPr>
            </a:pPr>
            <a:r>
              <a:rPr sz="2000"/>
              <a:t>Fabio Casati  ·  University of Trento</a:t>
            </a:r>
          </a:p>
        </p:txBody>
      </p:sp>
    </p:spTree>
    <p:extLst>
      <p:ext uri="{BB962C8B-B14F-4D97-AF65-F5344CB8AC3E}">
        <p14:creationId xmlns:p14="http://schemas.microsoft.com/office/powerpoint/2010/main" val="151316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914400" y="274638"/>
            <a:ext cx="10363200" cy="6400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plan for today</a:t>
            </a:r>
          </a:p>
        </p:txBody>
      </p:sp>
      <p:sp>
        <p:nvSpPr>
          <p:cNvPr id="11" name="Divider"/>
          <p:cNvSpPr/>
          <p:nvPr/>
        </p:nvSpPr>
        <p:spPr>
          <a:xfrm>
            <a:off x="914400" y="1005840"/>
            <a:ext cx="1828800" cy="27432"/>
          </a:xfrm>
          <a:prstGeom prst="rect">
            <a:avLst/>
          </a:prstGeom>
          <a:solidFill>
            <a:srgbClr val="00D2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Bg0"/>
          <p:cNvSpPr/>
          <p:nvPr/>
        </p:nvSpPr>
        <p:spPr>
          <a:xfrm>
            <a:off x="914400" y="1598532"/>
            <a:ext cx="10363200" cy="952500"/>
          </a:xfrm>
          <a:prstGeom prst="roundRect">
            <a:avLst>
              <a:gd name="adj" fmla="val 3000"/>
            </a:avLst>
          </a:prstGeom>
          <a:solidFill>
            <a:srgbClr val="1E244A"/>
          </a:solidFill>
          <a:ln w="12700"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CardAccent0"/>
          <p:cNvSpPr/>
          <p:nvPr/>
        </p:nvSpPr>
        <p:spPr>
          <a:xfrm>
            <a:off x="914400" y="1598532"/>
            <a:ext cx="73152" cy="952500"/>
          </a:xfrm>
          <a:prstGeom prst="roundRect">
            <a:avLst>
              <a:gd name="adj" fmla="val 0"/>
            </a:avLst>
          </a:prstGeom>
          <a:solidFill>
            <a:srgbClr val="00D2C6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CardText0"/>
          <p:cNvSpPr txBox="1"/>
          <p:nvPr/>
        </p:nvSpPr>
        <p:spPr>
          <a:xfrm>
            <a:off x="1261872" y="1662032"/>
            <a:ext cx="91440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00D2C6"/>
                </a:solidFill>
                <a:latin typeface="Calibri" pitchFamily="34" charset="0"/>
              </a:rPr>
              <a:t>01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</a:rPr>
              <a:t>  — 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Set up L1 notebooks</a:t>
            </a:r>
          </a:p>
          <a:p>
            <a:pPr algn="l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</a:rPr>
              <a:t>Make sure we can run L1 notebooks (no audio or image for now please)</a:t>
            </a:r>
          </a:p>
        </p:txBody>
      </p:sp>
      <p:sp>
        <p:nvSpPr>
          <p:cNvPr id="24" name="CardBg1"/>
          <p:cNvSpPr/>
          <p:nvPr/>
        </p:nvSpPr>
        <p:spPr>
          <a:xfrm>
            <a:off x="914400" y="2805032"/>
            <a:ext cx="10363200" cy="952500"/>
          </a:xfrm>
          <a:prstGeom prst="roundRect">
            <a:avLst>
              <a:gd name="adj" fmla="val 3000"/>
            </a:avLst>
          </a:prstGeom>
          <a:solidFill>
            <a:srgbClr val="1E244A"/>
          </a:solidFill>
          <a:ln w="12700"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CardAccent1"/>
          <p:cNvSpPr/>
          <p:nvPr/>
        </p:nvSpPr>
        <p:spPr>
          <a:xfrm>
            <a:off x="914400" y="2805032"/>
            <a:ext cx="73152" cy="952500"/>
          </a:xfrm>
          <a:prstGeom prst="roundRect">
            <a:avLst>
              <a:gd name="adj" fmla="val 0"/>
            </a:avLst>
          </a:prstGeom>
          <a:solidFill>
            <a:srgbClr val="00D2C6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CardText1"/>
          <p:cNvSpPr txBox="1"/>
          <p:nvPr/>
        </p:nvSpPr>
        <p:spPr>
          <a:xfrm>
            <a:off x="1261872" y="2868532"/>
            <a:ext cx="91440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00D2C6"/>
                </a:solidFill>
                <a:latin typeface="Calibri" pitchFamily="34" charset="0"/>
              </a:rPr>
              <a:t>02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</a:rPr>
              <a:t>  — 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Roles of AI in software</a:t>
            </a:r>
          </a:p>
          <a:p>
            <a:pPr algn="l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</a:rPr>
              <a:t>Understand the roles of AI in software – think before you implement</a:t>
            </a:r>
          </a:p>
        </p:txBody>
      </p:sp>
      <p:sp>
        <p:nvSpPr>
          <p:cNvPr id="28" name="CardBg2"/>
          <p:cNvSpPr/>
          <p:nvPr/>
        </p:nvSpPr>
        <p:spPr>
          <a:xfrm>
            <a:off x="914400" y="4011532"/>
            <a:ext cx="10363200" cy="952500"/>
          </a:xfrm>
          <a:prstGeom prst="roundRect">
            <a:avLst>
              <a:gd name="adj" fmla="val 3000"/>
            </a:avLst>
          </a:prstGeom>
          <a:solidFill>
            <a:srgbClr val="1E244A"/>
          </a:solidFill>
          <a:ln w="12700"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CardAccent2"/>
          <p:cNvSpPr/>
          <p:nvPr/>
        </p:nvSpPr>
        <p:spPr>
          <a:xfrm>
            <a:off x="914400" y="4011532"/>
            <a:ext cx="73152" cy="952500"/>
          </a:xfrm>
          <a:prstGeom prst="roundRect">
            <a:avLst>
              <a:gd name="adj" fmla="val 0"/>
            </a:avLst>
          </a:prstGeom>
          <a:solidFill>
            <a:srgbClr val="00D2C6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CardText2"/>
          <p:cNvSpPr txBox="1"/>
          <p:nvPr/>
        </p:nvSpPr>
        <p:spPr>
          <a:xfrm>
            <a:off x="1261872" y="4075032"/>
            <a:ext cx="91440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00D2C6"/>
                </a:solidFill>
                <a:latin typeface="Calibri" pitchFamily="34" charset="0"/>
              </a:rPr>
              <a:t>03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</a:rPr>
              <a:t>  — 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Making good individual calls</a:t>
            </a:r>
          </a:p>
          <a:p>
            <a:pPr algn="l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</a:rPr>
              <a:t>Understand how to make “good” individual calls to AI</a:t>
            </a:r>
          </a:p>
        </p:txBody>
      </p:sp>
      <p:sp>
        <p:nvSpPr>
          <p:cNvPr id="32" name="CardBg3"/>
          <p:cNvSpPr/>
          <p:nvPr/>
        </p:nvSpPr>
        <p:spPr>
          <a:xfrm>
            <a:off x="914400" y="5218032"/>
            <a:ext cx="10363200" cy="952500"/>
          </a:xfrm>
          <a:prstGeom prst="roundRect">
            <a:avLst>
              <a:gd name="adj" fmla="val 3000"/>
            </a:avLst>
          </a:prstGeom>
          <a:solidFill>
            <a:srgbClr val="1E244A"/>
          </a:solidFill>
          <a:ln w="12700"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CardAccent3"/>
          <p:cNvSpPr/>
          <p:nvPr/>
        </p:nvSpPr>
        <p:spPr>
          <a:xfrm>
            <a:off x="914400" y="5218032"/>
            <a:ext cx="73152" cy="952500"/>
          </a:xfrm>
          <a:prstGeom prst="roundRect">
            <a:avLst>
              <a:gd name="adj" fmla="val 0"/>
            </a:avLst>
          </a:prstGeom>
          <a:solidFill>
            <a:srgbClr val="00D2C6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CardText3"/>
          <p:cNvSpPr txBox="1"/>
          <p:nvPr/>
        </p:nvSpPr>
        <p:spPr>
          <a:xfrm>
            <a:off x="1261872" y="5281532"/>
            <a:ext cx="91440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00D2C6"/>
                </a:solidFill>
                <a:latin typeface="Calibri" pitchFamily="34" charset="0"/>
              </a:rPr>
              <a:t>04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</a:rPr>
              <a:t>  — 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Stateless vs stateful interactions</a:t>
            </a:r>
          </a:p>
          <a:p>
            <a:pPr algn="l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</a:rPr>
              <a:t>Understand nuances of stateless vs stateful interactions and context management</a:t>
            </a:r>
          </a:p>
        </p:txBody>
      </p:sp>
      <p:pic>
        <p:nvPicPr>
          <p:cNvPr id="35" name="Graphic 35" descr="Laptop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1500" y="1846182"/>
            <a:ext cx="457200" cy="457200"/>
          </a:xfrm>
          <a:prstGeom prst="rect">
            <a:avLst/>
          </a:prstGeom>
        </p:spPr>
      </p:pic>
      <p:pic>
        <p:nvPicPr>
          <p:cNvPr id="36" name="Graphic 36" descr="Lightbulb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31500" y="3052682"/>
            <a:ext cx="457200" cy="457200"/>
          </a:xfrm>
          <a:prstGeom prst="rect">
            <a:avLst/>
          </a:prstGeom>
        </p:spPr>
      </p:pic>
      <p:pic>
        <p:nvPicPr>
          <p:cNvPr id="37" name="Graphic 37" descr="Target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1500" y="4259182"/>
            <a:ext cx="457200" cy="457200"/>
          </a:xfrm>
          <a:prstGeom prst="rect">
            <a:avLst/>
          </a:prstGeom>
        </p:spPr>
      </p:pic>
      <p:pic>
        <p:nvPicPr>
          <p:cNvPr id="38" name="Graphic 38" descr="Database ic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31500" y="5465682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09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itle"/>
          <p:cNvSpPr txBox="1"/>
          <p:nvPr/>
        </p:nvSpPr>
        <p:spPr>
          <a:xfrm>
            <a:off x="508000" y="228600"/>
            <a:ext cx="11176000" cy="635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Calibri"/>
              </a:rPr>
              <a:t>Three Roles for AI</a:t>
            </a:r>
          </a:p>
        </p:txBody>
      </p:sp>
      <p:sp>
        <p:nvSpPr>
          <p:cNvPr id="30" name="T1Bg"/>
          <p:cNvSpPr/>
          <p:nvPr/>
        </p:nvSpPr>
        <p:spPr>
          <a:xfrm>
            <a:off x="508000" y="1270000"/>
            <a:ext cx="11176000" cy="1651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1Accent"/>
          <p:cNvSpPr/>
          <p:nvPr/>
        </p:nvSpPr>
        <p:spPr>
          <a:xfrm>
            <a:off x="508000" y="1270000"/>
            <a:ext cx="63500" cy="16510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1Num"/>
          <p:cNvSpPr txBox="1"/>
          <p:nvPr/>
        </p:nvSpPr>
        <p:spPr>
          <a:xfrm>
            <a:off x="762000" y="1447800"/>
            <a:ext cx="508000" cy="40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800" b="1" dirty="0">
                <a:solidFill>
                  <a:srgbClr val="8A94A6"/>
                </a:solidFill>
                <a:latin typeface="Calibri"/>
              </a:rPr>
              <a:t>01</a:t>
            </a:r>
          </a:p>
        </p:txBody>
      </p:sp>
      <p:sp>
        <p:nvSpPr>
          <p:cNvPr id="33" name="T1Title"/>
          <p:cNvSpPr txBox="1"/>
          <p:nvPr/>
        </p:nvSpPr>
        <p:spPr>
          <a:xfrm>
            <a:off x="762000" y="1879600"/>
            <a:ext cx="3175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AI as a Component</a:t>
            </a:r>
          </a:p>
        </p:txBody>
      </p:sp>
      <p:sp>
        <p:nvSpPr>
          <p:cNvPr id="34" name="T1Div"/>
          <p:cNvSpPr/>
          <p:nvPr/>
        </p:nvSpPr>
        <p:spPr>
          <a:xfrm>
            <a:off x="4140200" y="1422400"/>
            <a:ext cx="19050" cy="13462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1Desc"/>
          <p:cNvSpPr txBox="1"/>
          <p:nvPr/>
        </p:nvSpPr>
        <p:spPr>
          <a:xfrm>
            <a:off x="4318000" y="1422400"/>
            <a:ext cx="7188200" cy="1346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>
              <a:lnSpc>
                <a:spcPts val="2600"/>
              </a:lnSpc>
            </a:pPr>
            <a:r>
              <a:rPr lang="en-US" sz="2000" dirty="0">
                <a:solidFill>
                  <a:srgbClr val="E8ECF4"/>
                </a:solidFill>
                <a:latin typeface="Calibri"/>
              </a:rPr>
              <a:t>AI is embedded inside your solution — a model call in the pipeline. You design around its strengths and limitations: prompts, guardrails, evaluation, fallback logic.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ECC63-F2DF-0D8F-1DA5-BD33C49032BE}"/>
              </a:ext>
            </a:extLst>
          </p:cNvPr>
          <p:cNvGrpSpPr/>
          <p:nvPr/>
        </p:nvGrpSpPr>
        <p:grpSpPr>
          <a:xfrm>
            <a:off x="508000" y="3048000"/>
            <a:ext cx="11176000" cy="1651000"/>
            <a:chOff x="508000" y="3048000"/>
            <a:chExt cx="11176000" cy="1651000"/>
          </a:xfrm>
        </p:grpSpPr>
        <p:sp>
          <p:nvSpPr>
            <p:cNvPr id="40" name="T2Bg"/>
            <p:cNvSpPr/>
            <p:nvPr/>
          </p:nvSpPr>
          <p:spPr>
            <a:xfrm>
              <a:off x="508000" y="3048000"/>
              <a:ext cx="11176000" cy="1651000"/>
            </a:xfrm>
            <a:prstGeom prst="rect">
              <a:avLst/>
            </a:prstGeom>
            <a:solidFill>
              <a:srgbClr val="2127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2Accent"/>
            <p:cNvSpPr/>
            <p:nvPr/>
          </p:nvSpPr>
          <p:spPr>
            <a:xfrm>
              <a:off x="508000" y="3048000"/>
              <a:ext cx="63500" cy="1651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2Num"/>
            <p:cNvSpPr txBox="1"/>
            <p:nvPr/>
          </p:nvSpPr>
          <p:spPr>
            <a:xfrm>
              <a:off x="762000" y="3225800"/>
              <a:ext cx="508000" cy="406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1800" b="1" dirty="0">
                  <a:solidFill>
                    <a:srgbClr val="F59E0B"/>
                  </a:solidFill>
                  <a:latin typeface="Calibri"/>
                </a:rPr>
                <a:t>02</a:t>
              </a:r>
            </a:p>
          </p:txBody>
        </p:sp>
        <p:sp>
          <p:nvSpPr>
            <p:cNvPr id="43" name="T2Title"/>
            <p:cNvSpPr txBox="1"/>
            <p:nvPr/>
          </p:nvSpPr>
          <p:spPr>
            <a:xfrm>
              <a:off x="762000" y="3657600"/>
              <a:ext cx="3175000" cy="4572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l"/>
              <a:r>
                <a:rPr lang="en-US" sz="2400" b="1" dirty="0">
                  <a:solidFill>
                    <a:srgbClr val="F59E0B"/>
                  </a:solidFill>
                  <a:latin typeface="Calibri"/>
                </a:rPr>
                <a:t>AI as a Coding Agent</a:t>
              </a:r>
            </a:p>
          </p:txBody>
        </p:sp>
        <p:sp>
          <p:nvSpPr>
            <p:cNvPr id="44" name="T2Div"/>
            <p:cNvSpPr/>
            <p:nvPr/>
          </p:nvSpPr>
          <p:spPr>
            <a:xfrm>
              <a:off x="4140200" y="3200400"/>
              <a:ext cx="19050" cy="1346200"/>
            </a:xfrm>
            <a:prstGeom prst="rect">
              <a:avLst/>
            </a:prstGeom>
            <a:solidFill>
              <a:srgbClr val="3A425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2Desc"/>
            <p:cNvSpPr txBox="1"/>
            <p:nvPr/>
          </p:nvSpPr>
          <p:spPr>
            <a:xfrm>
              <a:off x="4318000" y="3200400"/>
              <a:ext cx="7188200" cy="13462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l">
                <a:lnSpc>
                  <a:spcPts val="2600"/>
                </a:lnSpc>
              </a:pPr>
              <a:r>
                <a:rPr lang="en-US" sz="2000" dirty="0">
                  <a:solidFill>
                    <a:srgbClr val="E8ECF4"/>
                  </a:solidFill>
                  <a:latin typeface="Calibri"/>
                </a:rPr>
                <a:t>AI helps you write, review, and refactor code. It accelerates development but the output is traditional software — deterministic, testable, fully under your control.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20A42EB-F2B2-F29B-9594-4DAEBB83E6BD}"/>
              </a:ext>
            </a:extLst>
          </p:cNvPr>
          <p:cNvGrpSpPr/>
          <p:nvPr/>
        </p:nvGrpSpPr>
        <p:grpSpPr>
          <a:xfrm>
            <a:off x="508000" y="4826000"/>
            <a:ext cx="11176000" cy="1651000"/>
            <a:chOff x="508000" y="4826000"/>
            <a:chExt cx="11176000" cy="1651000"/>
          </a:xfrm>
        </p:grpSpPr>
        <p:sp>
          <p:nvSpPr>
            <p:cNvPr id="50" name="T3Bg"/>
            <p:cNvSpPr/>
            <p:nvPr/>
          </p:nvSpPr>
          <p:spPr>
            <a:xfrm>
              <a:off x="508000" y="4826000"/>
              <a:ext cx="11176000" cy="1651000"/>
            </a:xfrm>
            <a:prstGeom prst="rect">
              <a:avLst/>
            </a:prstGeom>
            <a:solidFill>
              <a:srgbClr val="2127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3Accent"/>
            <p:cNvSpPr/>
            <p:nvPr/>
          </p:nvSpPr>
          <p:spPr>
            <a:xfrm>
              <a:off x="508000" y="4826000"/>
              <a:ext cx="63500" cy="1651000"/>
            </a:xfrm>
            <a:prstGeom prst="rect">
              <a:avLst/>
            </a:prstGeom>
            <a:solidFill>
              <a:srgbClr val="2DD4B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3Num"/>
            <p:cNvSpPr txBox="1"/>
            <p:nvPr/>
          </p:nvSpPr>
          <p:spPr>
            <a:xfrm>
              <a:off x="762000" y="5003800"/>
              <a:ext cx="508000" cy="406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1800" b="1" dirty="0">
                  <a:solidFill>
                    <a:srgbClr val="2DD4BF"/>
                  </a:solidFill>
                  <a:latin typeface="Calibri"/>
                </a:rPr>
                <a:t>03</a:t>
              </a:r>
            </a:p>
          </p:txBody>
        </p:sp>
        <p:sp>
          <p:nvSpPr>
            <p:cNvPr id="53" name="T3Title"/>
            <p:cNvSpPr txBox="1"/>
            <p:nvPr/>
          </p:nvSpPr>
          <p:spPr>
            <a:xfrm>
              <a:off x="762000" y="5435600"/>
              <a:ext cx="3175000" cy="4572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l"/>
              <a:r>
                <a:rPr lang="en-US" sz="2400" b="1" dirty="0">
                  <a:solidFill>
                    <a:srgbClr val="2DD4BF"/>
                  </a:solidFill>
                  <a:latin typeface="Calibri"/>
                </a:rPr>
                <a:t>AI as a User</a:t>
              </a:r>
            </a:p>
          </p:txBody>
        </p:sp>
        <p:sp>
          <p:nvSpPr>
            <p:cNvPr id="54" name="T3Div"/>
            <p:cNvSpPr/>
            <p:nvPr/>
          </p:nvSpPr>
          <p:spPr>
            <a:xfrm>
              <a:off x="4140200" y="4978400"/>
              <a:ext cx="19050" cy="1346200"/>
            </a:xfrm>
            <a:prstGeom prst="rect">
              <a:avLst/>
            </a:prstGeom>
            <a:solidFill>
              <a:srgbClr val="3A425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3Desc"/>
            <p:cNvSpPr txBox="1"/>
            <p:nvPr/>
          </p:nvSpPr>
          <p:spPr>
            <a:xfrm>
              <a:off x="4318000" y="4978400"/>
              <a:ext cx="7188200" cy="13462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l">
                <a:lnSpc>
                  <a:spcPts val="2600"/>
                </a:lnSpc>
              </a:pPr>
              <a:r>
                <a:rPr lang="en-US" sz="2000" dirty="0">
                  <a:solidFill>
                    <a:srgbClr val="E8ECF4"/>
                  </a:solidFill>
                  <a:latin typeface="Calibri"/>
                </a:rPr>
                <a:t>AI consumes and produces information through your system. It calls your APIs, reads your docs, and acts on your data. You need to design for this new kind of consumer.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928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"/>
          <p:cNvSpPr txBox="1"/>
          <p:nvPr/>
        </p:nvSpPr>
        <p:spPr>
          <a:xfrm>
            <a:off x="493010" y="177800"/>
            <a:ext cx="11176000" cy="533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When Do You Need AI as a Component in your System?</a:t>
            </a:r>
          </a:p>
        </p:txBody>
      </p:sp>
      <p:sp>
        <p:nvSpPr>
          <p:cNvPr id="60" name="T1Bg"/>
          <p:cNvSpPr/>
          <p:nvPr/>
        </p:nvSpPr>
        <p:spPr>
          <a:xfrm>
            <a:off x="680276" y="1143000"/>
            <a:ext cx="10998200" cy="1778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T1Accent"/>
          <p:cNvSpPr/>
          <p:nvPr/>
        </p:nvSpPr>
        <p:spPr>
          <a:xfrm>
            <a:off x="508000" y="1143000"/>
            <a:ext cx="63500" cy="17780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1Header"/>
          <p:cNvSpPr txBox="1"/>
          <p:nvPr/>
        </p:nvSpPr>
        <p:spPr>
          <a:xfrm>
            <a:off x="711200" y="1295400"/>
            <a:ext cx="3048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No AI </a:t>
            </a:r>
          </a:p>
        </p:txBody>
      </p:sp>
      <p:sp>
        <p:nvSpPr>
          <p:cNvPr id="63" name="T1Sub"/>
          <p:cNvSpPr txBox="1"/>
          <p:nvPr/>
        </p:nvSpPr>
        <p:spPr>
          <a:xfrm>
            <a:off x="711200" y="1727200"/>
            <a:ext cx="3048000" cy="355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800" i="1" dirty="0">
                <a:solidFill>
                  <a:srgbClr val="EAECF2"/>
                </a:solidFill>
                <a:latin typeface="Calibri"/>
              </a:rPr>
              <a:t>Fully specifiable</a:t>
            </a:r>
          </a:p>
        </p:txBody>
      </p:sp>
      <p:sp>
        <p:nvSpPr>
          <p:cNvPr id="64" name="T1Ex"/>
          <p:cNvSpPr txBox="1"/>
          <p:nvPr/>
        </p:nvSpPr>
        <p:spPr>
          <a:xfrm>
            <a:off x="711200" y="2133600"/>
            <a:ext cx="3048000" cy="660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endParaRPr lang="en-US" sz="1800" i="1" dirty="0">
              <a:solidFill>
                <a:srgbClr val="DDE0EA"/>
              </a:solidFill>
              <a:latin typeface="Calibri"/>
            </a:endParaRPr>
          </a:p>
        </p:txBody>
      </p:sp>
      <p:sp>
        <p:nvSpPr>
          <p:cNvPr id="65" name="T1Bullets"/>
          <p:cNvSpPr txBox="1"/>
          <p:nvPr/>
        </p:nvSpPr>
        <p:spPr>
          <a:xfrm>
            <a:off x="4109276" y="1244600"/>
            <a:ext cx="7569200" cy="1574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Font typeface="Arial"/>
              <a:buChar char="•"/>
            </a:pPr>
            <a:r>
              <a:rPr lang="en-US" sz="2000" dirty="0">
                <a:solidFill>
                  <a:srgbClr val="E8ECF4"/>
                </a:solidFill>
                <a:latin typeface="Calibri"/>
              </a:rPr>
              <a:t>  Behavior is specified, reviewed, and approved</a:t>
            </a:r>
          </a:p>
          <a:p>
            <a:pPr algn="l">
              <a:buFont typeface="Arial"/>
              <a:buChar char="•"/>
            </a:pPr>
            <a:r>
              <a:rPr lang="en-US" sz="2000" dirty="0">
                <a:solidFill>
                  <a:srgbClr val="E8ECF4"/>
                </a:solidFill>
                <a:latin typeface="Calibri"/>
              </a:rPr>
              <a:t>  Outputs are deterministic and testable</a:t>
            </a:r>
          </a:p>
          <a:p>
            <a:pPr algn="l">
              <a:buFont typeface="Arial"/>
              <a:buChar char="•"/>
            </a:pPr>
            <a:r>
              <a:rPr lang="en-US" sz="2000" dirty="0">
                <a:solidFill>
                  <a:srgbClr val="E8ECF4"/>
                </a:solidFill>
                <a:latin typeface="Calibri"/>
              </a:rPr>
              <a:t>  You want guarantees. Adding AI adds complexity without value</a:t>
            </a:r>
          </a:p>
          <a:p>
            <a:pPr>
              <a:buFont typeface="Arial"/>
              <a:buChar char="•"/>
            </a:pPr>
            <a:r>
              <a:rPr lang="en-US" sz="2000" i="1" dirty="0">
                <a:solidFill>
                  <a:srgbClr val="DDE0EA"/>
                </a:solidFill>
              </a:rPr>
              <a:t>  </a:t>
            </a:r>
            <a:r>
              <a:rPr lang="en-US" sz="2000" i="1" dirty="0" err="1">
                <a:solidFill>
                  <a:srgbClr val="DDE0EA"/>
                </a:solidFill>
              </a:rPr>
              <a:t>eg</a:t>
            </a:r>
            <a:r>
              <a:rPr lang="en-US" sz="2000" i="1" dirty="0">
                <a:solidFill>
                  <a:srgbClr val="DDE0EA"/>
                </a:solidFill>
              </a:rPr>
              <a:t>: Billing logic, form validation, API routing, access control</a:t>
            </a:r>
          </a:p>
          <a:p>
            <a:pPr algn="l">
              <a:buFont typeface="Arial"/>
              <a:buChar char="•"/>
            </a:pPr>
            <a:endParaRPr lang="en-US" sz="2000" dirty="0">
              <a:solidFill>
                <a:srgbClr val="E8ECF4"/>
              </a:solidFill>
              <a:latin typeface="Calibri"/>
            </a:endParaRPr>
          </a:p>
        </p:txBody>
      </p:sp>
      <p:sp>
        <p:nvSpPr>
          <p:cNvPr id="66" name="T1Div"/>
          <p:cNvSpPr/>
          <p:nvPr/>
        </p:nvSpPr>
        <p:spPr>
          <a:xfrm>
            <a:off x="3810000" y="1270000"/>
            <a:ext cx="19050" cy="15240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3A7A4A-4D2D-E904-8056-C232C397387E}"/>
              </a:ext>
            </a:extLst>
          </p:cNvPr>
          <p:cNvGrpSpPr/>
          <p:nvPr/>
        </p:nvGrpSpPr>
        <p:grpSpPr>
          <a:xfrm>
            <a:off x="508000" y="3022600"/>
            <a:ext cx="11176000" cy="1778000"/>
            <a:chOff x="508000" y="3022600"/>
            <a:chExt cx="11176000" cy="1778000"/>
          </a:xfrm>
        </p:grpSpPr>
        <p:sp>
          <p:nvSpPr>
            <p:cNvPr id="70" name="T2Bg"/>
            <p:cNvSpPr/>
            <p:nvPr/>
          </p:nvSpPr>
          <p:spPr>
            <a:xfrm>
              <a:off x="508000" y="3022600"/>
              <a:ext cx="11176000" cy="1778000"/>
            </a:xfrm>
            <a:prstGeom prst="rect">
              <a:avLst/>
            </a:prstGeom>
            <a:solidFill>
              <a:srgbClr val="2127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2Accent"/>
            <p:cNvSpPr/>
            <p:nvPr/>
          </p:nvSpPr>
          <p:spPr>
            <a:xfrm>
              <a:off x="508000" y="3022600"/>
              <a:ext cx="63500" cy="1778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2Header"/>
            <p:cNvSpPr txBox="1"/>
            <p:nvPr/>
          </p:nvSpPr>
          <p:spPr>
            <a:xfrm>
              <a:off x="711200" y="3175000"/>
              <a:ext cx="3048000" cy="4572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l"/>
              <a:r>
                <a:rPr lang="en-US" sz="2200" b="1" dirty="0">
                  <a:solidFill>
                    <a:srgbClr val="F59E0B"/>
                  </a:solidFill>
                  <a:latin typeface="Calibri"/>
                </a:rPr>
                <a:t>AI as a Convenience</a:t>
              </a:r>
            </a:p>
          </p:txBody>
        </p:sp>
        <p:sp>
          <p:nvSpPr>
            <p:cNvPr id="73" name="T2Sub"/>
            <p:cNvSpPr txBox="1"/>
            <p:nvPr/>
          </p:nvSpPr>
          <p:spPr>
            <a:xfrm>
              <a:off x="711200" y="3606800"/>
              <a:ext cx="3168650" cy="6604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l"/>
              <a:r>
                <a:rPr lang="en-US" sz="1800" i="1" dirty="0">
                  <a:solidFill>
                    <a:srgbClr val="FFD866"/>
                  </a:solidFill>
                  <a:latin typeface="Calibri"/>
                </a:rPr>
                <a:t>Easier in English. </a:t>
              </a:r>
            </a:p>
            <a:p>
              <a:pPr algn="l"/>
              <a:r>
                <a:rPr lang="en-US" sz="1800" b="1" i="1" dirty="0">
                  <a:solidFill>
                    <a:srgbClr val="FFD866"/>
                  </a:solidFill>
                  <a:latin typeface="Calibri"/>
                </a:rPr>
                <a:t>A NEW CATEGORY!!</a:t>
              </a:r>
            </a:p>
          </p:txBody>
        </p:sp>
        <p:sp>
          <p:nvSpPr>
            <p:cNvPr id="74" name="T2Ex"/>
            <p:cNvSpPr txBox="1"/>
            <p:nvPr/>
          </p:nvSpPr>
          <p:spPr>
            <a:xfrm>
              <a:off x="711200" y="4013200"/>
              <a:ext cx="3048000" cy="6604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l"/>
              <a:endParaRPr lang="en-US" sz="1800" i="1" dirty="0">
                <a:solidFill>
                  <a:srgbClr val="FFD866"/>
                </a:solidFill>
                <a:latin typeface="Calibri"/>
              </a:endParaRPr>
            </a:p>
          </p:txBody>
        </p:sp>
        <p:sp>
          <p:nvSpPr>
            <p:cNvPr id="75" name="T2Bullets"/>
            <p:cNvSpPr txBox="1"/>
            <p:nvPr/>
          </p:nvSpPr>
          <p:spPr>
            <a:xfrm>
              <a:off x="4109276" y="3124200"/>
              <a:ext cx="7569200" cy="15748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l">
                <a:buFont typeface="Arial"/>
                <a:buChar char="•"/>
              </a:pPr>
              <a:r>
                <a:rPr lang="en-US" sz="2000" dirty="0">
                  <a:solidFill>
                    <a:srgbClr val="E8ECF4"/>
                  </a:solidFill>
                  <a:latin typeface="Calibri"/>
                </a:rPr>
                <a:t>  The behavior can be fully written down as rules</a:t>
              </a:r>
            </a:p>
            <a:p>
              <a:pPr algn="l">
                <a:buFont typeface="Arial"/>
                <a:buChar char="•"/>
              </a:pPr>
              <a:r>
                <a:rPr lang="en-US" sz="2000" dirty="0">
                  <a:solidFill>
                    <a:srgbClr val="E8ECF4"/>
                  </a:solidFill>
                  <a:latin typeface="Calibri"/>
                </a:rPr>
                <a:t>  But a prompt is simpler than writing code</a:t>
              </a:r>
            </a:p>
            <a:p>
              <a:pPr algn="l">
                <a:buFont typeface="Arial"/>
                <a:buChar char="•"/>
              </a:pPr>
              <a:r>
                <a:rPr lang="en-US" sz="2000" dirty="0">
                  <a:solidFill>
                    <a:srgbClr val="E8ECF4"/>
                  </a:solidFill>
                  <a:latin typeface="Calibri"/>
                </a:rPr>
                <a:t>  English becomes the implementation language</a:t>
              </a:r>
            </a:p>
            <a:p>
              <a:pPr algn="l">
                <a:buFont typeface="Arial"/>
                <a:buChar char="•"/>
              </a:pPr>
              <a:r>
                <a:rPr lang="en-US" sz="2000" dirty="0">
                  <a:solidFill>
                    <a:srgbClr val="E8ECF4"/>
                  </a:solidFill>
                  <a:latin typeface="Calibri"/>
                </a:rPr>
                <a:t>  Outputs are known — you can still test correctness</a:t>
              </a:r>
            </a:p>
          </p:txBody>
        </p:sp>
        <p:sp>
          <p:nvSpPr>
            <p:cNvPr id="76" name="T2Div"/>
            <p:cNvSpPr/>
            <p:nvPr/>
          </p:nvSpPr>
          <p:spPr>
            <a:xfrm>
              <a:off x="3810000" y="3149600"/>
              <a:ext cx="19050" cy="1524000"/>
            </a:xfrm>
            <a:prstGeom prst="rect">
              <a:avLst/>
            </a:prstGeom>
            <a:solidFill>
              <a:srgbClr val="3A425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9EA6B4-A85D-D4CD-4DE4-ACFF82C83D28}"/>
              </a:ext>
            </a:extLst>
          </p:cNvPr>
          <p:cNvGrpSpPr/>
          <p:nvPr/>
        </p:nvGrpSpPr>
        <p:grpSpPr>
          <a:xfrm>
            <a:off x="508000" y="4902200"/>
            <a:ext cx="11176000" cy="1778000"/>
            <a:chOff x="508000" y="4902200"/>
            <a:chExt cx="11176000" cy="1778000"/>
          </a:xfrm>
        </p:grpSpPr>
        <p:sp>
          <p:nvSpPr>
            <p:cNvPr id="80" name="T3Bg"/>
            <p:cNvSpPr/>
            <p:nvPr/>
          </p:nvSpPr>
          <p:spPr>
            <a:xfrm>
              <a:off x="508000" y="4902200"/>
              <a:ext cx="11176000" cy="1778000"/>
            </a:xfrm>
            <a:prstGeom prst="rect">
              <a:avLst/>
            </a:prstGeom>
            <a:solidFill>
              <a:srgbClr val="2127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3Accent"/>
            <p:cNvSpPr/>
            <p:nvPr/>
          </p:nvSpPr>
          <p:spPr>
            <a:xfrm>
              <a:off x="508000" y="4902200"/>
              <a:ext cx="63500" cy="1778000"/>
            </a:xfrm>
            <a:prstGeom prst="rect">
              <a:avLst/>
            </a:prstGeom>
            <a:solidFill>
              <a:srgbClr val="2DD4B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3Header"/>
            <p:cNvSpPr txBox="1"/>
            <p:nvPr/>
          </p:nvSpPr>
          <p:spPr>
            <a:xfrm>
              <a:off x="711200" y="5054600"/>
              <a:ext cx="3048000" cy="4572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l"/>
              <a:r>
                <a:rPr lang="en-US" sz="2200" b="1" dirty="0">
                  <a:solidFill>
                    <a:srgbClr val="2DD4BF"/>
                  </a:solidFill>
                  <a:latin typeface="Calibri"/>
                </a:rPr>
                <a:t>AI as a System Component</a:t>
              </a:r>
            </a:p>
          </p:txBody>
        </p:sp>
        <p:sp>
          <p:nvSpPr>
            <p:cNvPr id="83" name="T3Sub"/>
            <p:cNvSpPr txBox="1"/>
            <p:nvPr/>
          </p:nvSpPr>
          <p:spPr>
            <a:xfrm>
              <a:off x="705676" y="5837836"/>
              <a:ext cx="3048000" cy="3556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l"/>
              <a:r>
                <a:rPr lang="en-US" sz="1800" i="1" dirty="0">
                  <a:solidFill>
                    <a:srgbClr val="80FFF0"/>
                  </a:solidFill>
                  <a:latin typeface="Calibri"/>
                </a:rPr>
                <a:t>Hard to specify. </a:t>
              </a:r>
            </a:p>
          </p:txBody>
        </p:sp>
        <p:sp>
          <p:nvSpPr>
            <p:cNvPr id="84" name="T3Ex"/>
            <p:cNvSpPr txBox="1"/>
            <p:nvPr/>
          </p:nvSpPr>
          <p:spPr>
            <a:xfrm>
              <a:off x="711200" y="5892800"/>
              <a:ext cx="3048000" cy="6604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l"/>
              <a:endParaRPr lang="en-US" sz="1800" i="1" dirty="0">
                <a:solidFill>
                  <a:srgbClr val="80FFF0"/>
                </a:solidFill>
                <a:latin typeface="Calibri"/>
              </a:endParaRPr>
            </a:p>
          </p:txBody>
        </p:sp>
        <p:sp>
          <p:nvSpPr>
            <p:cNvPr id="85" name="T3Bullets"/>
            <p:cNvSpPr txBox="1"/>
            <p:nvPr/>
          </p:nvSpPr>
          <p:spPr>
            <a:xfrm>
              <a:off x="4109276" y="5003800"/>
              <a:ext cx="7569200" cy="15748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l">
                <a:buFont typeface="Arial"/>
                <a:buChar char="•"/>
              </a:pPr>
              <a:r>
                <a:rPr lang="en-US" sz="2000" dirty="0">
                  <a:solidFill>
                    <a:srgbClr val="E8ECF4"/>
                  </a:solidFill>
                </a:rPr>
                <a:t>  Behavior is too complex or contextual for rules</a:t>
              </a:r>
            </a:p>
            <a:p>
              <a:pPr algn="l">
                <a:buFont typeface="Arial"/>
                <a:buChar char="•"/>
              </a:pPr>
              <a:r>
                <a:rPr lang="en-US" sz="2000" dirty="0">
                  <a:solidFill>
                    <a:srgbClr val="E8ECF4"/>
                  </a:solidFill>
                </a:rPr>
                <a:t>  Hard to write conventional tests — no expected output</a:t>
              </a:r>
            </a:p>
            <a:p>
              <a:pPr algn="l">
                <a:buFont typeface="Arial"/>
                <a:buChar char="•"/>
              </a:pPr>
              <a:r>
                <a:rPr lang="en-US" sz="2000" dirty="0">
                  <a:solidFill>
                    <a:srgbClr val="E8ECF4"/>
                  </a:solidFill>
                </a:rPr>
                <a:t>  The value comes precisely from what’s hard to specify</a:t>
              </a:r>
            </a:p>
            <a:p>
              <a:pPr>
                <a:buFont typeface="Arial"/>
                <a:buChar char="•"/>
              </a:pPr>
              <a:r>
                <a:rPr lang="en-US" sz="2000" dirty="0">
                  <a:solidFill>
                    <a:srgbClr val="E8ECF4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Eg</a:t>
              </a:r>
              <a:r>
                <a:rPr lang="en-US" sz="2000" dirty="0">
                  <a:solidFill>
                    <a:schemeClr val="bg1"/>
                  </a:solidFill>
                </a:rPr>
                <a:t>: summarization, intent, creative generation, open-ended Q&amp;A</a:t>
              </a:r>
            </a:p>
            <a:p>
              <a:pPr algn="l">
                <a:buFont typeface="Arial"/>
                <a:buChar char="•"/>
              </a:pPr>
              <a:endParaRPr lang="en-US" sz="2000" dirty="0">
                <a:solidFill>
                  <a:srgbClr val="E8ECF4"/>
                </a:solidFill>
              </a:endParaRPr>
            </a:p>
          </p:txBody>
        </p:sp>
        <p:sp>
          <p:nvSpPr>
            <p:cNvPr id="86" name="T3Div"/>
            <p:cNvSpPr/>
            <p:nvPr/>
          </p:nvSpPr>
          <p:spPr>
            <a:xfrm>
              <a:off x="3810000" y="5029200"/>
              <a:ext cx="19050" cy="1524000"/>
            </a:xfrm>
            <a:prstGeom prst="rect">
              <a:avLst/>
            </a:prstGeom>
            <a:solidFill>
              <a:srgbClr val="3A425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617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914400" y="2286000"/>
            <a:ext cx="8619344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 a System Component</a:t>
            </a:r>
          </a:p>
        </p:txBody>
      </p:sp>
      <p:sp>
        <p:nvSpPr>
          <p:cNvPr id="6" name="Divider"/>
          <p:cNvSpPr/>
          <p:nvPr/>
        </p:nvSpPr>
        <p:spPr>
          <a:xfrm>
            <a:off x="914400" y="3198901"/>
            <a:ext cx="1828800" cy="27432"/>
          </a:xfrm>
          <a:prstGeom prst="rect">
            <a:avLst/>
          </a:prstGeom>
          <a:solidFill>
            <a:srgbClr val="00D2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F045F-76F6-1B2C-7ED5-2884F7201FBD}"/>
              </a:ext>
            </a:extLst>
          </p:cNvPr>
          <p:cNvSpPr/>
          <p:nvPr/>
        </p:nvSpPr>
        <p:spPr>
          <a:xfrm>
            <a:off x="10103370" y="-77499"/>
            <a:ext cx="2088630" cy="6935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10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"/>
          <p:cNvSpPr txBox="1"/>
          <p:nvPr/>
        </p:nvSpPr>
        <p:spPr>
          <a:xfrm>
            <a:off x="762000" y="580454"/>
            <a:ext cx="10668000" cy="762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Calibri"/>
              </a:rPr>
              <a:t>Think before you build:</a:t>
            </a:r>
          </a:p>
        </p:txBody>
      </p:sp>
      <p:sp>
        <p:nvSpPr>
          <p:cNvPr id="51" name="AccentLine"/>
          <p:cNvSpPr/>
          <p:nvPr/>
        </p:nvSpPr>
        <p:spPr>
          <a:xfrm>
            <a:off x="762000" y="1444054"/>
            <a:ext cx="1524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MainMsg"/>
          <p:cNvSpPr txBox="1"/>
          <p:nvPr/>
        </p:nvSpPr>
        <p:spPr>
          <a:xfrm>
            <a:off x="762000" y="1936854"/>
            <a:ext cx="10668000" cy="127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514350" indent="-514350" algn="l">
              <a:lnSpc>
                <a:spcPts val="3600"/>
              </a:lnSpc>
              <a:buFont typeface="+mj-lt"/>
              <a:buAutoNum type="arabicPeriod"/>
            </a:pPr>
            <a:r>
              <a:rPr lang="en-US" sz="2600" dirty="0">
                <a:solidFill>
                  <a:srgbClr val="FFFFFF"/>
                </a:solidFill>
                <a:latin typeface="Calibri"/>
              </a:rPr>
              <a:t>What are you building – how “reviewable” and fixed you want your output</a:t>
            </a:r>
          </a:p>
          <a:p>
            <a:pPr marL="514350" indent="-514350" algn="l">
              <a:lnSpc>
                <a:spcPts val="3600"/>
              </a:lnSpc>
              <a:buFont typeface="+mj-lt"/>
              <a:buAutoNum type="arabicPeriod"/>
            </a:pPr>
            <a:r>
              <a:rPr lang="en-US" sz="2600" dirty="0">
                <a:solidFill>
                  <a:srgbClr val="FFFFFF"/>
                </a:solidFill>
                <a:latin typeface="Calibri"/>
              </a:rPr>
              <a:t>Who are you building for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6DD7534-CD3C-A8B8-2D36-8C4653E5AFB0}"/>
              </a:ext>
            </a:extLst>
          </p:cNvPr>
          <p:cNvGrpSpPr/>
          <p:nvPr/>
        </p:nvGrpSpPr>
        <p:grpSpPr>
          <a:xfrm>
            <a:off x="612098" y="4888459"/>
            <a:ext cx="10668000" cy="1030990"/>
            <a:chOff x="612098" y="4888459"/>
            <a:chExt cx="10668000" cy="1030990"/>
          </a:xfrm>
        </p:grpSpPr>
        <p:sp>
          <p:nvSpPr>
            <p:cNvPr id="53" name="CalloutBg"/>
            <p:cNvSpPr/>
            <p:nvPr/>
          </p:nvSpPr>
          <p:spPr>
            <a:xfrm>
              <a:off x="612098" y="4888459"/>
              <a:ext cx="10668000" cy="1016000"/>
            </a:xfrm>
            <a:prstGeom prst="rect">
              <a:avLst/>
            </a:prstGeom>
            <a:solidFill>
              <a:srgbClr val="2127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CalloutAccent"/>
            <p:cNvSpPr/>
            <p:nvPr/>
          </p:nvSpPr>
          <p:spPr>
            <a:xfrm>
              <a:off x="612098" y="4903449"/>
              <a:ext cx="63500" cy="1016000"/>
            </a:xfrm>
            <a:prstGeom prst="rect">
              <a:avLst/>
            </a:prstGeom>
            <a:solidFill>
              <a:srgbClr val="2DD4B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Callout"/>
            <p:cNvSpPr txBox="1"/>
            <p:nvPr/>
          </p:nvSpPr>
          <p:spPr>
            <a:xfrm>
              <a:off x="916898" y="4966949"/>
              <a:ext cx="10160000" cy="8890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l"/>
              <a:r>
                <a:rPr lang="en-US" sz="2800" b="1" dirty="0">
                  <a:solidFill>
                    <a:srgbClr val="2DD4BF"/>
                  </a:solidFill>
                  <a:latin typeface="Calibri"/>
                </a:rPr>
                <a:t>If the answer to #2 is “humans”, think harder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40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0495" y="365760"/>
            <a:ext cx="1161662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Four Challenges</a:t>
            </a:r>
            <a:r>
              <a:rPr lang="en-US" dirty="0"/>
              <a:t>/Opportunities </a:t>
            </a:r>
            <a:r>
              <a:rPr dirty="0"/>
              <a:t>of Working with LLMs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0515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45720" cy="1051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217420"/>
            <a:ext cx="45720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sz="1800" b="1">
                <a:solidFill>
                  <a:srgbClr val="1A1F2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34539"/>
            <a:ext cx="60960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Getting a single call right</a:t>
            </a:r>
            <a:r>
              <a:rPr lang="en-US" sz="1800" dirty="0">
                <a:solidFill>
                  <a:srgbClr val="B0B8C8"/>
                </a:solidFill>
                <a:latin typeface="Calibri"/>
              </a:rPr>
              <a:t> — How do I craft a prompt that reliably produces the output I need?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698480" cy="10515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45720" cy="1051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5840" y="3406140"/>
            <a:ext cx="45720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sz="1800" b="1">
                <a:solidFill>
                  <a:srgbClr val="1A1F2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23260"/>
            <a:ext cx="60960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Managing a conversation</a:t>
            </a:r>
            <a:r>
              <a:rPr lang="en-US" sz="1800" dirty="0">
                <a:solidFill>
                  <a:srgbClr val="B0B8C8"/>
                </a:solidFill>
                <a:latin typeface="Calibri"/>
              </a:rPr>
              <a:t> — How do I give the model the right context across turns without blowing up cost?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79"/>
            <a:ext cx="10698480" cy="10515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297679"/>
            <a:ext cx="45720" cy="1051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5840" y="4594859"/>
            <a:ext cx="45720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sz="1800" b="1">
                <a:solidFill>
                  <a:srgbClr val="1A1F2E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411979"/>
            <a:ext cx="60960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Long-term memory</a:t>
            </a:r>
            <a:r>
              <a:rPr lang="en-US" sz="1800" dirty="0">
                <a:solidFill>
                  <a:srgbClr val="B0B8C8"/>
                </a:solidFill>
                <a:latin typeface="Calibri"/>
              </a:rPr>
              <a:t> — How do I remember a user across sessions — their facts, preferences, history?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10698480" cy="105156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45720" cy="105156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" y="5783580"/>
            <a:ext cx="45720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sz="1800" b="1">
                <a:solidFill>
                  <a:srgbClr val="1A1F2E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600700"/>
            <a:ext cx="60960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1800" b="1" dirty="0">
                <a:solidFill>
                  <a:srgbClr val="8A94A6"/>
                </a:solidFill>
                <a:latin typeface="Calibri"/>
              </a:rPr>
              <a:t>Enterprise / community knowledge</a:t>
            </a:r>
            <a:r>
              <a:rPr lang="en-US" sz="1800" dirty="0">
                <a:solidFill>
                  <a:srgbClr val="6A7080"/>
                </a:solidFill>
                <a:latin typeface="Calibri"/>
              </a:rPr>
              <a:t> — How do I connect knowledge across users while respecting privacy?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82930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 i="1">
                <a:solidFill>
                  <a:srgbClr val="8A94A6"/>
                </a:solidFill>
                <a:latin typeface="Calibri"/>
              </a:defRPr>
            </a:pPr>
            <a:r>
              <a:rPr dirty="0">
                <a:solidFill>
                  <a:srgbClr val="2DD4BF"/>
                </a:solidFill>
              </a:rPr>
              <a:t>Later lessons (</a:t>
            </a:r>
            <a:r>
              <a:rPr lang="en-US" dirty="0">
                <a:solidFill>
                  <a:srgbClr val="2DD4BF"/>
                </a:solidFill>
              </a:rPr>
              <a:t>if time allows</a:t>
            </a:r>
            <a:r>
              <a:rPr dirty="0">
                <a:solidFill>
                  <a:srgbClr val="2DD4BF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8629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BEB58AF-327C-844A-93DA-45162E4FE173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507</Words>
  <Application>Microsoft Macintosh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15</cp:revision>
  <dcterms:created xsi:type="dcterms:W3CDTF">2013-01-27T09:14:16Z</dcterms:created>
  <dcterms:modified xsi:type="dcterms:W3CDTF">2026-03-12T09:32:24Z</dcterms:modified>
  <cp:category/>
</cp:coreProperties>
</file>