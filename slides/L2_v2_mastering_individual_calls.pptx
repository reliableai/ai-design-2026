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312" r:id="rId2"/>
    <p:sldId id="352" r:id="rId3"/>
    <p:sldId id="314" r:id="rId4"/>
    <p:sldId id="315" r:id="rId5"/>
    <p:sldId id="353" r:id="rId6"/>
    <p:sldId id="317" r:id="rId7"/>
    <p:sldId id="354" r:id="rId8"/>
    <p:sldId id="319" r:id="rId9"/>
    <p:sldId id="355" r:id="rId10"/>
    <p:sldId id="321" r:id="rId11"/>
    <p:sldId id="322" r:id="rId12"/>
    <p:sldId id="375" r:id="rId13"/>
    <p:sldId id="356" r:id="rId14"/>
    <p:sldId id="360" r:id="rId15"/>
    <p:sldId id="327" r:id="rId16"/>
    <p:sldId id="330" r:id="rId17"/>
    <p:sldId id="371" r:id="rId18"/>
    <p:sldId id="372" r:id="rId19"/>
    <p:sldId id="364" r:id="rId20"/>
    <p:sldId id="363" r:id="rId21"/>
    <p:sldId id="332" r:id="rId22"/>
    <p:sldId id="334" r:id="rId23"/>
    <p:sldId id="374" r:id="rId24"/>
    <p:sldId id="336" r:id="rId25"/>
    <p:sldId id="347" r:id="rId26"/>
    <p:sldId id="350"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0274"/>
  </p:normalViewPr>
  <p:slideViewPr>
    <p:cSldViewPr snapToGrid="0" snapToObjects="1">
      <p:cViewPr varScale="1">
        <p:scale>
          <a:sx n="110" d="100"/>
          <a:sy n="110" d="100"/>
        </p:scale>
        <p:origin x="7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038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39B6-4248-4F26-A2F3-921337ACD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9C021-7000-FB6D-F13B-591A0B0A9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1164F-3933-CD54-1F05-AF592AAFF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171A8A-C049-8B07-1468-F3E4058F3D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3452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PREFILLING — Explaining the table row</a:t>
            </a:r>
          </a:p>
          <a:p>
            <a:endParaRPr lang="en-US" dirty="0"/>
          </a:p>
          <a:p>
            <a:r>
              <a:rPr lang="en-US" dirty="0"/>
              <a:t>Prefilling is a technique unique to the API where you pre-populate the beginning of the assistant's response before the model generates the rest.</a:t>
            </a:r>
          </a:p>
          <a:p>
            <a:endParaRPr lang="en-US" dirty="0"/>
          </a:p>
          <a:p>
            <a:r>
              <a:rPr lang="en-US" dirty="0"/>
              <a:t>How it works: Normally, the model generates its entire reply from scratch. With prefilling, you provide the start of the assistant message in the messages array, and the model continues from where you left off.</a:t>
            </a:r>
          </a:p>
          <a:p>
            <a:endParaRPr lang="en-US" dirty="0"/>
          </a:p>
          <a:p>
            <a:r>
              <a:rPr lang="en-US" dirty="0"/>
              <a:t>Why it's useful:</a:t>
            </a:r>
          </a:p>
          <a:p>
            <a:r>
              <a:rPr lang="en-US" dirty="0"/>
              <a:t>- Control output format: prefill with "{" to force JSON output, or a code fence to force code.</a:t>
            </a:r>
          </a:p>
          <a:p>
            <a:r>
              <a:rPr lang="en-US" dirty="0"/>
              <a:t>- Steer tone/style: start the response in a certain voice and the model continues accordingly.</a:t>
            </a:r>
          </a:p>
          <a:p>
            <a:r>
              <a:rPr lang="en-US" dirty="0"/>
              <a:t>- Reduce preamble: skip filler like "Sure, I'd be happy to help!" and get straight to the answer.</a:t>
            </a:r>
          </a:p>
          <a:p>
            <a:r>
              <a:rPr lang="en-US" dirty="0"/>
              <a:t>- Guide reasoning: nudge the model toward a specific line of thinking.</a:t>
            </a:r>
          </a:p>
          <a:p>
            <a:endParaRPr lang="en-US" dirty="0"/>
          </a:p>
          <a:p>
            <a:r>
              <a:rPr lang="en-US" dirty="0"/>
              <a:t>Example: If you set the assistant turn to start with "The answer is:" the model continues directly with the answer rather than generating its own intro.</a:t>
            </a:r>
          </a:p>
          <a:p>
            <a:endParaRPr lang="en-US" dirty="0"/>
          </a:p>
          <a:p>
            <a:r>
              <a:rPr lang="en-US" dirty="0"/>
              <a:t>Why is this "Not available" in the Chat UI? Because the product controls the full message flow — there is no way for end users to inject a partial assistant turn. In the API, developers have full control over the messages array, including setting a partial assistant message that the model will complete.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02874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AC8E5-4CA3-2600-7579-F83FAC520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E4F8B-29E2-50A1-4181-11065C44A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29B56-5D3F-ED6B-8F35-17C89EBEA1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3B555F-67D1-09EA-EDE9-6CFC29BFB46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188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E762-D2C4-7EFD-6C80-34D9A45E0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7A622-993A-E6C6-898E-0EC2CD606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E8617-5AE7-C8A3-1509-C93EDF445E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94865A-28CC-A4C3-05C2-3DEFEE9111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698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0671-053C-137E-B27E-F2276E65C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A88E6-DA6A-6076-152C-25F9EB18B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65A86-887B-F62E-6CB4-2B107AC850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B7EA9-566A-F263-B3D5-590482A3B07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5014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0A44-5F45-1CA4-4A96-FE56B65A6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E8F8D-1F62-9950-6342-70557217E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D4DE0-1E28-DE74-5C4D-AB6B061F9C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Sample from the smallest set of tokens whose probability sums to p. Use either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top_p</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 or temperature, not both.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Hard cap on output length. Set it high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nough</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 to avoid truncation, low enough to control cost. Always check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finish_reason</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Strings that halt generation (e.g., "\n\n", "END"). Essential for structured output and preventing runaway completions.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Fixed seed + low temperature = near-deterministic outputs. Critical for reproducible evals and debugging.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endParaRPr lang="en-US" dirty="0"/>
          </a:p>
          <a:p>
            <a:endParaRPr lang="en-US" dirty="0"/>
          </a:p>
        </p:txBody>
      </p:sp>
      <p:sp>
        <p:nvSpPr>
          <p:cNvPr id="4" name="Slide Number Placeholder 3">
            <a:extLst>
              <a:ext uri="{FF2B5EF4-FFF2-40B4-BE49-F238E27FC236}">
                <a16:creationId xmlns:a16="http://schemas.microsoft.com/office/drawing/2014/main" id="{E2BCE821-4774-39C2-394B-99639FC3304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180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D815-60D8-BB01-F603-E5BD58CAF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7C375-83F7-760F-F317-7CDFDB1F6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C7D20-C743-76DC-F28D-886FCB8731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B0F2C-EDEA-B0DD-F1A9-CD8449DB2ED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42056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A5241F8F-EDD8-9CE3-BD72-D7A4ECBCE9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4A51BD-241B-C9FF-C22F-65BC4BE1B1E5}"/>
              </a:ext>
            </a:extLst>
          </p:cNvPr>
          <p:cNvSpPr/>
          <p:nvPr/>
        </p:nvSpPr>
        <p:spPr>
          <a:xfrm>
            <a:off x="0" y="0"/>
            <a:ext cx="914400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6E8BA19-6762-77EA-B4DA-92206B306694}"/>
              </a:ext>
            </a:extLst>
          </p:cNvPr>
          <p:cNvSpPr/>
          <p:nvPr/>
        </p:nvSpPr>
        <p:spPr>
          <a:xfrm>
            <a:off x="640080" y="731520"/>
            <a:ext cx="7772400" cy="2377440"/>
          </a:xfrm>
          <a:prstGeom prst="rect">
            <a:avLst/>
          </a:prstGeom>
          <a:noFill/>
          <a:ln/>
        </p:spPr>
        <p:txBody>
          <a:bodyPr wrap="square" lIns="0" tIns="0" rIns="0" bIns="0" rtlCol="0" anchor="ct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Mastering</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Individual Calls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to LLMs</a:t>
            </a:r>
          </a:p>
        </p:txBody>
      </p:sp>
      <p:sp>
        <p:nvSpPr>
          <p:cNvPr id="4" name="Text 2">
            <a:extLst>
              <a:ext uri="{FF2B5EF4-FFF2-40B4-BE49-F238E27FC236}">
                <a16:creationId xmlns:a16="http://schemas.microsoft.com/office/drawing/2014/main" id="{B63330BC-2099-954A-A8E3-E07F1241A032}"/>
              </a:ext>
            </a:extLst>
          </p:cNvPr>
          <p:cNvSpPr/>
          <p:nvPr/>
        </p:nvSpPr>
        <p:spPr>
          <a:xfrm>
            <a:off x="640080" y="3108960"/>
            <a:ext cx="7772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1" u="none" strike="noStrike" kern="1200" cap="none" spc="0" normalizeH="0" baseline="0" noProof="0" dirty="0">
              <a:ln>
                <a:noFill/>
              </a:ln>
              <a:solidFill>
                <a:srgbClr val="00BFA6"/>
              </a:solidFill>
              <a:effectLst/>
              <a:uLnTx/>
              <a:uFillTx/>
              <a:latin typeface="Segoe UI" pitchFamily="34" charset="0"/>
              <a:ea typeface="Segoe UI" pitchFamily="34" charset="-122"/>
              <a:cs typeface="Segoe UI" pitchFamily="34" charset="-120"/>
            </a:endParaRPr>
          </a:p>
        </p:txBody>
      </p:sp>
      <p:sp>
        <p:nvSpPr>
          <p:cNvPr id="6" name="Text 4">
            <a:extLst>
              <a:ext uri="{FF2B5EF4-FFF2-40B4-BE49-F238E27FC236}">
                <a16:creationId xmlns:a16="http://schemas.microsoft.com/office/drawing/2014/main" id="{4803E927-0578-FFE0-92C5-C14D661C09E2}"/>
              </a:ext>
            </a:extLst>
          </p:cNvPr>
          <p:cNvSpPr/>
          <p:nvPr/>
        </p:nvSpPr>
        <p:spPr>
          <a:xfrm>
            <a:off x="640080" y="4297680"/>
            <a:ext cx="4572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Fabio Casati  ·  University of Trento</a:t>
            </a:r>
          </a:p>
        </p:txBody>
      </p:sp>
    </p:spTree>
    <p:extLst>
      <p:ext uri="{BB962C8B-B14F-4D97-AF65-F5344CB8AC3E}">
        <p14:creationId xmlns:p14="http://schemas.microsoft.com/office/powerpoint/2010/main" val="2251614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20040"/>
            <a:ext cx="7772400" cy="731520"/>
          </a:xfrm>
          <a:prstGeom prst="rect">
            <a:avLst/>
          </a:prstGeom>
          <a:noFill/>
          <a:ln/>
        </p:spPr>
        <p:txBody>
          <a:bodyPr wrap="square" lIns="0" tIns="0" rIns="0" bIns="0" rtlCol="0" anchor="ctr"/>
          <a:lstStyle/>
          <a:p>
            <a:pPr marL="0" indent="0">
              <a:buNone/>
            </a:pPr>
            <a:r>
              <a:rPr lang="en-US" sz="4200" b="1" dirty="0">
                <a:solidFill>
                  <a:srgbClr val="1A2744"/>
                </a:solidFill>
                <a:latin typeface="Segoe UI Black" pitchFamily="34" charset="0"/>
                <a:ea typeface="Segoe UI Black" pitchFamily="34" charset="-122"/>
                <a:cs typeface="Segoe UI Black" pitchFamily="34" charset="-120"/>
              </a:rPr>
              <a:t>UI vs API</a:t>
            </a:r>
            <a:endParaRPr lang="en-US" sz="4200" dirty="0"/>
          </a:p>
        </p:txBody>
      </p:sp>
      <p:sp>
        <p:nvSpPr>
          <p:cNvPr id="3" name="Text 1"/>
          <p:cNvSpPr/>
          <p:nvPr/>
        </p:nvSpPr>
        <p:spPr>
          <a:xfrm>
            <a:off x="593780" y="1211869"/>
            <a:ext cx="7772400" cy="929447"/>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2000" i="1" dirty="0">
                <a:solidFill>
                  <a:srgbClr val="1A2744"/>
                </a:solidFill>
                <a:latin typeface="Segoe UI" pitchFamily="34" charset="0"/>
                <a:ea typeface="Segoe UI" pitchFamily="34" charset="-122"/>
                <a:cs typeface="Segoe UI" pitchFamily="34" charset="-120"/>
              </a:rPr>
              <a:t>With both, you have 1. defaults and 2. controls.</a:t>
            </a:r>
          </a:p>
          <a:p>
            <a:pPr marL="285750" indent="-285750">
              <a:buFont typeface="Arial" panose="020B0604020202020204" pitchFamily="34" charset="0"/>
              <a:buChar char="•"/>
            </a:pPr>
            <a:r>
              <a:rPr lang="en-US" sz="2000" i="1" dirty="0">
                <a:solidFill>
                  <a:srgbClr val="1A2744"/>
                </a:solidFill>
                <a:latin typeface="Segoe UI" pitchFamily="34" charset="0"/>
                <a:cs typeface="Segoe UI" pitchFamily="34" charset="-120"/>
              </a:rPr>
              <a:t>But – they vary. And you must make choices intentionally</a:t>
            </a:r>
          </a:p>
          <a:p>
            <a:pPr marL="285750" indent="-285750">
              <a:buFont typeface="Arial" panose="020B0604020202020204" pitchFamily="34" charset="0"/>
              <a:buChar char="•"/>
            </a:pPr>
            <a:r>
              <a:rPr lang="en-US" sz="2000" i="1" dirty="0">
                <a:solidFill>
                  <a:srgbClr val="1A2744"/>
                </a:solidFill>
                <a:latin typeface="Segoe UI" pitchFamily="34" charset="0"/>
                <a:cs typeface="Segoe UI" pitchFamily="34" charset="-120"/>
              </a:rPr>
              <a:t>New features come out EVERY DAY</a:t>
            </a:r>
            <a:endParaRPr lang="en-US" sz="2000" dirty="0"/>
          </a:p>
        </p:txBody>
      </p:sp>
      <p:graphicFrame>
        <p:nvGraphicFramePr>
          <p:cNvPr id="5" name="Table 0"/>
          <p:cNvGraphicFramePr>
            <a:graphicFrameLocks noGrp="1"/>
          </p:cNvGraphicFramePr>
          <p:nvPr/>
        </p:nvGraphicFramePr>
        <p:xfrm>
          <a:off x="243068" y="2809754"/>
          <a:ext cx="8646287" cy="2028078"/>
        </p:xfrm>
        <a:graphic>
          <a:graphicData uri="http://schemas.openxmlformats.org/drawingml/2006/table">
            <a:tbl>
              <a:tblPr/>
              <a:tblGrid>
                <a:gridCol w="2211841">
                  <a:extLst>
                    <a:ext uri="{9D8B030D-6E8A-4147-A177-3AD203B41FA5}">
                      <a16:colId xmlns:a16="http://schemas.microsoft.com/office/drawing/2014/main" val="20000"/>
                    </a:ext>
                  </a:extLst>
                </a:gridCol>
                <a:gridCol w="3217223">
                  <a:extLst>
                    <a:ext uri="{9D8B030D-6E8A-4147-A177-3AD203B41FA5}">
                      <a16:colId xmlns:a16="http://schemas.microsoft.com/office/drawing/2014/main" val="20001"/>
                    </a:ext>
                  </a:extLst>
                </a:gridCol>
                <a:gridCol w="3217223">
                  <a:extLst>
                    <a:ext uri="{9D8B030D-6E8A-4147-A177-3AD203B41FA5}">
                      <a16:colId xmlns:a16="http://schemas.microsoft.com/office/drawing/2014/main" val="20002"/>
                    </a:ext>
                  </a:extLst>
                </a:gridCol>
              </a:tblGrid>
              <a:tr h="497480">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Capability</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Chat UI</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API</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408239">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Tools</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Product-managed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Developer-defined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1965">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Memory</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Product-managed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Developer-managed (if you want)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05114">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Structured outputs</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Best-effort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Enforced via JSON Schema</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12516">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99553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Anatomy of an API Call</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22AE8DF7-D195-6327-2E04-EA4AE98A4B35}"/>
              </a:ext>
            </a:extLst>
          </p:cNvPr>
          <p:cNvSpPr/>
          <p:nvPr/>
        </p:nvSpPr>
        <p:spPr>
          <a:xfrm>
            <a:off x="640080" y="201168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C4815066-66A1-59FC-7349-946E9C4402DC}"/>
              </a:ext>
            </a:extLst>
          </p:cNvPr>
          <p:cNvSpPr/>
          <p:nvPr/>
        </p:nvSpPr>
        <p:spPr>
          <a:xfrm>
            <a:off x="640080" y="201168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4512780C-AA96-81A6-6AFD-CC870C41D6E5}"/>
              </a:ext>
            </a:extLst>
          </p:cNvPr>
          <p:cNvSpPr/>
          <p:nvPr/>
        </p:nvSpPr>
        <p:spPr>
          <a:xfrm>
            <a:off x="1417320" y="196596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System Message</a:t>
            </a:r>
          </a:p>
        </p:txBody>
      </p:sp>
      <p:sp>
        <p:nvSpPr>
          <p:cNvPr id="7" name="Text 5">
            <a:extLst>
              <a:ext uri="{FF2B5EF4-FFF2-40B4-BE49-F238E27FC236}">
                <a16:creationId xmlns:a16="http://schemas.microsoft.com/office/drawing/2014/main" id="{25CAB123-4FE1-DB89-629F-5D6E18170171}"/>
              </a:ext>
            </a:extLst>
          </p:cNvPr>
          <p:cNvSpPr/>
          <p:nvPr/>
        </p:nvSpPr>
        <p:spPr>
          <a:xfrm>
            <a:off x="1417320" y="228600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Sets the persona, rules, and constraints the model follows throughout the conversation. Think of it as the model's "job description."</a:t>
            </a:r>
          </a:p>
        </p:txBody>
      </p:sp>
      <p:sp>
        <p:nvSpPr>
          <p:cNvPr id="8" name="Shape 6">
            <a:extLst>
              <a:ext uri="{FF2B5EF4-FFF2-40B4-BE49-F238E27FC236}">
                <a16:creationId xmlns:a16="http://schemas.microsoft.com/office/drawing/2014/main" id="{ABFFC6FB-0B13-8F29-DD9D-196590B8FFA0}"/>
              </a:ext>
            </a:extLst>
          </p:cNvPr>
          <p:cNvSpPr/>
          <p:nvPr/>
        </p:nvSpPr>
        <p:spPr>
          <a:xfrm>
            <a:off x="640080" y="301752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25003E05-5BA1-6961-6269-B17BA975B0AE}"/>
              </a:ext>
            </a:extLst>
          </p:cNvPr>
          <p:cNvSpPr/>
          <p:nvPr/>
        </p:nvSpPr>
        <p:spPr>
          <a:xfrm>
            <a:off x="640080" y="301752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0C49A927-356F-2767-527C-ED591F693561}"/>
              </a:ext>
            </a:extLst>
          </p:cNvPr>
          <p:cNvSpPr/>
          <p:nvPr/>
        </p:nvSpPr>
        <p:spPr>
          <a:xfrm>
            <a:off x="1417320" y="297180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User Message</a:t>
            </a:r>
          </a:p>
        </p:txBody>
      </p:sp>
      <p:sp>
        <p:nvSpPr>
          <p:cNvPr id="11" name="Text 9">
            <a:extLst>
              <a:ext uri="{FF2B5EF4-FFF2-40B4-BE49-F238E27FC236}">
                <a16:creationId xmlns:a16="http://schemas.microsoft.com/office/drawing/2014/main" id="{FEACD849-5B34-A795-3AB0-1F9D13B1A128}"/>
              </a:ext>
            </a:extLst>
          </p:cNvPr>
          <p:cNvSpPr/>
          <p:nvPr/>
        </p:nvSpPr>
        <p:spPr>
          <a:xfrm>
            <a:off x="1417320" y="329184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The actual task or question. Includes the input data, instructions, and any examples (few-shot) you want the model to follow.</a:t>
            </a:r>
          </a:p>
        </p:txBody>
      </p:sp>
      <p:sp>
        <p:nvSpPr>
          <p:cNvPr id="12" name="Shape 10">
            <a:extLst>
              <a:ext uri="{FF2B5EF4-FFF2-40B4-BE49-F238E27FC236}">
                <a16:creationId xmlns:a16="http://schemas.microsoft.com/office/drawing/2014/main" id="{EA109285-1727-47EE-C4B8-E697F3E85715}"/>
              </a:ext>
            </a:extLst>
          </p:cNvPr>
          <p:cNvSpPr/>
          <p:nvPr/>
        </p:nvSpPr>
        <p:spPr>
          <a:xfrm>
            <a:off x="640080" y="402336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4BE354B5-2949-CB76-4EE8-AC130CC561B1}"/>
              </a:ext>
            </a:extLst>
          </p:cNvPr>
          <p:cNvSpPr/>
          <p:nvPr/>
        </p:nvSpPr>
        <p:spPr>
          <a:xfrm>
            <a:off x="640080" y="402336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8BE4EE10-AE50-F05D-BDFF-AE7DF48A5E66}"/>
              </a:ext>
            </a:extLst>
          </p:cNvPr>
          <p:cNvSpPr/>
          <p:nvPr/>
        </p:nvSpPr>
        <p:spPr>
          <a:xfrm>
            <a:off x="1417320" y="397764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Parameters</a:t>
            </a:r>
          </a:p>
        </p:txBody>
      </p:sp>
      <p:sp>
        <p:nvSpPr>
          <p:cNvPr id="15" name="Text 13">
            <a:extLst>
              <a:ext uri="{FF2B5EF4-FFF2-40B4-BE49-F238E27FC236}">
                <a16:creationId xmlns:a16="http://schemas.microsoft.com/office/drawing/2014/main" id="{93A140BD-46B2-DF48-011B-23D435027558}"/>
              </a:ext>
            </a:extLst>
          </p:cNvPr>
          <p:cNvSpPr/>
          <p:nvPr/>
        </p:nvSpPr>
        <p:spPr>
          <a:xfrm>
            <a:off x="1417320" y="429768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Temperature, top_p, max_tokens, stop sequences, and more. These knobs control how the model generates its response.</a:t>
            </a:r>
          </a:p>
        </p:txBody>
      </p:sp>
    </p:spTree>
    <p:extLst>
      <p:ext uri="{BB962C8B-B14F-4D97-AF65-F5344CB8AC3E}">
        <p14:creationId xmlns:p14="http://schemas.microsoft.com/office/powerpoint/2010/main" val="61054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Your First API Call</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CodeBg"/>
          <p:cNvSpPr/>
          <p:nvPr/>
        </p:nvSpPr>
        <p:spPr>
          <a:xfrm>
            <a:off x="457200" y="1143000"/>
            <a:ext cx="822960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1" name="CodeText"/>
          <p:cNvSpPr/>
          <p:nvPr/>
        </p:nvSpPr>
        <p:spPr>
          <a:xfrm>
            <a:off x="594360" y="1280160"/>
            <a:ext cx="7955280" cy="3383280"/>
          </a:xfrm>
          <a:prstGeom prst="rect">
            <a:avLst/>
          </a:prstGeom>
          <a:noFill/>
          <a:ln>
            <a:noFill/>
          </a:ln>
        </p:spPr>
        <p:txBody>
          <a:bodyPr wrap="square" lIns="91440" tIns="45720" rIns="91440" bIns="45720" rtlCol="0" anchor="t"/>
          <a:lstStyle/>
          <a:p>
            <a:pPr algn="l">
              <a:lnSpc>
                <a:spcPts val="1800"/>
              </a:lnSpc>
              <a:buNone/>
            </a:pPr>
            <a:r>
              <a:rPr lang="en-US" sz="1100" b="1" dirty="0">
                <a:solidFill>
                  <a:srgbClr val="FF7B72"/>
                </a:solidFill>
                <a:latin typeface="Consolas"/>
                <a:cs typeface="Consolas"/>
              </a:rPr>
              <a:t>from</a:t>
            </a:r>
            <a:r>
              <a:rPr lang="en-US" sz="1100" dirty="0">
                <a:solidFill>
                  <a:srgbClr val="C9D1D9"/>
                </a:solidFill>
                <a:latin typeface="Consolas"/>
                <a:cs typeface="Consolas"/>
              </a:rPr>
              <a:t> openai </a:t>
            </a:r>
            <a:r>
              <a:rPr lang="en-US" sz="1100" b="1" dirty="0">
                <a:solidFill>
                  <a:srgbClr val="FF7B72"/>
                </a:solidFill>
                <a:latin typeface="Consolas"/>
                <a:cs typeface="Consolas"/>
              </a:rPr>
              <a:t>import</a:t>
            </a:r>
            <a:r>
              <a:rPr lang="en-US" sz="1100" dirty="0">
                <a:solidFill>
                  <a:srgbClr val="C9D1D9"/>
                </a:solidFill>
                <a:latin typeface="Consolas"/>
                <a:cs typeface="Consolas"/>
              </a:rPr>
              <a:t> OpenAI</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client = OpenAI()</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response = client.chat.completions.create(</a:t>
            </a:r>
          </a:p>
          <a:p>
            <a:pPr algn="l">
              <a:lnSpc>
                <a:spcPts val="1800"/>
              </a:lnSpc>
              <a:buNone/>
            </a:pPr>
            <a:r>
              <a:rPr lang="en-US" sz="1100" dirty="0">
                <a:solidFill>
                  <a:srgbClr val="C9D1D9"/>
                </a:solidFill>
                <a:latin typeface="Consolas"/>
                <a:cs typeface="Consolas"/>
              </a:rPr>
              <a:t>    model=</a:t>
            </a:r>
            <a:r>
              <a:rPr lang="en-US" sz="1100" dirty="0">
                <a:solidFill>
                  <a:srgbClr val="A5D6FF"/>
                </a:solidFill>
                <a:latin typeface="Consolas"/>
                <a:cs typeface="Consolas"/>
              </a:rPr>
              <a:t>"gpt-4.1-mini"</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messages=[</a:t>
            </a:r>
          </a:p>
          <a:p>
            <a:pPr algn="l">
              <a:lnSpc>
                <a:spcPts val="1800"/>
              </a:lnSpc>
              <a:buNone/>
            </a:pPr>
            <a:r>
              <a:rPr lang="en-US" sz="1100" dirty="0">
                <a:solidFill>
                  <a:srgbClr val="C9D1D9"/>
                </a:solidFill>
                <a:latin typeface="Consolas"/>
                <a:cs typeface="Consolas"/>
              </a:rPr>
              <a:t>        {</a:t>
            </a:r>
            <a:r>
              <a:rPr lang="en-US" sz="1100" dirty="0">
                <a:solidFill>
                  <a:srgbClr val="A5D6FF"/>
                </a:solidFill>
                <a:latin typeface="Consolas"/>
                <a:cs typeface="Consolas"/>
              </a:rPr>
              <a:t>"role"</a:t>
            </a:r>
            <a:r>
              <a:rPr lang="en-US" sz="1100" dirty="0">
                <a:solidFill>
                  <a:srgbClr val="C9D1D9"/>
                </a:solidFill>
                <a:latin typeface="Consolas"/>
                <a:cs typeface="Consolas"/>
              </a:rPr>
              <a:t>: </a:t>
            </a:r>
            <a:r>
              <a:rPr lang="en-US" sz="1100" dirty="0">
                <a:solidFill>
                  <a:srgbClr val="A5D6FF"/>
                </a:solidFill>
                <a:latin typeface="Consolas"/>
                <a:cs typeface="Consolas"/>
              </a:rPr>
              <a:t>"system"</a:t>
            </a:r>
            <a:r>
              <a:rPr lang="en-US" sz="1100" dirty="0">
                <a:solidFill>
                  <a:srgbClr val="C9D1D9"/>
                </a:solidFill>
                <a:latin typeface="Consolas"/>
                <a:cs typeface="Consolas"/>
              </a:rPr>
              <a:t>, </a:t>
            </a:r>
            <a:r>
              <a:rPr lang="en-US" sz="1100" dirty="0">
                <a:solidFill>
                  <a:srgbClr val="A5D6FF"/>
                </a:solidFill>
                <a:latin typeface="Consolas"/>
                <a:cs typeface="Consolas"/>
              </a:rPr>
              <a:t>"content"</a:t>
            </a:r>
            <a:r>
              <a:rPr lang="en-US" sz="1100" dirty="0">
                <a:solidFill>
                  <a:srgbClr val="C9D1D9"/>
                </a:solidFill>
                <a:latin typeface="Consolas"/>
                <a:cs typeface="Consolas"/>
              </a:rPr>
              <a:t>: </a:t>
            </a:r>
            <a:r>
              <a:rPr lang="en-US" sz="1100" dirty="0">
                <a:solidFill>
                  <a:srgbClr val="A5D6FF"/>
                </a:solidFill>
                <a:latin typeface="Consolas"/>
                <a:cs typeface="Consolas"/>
              </a:rPr>
              <a:t>"You are a helpful assistant."</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a:t>
            </a:r>
            <a:r>
              <a:rPr lang="en-US" sz="1100" dirty="0">
                <a:solidFill>
                  <a:srgbClr val="A5D6FF"/>
                </a:solidFill>
                <a:latin typeface="Consolas"/>
                <a:cs typeface="Consolas"/>
              </a:rPr>
              <a:t>"role"</a:t>
            </a:r>
            <a:r>
              <a:rPr lang="en-US" sz="1100" dirty="0">
                <a:solidFill>
                  <a:srgbClr val="C9D1D9"/>
                </a:solidFill>
                <a:latin typeface="Consolas"/>
                <a:cs typeface="Consolas"/>
              </a:rPr>
              <a:t>: </a:t>
            </a:r>
            <a:r>
              <a:rPr lang="en-US" sz="1100" dirty="0">
                <a:solidFill>
                  <a:srgbClr val="A5D6FF"/>
                </a:solidFill>
                <a:latin typeface="Consolas"/>
                <a:cs typeface="Consolas"/>
              </a:rPr>
              <a:t>"user"</a:t>
            </a:r>
            <a:r>
              <a:rPr lang="en-US" sz="1100" dirty="0">
                <a:solidFill>
                  <a:srgbClr val="C9D1D9"/>
                </a:solidFill>
                <a:latin typeface="Consolas"/>
                <a:cs typeface="Consolas"/>
              </a:rPr>
              <a:t>, </a:t>
            </a:r>
            <a:r>
              <a:rPr lang="en-US" sz="1100" dirty="0">
                <a:solidFill>
                  <a:srgbClr val="A5D6FF"/>
                </a:solidFill>
                <a:latin typeface="Consolas"/>
                <a:cs typeface="Consolas"/>
              </a:rPr>
              <a:t>"content"</a:t>
            </a:r>
            <a:r>
              <a:rPr lang="en-US" sz="1100" dirty="0">
                <a:solidFill>
                  <a:srgbClr val="C9D1D9"/>
                </a:solidFill>
                <a:latin typeface="Consolas"/>
                <a:cs typeface="Consolas"/>
              </a:rPr>
              <a:t>: </a:t>
            </a:r>
            <a:r>
              <a:rPr lang="en-US" sz="1100" dirty="0">
                <a:solidFill>
                  <a:srgbClr val="A5D6FF"/>
                </a:solidFill>
                <a:latin typeface="Consolas"/>
                <a:cs typeface="Consolas"/>
              </a:rPr>
              <a:t>"What is the capital of France?"</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a:t>
            </a:r>
          </a:p>
          <a:p>
            <a:pPr algn="l">
              <a:lnSpc>
                <a:spcPts val="1800"/>
              </a:lnSpc>
              <a:buNone/>
            </a:pPr>
            <a:r>
              <a:rPr lang="en-US" sz="1100" dirty="0">
                <a:solidFill>
                  <a:srgbClr val="C9D1D9"/>
                </a:solidFill>
                <a:latin typeface="Consolas"/>
                <a:cs typeface="Consolas"/>
              </a:rPr>
              <a:t>    temperature=</a:t>
            </a:r>
            <a:r>
              <a:rPr lang="en-US" sz="1100" dirty="0">
                <a:solidFill>
                  <a:srgbClr val="79C0FF"/>
                </a:solidFill>
                <a:latin typeface="Consolas"/>
                <a:cs typeface="Consolas"/>
              </a:rPr>
              <a:t>0.0</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print(response.choices[</a:t>
            </a:r>
            <a:r>
              <a:rPr lang="en-US" sz="1100" dirty="0">
                <a:solidFill>
                  <a:srgbClr val="79C0FF"/>
                </a:solidFill>
                <a:latin typeface="Consolas"/>
                <a:cs typeface="Consolas"/>
              </a:rPr>
              <a:t>0</a:t>
            </a:r>
            <a:r>
              <a:rPr lang="en-US" sz="1100" dirty="0">
                <a:solidFill>
                  <a:srgbClr val="C9D1D9"/>
                </a:solidFill>
                <a:latin typeface="Consolas"/>
                <a:cs typeface="Consolas"/>
              </a:rPr>
              <a:t>].message.content)</a:t>
            </a:r>
          </a:p>
          <a:p>
            <a:pPr algn="l">
              <a:lnSpc>
                <a:spcPts val="1800"/>
              </a:lnSpc>
              <a:buNone/>
            </a:pPr>
            <a:r>
              <a:rPr lang="en-US" sz="1100" dirty="0">
                <a:solidFill>
                  <a:srgbClr val="B8C4D6"/>
                </a:solidFill>
                <a:latin typeface="Consolas"/>
                <a:cs typeface="Consolas"/>
              </a:rPr>
              <a:t># &gt;&gt;&gt; The capital of France is Paris.</a:t>
            </a:r>
          </a:p>
        </p:txBody>
      </p:sp>
    </p:spTree>
    <p:extLst>
      <p:ext uri="{BB962C8B-B14F-4D97-AF65-F5344CB8AC3E}">
        <p14:creationId xmlns:p14="http://schemas.microsoft.com/office/powerpoint/2010/main" val="3621307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32801E-E686-542A-1F2A-CF9CCF6FBA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E40BB0-1B38-925F-7EC8-4597345C1C2E}"/>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71D1FF9-7372-C0C1-F568-45C3E998AC3B}"/>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1</a:t>
            </a:r>
          </a:p>
        </p:txBody>
      </p:sp>
      <p:sp>
        <p:nvSpPr>
          <p:cNvPr id="4" name="Text 2">
            <a:extLst>
              <a:ext uri="{FF2B5EF4-FFF2-40B4-BE49-F238E27FC236}">
                <a16:creationId xmlns:a16="http://schemas.microsoft.com/office/drawing/2014/main" id="{E141AF81-C944-C096-7963-B6EC72EC39F0}"/>
              </a:ext>
            </a:extLst>
          </p:cNvPr>
          <p:cNvSpPr/>
          <p:nvPr/>
        </p:nvSpPr>
        <p:spPr>
          <a:xfrm>
            <a:off x="1280160" y="274320"/>
            <a:ext cx="64008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System vs. User Messages</a:t>
            </a:r>
          </a:p>
        </p:txBody>
      </p:sp>
      <p:sp>
        <p:nvSpPr>
          <p:cNvPr id="5" name="Text 3">
            <a:extLst>
              <a:ext uri="{FF2B5EF4-FFF2-40B4-BE49-F238E27FC236}">
                <a16:creationId xmlns:a16="http://schemas.microsoft.com/office/drawing/2014/main" id="{986327BF-975C-5EBC-CC52-2C291AB91B02}"/>
              </a:ext>
            </a:extLst>
          </p:cNvPr>
          <p:cNvSpPr/>
          <p:nvPr/>
        </p:nvSpPr>
        <p:spPr>
          <a:xfrm>
            <a:off x="640080" y="91440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Two distinct roles that frame every API call.</a:t>
            </a:r>
          </a:p>
        </p:txBody>
      </p:sp>
      <p:sp>
        <p:nvSpPr>
          <p:cNvPr id="6" name="Shape 4">
            <a:extLst>
              <a:ext uri="{FF2B5EF4-FFF2-40B4-BE49-F238E27FC236}">
                <a16:creationId xmlns:a16="http://schemas.microsoft.com/office/drawing/2014/main" id="{030EFBE5-6AD6-0D96-C576-A34A942B9B77}"/>
              </a:ext>
            </a:extLst>
          </p:cNvPr>
          <p:cNvSpPr/>
          <p:nvPr/>
        </p:nvSpPr>
        <p:spPr>
          <a:xfrm>
            <a:off x="6400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30CB4942-437D-59BB-9CB0-9E4CE2CEB31C}"/>
              </a:ext>
            </a:extLst>
          </p:cNvPr>
          <p:cNvSpPr/>
          <p:nvPr/>
        </p:nvSpPr>
        <p:spPr>
          <a:xfrm>
            <a:off x="6400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4FA30342-B31F-C6D0-25B3-407BAB092D2E}"/>
              </a:ext>
            </a:extLst>
          </p:cNvPr>
          <p:cNvSpPr/>
          <p:nvPr/>
        </p:nvSpPr>
        <p:spPr>
          <a:xfrm>
            <a:off x="9144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System Message</a:t>
            </a:r>
          </a:p>
        </p:txBody>
      </p:sp>
      <p:sp>
        <p:nvSpPr>
          <p:cNvPr id="9" name="Text 7">
            <a:extLst>
              <a:ext uri="{FF2B5EF4-FFF2-40B4-BE49-F238E27FC236}">
                <a16:creationId xmlns:a16="http://schemas.microsoft.com/office/drawing/2014/main" id="{968878CB-A7DA-A452-2428-DD2CF5F83647}"/>
              </a:ext>
            </a:extLst>
          </p:cNvPr>
          <p:cNvSpPr/>
          <p:nvPr/>
        </p:nvSpPr>
        <p:spPr>
          <a:xfrm>
            <a:off x="914400" y="2011680"/>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Purpose:</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Defines the model's persona, tone, constraints, and output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Convention:</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You resend it every call, but keep it the same across turns. The API is stateless.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Tip:</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Put guardrails and formatting rules here so they can't be overridden by user input.</a:t>
            </a:r>
          </a:p>
        </p:txBody>
      </p:sp>
      <p:sp>
        <p:nvSpPr>
          <p:cNvPr id="10" name="Shape 8">
            <a:extLst>
              <a:ext uri="{FF2B5EF4-FFF2-40B4-BE49-F238E27FC236}">
                <a16:creationId xmlns:a16="http://schemas.microsoft.com/office/drawing/2014/main" id="{A5B3C6E5-51B1-74D1-02CC-64A56B3506C3}"/>
              </a:ext>
            </a:extLst>
          </p:cNvPr>
          <p:cNvSpPr/>
          <p:nvPr/>
        </p:nvSpPr>
        <p:spPr>
          <a:xfrm>
            <a:off x="47548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844E2946-7BAA-8A1A-8D1E-F35C7D113C5E}"/>
              </a:ext>
            </a:extLst>
          </p:cNvPr>
          <p:cNvSpPr/>
          <p:nvPr/>
        </p:nvSpPr>
        <p:spPr>
          <a:xfrm>
            <a:off x="47548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CF0A6A37-DDDB-C203-5B0B-FA3DBB723A11}"/>
              </a:ext>
            </a:extLst>
          </p:cNvPr>
          <p:cNvSpPr/>
          <p:nvPr/>
        </p:nvSpPr>
        <p:spPr>
          <a:xfrm>
            <a:off x="50292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User Message</a:t>
            </a:r>
          </a:p>
        </p:txBody>
      </p:sp>
      <p:sp>
        <p:nvSpPr>
          <p:cNvPr id="13" name="Text 11">
            <a:extLst>
              <a:ext uri="{FF2B5EF4-FFF2-40B4-BE49-F238E27FC236}">
                <a16:creationId xmlns:a16="http://schemas.microsoft.com/office/drawing/2014/main" id="{0B0A4125-7AF9-A935-ED0F-F11624E5CF52}"/>
              </a:ext>
            </a:extLst>
          </p:cNvPr>
          <p:cNvSpPr/>
          <p:nvPr/>
        </p:nvSpPr>
        <p:spPr>
          <a:xfrm>
            <a:off x="5029200" y="2011680"/>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Purpose:</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The actual task, question, or input data for this specific request.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Changes:</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Every turn. Each new request or follow-up goes here.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Tip:</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Include few-shot examples, context, and delimiters in the user message for best results.</a:t>
            </a:r>
          </a:p>
        </p:txBody>
      </p:sp>
      <p:sp>
        <p:nvSpPr>
          <p:cNvPr id="14" name="Shape 12">
            <a:extLst>
              <a:ext uri="{FF2B5EF4-FFF2-40B4-BE49-F238E27FC236}">
                <a16:creationId xmlns:a16="http://schemas.microsoft.com/office/drawing/2014/main" id="{CA650C77-0D39-5B62-BC49-AD2390830F5A}"/>
              </a:ext>
            </a:extLst>
          </p:cNvPr>
          <p:cNvSpPr/>
          <p:nvPr/>
        </p:nvSpPr>
        <p:spPr>
          <a:xfrm>
            <a:off x="640080" y="4023360"/>
            <a:ext cx="7863840" cy="822960"/>
          </a:xfrm>
          <a:prstGeom prst="rect">
            <a:avLst/>
          </a:prstGeom>
          <a:solidFill>
            <a:srgbClr val="1A27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029FB6A-FE08-CC40-23CE-BC5CEBB9CA41}"/>
              </a:ext>
            </a:extLst>
          </p:cNvPr>
          <p:cNvSpPr/>
          <p:nvPr/>
        </p:nvSpPr>
        <p:spPr>
          <a:xfrm>
            <a:off x="914400" y="4023360"/>
            <a:ext cx="73152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System = stable rules. User = variable input. Separate concerns cleanly.</a:t>
            </a:r>
          </a:p>
        </p:txBody>
      </p:sp>
    </p:spTree>
    <p:extLst>
      <p:ext uri="{BB962C8B-B14F-4D97-AF65-F5344CB8AC3E}">
        <p14:creationId xmlns:p14="http://schemas.microsoft.com/office/powerpoint/2010/main" val="89164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System Message Examples</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eftBg"/>
          <p:cNvSpPr/>
          <p:nvPr/>
        </p:nvSpPr>
        <p:spPr>
          <a:xfrm>
            <a:off x="457200" y="1143000"/>
            <a:ext cx="397764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1" name="LeftCode"/>
          <p:cNvSpPr/>
          <p:nvPr/>
        </p:nvSpPr>
        <p:spPr>
          <a:xfrm>
            <a:off x="548640" y="1234440"/>
            <a:ext cx="3794760" cy="3474720"/>
          </a:xfrm>
          <a:prstGeom prst="rect">
            <a:avLst/>
          </a:prstGeom>
          <a:noFill/>
          <a:ln>
            <a:noFill/>
          </a:ln>
        </p:spPr>
        <p:txBody>
          <a:bodyPr wrap="square" lIns="45720" tIns="45720" rIns="45720" bIns="45720" rtlCol="0" anchor="t"/>
          <a:lstStyle/>
          <a:p>
            <a:pPr algn="l">
              <a:lnSpc>
                <a:spcPts val="1600"/>
              </a:lnSpc>
              <a:buNone/>
            </a:pPr>
            <a:r>
              <a:rPr lang="en-US" sz="900" b="1" dirty="0">
                <a:solidFill>
                  <a:srgbClr val="00BFA6"/>
                </a:solidFill>
                <a:latin typeface="Segoe UI"/>
                <a:cs typeface="Segoe UI"/>
              </a:rPr>
              <a:t>SYSTEM MESSAGE</a:t>
            </a:r>
          </a:p>
          <a:p>
            <a:pPr algn="l">
              <a:lnSpc>
                <a:spcPts val="1600"/>
              </a:lnSpc>
              <a:buNone/>
            </a:pPr>
            <a:r>
              <a:rPr lang="en-US" sz="1000" dirty="0">
                <a:solidFill>
                  <a:srgbClr val="A5D6FF"/>
                </a:solidFill>
                <a:latin typeface="Consolas"/>
                <a:cs typeface="Consolas"/>
              </a:rPr>
              <a:t>"You are a formal financial</a:t>
            </a:r>
          </a:p>
          <a:p>
            <a:pPr algn="l">
              <a:lnSpc>
                <a:spcPts val="1600"/>
              </a:lnSpc>
              <a:buNone/>
            </a:pPr>
            <a:r>
              <a:rPr lang="en-US" sz="1000" dirty="0">
                <a:solidFill>
                  <a:srgbClr val="A5D6FF"/>
                </a:solidFill>
                <a:latin typeface="Consolas"/>
                <a:cs typeface="Consolas"/>
              </a:rPr>
              <a:t>analyst. Be precise and use</a:t>
            </a:r>
          </a:p>
          <a:p>
            <a:pPr algn="l">
              <a:lnSpc>
                <a:spcPts val="1600"/>
              </a:lnSpc>
              <a:buNone/>
            </a:pPr>
            <a:r>
              <a:rPr lang="en-US" sz="1000" dirty="0">
                <a:solidFill>
                  <a:srgbClr val="A5D6FF"/>
                </a:solidFill>
                <a:latin typeface="Consolas"/>
                <a:cs typeface="Consolas"/>
              </a:rPr>
              <a:t>technical terminology."</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00BFA6"/>
                </a:solidFill>
                <a:latin typeface="Segoe UI"/>
                <a:cs typeface="Segoe UI"/>
              </a:rPr>
              <a:t>USER MESSAGE</a:t>
            </a:r>
          </a:p>
          <a:p>
            <a:pPr algn="l">
              <a:lnSpc>
                <a:spcPts val="1600"/>
              </a:lnSpc>
              <a:buNone/>
            </a:pPr>
            <a:r>
              <a:rPr lang="en-US" sz="1000" dirty="0">
                <a:solidFill>
                  <a:srgbClr val="A5D6FF"/>
                </a:solidFill>
                <a:latin typeface="Consolas"/>
                <a:cs typeface="Consolas"/>
              </a:rPr>
              <a:t>"Explain what an API is."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FF7B72"/>
                </a:solidFill>
                <a:latin typeface="Segoe UI"/>
                <a:cs typeface="Segoe UI"/>
              </a:rPr>
              <a:t>OUTPUT</a:t>
            </a:r>
          </a:p>
          <a:p>
            <a:pPr algn="l">
              <a:lnSpc>
                <a:spcPts val="1600"/>
              </a:lnSpc>
              <a:buNone/>
            </a:pPr>
            <a:r>
              <a:rPr lang="en-US" sz="1000" i="1" dirty="0">
                <a:solidFill>
                  <a:srgbClr val="B8C4D6"/>
                </a:solidFill>
                <a:latin typeface="Consolas"/>
                <a:cs typeface="Consolas"/>
              </a:rPr>
              <a:t>An Application Programming</a:t>
            </a:r>
          </a:p>
          <a:p>
            <a:pPr algn="l">
              <a:lnSpc>
                <a:spcPts val="1600"/>
              </a:lnSpc>
              <a:buNone/>
            </a:pPr>
            <a:r>
              <a:rPr lang="en-US" sz="1000" i="1" dirty="0">
                <a:solidFill>
                  <a:srgbClr val="B8C4D6"/>
                </a:solidFill>
                <a:latin typeface="Consolas"/>
                <a:cs typeface="Consolas"/>
              </a:rPr>
              <a:t>Interface (API) is a formally</a:t>
            </a:r>
          </a:p>
          <a:p>
            <a:pPr algn="l">
              <a:lnSpc>
                <a:spcPts val="1600"/>
              </a:lnSpc>
              <a:buNone/>
            </a:pPr>
            <a:r>
              <a:rPr lang="en-US" sz="1000" i="1" dirty="0">
                <a:solidFill>
                  <a:srgbClr val="B8C4D6"/>
                </a:solidFill>
                <a:latin typeface="Consolas"/>
                <a:cs typeface="Consolas"/>
              </a:rPr>
              <a:t>defined contract specifying how</a:t>
            </a:r>
          </a:p>
          <a:p>
            <a:pPr algn="l">
              <a:lnSpc>
                <a:spcPts val="1600"/>
              </a:lnSpc>
              <a:buNone/>
            </a:pPr>
            <a:r>
              <a:rPr lang="en-US" sz="1000" i="1" dirty="0">
                <a:solidFill>
                  <a:srgbClr val="B8C4D6"/>
                </a:solidFill>
                <a:latin typeface="Consolas"/>
                <a:cs typeface="Consolas"/>
              </a:rPr>
              <a:t>software components exchange</a:t>
            </a:r>
          </a:p>
          <a:p>
            <a:pPr algn="l">
              <a:lnSpc>
                <a:spcPts val="1600"/>
              </a:lnSpc>
              <a:buNone/>
            </a:pPr>
            <a:r>
              <a:rPr lang="en-US" sz="1000" i="1" dirty="0">
                <a:solidFill>
                  <a:srgbClr val="B8C4D6"/>
                </a:solidFill>
                <a:latin typeface="Consolas"/>
                <a:cs typeface="Consolas"/>
              </a:rPr>
              <a:t>data and invoke operations...</a:t>
            </a:r>
          </a:p>
        </p:txBody>
      </p:sp>
      <p:sp>
        <p:nvSpPr>
          <p:cNvPr id="22" name="RightBg"/>
          <p:cNvSpPr/>
          <p:nvPr/>
        </p:nvSpPr>
        <p:spPr>
          <a:xfrm>
            <a:off x="4709160" y="1143000"/>
            <a:ext cx="397764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3" name="RightCode"/>
          <p:cNvSpPr/>
          <p:nvPr/>
        </p:nvSpPr>
        <p:spPr>
          <a:xfrm>
            <a:off x="4800600" y="1234440"/>
            <a:ext cx="3794760" cy="3474720"/>
          </a:xfrm>
          <a:prstGeom prst="rect">
            <a:avLst/>
          </a:prstGeom>
          <a:noFill/>
          <a:ln>
            <a:noFill/>
          </a:ln>
        </p:spPr>
        <p:txBody>
          <a:bodyPr wrap="square" lIns="45720" tIns="45720" rIns="45720" bIns="45720" rtlCol="0" anchor="t"/>
          <a:lstStyle/>
          <a:p>
            <a:pPr algn="l">
              <a:lnSpc>
                <a:spcPts val="1600"/>
              </a:lnSpc>
              <a:buNone/>
            </a:pPr>
            <a:r>
              <a:rPr lang="en-US" sz="900" b="1" dirty="0">
                <a:solidFill>
                  <a:srgbClr val="00BFA6"/>
                </a:solidFill>
                <a:latin typeface="Segoe UI"/>
                <a:cs typeface="Segoe UI"/>
              </a:rPr>
              <a:t>SYSTEM MESSAGE</a:t>
            </a:r>
          </a:p>
          <a:p>
            <a:pPr algn="l">
              <a:lnSpc>
                <a:spcPts val="1600"/>
              </a:lnSpc>
              <a:buNone/>
            </a:pPr>
            <a:r>
              <a:rPr lang="en-US" sz="1000" dirty="0">
                <a:solidFill>
                  <a:srgbClr val="A5D6FF"/>
                </a:solidFill>
                <a:latin typeface="Consolas"/>
                <a:cs typeface="Consolas"/>
              </a:rPr>
              <a:t>"You are a friendly teacher</a:t>
            </a:r>
          </a:p>
          <a:p>
            <a:pPr algn="l">
              <a:lnSpc>
                <a:spcPts val="1600"/>
              </a:lnSpc>
              <a:buNone/>
            </a:pPr>
            <a:r>
              <a:rPr lang="en-US" sz="1000" dirty="0">
                <a:solidFill>
                  <a:srgbClr val="A5D6FF"/>
                </a:solidFill>
                <a:latin typeface="Consolas"/>
                <a:cs typeface="Consolas"/>
              </a:rPr>
              <a:t>explaining concepts to a</a:t>
            </a:r>
          </a:p>
          <a:p>
            <a:pPr algn="l">
              <a:lnSpc>
                <a:spcPts val="1600"/>
              </a:lnSpc>
              <a:buNone/>
            </a:pPr>
            <a:r>
              <a:rPr lang="en-US" sz="1000" dirty="0">
                <a:solidFill>
                  <a:srgbClr val="A5D6FF"/>
                </a:solidFill>
                <a:latin typeface="Consolas"/>
                <a:cs typeface="Consolas"/>
              </a:rPr>
              <a:t>10-year-old. Use analogies."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00BFA6"/>
                </a:solidFill>
                <a:latin typeface="Segoe UI"/>
                <a:cs typeface="Segoe UI"/>
              </a:rPr>
              <a:t>USER MESSAGE</a:t>
            </a:r>
          </a:p>
          <a:p>
            <a:pPr algn="l">
              <a:lnSpc>
                <a:spcPts val="1600"/>
              </a:lnSpc>
              <a:buNone/>
            </a:pPr>
            <a:r>
              <a:rPr lang="en-US" sz="1000" dirty="0">
                <a:solidFill>
                  <a:srgbClr val="A5D6FF"/>
                </a:solidFill>
                <a:latin typeface="Consolas"/>
                <a:cs typeface="Consolas"/>
              </a:rPr>
              <a:t>"Explain what an API is."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FF7B72"/>
                </a:solidFill>
                <a:latin typeface="Segoe UI"/>
                <a:cs typeface="Segoe UI"/>
              </a:rPr>
              <a:t>OUTPUT</a:t>
            </a:r>
          </a:p>
          <a:p>
            <a:pPr algn="l">
              <a:lnSpc>
                <a:spcPts val="1600"/>
              </a:lnSpc>
              <a:buNone/>
            </a:pPr>
            <a:r>
              <a:rPr lang="en-US" sz="1000" i="1" dirty="0">
                <a:solidFill>
                  <a:srgbClr val="B8C4D6"/>
                </a:solidFill>
                <a:latin typeface="Consolas"/>
                <a:cs typeface="Consolas"/>
              </a:rPr>
              <a:t>Think of an API like a waiter</a:t>
            </a:r>
          </a:p>
          <a:p>
            <a:pPr algn="l">
              <a:lnSpc>
                <a:spcPts val="1600"/>
              </a:lnSpc>
              <a:buNone/>
            </a:pPr>
            <a:r>
              <a:rPr lang="en-US" sz="1000" i="1" dirty="0">
                <a:solidFill>
                  <a:srgbClr val="B8C4D6"/>
                </a:solidFill>
                <a:latin typeface="Consolas"/>
                <a:cs typeface="Consolas"/>
              </a:rPr>
              <a:t>in a restaurant! You tell the</a:t>
            </a:r>
          </a:p>
          <a:p>
            <a:pPr algn="l">
              <a:lnSpc>
                <a:spcPts val="1600"/>
              </a:lnSpc>
              <a:buNone/>
            </a:pPr>
            <a:r>
              <a:rPr lang="en-US" sz="1000" i="1" dirty="0">
                <a:solidFill>
                  <a:srgbClr val="B8C4D6"/>
                </a:solidFill>
                <a:latin typeface="Consolas"/>
                <a:cs typeface="Consolas"/>
              </a:rPr>
              <a:t>waiter what you want, they go</a:t>
            </a:r>
          </a:p>
          <a:p>
            <a:pPr algn="l">
              <a:lnSpc>
                <a:spcPts val="1600"/>
              </a:lnSpc>
              <a:buNone/>
            </a:pPr>
            <a:r>
              <a:rPr lang="en-US" sz="1000" i="1" dirty="0">
                <a:solidFill>
                  <a:srgbClr val="B8C4D6"/>
                </a:solidFill>
                <a:latin typeface="Consolas"/>
                <a:cs typeface="Consolas"/>
              </a:rPr>
              <a:t>to the kitchen, and bring back</a:t>
            </a:r>
          </a:p>
          <a:p>
            <a:pPr algn="l">
              <a:lnSpc>
                <a:spcPts val="1600"/>
              </a:lnSpc>
              <a:buNone/>
            </a:pPr>
            <a:r>
              <a:rPr lang="en-US" sz="1000" i="1" dirty="0">
                <a:solidFill>
                  <a:srgbClr val="B8C4D6"/>
                </a:solidFill>
                <a:latin typeface="Consolas"/>
                <a:cs typeface="Consolas"/>
              </a:rPr>
              <a:t>exactly what you asked for...</a:t>
            </a:r>
          </a:p>
        </p:txBody>
      </p:sp>
      <p:sp>
        <p:nvSpPr>
          <p:cNvPr id="24" name="Takeaway"/>
          <p:cNvSpPr/>
          <p:nvPr/>
        </p:nvSpPr>
        <p:spPr>
          <a:xfrm>
            <a:off x="457200" y="4846320"/>
            <a:ext cx="8229600" cy="228600"/>
          </a:xfrm>
          <a:prstGeom prst="rect">
            <a:avLst/>
          </a:prstGeom>
          <a:noFill/>
          <a:ln>
            <a:noFill/>
          </a:ln>
        </p:spPr>
        <p:txBody>
          <a:bodyPr wrap="square" lIns="0" tIns="0" rIns="0" bIns="0" rtlCol="0" anchor="ctr"/>
          <a:lstStyle/>
          <a:p>
            <a:pPr algn="ctr">
              <a:buNone/>
            </a:pPr>
            <a:r>
              <a:rPr lang="en-US" sz="1200" b="1" dirty="0">
                <a:solidFill>
                  <a:srgbClr val="00BFA6"/>
                </a:solidFill>
                <a:latin typeface="Segoe UI"/>
                <a:cs typeface="Segoe UI"/>
              </a:rPr>
              <a:t>Same question, same model, same temperature — completely different tone and depth.</a:t>
            </a:r>
          </a:p>
        </p:txBody>
      </p:sp>
    </p:spTree>
    <p:extLst>
      <p:ext uri="{BB962C8B-B14F-4D97-AF65-F5344CB8AC3E}">
        <p14:creationId xmlns:p14="http://schemas.microsoft.com/office/powerpoint/2010/main" val="641626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EA4F75-7BAF-24FB-275A-39A9502C07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BADA7D-6BF7-250A-1DB4-F510BB0E8AB5}"/>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E68CA72-6BAB-758F-371C-5AD8FE9C6C0D}"/>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2</a:t>
            </a:r>
          </a:p>
        </p:txBody>
      </p:sp>
      <p:sp>
        <p:nvSpPr>
          <p:cNvPr id="4" name="Text 2">
            <a:extLst>
              <a:ext uri="{FF2B5EF4-FFF2-40B4-BE49-F238E27FC236}">
                <a16:creationId xmlns:a16="http://schemas.microsoft.com/office/drawing/2014/main" id="{FEDEA2A0-0F1C-797D-2504-D1EB3E507A38}"/>
              </a:ext>
            </a:extLst>
          </p:cNvPr>
          <p:cNvSpPr/>
          <p:nvPr/>
        </p:nvSpPr>
        <p:spPr>
          <a:xfrm>
            <a:off x="1280160" y="274320"/>
            <a:ext cx="713116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Temperature: The Creativity Dial</a:t>
            </a:r>
          </a:p>
        </p:txBody>
      </p:sp>
      <p:sp>
        <p:nvSpPr>
          <p:cNvPr id="5" name="Text 3">
            <a:extLst>
              <a:ext uri="{FF2B5EF4-FFF2-40B4-BE49-F238E27FC236}">
                <a16:creationId xmlns:a16="http://schemas.microsoft.com/office/drawing/2014/main" id="{57C378B3-D93A-D628-FEDC-A6BE70B5CA21}"/>
              </a:ext>
            </a:extLst>
          </p:cNvPr>
          <p:cNvSpPr/>
          <p:nvPr/>
        </p:nvSpPr>
        <p:spPr>
          <a:xfrm>
            <a:off x="640080" y="91440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6" name="Shape 4">
            <a:extLst>
              <a:ext uri="{FF2B5EF4-FFF2-40B4-BE49-F238E27FC236}">
                <a16:creationId xmlns:a16="http://schemas.microsoft.com/office/drawing/2014/main" id="{59A9474A-8283-81D8-F9FB-1DEA5DE149B1}"/>
              </a:ext>
            </a:extLst>
          </p:cNvPr>
          <p:cNvSpPr/>
          <p:nvPr/>
        </p:nvSpPr>
        <p:spPr>
          <a:xfrm>
            <a:off x="6400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099ADE3-D1BA-B24E-1BD6-537266BFB0C3}"/>
              </a:ext>
            </a:extLst>
          </p:cNvPr>
          <p:cNvSpPr/>
          <p:nvPr/>
        </p:nvSpPr>
        <p:spPr>
          <a:xfrm>
            <a:off x="6400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C9C0B778-D4E8-64C3-3BC7-53865CCA5419}"/>
              </a:ext>
            </a:extLst>
          </p:cNvPr>
          <p:cNvSpPr/>
          <p:nvPr/>
        </p:nvSpPr>
        <p:spPr>
          <a:xfrm>
            <a:off x="9144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Low Temperature (0.0 – 0.3)</a:t>
            </a:r>
          </a:p>
        </p:txBody>
      </p:sp>
      <p:sp>
        <p:nvSpPr>
          <p:cNvPr id="9" name="Text 7">
            <a:extLst>
              <a:ext uri="{FF2B5EF4-FFF2-40B4-BE49-F238E27FC236}">
                <a16:creationId xmlns:a16="http://schemas.microsoft.com/office/drawing/2014/main" id="{31E4E992-087F-DAC3-F056-F698355C44EF}"/>
              </a:ext>
            </a:extLst>
          </p:cNvPr>
          <p:cNvSpPr/>
          <p:nvPr/>
        </p:nvSpPr>
        <p:spPr>
          <a:xfrm>
            <a:off x="914400" y="2173728"/>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Behavior: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Picks the most likely token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almost</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every time. Output is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almost</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consistent and repeatable.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Best for: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Classification, data extraction</a:t>
            </a:r>
            <a:r>
              <a:rPr lang="en-US" sz="1600" dirty="0">
                <a:solidFill>
                  <a:srgbClr val="1A2744"/>
                </a:solidFill>
                <a:latin typeface="Segoe UI" pitchFamily="34" charset="0"/>
                <a:ea typeface="Segoe UI" pitchFamily="34" charset="-122"/>
                <a:cs typeface="Segoe UI" pitchFamily="34" charset="-120"/>
              </a:rPr>
              <a:t>.</a:t>
            </a:r>
            <a:endPar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10" name="Shape 8">
            <a:extLst>
              <a:ext uri="{FF2B5EF4-FFF2-40B4-BE49-F238E27FC236}">
                <a16:creationId xmlns:a16="http://schemas.microsoft.com/office/drawing/2014/main" id="{1643FD0B-82E5-68C9-3D41-66B4FA8BA876}"/>
              </a:ext>
            </a:extLst>
          </p:cNvPr>
          <p:cNvSpPr/>
          <p:nvPr/>
        </p:nvSpPr>
        <p:spPr>
          <a:xfrm>
            <a:off x="47548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F07C3EC0-9FD6-A984-FE2A-5AEDA2B70AA0}"/>
              </a:ext>
            </a:extLst>
          </p:cNvPr>
          <p:cNvSpPr/>
          <p:nvPr/>
        </p:nvSpPr>
        <p:spPr>
          <a:xfrm>
            <a:off x="47548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9CE69D8F-B0AB-372F-A84F-C7326CC86D86}"/>
              </a:ext>
            </a:extLst>
          </p:cNvPr>
          <p:cNvSpPr/>
          <p:nvPr/>
        </p:nvSpPr>
        <p:spPr>
          <a:xfrm>
            <a:off x="50292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High Temperature (0.7 – 1.5)</a:t>
            </a:r>
          </a:p>
        </p:txBody>
      </p:sp>
      <p:sp>
        <p:nvSpPr>
          <p:cNvPr id="13" name="Text 11">
            <a:extLst>
              <a:ext uri="{FF2B5EF4-FFF2-40B4-BE49-F238E27FC236}">
                <a16:creationId xmlns:a16="http://schemas.microsoft.com/office/drawing/2014/main" id="{527079D8-B344-8219-FFB4-C433A23406E4}"/>
              </a:ext>
            </a:extLst>
          </p:cNvPr>
          <p:cNvSpPr/>
          <p:nvPr/>
        </p:nvSpPr>
        <p:spPr>
          <a:xfrm>
            <a:off x="4936600" y="2173728"/>
            <a:ext cx="347472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Behavior: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Flattens the probability distribution, giving less-likely tokens a real chance. Output varies across runs.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Best for: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Creative writing, brainstorming, dialogue,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exploration</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generating diverse options.</a:t>
            </a:r>
          </a:p>
        </p:txBody>
      </p:sp>
      <p:sp>
        <p:nvSpPr>
          <p:cNvPr id="14" name="Shape 12">
            <a:extLst>
              <a:ext uri="{FF2B5EF4-FFF2-40B4-BE49-F238E27FC236}">
                <a16:creationId xmlns:a16="http://schemas.microsoft.com/office/drawing/2014/main" id="{615B5BCD-2510-FFFE-8267-5347B11A9DF3}"/>
              </a:ext>
            </a:extLst>
          </p:cNvPr>
          <p:cNvSpPr/>
          <p:nvPr/>
        </p:nvSpPr>
        <p:spPr>
          <a:xfrm>
            <a:off x="640080" y="4208555"/>
            <a:ext cx="7863840" cy="822960"/>
          </a:xfrm>
          <a:prstGeom prst="rect">
            <a:avLst/>
          </a:prstGeom>
          <a:solidFill>
            <a:srgbClr val="1A27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8ED0D2D-1729-3CC7-9A1B-7DAF254AF41E}"/>
              </a:ext>
            </a:extLst>
          </p:cNvPr>
          <p:cNvSpPr/>
          <p:nvPr/>
        </p:nvSpPr>
        <p:spPr>
          <a:xfrm>
            <a:off x="914400" y="4208555"/>
            <a:ext cx="73152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Rule of thumb: start at 0.0 for precision tasks, 0.7 for creative tasks. Adjust from there.</a:t>
            </a:r>
          </a:p>
        </p:txBody>
      </p:sp>
    </p:spTree>
    <p:extLst>
      <p:ext uri="{BB962C8B-B14F-4D97-AF65-F5344CB8AC3E}">
        <p14:creationId xmlns:p14="http://schemas.microsoft.com/office/powerpoint/2010/main" val="3107260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Temperature in Action</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Bg1"/>
          <p:cNvSpPr/>
          <p:nvPr/>
        </p:nvSpPr>
        <p:spPr>
          <a:xfrm>
            <a:off x="32004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21" name="Code1"/>
          <p:cNvSpPr/>
          <p:nvPr/>
        </p:nvSpPr>
        <p:spPr>
          <a:xfrm>
            <a:off x="41148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0.0</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PROMPT</a:t>
            </a:r>
          </a:p>
          <a:p>
            <a:pPr algn="l">
              <a:lnSpc>
                <a:spcPts val="1500"/>
              </a:lnSpc>
              <a:buNone/>
            </a:pPr>
            <a:r>
              <a:rPr lang="en-US" sz="900" dirty="0">
                <a:solidFill>
                  <a:srgbClr val="A5D6FF"/>
                </a:solidFill>
                <a:latin typeface="Consolas"/>
                <a:cs typeface="Consolas"/>
              </a:rPr>
              <a:t>"Write a one-sentence</a:t>
            </a:r>
          </a:p>
          <a:p>
            <a:pPr algn="l">
              <a:lnSpc>
                <a:spcPts val="1500"/>
              </a:lnSpc>
              <a:buNone/>
            </a:pPr>
            <a:r>
              <a:rPr lang="en-US" sz="900" dirty="0">
                <a:solidFill>
                  <a:srgbClr val="A5D6FF"/>
                </a:solidFill>
                <a:latin typeface="Consolas"/>
                <a:cs typeface="Consolas"/>
              </a:rPr>
              <a:t>description of the ocean."</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The ocean is a vast body of</a:t>
            </a:r>
          </a:p>
          <a:p>
            <a:pPr algn="l">
              <a:lnSpc>
                <a:spcPts val="1500"/>
              </a:lnSpc>
              <a:buNone/>
            </a:pPr>
            <a:r>
              <a:rPr lang="en-US" sz="900" i="1" dirty="0">
                <a:solidFill>
                  <a:srgbClr val="B8C4D6"/>
                </a:solidFill>
                <a:latin typeface="Consolas"/>
                <a:cs typeface="Consolas"/>
              </a:rPr>
              <a:t>saltwater that covers over 70%</a:t>
            </a:r>
          </a:p>
          <a:p>
            <a:pPr algn="l">
              <a:lnSpc>
                <a:spcPts val="1500"/>
              </a:lnSpc>
              <a:buNone/>
            </a:pPr>
            <a:r>
              <a:rPr lang="en-US" sz="900" i="1" dirty="0">
                <a:solidFill>
                  <a:srgbClr val="B8C4D6"/>
                </a:solidFill>
                <a:latin typeface="Consolas"/>
                <a:cs typeface="Consolas"/>
              </a:rPr>
              <a:t>of the Earth’s surface.</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The ocean is a vast body of</a:t>
            </a:r>
          </a:p>
          <a:p>
            <a:pPr algn="l">
              <a:lnSpc>
                <a:spcPts val="1500"/>
              </a:lnSpc>
              <a:buNone/>
            </a:pPr>
            <a:r>
              <a:rPr lang="en-US" sz="900" i="1" dirty="0">
                <a:solidFill>
                  <a:srgbClr val="B8C4D6"/>
                </a:solidFill>
                <a:latin typeface="Consolas"/>
                <a:cs typeface="Consolas"/>
              </a:rPr>
              <a:t>saltwater that covers over 70%</a:t>
            </a:r>
          </a:p>
          <a:p>
            <a:pPr algn="l">
              <a:lnSpc>
                <a:spcPts val="1500"/>
              </a:lnSpc>
              <a:buNone/>
            </a:pPr>
            <a:r>
              <a:rPr lang="en-US" sz="900" i="1" dirty="0">
                <a:solidFill>
                  <a:srgbClr val="B8C4D6"/>
                </a:solidFill>
                <a:latin typeface="Consolas"/>
                <a:cs typeface="Consolas"/>
              </a:rPr>
              <a:t>of the Earth’s surface.</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Identical outputs</a:t>
            </a:r>
          </a:p>
        </p:txBody>
      </p:sp>
      <p:sp>
        <p:nvSpPr>
          <p:cNvPr id="30" name="Bg2"/>
          <p:cNvSpPr/>
          <p:nvPr/>
        </p:nvSpPr>
        <p:spPr>
          <a:xfrm>
            <a:off x="320040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31" name="Code2"/>
          <p:cNvSpPr/>
          <p:nvPr/>
        </p:nvSpPr>
        <p:spPr>
          <a:xfrm>
            <a:off x="329184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0.7</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SAME PROMPT</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The ocean is an immense,</a:t>
            </a:r>
          </a:p>
          <a:p>
            <a:pPr algn="l">
              <a:lnSpc>
                <a:spcPts val="1500"/>
              </a:lnSpc>
              <a:buNone/>
            </a:pPr>
            <a:r>
              <a:rPr lang="en-US" sz="900" i="1" dirty="0">
                <a:solidFill>
                  <a:srgbClr val="B8C4D6"/>
                </a:solidFill>
                <a:latin typeface="Consolas"/>
                <a:cs typeface="Consolas"/>
              </a:rPr>
              <a:t>ever-shifting expanse of</a:t>
            </a:r>
          </a:p>
          <a:p>
            <a:pPr algn="l">
              <a:lnSpc>
                <a:spcPts val="1500"/>
              </a:lnSpc>
              <a:buNone/>
            </a:pPr>
            <a:r>
              <a:rPr lang="en-US" sz="900" i="1" dirty="0">
                <a:solidFill>
                  <a:srgbClr val="B8C4D6"/>
                </a:solidFill>
                <a:latin typeface="Consolas"/>
                <a:cs typeface="Consolas"/>
              </a:rPr>
              <a:t>saltwater teeming with life.</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A vast, interconnected body</a:t>
            </a:r>
          </a:p>
          <a:p>
            <a:pPr algn="l">
              <a:lnSpc>
                <a:spcPts val="1500"/>
              </a:lnSpc>
              <a:buNone/>
            </a:pPr>
            <a:r>
              <a:rPr lang="en-US" sz="900" i="1" dirty="0">
                <a:solidFill>
                  <a:srgbClr val="B8C4D6"/>
                </a:solidFill>
                <a:latin typeface="Consolas"/>
                <a:cs typeface="Consolas"/>
              </a:rPr>
              <a:t>of water shaping climate and</a:t>
            </a:r>
          </a:p>
          <a:p>
            <a:pPr algn="l">
              <a:lnSpc>
                <a:spcPts val="1500"/>
              </a:lnSpc>
              <a:buNone/>
            </a:pPr>
            <a:r>
              <a:rPr lang="en-US" sz="900" i="1" dirty="0">
                <a:solidFill>
                  <a:srgbClr val="B8C4D6"/>
                </a:solidFill>
                <a:latin typeface="Consolas"/>
                <a:cs typeface="Consolas"/>
              </a:rPr>
              <a:t>harboring diverse ecosystems.</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Similar but varied</a:t>
            </a:r>
          </a:p>
        </p:txBody>
      </p:sp>
      <p:sp>
        <p:nvSpPr>
          <p:cNvPr id="40" name="Bg3"/>
          <p:cNvSpPr/>
          <p:nvPr/>
        </p:nvSpPr>
        <p:spPr>
          <a:xfrm>
            <a:off x="608076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41" name="Code3"/>
          <p:cNvSpPr/>
          <p:nvPr/>
        </p:nvSpPr>
        <p:spPr>
          <a:xfrm>
            <a:off x="617220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1.5</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SAME PROMPT</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Beneath turquoise veils the</a:t>
            </a:r>
          </a:p>
          <a:p>
            <a:pPr algn="l">
              <a:lnSpc>
                <a:spcPts val="1500"/>
              </a:lnSpc>
              <a:buNone/>
            </a:pPr>
            <a:r>
              <a:rPr lang="en-US" sz="900" i="1" dirty="0">
                <a:solidFill>
                  <a:srgbClr val="B8C4D6"/>
                </a:solidFill>
                <a:latin typeface="Consolas"/>
                <a:cs typeface="Consolas"/>
              </a:rPr>
              <a:t>ocean hums ancient lullabies</a:t>
            </a:r>
          </a:p>
          <a:p>
            <a:pPr algn="l">
              <a:lnSpc>
                <a:spcPts val="1500"/>
              </a:lnSpc>
              <a:buNone/>
            </a:pPr>
            <a:r>
              <a:rPr lang="en-US" sz="900" i="1" dirty="0">
                <a:solidFill>
                  <a:srgbClr val="B8C4D6"/>
                </a:solidFill>
                <a:latin typeface="Consolas"/>
                <a:cs typeface="Consolas"/>
              </a:rPr>
              <a:t>to forgotten shores.</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Sapphire wilderness sprawling</a:t>
            </a:r>
          </a:p>
          <a:p>
            <a:pPr algn="l">
              <a:lnSpc>
                <a:spcPts val="1500"/>
              </a:lnSpc>
              <a:buNone/>
            </a:pPr>
            <a:r>
              <a:rPr lang="en-US" sz="900" i="1" dirty="0">
                <a:solidFill>
                  <a:srgbClr val="B8C4D6"/>
                </a:solidFill>
                <a:latin typeface="Consolas"/>
                <a:cs typeface="Consolas"/>
              </a:rPr>
              <a:t>beyond horizons, cradling</a:t>
            </a:r>
          </a:p>
          <a:p>
            <a:pPr algn="l">
              <a:lnSpc>
                <a:spcPts val="1500"/>
              </a:lnSpc>
              <a:buNone/>
            </a:pPr>
            <a:r>
              <a:rPr lang="en-US" sz="900" i="1" dirty="0">
                <a:solidFill>
                  <a:srgbClr val="B8C4D6"/>
                </a:solidFill>
                <a:latin typeface="Consolas"/>
                <a:cs typeface="Consolas"/>
              </a:rPr>
              <a:t>mysteries in salted breath.</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Wildly different</a:t>
            </a:r>
          </a:p>
        </p:txBody>
      </p:sp>
      <p:sp>
        <p:nvSpPr>
          <p:cNvPr id="50" name="Takeaway"/>
          <p:cNvSpPr/>
          <p:nvPr/>
        </p:nvSpPr>
        <p:spPr>
          <a:xfrm>
            <a:off x="320040" y="4389120"/>
            <a:ext cx="8503920" cy="640080"/>
          </a:xfrm>
          <a:prstGeom prst="roundRect">
            <a:avLst>
              <a:gd name="adj" fmla="val 5000"/>
            </a:avLst>
          </a:prstGeom>
          <a:solidFill>
            <a:srgbClr val="0D1117"/>
          </a:solidFill>
          <a:ln w="12700">
            <a:solidFill>
              <a:srgbClr val="2D333B"/>
            </a:solidFill>
          </a:ln>
        </p:spPr>
        <p:txBody>
          <a:bodyPr wrap="square" lIns="91440" tIns="45720" rIns="91440" bIns="45720" rtlCol="0" anchor="ctr"/>
          <a:lstStyle/>
          <a:p>
            <a:pPr algn="ctr">
              <a:buNone/>
            </a:pPr>
            <a:r>
              <a:rPr lang="en-US" sz="1200" b="1" dirty="0">
                <a:solidFill>
                  <a:srgbClr val="00BFA6"/>
                </a:solidFill>
                <a:latin typeface="Segoe UI"/>
                <a:cs typeface="Segoe UI"/>
              </a:rPr>
              <a:t>temp=0.0</a:t>
            </a:r>
            <a:r>
              <a:rPr lang="en-US" sz="1200" dirty="0">
                <a:solidFill>
                  <a:srgbClr val="B8C4D6"/>
                </a:solidFill>
                <a:latin typeface="Segoe UI"/>
                <a:cs typeface="Segoe UI"/>
              </a:rPr>
              <a:t> → deterministic, same every time   </a:t>
            </a:r>
            <a:r>
              <a:rPr lang="en-US" sz="1200" b="1" dirty="0">
                <a:solidFill>
                  <a:srgbClr val="00BFA6"/>
                </a:solidFill>
                <a:latin typeface="Segoe UI"/>
                <a:cs typeface="Segoe UI"/>
              </a:rPr>
              <a:t>temp=0.7</a:t>
            </a:r>
            <a:r>
              <a:rPr lang="en-US" sz="1200" dirty="0">
                <a:solidFill>
                  <a:srgbClr val="B8C4D6"/>
                </a:solidFill>
                <a:latin typeface="Segoe UI"/>
                <a:cs typeface="Segoe UI"/>
              </a:rPr>
              <a:t> → balanced variety   </a:t>
            </a:r>
            <a:r>
              <a:rPr lang="en-US" sz="1200" b="1" dirty="0">
                <a:solidFill>
                  <a:srgbClr val="00BFA6"/>
                </a:solidFill>
                <a:latin typeface="Segoe UI"/>
                <a:cs typeface="Segoe UI"/>
              </a:rPr>
              <a:t>temp=1.5</a:t>
            </a:r>
            <a:r>
              <a:rPr lang="en-US" sz="1200" dirty="0">
                <a:solidFill>
                  <a:srgbClr val="B8C4D6"/>
                </a:solidFill>
                <a:latin typeface="Segoe UI"/>
                <a:cs typeface="Segoe UI"/>
              </a:rPr>
              <a:t> → creative chaos</a:t>
            </a:r>
          </a:p>
        </p:txBody>
      </p:sp>
    </p:spTree>
    <p:extLst>
      <p:ext uri="{BB962C8B-B14F-4D97-AF65-F5344CB8AC3E}">
        <p14:creationId xmlns:p14="http://schemas.microsoft.com/office/powerpoint/2010/main" val="1808068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A805BB-893F-CC83-EC5E-E30C518C380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90ADF3-A665-16D8-B9FA-8B107DD8D57F}"/>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4F0846B-9386-12C9-01CC-93D4BB05E653}"/>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3</a:t>
            </a:r>
          </a:p>
        </p:txBody>
      </p:sp>
      <p:sp>
        <p:nvSpPr>
          <p:cNvPr id="4" name="Text 2">
            <a:extLst>
              <a:ext uri="{FF2B5EF4-FFF2-40B4-BE49-F238E27FC236}">
                <a16:creationId xmlns:a16="http://schemas.microsoft.com/office/drawing/2014/main" id="{19CA1CEB-4923-3161-F35B-FE67DC189E8D}"/>
              </a:ext>
            </a:extLst>
          </p:cNvPr>
          <p:cNvSpPr/>
          <p:nvPr/>
        </p:nvSpPr>
        <p:spPr>
          <a:xfrm>
            <a:off x="1280160" y="274320"/>
            <a:ext cx="64008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Some useful (?) API Parameters</a:t>
            </a:r>
          </a:p>
        </p:txBody>
      </p:sp>
      <p:sp>
        <p:nvSpPr>
          <p:cNvPr id="5" name="Text 3">
            <a:extLst>
              <a:ext uri="{FF2B5EF4-FFF2-40B4-BE49-F238E27FC236}">
                <a16:creationId xmlns:a16="http://schemas.microsoft.com/office/drawing/2014/main" id="{4D18BC44-53E3-CD96-9D40-5FD0A7D00CB8}"/>
              </a:ext>
            </a:extLst>
          </p:cNvPr>
          <p:cNvSpPr/>
          <p:nvPr/>
        </p:nvSpPr>
        <p:spPr>
          <a:xfrm>
            <a:off x="640080" y="914400"/>
            <a:ext cx="7772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Six knobs that control how the model generates its response.</a:t>
            </a:r>
          </a:p>
        </p:txBody>
      </p:sp>
      <p:sp>
        <p:nvSpPr>
          <p:cNvPr id="6" name="Shape 4">
            <a:extLst>
              <a:ext uri="{FF2B5EF4-FFF2-40B4-BE49-F238E27FC236}">
                <a16:creationId xmlns:a16="http://schemas.microsoft.com/office/drawing/2014/main" id="{73DCB13D-A0BF-8337-E273-78399927C63B}"/>
              </a:ext>
            </a:extLst>
          </p:cNvPr>
          <p:cNvSpPr/>
          <p:nvPr/>
        </p:nvSpPr>
        <p:spPr>
          <a:xfrm>
            <a:off x="64008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6963B0D-B8A6-4353-C0C8-A54062589ED3}"/>
              </a:ext>
            </a:extLst>
          </p:cNvPr>
          <p:cNvSpPr/>
          <p:nvPr/>
        </p:nvSpPr>
        <p:spPr>
          <a:xfrm>
            <a:off x="64008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796B6622-FEAF-2976-7084-5E02412A5DCB}"/>
              </a:ext>
            </a:extLst>
          </p:cNvPr>
          <p:cNvSpPr/>
          <p:nvPr/>
        </p:nvSpPr>
        <p:spPr>
          <a:xfrm>
            <a:off x="82296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top_p (Nucleus)</a:t>
            </a:r>
          </a:p>
        </p:txBody>
      </p:sp>
      <p:sp>
        <p:nvSpPr>
          <p:cNvPr id="10" name="Shape 8">
            <a:extLst>
              <a:ext uri="{FF2B5EF4-FFF2-40B4-BE49-F238E27FC236}">
                <a16:creationId xmlns:a16="http://schemas.microsoft.com/office/drawing/2014/main" id="{0BACBF5A-7F05-21E7-B84B-AD6FE2B94290}"/>
              </a:ext>
            </a:extLst>
          </p:cNvPr>
          <p:cNvSpPr/>
          <p:nvPr/>
        </p:nvSpPr>
        <p:spPr>
          <a:xfrm>
            <a:off x="342900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3C71C022-C06E-3A9E-67AE-D2117A2C827D}"/>
              </a:ext>
            </a:extLst>
          </p:cNvPr>
          <p:cNvSpPr/>
          <p:nvPr/>
        </p:nvSpPr>
        <p:spPr>
          <a:xfrm>
            <a:off x="342900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D7A1F333-796D-15D1-957D-41C38643B5B4}"/>
              </a:ext>
            </a:extLst>
          </p:cNvPr>
          <p:cNvSpPr/>
          <p:nvPr/>
        </p:nvSpPr>
        <p:spPr>
          <a:xfrm>
            <a:off x="361188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max_tokens</a:t>
            </a:r>
          </a:p>
        </p:txBody>
      </p:sp>
      <p:sp>
        <p:nvSpPr>
          <p:cNvPr id="14" name="Shape 12">
            <a:extLst>
              <a:ext uri="{FF2B5EF4-FFF2-40B4-BE49-F238E27FC236}">
                <a16:creationId xmlns:a16="http://schemas.microsoft.com/office/drawing/2014/main" id="{A91FF2A6-BCF7-02DE-D1B4-AA3ECC518BD4}"/>
              </a:ext>
            </a:extLst>
          </p:cNvPr>
          <p:cNvSpPr/>
          <p:nvPr/>
        </p:nvSpPr>
        <p:spPr>
          <a:xfrm>
            <a:off x="621792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63988658-F81A-D712-AF96-4E54EBF868C0}"/>
              </a:ext>
            </a:extLst>
          </p:cNvPr>
          <p:cNvSpPr/>
          <p:nvPr/>
        </p:nvSpPr>
        <p:spPr>
          <a:xfrm>
            <a:off x="621792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0D02F6A6-8666-1E3B-31B4-C8FE92297D5D}"/>
              </a:ext>
            </a:extLst>
          </p:cNvPr>
          <p:cNvSpPr/>
          <p:nvPr/>
        </p:nvSpPr>
        <p:spPr>
          <a:xfrm>
            <a:off x="640080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stop sequences</a:t>
            </a:r>
          </a:p>
        </p:txBody>
      </p:sp>
      <p:sp>
        <p:nvSpPr>
          <p:cNvPr id="17" name="Text 15">
            <a:extLst>
              <a:ext uri="{FF2B5EF4-FFF2-40B4-BE49-F238E27FC236}">
                <a16:creationId xmlns:a16="http://schemas.microsoft.com/office/drawing/2014/main" id="{3FC64E8C-9AB8-E014-E887-9EC7CDC4D89E}"/>
              </a:ext>
            </a:extLst>
          </p:cNvPr>
          <p:cNvSpPr/>
          <p:nvPr/>
        </p:nvSpPr>
        <p:spPr>
          <a:xfrm>
            <a:off x="6400800" y="19659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18" name="Shape 16">
            <a:extLst>
              <a:ext uri="{FF2B5EF4-FFF2-40B4-BE49-F238E27FC236}">
                <a16:creationId xmlns:a16="http://schemas.microsoft.com/office/drawing/2014/main" id="{6C393E32-C6D2-0AD4-1F33-2AB5507CFFD0}"/>
              </a:ext>
            </a:extLst>
          </p:cNvPr>
          <p:cNvSpPr/>
          <p:nvPr/>
        </p:nvSpPr>
        <p:spPr>
          <a:xfrm>
            <a:off x="640080" y="2834640"/>
            <a:ext cx="3353186"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4DD07AF6-FF2A-C980-90A5-22ED53FD7E83}"/>
              </a:ext>
            </a:extLst>
          </p:cNvPr>
          <p:cNvSpPr/>
          <p:nvPr/>
        </p:nvSpPr>
        <p:spPr>
          <a:xfrm>
            <a:off x="640080" y="28346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F0BDCE10-8720-22FC-F09F-568834EDDA0D}"/>
              </a:ext>
            </a:extLst>
          </p:cNvPr>
          <p:cNvSpPr/>
          <p:nvPr/>
        </p:nvSpPr>
        <p:spPr>
          <a:xfrm>
            <a:off x="822960" y="290235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frequency_penalty</a:t>
            </a:r>
          </a:p>
        </p:txBody>
      </p:sp>
      <p:sp>
        <p:nvSpPr>
          <p:cNvPr id="21" name="Text 19">
            <a:extLst>
              <a:ext uri="{FF2B5EF4-FFF2-40B4-BE49-F238E27FC236}">
                <a16:creationId xmlns:a16="http://schemas.microsoft.com/office/drawing/2014/main" id="{B8DBE495-D5D3-202F-BC77-A830A2DBDB49}"/>
              </a:ext>
            </a:extLst>
          </p:cNvPr>
          <p:cNvSpPr/>
          <p:nvPr/>
        </p:nvSpPr>
        <p:spPr>
          <a:xfrm>
            <a:off x="822960" y="3337560"/>
            <a:ext cx="30082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Penalizes tokens proportional to how often they've appeared. Reduces repetition in long-form text.</a:t>
            </a:r>
          </a:p>
        </p:txBody>
      </p:sp>
      <p:sp>
        <p:nvSpPr>
          <p:cNvPr id="22" name="Shape 20">
            <a:extLst>
              <a:ext uri="{FF2B5EF4-FFF2-40B4-BE49-F238E27FC236}">
                <a16:creationId xmlns:a16="http://schemas.microsoft.com/office/drawing/2014/main" id="{F84781F3-F756-6257-1217-D350480AA128}"/>
              </a:ext>
            </a:extLst>
          </p:cNvPr>
          <p:cNvSpPr/>
          <p:nvPr/>
        </p:nvSpPr>
        <p:spPr>
          <a:xfrm>
            <a:off x="4297101" y="2834640"/>
            <a:ext cx="3437796"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9E058196-62F7-6418-FC62-51D5ADD5578B}"/>
              </a:ext>
            </a:extLst>
          </p:cNvPr>
          <p:cNvSpPr/>
          <p:nvPr/>
        </p:nvSpPr>
        <p:spPr>
          <a:xfrm>
            <a:off x="4297101" y="28346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a:extLst>
              <a:ext uri="{FF2B5EF4-FFF2-40B4-BE49-F238E27FC236}">
                <a16:creationId xmlns:a16="http://schemas.microsoft.com/office/drawing/2014/main" id="{45631F3A-A351-AAFA-344F-8486D90D1AD7}"/>
              </a:ext>
            </a:extLst>
          </p:cNvPr>
          <p:cNvSpPr/>
          <p:nvPr/>
        </p:nvSpPr>
        <p:spPr>
          <a:xfrm>
            <a:off x="4479981" y="290235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presence_penalty</a:t>
            </a:r>
          </a:p>
        </p:txBody>
      </p:sp>
      <p:sp>
        <p:nvSpPr>
          <p:cNvPr id="25" name="Text 23">
            <a:extLst>
              <a:ext uri="{FF2B5EF4-FFF2-40B4-BE49-F238E27FC236}">
                <a16:creationId xmlns:a16="http://schemas.microsoft.com/office/drawing/2014/main" id="{7B18314B-7C87-027E-0B2F-6F8B2AB9E5DC}"/>
              </a:ext>
            </a:extLst>
          </p:cNvPr>
          <p:cNvSpPr/>
          <p:nvPr/>
        </p:nvSpPr>
        <p:spPr>
          <a:xfrm>
            <a:off x="4479981" y="3337560"/>
            <a:ext cx="314611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Flat penalty for any token that has appeared at all. Encourages the model to explore new topics.</a:t>
            </a:r>
          </a:p>
        </p:txBody>
      </p:sp>
      <p:sp>
        <p:nvSpPr>
          <p:cNvPr id="29" name="Text 27">
            <a:extLst>
              <a:ext uri="{FF2B5EF4-FFF2-40B4-BE49-F238E27FC236}">
                <a16:creationId xmlns:a16="http://schemas.microsoft.com/office/drawing/2014/main" id="{8AFD995D-1703-9632-3D53-D2888C87744C}"/>
              </a:ext>
            </a:extLst>
          </p:cNvPr>
          <p:cNvSpPr/>
          <p:nvPr/>
        </p:nvSpPr>
        <p:spPr>
          <a:xfrm>
            <a:off x="6400800" y="33375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30" name="Text 28">
            <a:extLst>
              <a:ext uri="{FF2B5EF4-FFF2-40B4-BE49-F238E27FC236}">
                <a16:creationId xmlns:a16="http://schemas.microsoft.com/office/drawing/2014/main" id="{736F7111-5F51-793D-2294-BEDA2B586689}"/>
              </a:ext>
            </a:extLst>
          </p:cNvPr>
          <p:cNvSpPr/>
          <p:nvPr/>
        </p:nvSpPr>
        <p:spPr>
          <a:xfrm>
            <a:off x="640080" y="448056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mn-ea"/>
                <a:cs typeface="+mn-cs"/>
              </a:rPr>
              <a:t>Default values work for most cases. Tune one parameter at a time and measure the impact.</a:t>
            </a:r>
          </a:p>
        </p:txBody>
      </p:sp>
      <p:sp>
        <p:nvSpPr>
          <p:cNvPr id="32" name="Text 7">
            <a:extLst>
              <a:ext uri="{FF2B5EF4-FFF2-40B4-BE49-F238E27FC236}">
                <a16:creationId xmlns:a16="http://schemas.microsoft.com/office/drawing/2014/main" id="{5C246552-3E06-42DB-C64D-1C7643AF8313}"/>
              </a:ext>
            </a:extLst>
          </p:cNvPr>
          <p:cNvSpPr/>
          <p:nvPr/>
        </p:nvSpPr>
        <p:spPr>
          <a:xfrm>
            <a:off x="975360" y="21183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Tree>
    <p:extLst>
      <p:ext uri="{BB962C8B-B14F-4D97-AF65-F5344CB8AC3E}">
        <p14:creationId xmlns:p14="http://schemas.microsoft.com/office/powerpoint/2010/main" val="237526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txBody>
          <a:bodyPr/>
          <a:lstStyle/>
          <a:p>
            <a:endParaRPr lang="en-US"/>
          </a:p>
        </p:txBody>
      </p:sp>
      <p:sp>
        <p:nvSpPr>
          <p:cNvPr id="3" name="Text 1"/>
          <p:cNvSpPr/>
          <p:nvPr/>
        </p:nvSpPr>
        <p:spPr>
          <a:xfrm>
            <a:off x="640080" y="731520"/>
            <a:ext cx="7772400" cy="2377440"/>
          </a:xfrm>
          <a:prstGeom prst="rect">
            <a:avLst/>
          </a:prstGeom>
          <a:noFill/>
          <a:ln/>
        </p:spPr>
        <p:txBody>
          <a:bodyPr wrap="square" lIns="0" tIns="0" rIns="0" bIns="0" rtlCol="0" anchor="ctr"/>
          <a:lstStyle/>
          <a:p>
            <a:pPr marL="0" indent="0">
              <a:lnSpc>
                <a:spcPct val="90000"/>
              </a:lnSpc>
              <a:buNone/>
            </a:pPr>
            <a:r>
              <a:rPr lang="en-US" sz="5400" b="1" dirty="0">
                <a:solidFill>
                  <a:srgbClr val="FFFFFF"/>
                </a:solidFill>
                <a:latin typeface="Segoe UI Black" pitchFamily="34" charset="0"/>
                <a:ea typeface="Segoe UI Black" pitchFamily="34" charset="-122"/>
                <a:cs typeface="Segoe UI Black" pitchFamily="34" charset="-120"/>
              </a:rPr>
              <a:t>Prompting</a:t>
            </a:r>
            <a:endParaRPr lang="en-US" sz="5400" dirty="0"/>
          </a:p>
          <a:p>
            <a:pPr marL="0" indent="0">
              <a:lnSpc>
                <a:spcPct val="90000"/>
              </a:lnSpc>
              <a:buNone/>
            </a:pPr>
            <a:r>
              <a:rPr lang="en-US" sz="5400" b="1" dirty="0">
                <a:solidFill>
                  <a:srgbClr val="FFFFFF"/>
                </a:solidFill>
                <a:latin typeface="Segoe UI Black" pitchFamily="34" charset="0"/>
                <a:ea typeface="Segoe UI Black" pitchFamily="34" charset="-122"/>
                <a:cs typeface="Segoe UI Black" pitchFamily="34" charset="-120"/>
              </a:rPr>
              <a:t>Cookbook</a:t>
            </a:r>
            <a:endParaRPr lang="en-US" sz="5400" dirty="0"/>
          </a:p>
        </p:txBody>
      </p:sp>
      <p:sp>
        <p:nvSpPr>
          <p:cNvPr id="4" name="Text 2"/>
          <p:cNvSpPr/>
          <p:nvPr/>
        </p:nvSpPr>
        <p:spPr>
          <a:xfrm>
            <a:off x="640080" y="3108960"/>
            <a:ext cx="7772400" cy="457200"/>
          </a:xfrm>
          <a:prstGeom prst="rect">
            <a:avLst/>
          </a:prstGeom>
          <a:noFill/>
          <a:ln/>
        </p:spPr>
        <p:txBody>
          <a:bodyPr wrap="square" lIns="0" tIns="0" rIns="0" bIns="0" rtlCol="0" anchor="ctr"/>
          <a:lstStyle/>
          <a:p>
            <a:pPr marL="0" indent="0">
              <a:buNone/>
            </a:pPr>
            <a:r>
              <a:rPr lang="en-US" sz="2000" b="1" i="1" dirty="0">
                <a:solidFill>
                  <a:srgbClr val="00BFA6"/>
                </a:solidFill>
                <a:latin typeface="Segoe UI" pitchFamily="34" charset="0"/>
                <a:ea typeface="Segoe UI" pitchFamily="34" charset="-122"/>
                <a:cs typeface="Segoe UI" pitchFamily="34" charset="-120"/>
              </a:rPr>
              <a:t>Reusable Patterns for Modern LLMs</a:t>
            </a:r>
            <a:endParaRPr lang="en-US" sz="2000" dirty="0"/>
          </a:p>
        </p:txBody>
      </p:sp>
      <p:sp>
        <p:nvSpPr>
          <p:cNvPr id="5" name="Text 3"/>
          <p:cNvSpPr/>
          <p:nvPr/>
        </p:nvSpPr>
        <p:spPr>
          <a:xfrm>
            <a:off x="640080" y="3840480"/>
            <a:ext cx="4572000" cy="320040"/>
          </a:xfrm>
          <a:prstGeom prst="rect">
            <a:avLst/>
          </a:prstGeom>
          <a:noFill/>
          <a:ln/>
        </p:spPr>
        <p:txBody>
          <a:bodyPr wrap="square" lIns="0" tIns="0" rIns="0" bIns="0" rtlCol="0" anchor="ctr"/>
          <a:lstStyle/>
          <a:p>
            <a:pPr marL="0" indent="0">
              <a:buNone/>
            </a:pPr>
            <a:r>
              <a:rPr lang="en-US" sz="1300" b="1" dirty="0">
                <a:solidFill>
                  <a:srgbClr val="00BFA6"/>
                </a:solidFill>
                <a:latin typeface="Segoe UI" pitchFamily="34" charset="0"/>
                <a:ea typeface="Segoe UI" pitchFamily="34" charset="-122"/>
                <a:cs typeface="Segoe UI" pitchFamily="34" charset="-120"/>
              </a:rPr>
              <a:t>reliableai.github.io</a:t>
            </a:r>
            <a:endParaRPr lang="en-US" sz="1300" dirty="0"/>
          </a:p>
        </p:txBody>
      </p:sp>
      <p:sp>
        <p:nvSpPr>
          <p:cNvPr id="6" name="Text 4"/>
          <p:cNvSpPr/>
          <p:nvPr/>
        </p:nvSpPr>
        <p:spPr>
          <a:xfrm>
            <a:off x="640080" y="4297680"/>
            <a:ext cx="4572000" cy="320040"/>
          </a:xfrm>
          <a:prstGeom prst="rect">
            <a:avLst/>
          </a:prstGeom>
          <a:noFill/>
          <a:ln/>
        </p:spPr>
        <p:txBody>
          <a:bodyPr wrap="square" lIns="0" tIns="0" rIns="0" bIns="0" rtlCol="0" anchor="ctr"/>
          <a:lstStyle/>
          <a:p>
            <a:pPr marL="0" indent="0">
              <a:buNone/>
            </a:pPr>
            <a:r>
              <a:rPr lang="en-US" sz="1300" dirty="0">
                <a:solidFill>
                  <a:srgbClr val="B8C4D6"/>
                </a:solidFill>
                <a:latin typeface="Segoe UI" pitchFamily="34" charset="0"/>
                <a:ea typeface="Segoe UI" pitchFamily="34" charset="-122"/>
                <a:cs typeface="Segoe UI" pitchFamily="34" charset="-120"/>
              </a:rPr>
              <a:t>Fabio Casati  ·  University of Trento</a:t>
            </a:r>
            <a:endParaRPr lang="en-US" sz="1300" dirty="0"/>
          </a:p>
        </p:txBody>
      </p:sp>
    </p:spTree>
    <p:extLst>
      <p:ext uri="{BB962C8B-B14F-4D97-AF65-F5344CB8AC3E}">
        <p14:creationId xmlns:p14="http://schemas.microsoft.com/office/powerpoint/2010/main" val="2891714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1A2035"/>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822960"/>
          </a:xfrm>
          <a:prstGeom prst="rect">
            <a:avLst/>
          </a:prstGeom>
          <a:noFill/>
          <a:ln/>
        </p:spPr>
        <p:txBody>
          <a:bodyPr wrap="square" lIns="0" tIns="0" rIns="0" bIns="0" rtlCol="0" anchor="ctr"/>
          <a:lstStyle/>
          <a:p>
            <a:pPr marL="0" indent="0">
              <a:buNone/>
            </a:pPr>
            <a:r>
              <a:rPr lang="en-US" sz="4200" b="1" dirty="0">
                <a:solidFill>
                  <a:srgbClr val="FFFFFF"/>
                </a:solidFill>
                <a:latin typeface="Segoe UI Black" pitchFamily="34" charset="0"/>
                <a:ea typeface="Segoe UI Black" pitchFamily="34" charset="-122"/>
                <a:cs typeface="Segoe UI Black" pitchFamily="34" charset="-120"/>
              </a:rPr>
              <a:t>The Key Meta-Insight</a:t>
            </a:r>
            <a:endParaRPr lang="en-US" sz="4200" dirty="0"/>
          </a:p>
        </p:txBody>
      </p:sp>
      <p:sp>
        <p:nvSpPr>
          <p:cNvPr id="3" name="Text 1"/>
          <p:cNvSpPr/>
          <p:nvPr/>
        </p:nvSpPr>
        <p:spPr>
          <a:xfrm>
            <a:off x="640080" y="1188720"/>
            <a:ext cx="7772400" cy="640080"/>
          </a:xfrm>
          <a:prstGeom prst="rect">
            <a:avLst/>
          </a:prstGeom>
          <a:noFill/>
          <a:ln/>
        </p:spPr>
        <p:txBody>
          <a:bodyPr wrap="square" lIns="0" tIns="0" rIns="0" bIns="0" rtlCol="0" anchor="ctr"/>
          <a:lstStyle/>
          <a:p>
            <a:pPr marL="0" indent="0">
              <a:buNone/>
            </a:pPr>
            <a:endParaRPr lang="en-US" sz="2000" dirty="0"/>
          </a:p>
        </p:txBody>
      </p:sp>
      <p:sp>
        <p:nvSpPr>
          <p:cNvPr id="4" name="Shape 2"/>
          <p:cNvSpPr/>
          <p:nvPr/>
        </p:nvSpPr>
        <p:spPr>
          <a:xfrm>
            <a:off x="640080" y="1791761"/>
            <a:ext cx="594360" cy="502920"/>
          </a:xfrm>
          <a:prstGeom prst="rect">
            <a:avLst/>
          </a:prstGeom>
          <a:solidFill>
            <a:srgbClr val="00BFA6"/>
          </a:solidFill>
          <a:ln/>
        </p:spPr>
        <p:txBody>
          <a:bodyPr/>
          <a:lstStyle/>
          <a:p>
            <a:endParaRPr lang="en-US"/>
          </a:p>
        </p:txBody>
      </p:sp>
      <p:sp>
        <p:nvSpPr>
          <p:cNvPr id="5" name="Text 3"/>
          <p:cNvSpPr/>
          <p:nvPr/>
        </p:nvSpPr>
        <p:spPr>
          <a:xfrm>
            <a:off x="640080" y="179176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01</a:t>
            </a:r>
            <a:endParaRPr lang="en-US" sz="1600" dirty="0"/>
          </a:p>
        </p:txBody>
      </p:sp>
      <p:sp>
        <p:nvSpPr>
          <p:cNvPr id="6" name="Text 4"/>
          <p:cNvSpPr/>
          <p:nvPr/>
        </p:nvSpPr>
        <p:spPr>
          <a:xfrm>
            <a:off x="1417320" y="1746041"/>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Calibrate Specificity</a:t>
            </a:r>
            <a:endParaRPr lang="en-US" sz="2400" dirty="0"/>
          </a:p>
        </p:txBody>
      </p:sp>
      <p:sp>
        <p:nvSpPr>
          <p:cNvPr id="7" name="Text 5"/>
          <p:cNvSpPr/>
          <p:nvPr/>
        </p:nvSpPr>
        <p:spPr>
          <a:xfrm>
            <a:off x="1417320" y="2066081"/>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Find the Goldilocks zone between brittle over-specification and vague under-specification. Anthropic calls this "the right altitude."</a:t>
            </a:r>
            <a:endParaRPr lang="en-US" sz="1600" dirty="0"/>
          </a:p>
        </p:txBody>
      </p:sp>
      <p:sp>
        <p:nvSpPr>
          <p:cNvPr id="8" name="Shape 6"/>
          <p:cNvSpPr/>
          <p:nvPr/>
        </p:nvSpPr>
        <p:spPr>
          <a:xfrm>
            <a:off x="640080" y="2948071"/>
            <a:ext cx="594360" cy="502920"/>
          </a:xfrm>
          <a:prstGeom prst="rect">
            <a:avLst/>
          </a:prstGeom>
          <a:solidFill>
            <a:srgbClr val="00BFA6"/>
          </a:solidFill>
          <a:ln/>
        </p:spPr>
        <p:txBody>
          <a:bodyPr/>
          <a:lstStyle/>
          <a:p>
            <a:endParaRPr lang="en-US"/>
          </a:p>
        </p:txBody>
      </p:sp>
      <p:sp>
        <p:nvSpPr>
          <p:cNvPr id="9" name="Text 7"/>
          <p:cNvSpPr/>
          <p:nvPr/>
        </p:nvSpPr>
        <p:spPr>
          <a:xfrm>
            <a:off x="640080" y="294807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02</a:t>
            </a:r>
            <a:endParaRPr lang="en-US" sz="1600" dirty="0"/>
          </a:p>
        </p:txBody>
      </p:sp>
      <p:sp>
        <p:nvSpPr>
          <p:cNvPr id="10" name="Text 8"/>
          <p:cNvSpPr/>
          <p:nvPr/>
        </p:nvSpPr>
        <p:spPr>
          <a:xfrm>
            <a:off x="1417320" y="2902351"/>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Models Follow Literally</a:t>
            </a:r>
            <a:endParaRPr lang="en-US" sz="2400" dirty="0"/>
          </a:p>
        </p:txBody>
      </p:sp>
      <p:sp>
        <p:nvSpPr>
          <p:cNvPr id="11" name="Text 9"/>
          <p:cNvSpPr/>
          <p:nvPr/>
        </p:nvSpPr>
        <p:spPr>
          <a:xfrm>
            <a:off x="1417320" y="3222391"/>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Claude 4.x does exactly what you ask — no more, no less. If you want thoroughness, ask for it. If you want brevity, specify it.</a:t>
            </a:r>
            <a:endParaRPr lang="en-US" sz="1600" dirty="0"/>
          </a:p>
        </p:txBody>
      </p:sp>
      <p:sp>
        <p:nvSpPr>
          <p:cNvPr id="12" name="Shape 10"/>
          <p:cNvSpPr/>
          <p:nvPr/>
        </p:nvSpPr>
        <p:spPr>
          <a:xfrm>
            <a:off x="640080" y="4023360"/>
            <a:ext cx="594360" cy="502920"/>
          </a:xfrm>
          <a:prstGeom prst="rect">
            <a:avLst/>
          </a:prstGeom>
          <a:solidFill>
            <a:srgbClr val="00BFA6"/>
          </a:solidFill>
          <a:ln/>
        </p:spPr>
        <p:txBody>
          <a:bodyPr/>
          <a:lstStyle/>
          <a:p>
            <a:endParaRPr lang="en-US"/>
          </a:p>
        </p:txBody>
      </p:sp>
      <p:sp>
        <p:nvSpPr>
          <p:cNvPr id="13" name="Text 11"/>
          <p:cNvSpPr/>
          <p:nvPr/>
        </p:nvSpPr>
        <p:spPr>
          <a:xfrm>
            <a:off x="640080" y="4023360"/>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03</a:t>
            </a:r>
            <a:endParaRPr lang="en-US" sz="1600" dirty="0"/>
          </a:p>
        </p:txBody>
      </p:sp>
      <p:sp>
        <p:nvSpPr>
          <p:cNvPr id="14" name="Text 12"/>
          <p:cNvSpPr/>
          <p:nvPr/>
        </p:nvSpPr>
        <p:spPr>
          <a:xfrm>
            <a:off x="1417320" y="3977640"/>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Cut Redundancy, Not Structure</a:t>
            </a:r>
            <a:endParaRPr lang="en-US" sz="2400" dirty="0"/>
          </a:p>
        </p:txBody>
      </p:sp>
      <p:sp>
        <p:nvSpPr>
          <p:cNvPr id="15" name="Text 13"/>
          <p:cNvSpPr/>
          <p:nvPr/>
        </p:nvSpPr>
        <p:spPr>
          <a:xfrm>
            <a:off x="1417320" y="4297680"/>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Remove hedging and over-explanation. Keep output format, constraints, audience, and verification criteria.</a:t>
            </a:r>
            <a:endParaRPr lang="en-US" sz="1600" dirty="0"/>
          </a:p>
        </p:txBody>
      </p:sp>
    </p:spTree>
    <p:extLst>
      <p:ext uri="{BB962C8B-B14F-4D97-AF65-F5344CB8AC3E}">
        <p14:creationId xmlns:p14="http://schemas.microsoft.com/office/powerpoint/2010/main" val="91537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Index">
    <p:bg>
      <p:bgPr>
        <a:solidFill>
          <a:srgbClr val="1A2035"/>
        </a:solidFill>
        <a:effectLst/>
      </p:bgPr>
    </p:bg>
    <p:spTree>
      <p:nvGrpSpPr>
        <p:cNvPr id="1" name=""/>
        <p:cNvGrpSpPr/>
        <p:nvPr/>
      </p:nvGrpSpPr>
      <p:grpSpPr>
        <a:xfrm>
          <a:off x="0" y="0"/>
          <a:ext cx="0" cy="0"/>
          <a:chOff x="0" y="0"/>
          <a:chExt cx="0" cy="0"/>
        </a:xfrm>
      </p:grpSpPr>
      <p:sp>
        <p:nvSpPr>
          <p:cNvPr id="2" name="Title"/>
          <p:cNvSpPr/>
          <p:nvPr/>
        </p:nvSpPr>
        <p:spPr>
          <a:xfrm>
            <a:off x="640080" y="274320"/>
            <a:ext cx="7772400" cy="640080"/>
          </a:xfrm>
          <a:prstGeom prst="rect">
            <a:avLst/>
          </a:prstGeom>
          <a:noFill/>
          <a:ln/>
        </p:spPr>
        <p:txBody>
          <a:bodyPr wrap="square" lIns="0" tIns="0" rIns="0" bIns="0" rtlCol="0" anchor="ctr"/>
          <a:lstStyle/>
          <a:p>
            <a:pPr marL="0" indent="0">
              <a:buNone/>
            </a:pPr>
            <a:r>
              <a:rPr lang="en-US" sz="3600" b="1" dirty="0">
                <a:solidFill>
                  <a:srgbClr val="FFFFFF"/>
                </a:solidFill>
                <a:latin typeface="Segoe UI Black" pitchFamily="34" charset="0"/>
                <a:ea typeface="Segoe UI Black" pitchFamily="34" charset="-122"/>
                <a:cs typeface="Segoe UI Black" pitchFamily="34" charset="-120"/>
              </a:rPr>
              <a:t>Prompting Cookbook — Methods</a:t>
            </a:r>
          </a:p>
        </p:txBody>
      </p:sp>
      <p:sp>
        <p:nvSpPr>
          <p:cNvPr id="3" name="Accent"/>
          <p:cNvSpPr/>
          <p:nvPr/>
        </p:nvSpPr>
        <p:spPr>
          <a:xfrm>
            <a:off x="640080" y="1005840"/>
            <a:ext cx="7772400" cy="0"/>
          </a:xfrm>
          <a:prstGeom prst="line">
            <a:avLst/>
          </a:prstGeom>
          <a:ln w="19050">
            <a:solidFill>
              <a:srgbClr val="00BFA6"/>
            </a:solidFill>
          </a:ln>
        </p:spPr>
        <p:txBody>
          <a:bodyPr/>
          <a:lstStyle/>
          <a:p>
            <a:endParaRPr lang="en-US"/>
          </a:p>
        </p:txBody>
      </p:sp>
      <p:sp>
        <p:nvSpPr>
          <p:cNvPr id="4" name="LeftColumn"/>
          <p:cNvSpPr/>
          <p:nvPr/>
        </p:nvSpPr>
        <p:spPr>
          <a:xfrm>
            <a:off x="640080" y="1143000"/>
            <a:ext cx="3886200" cy="3657600"/>
          </a:xfrm>
          <a:prstGeom prst="rect">
            <a:avLst/>
          </a:prstGeom>
          <a:noFill/>
          <a:ln/>
        </p:spPr>
        <p:txBody>
          <a:bodyPr wrap="square" lIns="0" tIns="0" rIns="0" bIns="0" rtlCol="0" anchor="t"/>
          <a:lstStyle/>
          <a:p>
            <a:pPr marL="0" indent="0">
              <a:lnSpc>
                <a:spcPts val="3200"/>
              </a:lnSpc>
              <a:buNone/>
            </a:pPr>
            <a:r>
              <a:rPr lang="en-US" sz="1600" b="1" dirty="0">
                <a:solidFill>
                  <a:srgbClr val="00BFA6"/>
                </a:solidFill>
                <a:latin typeface="Segoe UI" pitchFamily="34" charset="0"/>
              </a:rPr>
              <a:t>Prompt Foundations</a:t>
            </a:r>
          </a:p>
          <a:p>
            <a:pPr marL="0" indent="0">
              <a:lnSpc>
                <a:spcPts val="2800"/>
              </a:lnSpc>
              <a:buNone/>
            </a:pPr>
            <a:r>
              <a:rPr lang="en-US" sz="1400" dirty="0">
                <a:solidFill>
                  <a:srgbClr val="FFFFFF"/>
                </a:solidFill>
                <a:latin typeface="Segoe UI" pitchFamily="34" charset="0"/>
              </a:rPr>
              <a:t>  Prompt Skeleton</a:t>
            </a:r>
          </a:p>
          <a:p>
            <a:pPr marL="0" indent="0">
              <a:lnSpc>
                <a:spcPts val="2800"/>
              </a:lnSpc>
              <a:buNone/>
            </a:pPr>
            <a:r>
              <a:rPr lang="en-US" sz="1400" dirty="0">
                <a:solidFill>
                  <a:srgbClr val="FFFFFF"/>
                </a:solidFill>
                <a:latin typeface="Segoe UI" pitchFamily="34" charset="0"/>
              </a:rPr>
              <a:t>  Direct Instruction &amp; Role Prompting</a:t>
            </a:r>
          </a:p>
          <a:p>
            <a:pPr marL="0" indent="0">
              <a:lnSpc>
                <a:spcPts val="2800"/>
              </a:lnSpc>
              <a:buNone/>
            </a:pPr>
            <a:r>
              <a:rPr lang="en-US" sz="1400" dirty="0">
                <a:solidFill>
                  <a:srgbClr val="FFFFFF"/>
                </a:solidFill>
                <a:latin typeface="Segoe UI" pitchFamily="34" charset="0"/>
              </a:rPr>
              <a:t>  Scope &amp; Structure</a:t>
            </a:r>
          </a:p>
          <a:p>
            <a:pPr marL="0" indent="0">
              <a:lnSpc>
                <a:spcPts val="3200"/>
              </a:lnSpc>
              <a:buNone/>
            </a:pPr>
            <a:endParaRPr lang="en-US" sz="800" dirty="0"/>
          </a:p>
          <a:p>
            <a:pPr marL="0" indent="0">
              <a:lnSpc>
                <a:spcPts val="3200"/>
              </a:lnSpc>
              <a:buNone/>
            </a:pPr>
            <a:r>
              <a:rPr lang="en-US" sz="1600" b="1" dirty="0">
                <a:solidFill>
                  <a:srgbClr val="00BFA6"/>
                </a:solidFill>
                <a:latin typeface="Segoe UI" pitchFamily="34" charset="0"/>
              </a:rPr>
              <a:t>Reasoning Techniques</a:t>
            </a:r>
          </a:p>
          <a:p>
            <a:pPr marL="0" indent="0">
              <a:lnSpc>
                <a:spcPts val="2800"/>
              </a:lnSpc>
              <a:buNone/>
            </a:pPr>
            <a:r>
              <a:rPr lang="en-US" sz="1400" dirty="0">
                <a:solidFill>
                  <a:srgbClr val="FFFFFF"/>
                </a:solidFill>
                <a:latin typeface="Segoe UI" pitchFamily="34" charset="0"/>
              </a:rPr>
              <a:t>  Few-Shot Prompting</a:t>
            </a:r>
          </a:p>
          <a:p>
            <a:pPr marL="0" indent="0">
              <a:lnSpc>
                <a:spcPts val="2800"/>
              </a:lnSpc>
              <a:buNone/>
            </a:pPr>
            <a:r>
              <a:rPr lang="en-US" sz="1400" dirty="0">
                <a:solidFill>
                  <a:srgbClr val="FFFFFF"/>
                </a:solidFill>
                <a:latin typeface="Segoe UI" pitchFamily="34" charset="0"/>
              </a:rPr>
              <a:t>  Chain of Thought</a:t>
            </a:r>
          </a:p>
          <a:p>
            <a:pPr marL="0" indent="0">
              <a:lnSpc>
                <a:spcPts val="2800"/>
              </a:lnSpc>
              <a:buNone/>
            </a:pPr>
            <a:r>
              <a:rPr lang="en-US" sz="1400" dirty="0">
                <a:solidFill>
                  <a:srgbClr val="FFFFFF"/>
                </a:solidFill>
                <a:latin typeface="Segoe UI" pitchFamily="34" charset="0"/>
              </a:rPr>
              <a:t>  Long-Context Placement</a:t>
            </a:r>
          </a:p>
        </p:txBody>
      </p:sp>
      <p:sp>
        <p:nvSpPr>
          <p:cNvPr id="5" name="RightColumn"/>
          <p:cNvSpPr/>
          <p:nvPr/>
        </p:nvSpPr>
        <p:spPr>
          <a:xfrm>
            <a:off x="4800600" y="1143000"/>
            <a:ext cx="3886200" cy="3657600"/>
          </a:xfrm>
          <a:prstGeom prst="rect">
            <a:avLst/>
          </a:prstGeom>
          <a:noFill/>
          <a:ln/>
        </p:spPr>
        <p:txBody>
          <a:bodyPr wrap="square" lIns="0" tIns="0" rIns="0" bIns="0" rtlCol="0" anchor="t"/>
          <a:lstStyle/>
          <a:p>
            <a:pPr marL="0" indent="0">
              <a:lnSpc>
                <a:spcPts val="3200"/>
              </a:lnSpc>
              <a:buNone/>
            </a:pPr>
            <a:r>
              <a:rPr lang="en-US" sz="1600" b="1" dirty="0">
                <a:solidFill>
                  <a:srgbClr val="00BFA6"/>
                </a:solidFill>
                <a:latin typeface="Segoe UI" pitchFamily="34" charset="0"/>
              </a:rPr>
              <a:t>Structured Output</a:t>
            </a:r>
          </a:p>
          <a:p>
            <a:pPr marL="0" indent="0">
              <a:lnSpc>
                <a:spcPts val="2800"/>
              </a:lnSpc>
              <a:buNone/>
            </a:pPr>
            <a:r>
              <a:rPr lang="en-US" sz="1400" dirty="0">
                <a:solidFill>
                  <a:srgbClr val="FFFFFF"/>
                </a:solidFill>
                <a:latin typeface="Segoe UI" pitchFamily="34" charset="0"/>
              </a:rPr>
              <a:t>  Schema Extraction</a:t>
            </a:r>
          </a:p>
          <a:p>
            <a:pPr marL="0" indent="0">
              <a:lnSpc>
                <a:spcPts val="2800"/>
              </a:lnSpc>
              <a:buNone/>
            </a:pPr>
            <a:r>
              <a:rPr lang="en-US" sz="1400" dirty="0">
                <a:solidFill>
                  <a:srgbClr val="FFFFFF"/>
                </a:solidFill>
                <a:latin typeface="Segoe UI" pitchFamily="34" charset="0"/>
              </a:rPr>
              <a:t>  Reasoning Depth</a:t>
            </a:r>
          </a:p>
          <a:p>
            <a:pPr marL="0" indent="0">
              <a:lnSpc>
                <a:spcPts val="3200"/>
              </a:lnSpc>
              <a:buNone/>
            </a:pPr>
            <a:endParaRPr lang="en-US" sz="800" dirty="0"/>
          </a:p>
          <a:p>
            <a:pPr marL="0" indent="0">
              <a:lnSpc>
                <a:spcPts val="3200"/>
              </a:lnSpc>
              <a:buNone/>
            </a:pPr>
            <a:r>
              <a:rPr lang="en-US" sz="1600" b="1" dirty="0">
                <a:solidFill>
                  <a:srgbClr val="00BFA6"/>
                </a:solidFill>
                <a:latin typeface="Segoe UI" pitchFamily="34" charset="0"/>
              </a:rPr>
              <a:t>Quality &amp; Production</a:t>
            </a:r>
          </a:p>
          <a:p>
            <a:pPr marL="0" indent="0">
              <a:lnSpc>
                <a:spcPts val="2800"/>
              </a:lnSpc>
              <a:buNone/>
            </a:pPr>
            <a:r>
              <a:rPr lang="en-US" sz="1400" dirty="0">
                <a:solidFill>
                  <a:srgbClr val="FFFFFF"/>
                </a:solidFill>
                <a:latin typeface="Segoe UI" pitchFamily="34" charset="0"/>
              </a:rPr>
              <a:t>  Quality Patterns</a:t>
            </a:r>
          </a:p>
          <a:p>
            <a:pPr marL="0" indent="0">
              <a:lnSpc>
                <a:spcPts val="2800"/>
              </a:lnSpc>
              <a:buNone/>
            </a:pPr>
            <a:r>
              <a:rPr lang="en-US" sz="1400" dirty="0">
                <a:solidFill>
                  <a:srgbClr val="FFFFFF"/>
                </a:solidFill>
                <a:latin typeface="Segoe UI" pitchFamily="34" charset="0"/>
              </a:rPr>
              <a:t>  Reflection Loops</a:t>
            </a:r>
          </a:p>
          <a:p>
            <a:pPr marL="0" indent="0">
              <a:lnSpc>
                <a:spcPts val="2800"/>
              </a:lnSpc>
              <a:buNone/>
            </a:pPr>
            <a:r>
              <a:rPr lang="en-US" sz="1400" dirty="0">
                <a:solidFill>
                  <a:srgbClr val="FFFFFF"/>
                </a:solidFill>
                <a:latin typeface="Segoe UI" pitchFamily="34" charset="0"/>
              </a:rPr>
              <a:t>  Prompt Chaining</a:t>
            </a:r>
          </a:p>
          <a:p>
            <a:pPr marL="0" indent="0">
              <a:lnSpc>
                <a:spcPts val="2800"/>
              </a:lnSpc>
              <a:buNone/>
            </a:pPr>
            <a:r>
              <a:rPr lang="en-US" sz="1400" dirty="0">
                <a:solidFill>
                  <a:srgbClr val="FFFFFF"/>
                </a:solidFill>
                <a:latin typeface="Segoe UI" pitchFamily="34" charset="0"/>
              </a:rPr>
              <a:t>  Error Handling &amp; Retries</a:t>
            </a:r>
          </a:p>
          <a:p>
            <a:pPr marL="0" indent="0">
              <a:lnSpc>
                <a:spcPts val="2800"/>
              </a:lnSpc>
              <a:buNone/>
            </a:pPr>
            <a:r>
              <a:rPr lang="en-US" sz="1400" dirty="0">
                <a:solidFill>
                  <a:srgbClr val="FFFFFF"/>
                </a:solidFill>
                <a:latin typeface="Segoe UI" pitchFamily="34" charset="0"/>
              </a:rPr>
              <a:t>  Guardrail Models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AB75BFB0-E20A-3210-1BCD-6028F8AF64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66FF3D-E2AB-DC5F-3961-00705830CCF9}"/>
              </a:ext>
            </a:extLst>
          </p:cNvPr>
          <p:cNvSpPr/>
          <p:nvPr/>
        </p:nvSpPr>
        <p:spPr>
          <a:xfrm>
            <a:off x="640080" y="365760"/>
            <a:ext cx="8226128" cy="822960"/>
          </a:xfrm>
          <a:prstGeom prst="rect">
            <a:avLst/>
          </a:prstGeom>
          <a:noFill/>
          <a:ln/>
        </p:spPr>
        <p:txBody>
          <a:bodyPr wrap="square" lIns="0" tIns="0" rIns="0" bIns="0" rtlCol="0" anchor="ctr"/>
          <a:lstStyle/>
          <a:p>
            <a:pPr marL="0" indent="0">
              <a:buNone/>
            </a:pPr>
            <a:r>
              <a:rPr lang="en-US" sz="4200" b="1" dirty="0">
                <a:solidFill>
                  <a:srgbClr val="FFFFFF"/>
                </a:solidFill>
                <a:latin typeface="Segoe UI Black" pitchFamily="34" charset="0"/>
                <a:ea typeface="Segoe UI Black" pitchFamily="34" charset="-122"/>
                <a:cs typeface="Segoe UI Black" pitchFamily="34" charset="-120"/>
              </a:rPr>
              <a:t>And now, the Real Key Insights</a:t>
            </a:r>
            <a:endParaRPr lang="en-US" sz="4200" dirty="0"/>
          </a:p>
        </p:txBody>
      </p:sp>
      <p:sp>
        <p:nvSpPr>
          <p:cNvPr id="3" name="Text 1">
            <a:extLst>
              <a:ext uri="{FF2B5EF4-FFF2-40B4-BE49-F238E27FC236}">
                <a16:creationId xmlns:a16="http://schemas.microsoft.com/office/drawing/2014/main" id="{BBC6C4E0-00E8-D103-7E7B-6FCC46EFA4C6}"/>
              </a:ext>
            </a:extLst>
          </p:cNvPr>
          <p:cNvSpPr/>
          <p:nvPr/>
        </p:nvSpPr>
        <p:spPr>
          <a:xfrm>
            <a:off x="640080" y="1188720"/>
            <a:ext cx="7772400" cy="640080"/>
          </a:xfrm>
          <a:prstGeom prst="rect">
            <a:avLst/>
          </a:prstGeom>
          <a:noFill/>
          <a:ln/>
        </p:spPr>
        <p:txBody>
          <a:bodyPr wrap="square" lIns="0" tIns="0" rIns="0" bIns="0" rtlCol="0" anchor="ctr"/>
          <a:lstStyle/>
          <a:p>
            <a:pPr marL="0" indent="0">
              <a:buNone/>
            </a:pPr>
            <a:endParaRPr lang="en-US" sz="2000" dirty="0"/>
          </a:p>
        </p:txBody>
      </p:sp>
      <p:sp>
        <p:nvSpPr>
          <p:cNvPr id="4" name="Shape 2">
            <a:extLst>
              <a:ext uri="{FF2B5EF4-FFF2-40B4-BE49-F238E27FC236}">
                <a16:creationId xmlns:a16="http://schemas.microsoft.com/office/drawing/2014/main" id="{FAF88373-B15C-ED54-1A46-129BAEA80C25}"/>
              </a:ext>
            </a:extLst>
          </p:cNvPr>
          <p:cNvSpPr/>
          <p:nvPr/>
        </p:nvSpPr>
        <p:spPr>
          <a:xfrm>
            <a:off x="640080" y="1791761"/>
            <a:ext cx="594360" cy="502920"/>
          </a:xfrm>
          <a:prstGeom prst="rect">
            <a:avLst/>
          </a:prstGeom>
          <a:solidFill>
            <a:srgbClr val="00BFA6"/>
          </a:solidFill>
          <a:ln/>
        </p:spPr>
        <p:txBody>
          <a:bodyPr/>
          <a:lstStyle/>
          <a:p>
            <a:endParaRPr lang="en-US"/>
          </a:p>
        </p:txBody>
      </p:sp>
      <p:sp>
        <p:nvSpPr>
          <p:cNvPr id="5" name="Text 3">
            <a:extLst>
              <a:ext uri="{FF2B5EF4-FFF2-40B4-BE49-F238E27FC236}">
                <a16:creationId xmlns:a16="http://schemas.microsoft.com/office/drawing/2014/main" id="{E25551FD-1FEB-ABAA-F521-984BC8376D51}"/>
              </a:ext>
            </a:extLst>
          </p:cNvPr>
          <p:cNvSpPr/>
          <p:nvPr/>
        </p:nvSpPr>
        <p:spPr>
          <a:xfrm>
            <a:off x="640080" y="179176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01</a:t>
            </a:r>
            <a:endParaRPr lang="en-US" sz="1600" dirty="0"/>
          </a:p>
        </p:txBody>
      </p:sp>
      <p:sp>
        <p:nvSpPr>
          <p:cNvPr id="6" name="Text 4">
            <a:extLst>
              <a:ext uri="{FF2B5EF4-FFF2-40B4-BE49-F238E27FC236}">
                <a16:creationId xmlns:a16="http://schemas.microsoft.com/office/drawing/2014/main" id="{333F46EA-6094-1388-B74D-0F7875B35E1F}"/>
              </a:ext>
            </a:extLst>
          </p:cNvPr>
          <p:cNvSpPr/>
          <p:nvPr/>
        </p:nvSpPr>
        <p:spPr>
          <a:xfrm>
            <a:off x="1417320" y="1884937"/>
            <a:ext cx="717804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Ask the model – iterate – “fine tune” the prompt</a:t>
            </a:r>
            <a:endParaRPr lang="en-US" sz="2400" dirty="0"/>
          </a:p>
        </p:txBody>
      </p:sp>
      <p:sp>
        <p:nvSpPr>
          <p:cNvPr id="8" name="Shape 6">
            <a:extLst>
              <a:ext uri="{FF2B5EF4-FFF2-40B4-BE49-F238E27FC236}">
                <a16:creationId xmlns:a16="http://schemas.microsoft.com/office/drawing/2014/main" id="{EC8F6E71-AA4C-C880-2489-25FA1755AD71}"/>
              </a:ext>
            </a:extLst>
          </p:cNvPr>
          <p:cNvSpPr/>
          <p:nvPr/>
        </p:nvSpPr>
        <p:spPr>
          <a:xfrm>
            <a:off x="640080" y="2948071"/>
            <a:ext cx="594360" cy="502920"/>
          </a:xfrm>
          <a:prstGeom prst="rect">
            <a:avLst/>
          </a:prstGeom>
          <a:solidFill>
            <a:srgbClr val="00BFA6"/>
          </a:solidFill>
          <a:ln/>
        </p:spPr>
        <p:txBody>
          <a:bodyPr/>
          <a:lstStyle/>
          <a:p>
            <a:endParaRPr lang="en-US"/>
          </a:p>
        </p:txBody>
      </p:sp>
      <p:sp>
        <p:nvSpPr>
          <p:cNvPr id="9" name="Text 7">
            <a:extLst>
              <a:ext uri="{FF2B5EF4-FFF2-40B4-BE49-F238E27FC236}">
                <a16:creationId xmlns:a16="http://schemas.microsoft.com/office/drawing/2014/main" id="{06F43AF7-589C-D44E-9304-D6C096165B4F}"/>
              </a:ext>
            </a:extLst>
          </p:cNvPr>
          <p:cNvSpPr/>
          <p:nvPr/>
        </p:nvSpPr>
        <p:spPr>
          <a:xfrm>
            <a:off x="640080" y="294807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02</a:t>
            </a:r>
            <a:endParaRPr lang="en-US" sz="1600" dirty="0"/>
          </a:p>
        </p:txBody>
      </p:sp>
      <p:sp>
        <p:nvSpPr>
          <p:cNvPr id="10" name="Text 8">
            <a:extLst>
              <a:ext uri="{FF2B5EF4-FFF2-40B4-BE49-F238E27FC236}">
                <a16:creationId xmlns:a16="http://schemas.microsoft.com/office/drawing/2014/main" id="{4F60EC64-953D-6289-7B1B-761ACE836600}"/>
              </a:ext>
            </a:extLst>
          </p:cNvPr>
          <p:cNvSpPr/>
          <p:nvPr/>
        </p:nvSpPr>
        <p:spPr>
          <a:xfrm>
            <a:off x="1417319" y="3087546"/>
            <a:ext cx="6309361"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Don’t trust people  with with “key meta-insight slides”</a:t>
            </a:r>
            <a:endParaRPr lang="en-US" sz="2400" dirty="0"/>
          </a:p>
        </p:txBody>
      </p:sp>
      <p:sp>
        <p:nvSpPr>
          <p:cNvPr id="11" name="Text 9">
            <a:extLst>
              <a:ext uri="{FF2B5EF4-FFF2-40B4-BE49-F238E27FC236}">
                <a16:creationId xmlns:a16="http://schemas.microsoft.com/office/drawing/2014/main" id="{293DB445-2817-5D2F-9667-F337C1273CE3}"/>
              </a:ext>
            </a:extLst>
          </p:cNvPr>
          <p:cNvSpPr/>
          <p:nvPr/>
        </p:nvSpPr>
        <p:spPr>
          <a:xfrm>
            <a:off x="1417320" y="3605514"/>
            <a:ext cx="7182670" cy="350712"/>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Just try stuff</a:t>
            </a:r>
            <a:endParaRPr lang="en-US" sz="1600" dirty="0"/>
          </a:p>
        </p:txBody>
      </p:sp>
    </p:spTree>
    <p:extLst>
      <p:ext uri="{BB962C8B-B14F-4D97-AF65-F5344CB8AC3E}">
        <p14:creationId xmlns:p14="http://schemas.microsoft.com/office/powerpoint/2010/main" val="2412178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A Possible Prompt Skeleton</a:t>
            </a:r>
            <a:endParaRPr lang="en-US" sz="3200" dirty="0"/>
          </a:p>
        </p:txBody>
      </p:sp>
      <p:sp>
        <p:nvSpPr>
          <p:cNvPr id="6" name="Shape 4"/>
          <p:cNvSpPr/>
          <p:nvPr/>
        </p:nvSpPr>
        <p:spPr>
          <a:xfrm>
            <a:off x="64008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7" name="Shape 5"/>
          <p:cNvSpPr/>
          <p:nvPr/>
        </p:nvSpPr>
        <p:spPr>
          <a:xfrm>
            <a:off x="640080" y="1463040"/>
            <a:ext cx="54864" cy="1097280"/>
          </a:xfrm>
          <a:prstGeom prst="rect">
            <a:avLst/>
          </a:prstGeom>
          <a:solidFill>
            <a:srgbClr val="00BFA6"/>
          </a:solidFill>
          <a:ln/>
        </p:spPr>
        <p:txBody>
          <a:bodyPr/>
          <a:lstStyle/>
          <a:p>
            <a:endParaRPr lang="en-US" sz="2000"/>
          </a:p>
        </p:txBody>
      </p:sp>
      <p:sp>
        <p:nvSpPr>
          <p:cNvPr id="8" name="Text 6"/>
          <p:cNvSpPr/>
          <p:nvPr/>
        </p:nvSpPr>
        <p:spPr>
          <a:xfrm>
            <a:off x="82296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ROLE</a:t>
            </a:r>
            <a:endParaRPr lang="en-US" sz="1400" dirty="0"/>
          </a:p>
        </p:txBody>
      </p:sp>
      <p:sp>
        <p:nvSpPr>
          <p:cNvPr id="9" name="Text 7"/>
          <p:cNvSpPr/>
          <p:nvPr/>
        </p:nvSpPr>
        <p:spPr>
          <a:xfrm>
            <a:off x="82296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Expert stance (optional)</a:t>
            </a:r>
            <a:endParaRPr lang="en-US" sz="1400" dirty="0"/>
          </a:p>
        </p:txBody>
      </p:sp>
      <p:sp>
        <p:nvSpPr>
          <p:cNvPr id="10" name="Shape 8"/>
          <p:cNvSpPr/>
          <p:nvPr/>
        </p:nvSpPr>
        <p:spPr>
          <a:xfrm>
            <a:off x="342900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1" name="Shape 9"/>
          <p:cNvSpPr/>
          <p:nvPr/>
        </p:nvSpPr>
        <p:spPr>
          <a:xfrm>
            <a:off x="3429000" y="1463040"/>
            <a:ext cx="54864" cy="1097280"/>
          </a:xfrm>
          <a:prstGeom prst="rect">
            <a:avLst/>
          </a:prstGeom>
          <a:solidFill>
            <a:srgbClr val="00BFA6"/>
          </a:solidFill>
          <a:ln/>
        </p:spPr>
        <p:txBody>
          <a:bodyPr/>
          <a:lstStyle/>
          <a:p>
            <a:endParaRPr lang="en-US" sz="2000"/>
          </a:p>
        </p:txBody>
      </p:sp>
      <p:sp>
        <p:nvSpPr>
          <p:cNvPr id="12" name="Text 10"/>
          <p:cNvSpPr/>
          <p:nvPr/>
        </p:nvSpPr>
        <p:spPr>
          <a:xfrm>
            <a:off x="361188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OBJECTIVE</a:t>
            </a:r>
            <a:endParaRPr lang="en-US" sz="1400" dirty="0"/>
          </a:p>
        </p:txBody>
      </p:sp>
      <p:sp>
        <p:nvSpPr>
          <p:cNvPr id="13" name="Text 11"/>
          <p:cNvSpPr/>
          <p:nvPr/>
        </p:nvSpPr>
        <p:spPr>
          <a:xfrm>
            <a:off x="361188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One-sentence goal</a:t>
            </a:r>
            <a:endParaRPr lang="en-US" sz="1400" dirty="0"/>
          </a:p>
        </p:txBody>
      </p:sp>
      <p:sp>
        <p:nvSpPr>
          <p:cNvPr id="14" name="Shape 12"/>
          <p:cNvSpPr/>
          <p:nvPr/>
        </p:nvSpPr>
        <p:spPr>
          <a:xfrm>
            <a:off x="621792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5" name="Shape 13"/>
          <p:cNvSpPr/>
          <p:nvPr/>
        </p:nvSpPr>
        <p:spPr>
          <a:xfrm>
            <a:off x="6217920" y="1463040"/>
            <a:ext cx="54864" cy="1097280"/>
          </a:xfrm>
          <a:prstGeom prst="rect">
            <a:avLst/>
          </a:prstGeom>
          <a:solidFill>
            <a:srgbClr val="00BFA6"/>
          </a:solidFill>
          <a:ln/>
        </p:spPr>
        <p:txBody>
          <a:bodyPr/>
          <a:lstStyle/>
          <a:p>
            <a:endParaRPr lang="en-US" sz="2000"/>
          </a:p>
        </p:txBody>
      </p:sp>
      <p:sp>
        <p:nvSpPr>
          <p:cNvPr id="16" name="Text 14"/>
          <p:cNvSpPr/>
          <p:nvPr/>
        </p:nvSpPr>
        <p:spPr>
          <a:xfrm>
            <a:off x="640080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CONTEXT</a:t>
            </a:r>
            <a:endParaRPr lang="en-US" sz="1400" dirty="0"/>
          </a:p>
        </p:txBody>
      </p:sp>
      <p:sp>
        <p:nvSpPr>
          <p:cNvPr id="17" name="Text 15"/>
          <p:cNvSpPr/>
          <p:nvPr/>
        </p:nvSpPr>
        <p:spPr>
          <a:xfrm>
            <a:off x="640080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Facts, input data</a:t>
            </a:r>
            <a:endParaRPr lang="en-US" sz="1400" dirty="0"/>
          </a:p>
        </p:txBody>
      </p:sp>
      <p:sp>
        <p:nvSpPr>
          <p:cNvPr id="18" name="Shape 16"/>
          <p:cNvSpPr/>
          <p:nvPr/>
        </p:nvSpPr>
        <p:spPr>
          <a:xfrm>
            <a:off x="64008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9" name="Shape 17"/>
          <p:cNvSpPr/>
          <p:nvPr/>
        </p:nvSpPr>
        <p:spPr>
          <a:xfrm>
            <a:off x="640080" y="2834640"/>
            <a:ext cx="54864" cy="1097280"/>
          </a:xfrm>
          <a:prstGeom prst="rect">
            <a:avLst/>
          </a:prstGeom>
          <a:solidFill>
            <a:srgbClr val="00BFA6"/>
          </a:solidFill>
          <a:ln/>
        </p:spPr>
        <p:txBody>
          <a:bodyPr/>
          <a:lstStyle/>
          <a:p>
            <a:endParaRPr lang="en-US" sz="2000"/>
          </a:p>
        </p:txBody>
      </p:sp>
      <p:sp>
        <p:nvSpPr>
          <p:cNvPr id="20" name="Text 18"/>
          <p:cNvSpPr/>
          <p:nvPr/>
        </p:nvSpPr>
        <p:spPr>
          <a:xfrm>
            <a:off x="82296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CONSTRAINTS</a:t>
            </a:r>
            <a:endParaRPr lang="en-US" sz="1400" dirty="0"/>
          </a:p>
        </p:txBody>
      </p:sp>
      <p:sp>
        <p:nvSpPr>
          <p:cNvPr id="21" name="Text 19"/>
          <p:cNvSpPr/>
          <p:nvPr/>
        </p:nvSpPr>
        <p:spPr>
          <a:xfrm>
            <a:off x="82296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Audience, length, tone</a:t>
            </a:r>
            <a:endParaRPr lang="en-US" sz="1400" dirty="0"/>
          </a:p>
        </p:txBody>
      </p:sp>
      <p:sp>
        <p:nvSpPr>
          <p:cNvPr id="22" name="Shape 20"/>
          <p:cNvSpPr/>
          <p:nvPr/>
        </p:nvSpPr>
        <p:spPr>
          <a:xfrm>
            <a:off x="342900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23" name="Shape 21"/>
          <p:cNvSpPr/>
          <p:nvPr/>
        </p:nvSpPr>
        <p:spPr>
          <a:xfrm>
            <a:off x="3429000" y="2834640"/>
            <a:ext cx="54864" cy="1097280"/>
          </a:xfrm>
          <a:prstGeom prst="rect">
            <a:avLst/>
          </a:prstGeom>
          <a:solidFill>
            <a:srgbClr val="00BFA6"/>
          </a:solidFill>
          <a:ln/>
        </p:spPr>
        <p:txBody>
          <a:bodyPr/>
          <a:lstStyle/>
          <a:p>
            <a:endParaRPr lang="en-US" sz="2000"/>
          </a:p>
        </p:txBody>
      </p:sp>
      <p:sp>
        <p:nvSpPr>
          <p:cNvPr id="24" name="Text 22"/>
          <p:cNvSpPr/>
          <p:nvPr/>
        </p:nvSpPr>
        <p:spPr>
          <a:xfrm>
            <a:off x="361188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OUTPUT FORMAT</a:t>
            </a:r>
            <a:endParaRPr lang="en-US" sz="1400" dirty="0"/>
          </a:p>
        </p:txBody>
      </p:sp>
      <p:sp>
        <p:nvSpPr>
          <p:cNvPr id="25" name="Text 23"/>
          <p:cNvSpPr/>
          <p:nvPr/>
        </p:nvSpPr>
        <p:spPr>
          <a:xfrm>
            <a:off x="361188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Exact structure</a:t>
            </a:r>
            <a:endParaRPr lang="en-US" sz="1400" dirty="0"/>
          </a:p>
        </p:txBody>
      </p:sp>
      <p:sp>
        <p:nvSpPr>
          <p:cNvPr id="26" name="Shape 24"/>
          <p:cNvSpPr/>
          <p:nvPr/>
        </p:nvSpPr>
        <p:spPr>
          <a:xfrm>
            <a:off x="621792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27" name="Shape 25"/>
          <p:cNvSpPr/>
          <p:nvPr/>
        </p:nvSpPr>
        <p:spPr>
          <a:xfrm>
            <a:off x="6217920" y="2834640"/>
            <a:ext cx="54864" cy="1097280"/>
          </a:xfrm>
          <a:prstGeom prst="rect">
            <a:avLst/>
          </a:prstGeom>
          <a:solidFill>
            <a:srgbClr val="00BFA6"/>
          </a:solidFill>
          <a:ln/>
        </p:spPr>
        <p:txBody>
          <a:bodyPr/>
          <a:lstStyle/>
          <a:p>
            <a:endParaRPr lang="en-US" sz="2000"/>
          </a:p>
        </p:txBody>
      </p:sp>
      <p:sp>
        <p:nvSpPr>
          <p:cNvPr id="28" name="Text 26"/>
          <p:cNvSpPr/>
          <p:nvPr/>
        </p:nvSpPr>
        <p:spPr>
          <a:xfrm>
            <a:off x="640080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VERIFY</a:t>
            </a:r>
            <a:endParaRPr lang="en-US" sz="1400" dirty="0"/>
          </a:p>
        </p:txBody>
      </p:sp>
      <p:sp>
        <p:nvSpPr>
          <p:cNvPr id="29" name="Text 27"/>
          <p:cNvSpPr/>
          <p:nvPr/>
        </p:nvSpPr>
        <p:spPr>
          <a:xfrm>
            <a:off x="640080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Quality gate</a:t>
            </a:r>
            <a:endParaRPr lang="en-US" sz="1400" dirty="0"/>
          </a:p>
        </p:txBody>
      </p:sp>
      <p:sp>
        <p:nvSpPr>
          <p:cNvPr id="30" name="Text 28"/>
          <p:cNvSpPr/>
          <p:nvPr/>
        </p:nvSpPr>
        <p:spPr>
          <a:xfrm>
            <a:off x="640080" y="4480560"/>
            <a:ext cx="7772400" cy="365760"/>
          </a:xfrm>
          <a:prstGeom prst="rect">
            <a:avLst/>
          </a:prstGeom>
          <a:noFill/>
          <a:ln/>
        </p:spPr>
        <p:txBody>
          <a:bodyPr wrap="square" lIns="0" tIns="0" rIns="0" bIns="0" rtlCol="0" anchor="ctr"/>
          <a:lstStyle/>
          <a:p>
            <a:pPr marL="0" indent="0">
              <a:buNone/>
            </a:pPr>
            <a:r>
              <a:rPr lang="en-US" sz="1600" i="1" dirty="0">
                <a:solidFill>
                  <a:srgbClr val="1A2744"/>
                </a:solidFill>
                <a:latin typeface="Segoe UI" pitchFamily="34" charset="0"/>
                <a:ea typeface="Segoe UI" pitchFamily="34" charset="-122"/>
                <a:cs typeface="Segoe UI" pitchFamily="34" charset="-120"/>
              </a:rPr>
              <a:t>Claude prefers XML tags (&lt;context&gt;, &lt;instructions&gt;). OpenAI works with both XML and LABEL: sections.</a:t>
            </a:r>
            <a:endParaRPr lang="en-US" sz="1600" dirty="0"/>
          </a:p>
        </p:txBody>
      </p:sp>
    </p:spTree>
    <p:extLst>
      <p:ext uri="{BB962C8B-B14F-4D97-AF65-F5344CB8AC3E}">
        <p14:creationId xmlns:p14="http://schemas.microsoft.com/office/powerpoint/2010/main" val="3768151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Direct Instruction &amp; Role Prompting</a:t>
            </a:r>
            <a:endParaRPr lang="en-US" sz="3200" dirty="0"/>
          </a:p>
        </p:txBody>
      </p:sp>
      <p:sp>
        <p:nvSpPr>
          <p:cNvPr id="3" name="Shape 1"/>
          <p:cNvSpPr/>
          <p:nvPr/>
        </p:nvSpPr>
        <p:spPr>
          <a:xfrm>
            <a:off x="640080" y="1051560"/>
            <a:ext cx="3749040" cy="3474720"/>
          </a:xfrm>
          <a:prstGeom prst="rect">
            <a:avLst/>
          </a:prstGeom>
          <a:solidFill>
            <a:srgbClr val="F5F7FA"/>
          </a:solidFill>
          <a:ln/>
        </p:spPr>
        <p:txBody>
          <a:bodyPr/>
          <a:lstStyle/>
          <a:p>
            <a:endParaRPr lang="en-US"/>
          </a:p>
        </p:txBody>
      </p:sp>
      <p:sp>
        <p:nvSpPr>
          <p:cNvPr id="4" name="Shape 2"/>
          <p:cNvSpPr/>
          <p:nvPr/>
        </p:nvSpPr>
        <p:spPr>
          <a:xfrm>
            <a:off x="640080" y="1051560"/>
            <a:ext cx="54864" cy="3474720"/>
          </a:xfrm>
          <a:prstGeom prst="rect">
            <a:avLst/>
          </a:prstGeom>
          <a:solidFill>
            <a:srgbClr val="00BFA6"/>
          </a:solidFill>
          <a:ln/>
        </p:spPr>
        <p:txBody>
          <a:bodyPr/>
          <a:lstStyle/>
          <a:p>
            <a:endParaRPr lang="en-US"/>
          </a:p>
        </p:txBody>
      </p:sp>
      <p:sp>
        <p:nvSpPr>
          <p:cNvPr id="5" name="Shape 3"/>
          <p:cNvSpPr/>
          <p:nvPr/>
        </p:nvSpPr>
        <p:spPr>
          <a:xfrm>
            <a:off x="914400" y="1188720"/>
            <a:ext cx="365760" cy="320040"/>
          </a:xfrm>
          <a:prstGeom prst="rect">
            <a:avLst/>
          </a:prstGeom>
          <a:solidFill>
            <a:srgbClr val="00BFA6"/>
          </a:solidFill>
          <a:ln/>
        </p:spPr>
        <p:txBody>
          <a:bodyPr/>
          <a:lstStyle/>
          <a:p>
            <a:endParaRPr lang="en-US"/>
          </a:p>
        </p:txBody>
      </p:sp>
      <p:sp>
        <p:nvSpPr>
          <p:cNvPr id="6" name="Text 4"/>
          <p:cNvSpPr/>
          <p:nvPr/>
        </p:nvSpPr>
        <p:spPr>
          <a:xfrm>
            <a:off x="914400" y="1188720"/>
            <a:ext cx="365760" cy="320040"/>
          </a:xfrm>
          <a:prstGeom prst="rect">
            <a:avLst/>
          </a:prstGeom>
          <a:noFill/>
          <a:ln/>
        </p:spPr>
        <p:txBody>
          <a:bodyPr wrap="square" lIns="0" tIns="0" rIns="0" bIns="0" rtlCol="0" anchor="ctr"/>
          <a:lstStyle/>
          <a:p>
            <a:pPr marL="0" indent="0" algn="ctr">
              <a:buNone/>
            </a:pPr>
            <a:endParaRPr lang="en-US" sz="1400" dirty="0"/>
          </a:p>
        </p:txBody>
      </p:sp>
      <p:sp>
        <p:nvSpPr>
          <p:cNvPr id="7" name="Text 5"/>
          <p:cNvSpPr/>
          <p:nvPr/>
        </p:nvSpPr>
        <p:spPr>
          <a:xfrm>
            <a:off x="1417320" y="1143000"/>
            <a:ext cx="2743200" cy="365760"/>
          </a:xfrm>
          <a:prstGeom prst="rect">
            <a:avLst/>
          </a:prstGeom>
          <a:noFill/>
          <a:ln/>
        </p:spPr>
        <p:txBody>
          <a:bodyPr wrap="square" lIns="0" tIns="0" rIns="0" bIns="0" rtlCol="0" anchor="ctr"/>
          <a:lstStyle/>
          <a:p>
            <a:pPr marL="0" indent="0">
              <a:buNone/>
            </a:pPr>
            <a:r>
              <a:rPr lang="en-US" sz="1800" b="1" dirty="0">
                <a:solidFill>
                  <a:srgbClr val="1A2744"/>
                </a:solidFill>
                <a:latin typeface="Segoe UI" pitchFamily="34" charset="0"/>
                <a:ea typeface="Segoe UI" pitchFamily="34" charset="-122"/>
                <a:cs typeface="Segoe UI" pitchFamily="34" charset="-120"/>
              </a:rPr>
              <a:t>Direct Instruction</a:t>
            </a:r>
            <a:endParaRPr lang="en-US" sz="1800" dirty="0"/>
          </a:p>
        </p:txBody>
      </p:sp>
      <p:sp>
        <p:nvSpPr>
          <p:cNvPr id="8" name="Text 6"/>
          <p:cNvSpPr/>
          <p:nvPr/>
        </p:nvSpPr>
        <p:spPr>
          <a:xfrm>
            <a:off x="914400" y="1645920"/>
            <a:ext cx="3200400" cy="45720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The baseline. Clear, literal instructions for simple tasks.</a:t>
            </a:r>
            <a:endParaRPr lang="en-US" sz="1200" dirty="0"/>
          </a:p>
        </p:txBody>
      </p:sp>
      <p:sp>
        <p:nvSpPr>
          <p:cNvPr id="9" name="Text 7"/>
          <p:cNvSpPr/>
          <p:nvPr/>
        </p:nvSpPr>
        <p:spPr>
          <a:xfrm>
            <a:off x="914400" y="2194560"/>
            <a:ext cx="3200400" cy="1280160"/>
          </a:xfrm>
          <a:prstGeom prst="rect">
            <a:avLst/>
          </a:prstGeom>
          <a:solidFill>
            <a:srgbClr val="FFFFFF"/>
          </a:solidFill>
          <a:ln/>
        </p:spPr>
        <p:txBody>
          <a:bodyPr wrap="square" lIns="101600" tIns="101600" rIns="101600" bIns="101600" rtlCol="0" anchor="ctr"/>
          <a:lstStyle/>
          <a:p>
            <a:pPr marL="0" indent="0">
              <a:buNone/>
            </a:pPr>
            <a:r>
              <a:rPr lang="en-US" sz="1100" dirty="0">
                <a:solidFill>
                  <a:srgbClr val="1A2744"/>
                </a:solidFill>
                <a:latin typeface="Consolas" pitchFamily="34" charset="0"/>
                <a:ea typeface="Consolas" pitchFamily="34" charset="-122"/>
                <a:cs typeface="Consolas" pitchFamily="34" charset="-120"/>
              </a:rPr>
              <a:t>Summarize for a VP:</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 exactly 5 bullets</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 include 1 risk + 1 recommendation</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Text: [paste]</a:t>
            </a:r>
            <a:endParaRPr lang="en-US" sz="1100" dirty="0"/>
          </a:p>
        </p:txBody>
      </p:sp>
      <p:sp>
        <p:nvSpPr>
          <p:cNvPr id="10" name="Text 8"/>
          <p:cNvSpPr/>
          <p:nvPr/>
        </p:nvSpPr>
        <p:spPr>
          <a:xfrm>
            <a:off x="914400" y="3657600"/>
            <a:ext cx="3200400" cy="457200"/>
          </a:xfrm>
          <a:prstGeom prst="rect">
            <a:avLst/>
          </a:prstGeom>
          <a:noFill/>
          <a:ln/>
        </p:spPr>
        <p:txBody>
          <a:bodyPr wrap="square" lIns="0" tIns="0" rIns="0" bIns="0" rtlCol="0" anchor="ctr"/>
          <a:lstStyle/>
          <a:p>
            <a:pPr marL="0" indent="0">
              <a:buNone/>
            </a:pPr>
            <a:r>
              <a:rPr lang="en-US" sz="1100" i="1" dirty="0">
                <a:solidFill>
                  <a:srgbClr val="64748B"/>
                </a:solidFill>
                <a:latin typeface="Segoe UI" pitchFamily="34" charset="0"/>
                <a:ea typeface="Segoe UI" pitchFamily="34" charset="-122"/>
                <a:cs typeface="Segoe UI" pitchFamily="34" charset="-120"/>
              </a:rPr>
              <a:t>If output drifts, add Recipe 5 (output clamp).</a:t>
            </a:r>
            <a:endParaRPr lang="en-US" sz="1100" dirty="0"/>
          </a:p>
        </p:txBody>
      </p:sp>
      <p:sp>
        <p:nvSpPr>
          <p:cNvPr id="11" name="Shape 9"/>
          <p:cNvSpPr/>
          <p:nvPr/>
        </p:nvSpPr>
        <p:spPr>
          <a:xfrm>
            <a:off x="4754880" y="1051560"/>
            <a:ext cx="3749040" cy="3474720"/>
          </a:xfrm>
          <a:prstGeom prst="rect">
            <a:avLst/>
          </a:prstGeom>
          <a:solidFill>
            <a:srgbClr val="F5F7FA"/>
          </a:solidFill>
          <a:ln/>
        </p:spPr>
        <p:txBody>
          <a:bodyPr/>
          <a:lstStyle/>
          <a:p>
            <a:endParaRPr lang="en-US"/>
          </a:p>
        </p:txBody>
      </p:sp>
      <p:sp>
        <p:nvSpPr>
          <p:cNvPr id="12" name="Shape 10"/>
          <p:cNvSpPr/>
          <p:nvPr/>
        </p:nvSpPr>
        <p:spPr>
          <a:xfrm>
            <a:off x="4754880" y="1051560"/>
            <a:ext cx="54864" cy="3474720"/>
          </a:xfrm>
          <a:prstGeom prst="rect">
            <a:avLst/>
          </a:prstGeom>
          <a:solidFill>
            <a:srgbClr val="00BFA6"/>
          </a:solidFill>
          <a:ln/>
        </p:spPr>
        <p:txBody>
          <a:bodyPr/>
          <a:lstStyle/>
          <a:p>
            <a:endParaRPr lang="en-US"/>
          </a:p>
        </p:txBody>
      </p:sp>
      <p:sp>
        <p:nvSpPr>
          <p:cNvPr id="13" name="Shape 11"/>
          <p:cNvSpPr/>
          <p:nvPr/>
        </p:nvSpPr>
        <p:spPr>
          <a:xfrm>
            <a:off x="5029200" y="1188720"/>
            <a:ext cx="365760" cy="320040"/>
          </a:xfrm>
          <a:prstGeom prst="rect">
            <a:avLst/>
          </a:prstGeom>
          <a:solidFill>
            <a:srgbClr val="00BFA6"/>
          </a:solidFill>
          <a:ln/>
        </p:spPr>
        <p:txBody>
          <a:bodyPr/>
          <a:lstStyle/>
          <a:p>
            <a:endParaRPr lang="en-US"/>
          </a:p>
        </p:txBody>
      </p:sp>
      <p:sp>
        <p:nvSpPr>
          <p:cNvPr id="14" name="Text 12"/>
          <p:cNvSpPr/>
          <p:nvPr/>
        </p:nvSpPr>
        <p:spPr>
          <a:xfrm>
            <a:off x="5029200" y="1188720"/>
            <a:ext cx="365760" cy="320040"/>
          </a:xfrm>
          <a:prstGeom prst="rect">
            <a:avLst/>
          </a:prstGeom>
          <a:noFill/>
          <a:ln/>
        </p:spPr>
        <p:txBody>
          <a:bodyPr wrap="square" lIns="0" tIns="0" rIns="0" bIns="0" rtlCol="0" anchor="ctr"/>
          <a:lstStyle/>
          <a:p>
            <a:pPr marL="0" indent="0" algn="ctr">
              <a:buNone/>
            </a:pPr>
            <a:endParaRPr lang="en-US" sz="1400" dirty="0"/>
          </a:p>
        </p:txBody>
      </p:sp>
      <p:sp>
        <p:nvSpPr>
          <p:cNvPr id="15" name="Text 13"/>
          <p:cNvSpPr/>
          <p:nvPr/>
        </p:nvSpPr>
        <p:spPr>
          <a:xfrm>
            <a:off x="5532120" y="1143000"/>
            <a:ext cx="2743200" cy="365760"/>
          </a:xfrm>
          <a:prstGeom prst="rect">
            <a:avLst/>
          </a:prstGeom>
          <a:noFill/>
          <a:ln/>
        </p:spPr>
        <p:txBody>
          <a:bodyPr wrap="square" lIns="0" tIns="0" rIns="0" bIns="0" rtlCol="0" anchor="ctr"/>
          <a:lstStyle/>
          <a:p>
            <a:pPr marL="0" indent="0">
              <a:buNone/>
            </a:pPr>
            <a:r>
              <a:rPr lang="en-US" sz="1800" b="1" dirty="0">
                <a:solidFill>
                  <a:srgbClr val="1A2744"/>
                </a:solidFill>
                <a:latin typeface="Segoe UI" pitchFamily="34" charset="0"/>
                <a:ea typeface="Segoe UI" pitchFamily="34" charset="-122"/>
                <a:cs typeface="Segoe UI" pitchFamily="34" charset="-120"/>
              </a:rPr>
              <a:t>Role Prompting</a:t>
            </a:r>
            <a:endParaRPr lang="en-US" sz="1800" dirty="0"/>
          </a:p>
        </p:txBody>
      </p:sp>
      <p:sp>
        <p:nvSpPr>
          <p:cNvPr id="16" name="Text 14"/>
          <p:cNvSpPr/>
          <p:nvPr/>
        </p:nvSpPr>
        <p:spPr>
          <a:xfrm>
            <a:off x="5029200" y="1645920"/>
            <a:ext cx="3200400" cy="45720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Shapes tone, vocabulary, depth. Does NOT improve factual correctness.</a:t>
            </a:r>
            <a:endParaRPr lang="en-US" sz="1200" dirty="0"/>
          </a:p>
        </p:txBody>
      </p:sp>
      <p:sp>
        <p:nvSpPr>
          <p:cNvPr id="17" name="Text 15"/>
          <p:cNvSpPr/>
          <p:nvPr/>
        </p:nvSpPr>
        <p:spPr>
          <a:xfrm>
            <a:off x="5029200" y="2194560"/>
            <a:ext cx="3200400" cy="1280160"/>
          </a:xfrm>
          <a:prstGeom prst="rect">
            <a:avLst/>
          </a:prstGeom>
          <a:solidFill>
            <a:srgbClr val="FFFFFF"/>
          </a:solidFill>
          <a:ln/>
        </p:spPr>
        <p:txBody>
          <a:bodyPr wrap="square" lIns="101600" tIns="101600" rIns="101600" bIns="101600" rtlCol="0" anchor="ctr"/>
          <a:lstStyle/>
          <a:p>
            <a:pPr marL="0" indent="0">
              <a:buNone/>
            </a:pPr>
            <a:r>
              <a:rPr lang="en-US" sz="1100" dirty="0">
                <a:solidFill>
                  <a:srgbClr val="1A2744"/>
                </a:solidFill>
                <a:latin typeface="Consolas" pitchFamily="34" charset="0"/>
                <a:ea typeface="Consolas" pitchFamily="34" charset="-122"/>
                <a:cs typeface="Consolas" pitchFamily="34" charset="-120"/>
              </a:rPr>
              <a:t>Act as a senior SRE.</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Return:</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1) Findings (major)</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2) Missing evidence</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3) Follow-ups (top 5)</a:t>
            </a:r>
            <a:endParaRPr lang="en-US" sz="1100" dirty="0"/>
          </a:p>
        </p:txBody>
      </p:sp>
      <p:sp>
        <p:nvSpPr>
          <p:cNvPr id="18" name="Text 16"/>
          <p:cNvSpPr/>
          <p:nvPr/>
        </p:nvSpPr>
        <p:spPr>
          <a:xfrm>
            <a:off x="5029200" y="3657600"/>
            <a:ext cx="3200400" cy="457200"/>
          </a:xfrm>
          <a:prstGeom prst="rect">
            <a:avLst/>
          </a:prstGeom>
          <a:noFill/>
          <a:ln/>
        </p:spPr>
        <p:txBody>
          <a:bodyPr wrap="square" lIns="0" tIns="0" rIns="0" bIns="0" rtlCol="0" anchor="ctr"/>
          <a:lstStyle/>
          <a:p>
            <a:pPr marL="0" indent="0">
              <a:buNone/>
            </a:pPr>
            <a:r>
              <a:rPr lang="en-US" sz="1100" i="1" dirty="0">
                <a:solidFill>
                  <a:srgbClr val="64748B"/>
                </a:solidFill>
                <a:latin typeface="Segoe UI" pitchFamily="34" charset="0"/>
                <a:ea typeface="Segoe UI" pitchFamily="34" charset="-122"/>
                <a:cs typeface="Segoe UI" pitchFamily="34" charset="-120"/>
              </a:rPr>
              <a:t>Gemini takes personas very seriously — test for conflicts.</a:t>
            </a:r>
            <a:endParaRPr lang="en-US" sz="1100" dirty="0"/>
          </a:p>
        </p:txBody>
      </p:sp>
    </p:spTree>
    <p:extLst>
      <p:ext uri="{BB962C8B-B14F-4D97-AF65-F5344CB8AC3E}">
        <p14:creationId xmlns:p14="http://schemas.microsoft.com/office/powerpoint/2010/main" val="3159525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594360"/>
          </a:xfrm>
          <a:prstGeom prst="rect">
            <a:avLst/>
          </a:prstGeom>
          <a:noFill/>
          <a:ln/>
        </p:spPr>
        <p:txBody>
          <a:bodyPr wrap="square" lIns="0" tIns="0" rIns="0" bIns="0" rtlCol="0" anchor="ctr"/>
          <a:lstStyle/>
          <a:p>
            <a:pPr marL="0" indent="0">
              <a:buNone/>
            </a:pPr>
            <a:r>
              <a:rPr lang="en-US" sz="3600" b="1" dirty="0">
                <a:solidFill>
                  <a:srgbClr val="1A2744"/>
                </a:solidFill>
                <a:latin typeface="Segoe UI Black" pitchFamily="34" charset="0"/>
                <a:ea typeface="Segoe UI Black" pitchFamily="34" charset="-122"/>
                <a:cs typeface="Segoe UI Black" pitchFamily="34" charset="-120"/>
              </a:rPr>
              <a:t>Scope &amp; Structure</a:t>
            </a:r>
            <a:endParaRPr lang="en-US" sz="3600" dirty="0"/>
          </a:p>
        </p:txBody>
      </p:sp>
      <p:sp>
        <p:nvSpPr>
          <p:cNvPr id="3" name="Shape 1"/>
          <p:cNvSpPr/>
          <p:nvPr/>
        </p:nvSpPr>
        <p:spPr>
          <a:xfrm>
            <a:off x="640080" y="1005840"/>
            <a:ext cx="3749040" cy="1828800"/>
          </a:xfrm>
          <a:prstGeom prst="rect">
            <a:avLst/>
          </a:prstGeom>
          <a:solidFill>
            <a:srgbClr val="F5F7FA"/>
          </a:solidFill>
          <a:ln/>
        </p:spPr>
        <p:txBody>
          <a:bodyPr/>
          <a:lstStyle/>
          <a:p>
            <a:endParaRPr lang="en-US"/>
          </a:p>
        </p:txBody>
      </p:sp>
      <p:sp>
        <p:nvSpPr>
          <p:cNvPr id="4" name="Shape 2"/>
          <p:cNvSpPr/>
          <p:nvPr/>
        </p:nvSpPr>
        <p:spPr>
          <a:xfrm>
            <a:off x="640080" y="1005840"/>
            <a:ext cx="54864" cy="1828800"/>
          </a:xfrm>
          <a:prstGeom prst="rect">
            <a:avLst/>
          </a:prstGeom>
          <a:solidFill>
            <a:srgbClr val="00BFA6"/>
          </a:solidFill>
          <a:ln/>
        </p:spPr>
        <p:txBody>
          <a:bodyPr/>
          <a:lstStyle/>
          <a:p>
            <a:endParaRPr lang="en-US"/>
          </a:p>
        </p:txBody>
      </p:sp>
      <p:sp>
        <p:nvSpPr>
          <p:cNvPr id="5" name="Shape 3"/>
          <p:cNvSpPr/>
          <p:nvPr/>
        </p:nvSpPr>
        <p:spPr>
          <a:xfrm>
            <a:off x="914400" y="1143000"/>
            <a:ext cx="365760" cy="274320"/>
          </a:xfrm>
          <a:prstGeom prst="rect">
            <a:avLst/>
          </a:prstGeom>
          <a:solidFill>
            <a:srgbClr val="00BFA6"/>
          </a:solidFill>
          <a:ln/>
        </p:spPr>
        <p:txBody>
          <a:bodyPr/>
          <a:lstStyle/>
          <a:p>
            <a:endParaRPr lang="en-US"/>
          </a:p>
        </p:txBody>
      </p:sp>
      <p:sp>
        <p:nvSpPr>
          <p:cNvPr id="6" name="Text 4"/>
          <p:cNvSpPr/>
          <p:nvPr/>
        </p:nvSpPr>
        <p:spPr>
          <a:xfrm>
            <a:off x="914400" y="1143000"/>
            <a:ext cx="365760" cy="274320"/>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417320" y="1097280"/>
            <a:ext cx="274320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Scope Discipline</a:t>
            </a:r>
            <a:endParaRPr lang="en-US" sz="1600" dirty="0"/>
          </a:p>
        </p:txBody>
      </p:sp>
      <p:sp>
        <p:nvSpPr>
          <p:cNvPr id="8" name="Text 6"/>
          <p:cNvSpPr/>
          <p:nvPr/>
        </p:nvSpPr>
        <p:spPr>
          <a:xfrm>
            <a:off x="914400" y="1554480"/>
            <a:ext cx="3200400" cy="109728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Set explicit boundaries. "Fix this function" without scope may trigger a full refactor.</a:t>
            </a:r>
            <a:endParaRPr lang="en-US" sz="1200" dirty="0"/>
          </a:p>
          <a:p>
            <a:pPr marL="0" indent="0">
              <a:buNone/>
            </a:pP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Implement EXACTLY this and nothing else.</a:t>
            </a: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If ambiguous, pick simplest valid interpretation.</a:t>
            </a:r>
            <a:endParaRPr lang="en-US" sz="1200" dirty="0"/>
          </a:p>
        </p:txBody>
      </p:sp>
      <p:sp>
        <p:nvSpPr>
          <p:cNvPr id="9" name="Shape 7"/>
          <p:cNvSpPr/>
          <p:nvPr/>
        </p:nvSpPr>
        <p:spPr>
          <a:xfrm>
            <a:off x="4754880" y="1005840"/>
            <a:ext cx="3749040" cy="1828800"/>
          </a:xfrm>
          <a:prstGeom prst="rect">
            <a:avLst/>
          </a:prstGeom>
          <a:solidFill>
            <a:srgbClr val="F5F7FA"/>
          </a:solidFill>
          <a:ln/>
        </p:spPr>
        <p:txBody>
          <a:bodyPr/>
          <a:lstStyle/>
          <a:p>
            <a:endParaRPr lang="en-US"/>
          </a:p>
        </p:txBody>
      </p:sp>
      <p:sp>
        <p:nvSpPr>
          <p:cNvPr id="10" name="Shape 8"/>
          <p:cNvSpPr/>
          <p:nvPr/>
        </p:nvSpPr>
        <p:spPr>
          <a:xfrm>
            <a:off x="4754880" y="1005840"/>
            <a:ext cx="54864" cy="1828800"/>
          </a:xfrm>
          <a:prstGeom prst="rect">
            <a:avLst/>
          </a:prstGeom>
          <a:solidFill>
            <a:srgbClr val="00BFA6"/>
          </a:solidFill>
          <a:ln/>
        </p:spPr>
        <p:txBody>
          <a:bodyPr/>
          <a:lstStyle/>
          <a:p>
            <a:endParaRPr lang="en-US"/>
          </a:p>
        </p:txBody>
      </p:sp>
      <p:sp>
        <p:nvSpPr>
          <p:cNvPr id="11" name="Shape 9"/>
          <p:cNvSpPr/>
          <p:nvPr/>
        </p:nvSpPr>
        <p:spPr>
          <a:xfrm>
            <a:off x="5029200" y="1143000"/>
            <a:ext cx="365760" cy="274320"/>
          </a:xfrm>
          <a:prstGeom prst="rect">
            <a:avLst/>
          </a:prstGeom>
          <a:solidFill>
            <a:srgbClr val="00BFA6"/>
          </a:solidFill>
          <a:ln/>
        </p:spPr>
        <p:txBody>
          <a:bodyPr/>
          <a:lstStyle/>
          <a:p>
            <a:endParaRPr lang="en-US"/>
          </a:p>
        </p:txBody>
      </p:sp>
      <p:sp>
        <p:nvSpPr>
          <p:cNvPr id="12" name="Text 10"/>
          <p:cNvSpPr/>
          <p:nvPr/>
        </p:nvSpPr>
        <p:spPr>
          <a:xfrm>
            <a:off x="5029200" y="1143000"/>
            <a:ext cx="365760" cy="274320"/>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5532120" y="1097280"/>
            <a:ext cx="274320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Structured Formatting</a:t>
            </a:r>
            <a:endParaRPr lang="en-US" sz="1600" dirty="0"/>
          </a:p>
        </p:txBody>
      </p:sp>
      <p:sp>
        <p:nvSpPr>
          <p:cNvPr id="14" name="Text 12"/>
          <p:cNvSpPr/>
          <p:nvPr/>
        </p:nvSpPr>
        <p:spPr>
          <a:xfrm>
            <a:off x="5029200" y="1554480"/>
            <a:ext cx="3200400" cy="109728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Delimiters prevent the model from confusing instructions with data.</a:t>
            </a:r>
            <a:endParaRPr lang="en-US" sz="1200" dirty="0"/>
          </a:p>
          <a:p>
            <a:pPr marL="0" indent="0">
              <a:buNone/>
            </a:pP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Separate instructions from data.</a:t>
            </a: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Put long data first, instructions last.</a:t>
            </a:r>
            <a:endParaRPr lang="en-US" sz="1200" dirty="0"/>
          </a:p>
        </p:txBody>
      </p:sp>
      <p:graphicFrame>
        <p:nvGraphicFramePr>
          <p:cNvPr id="15" name="Table 0"/>
          <p:cNvGraphicFramePr>
            <a:graphicFrameLocks noGrp="1"/>
          </p:cNvGraphicFramePr>
          <p:nvPr/>
        </p:nvGraphicFramePr>
        <p:xfrm>
          <a:off x="640080" y="3063240"/>
          <a:ext cx="7863840" cy="1600200"/>
        </p:xfrm>
        <a:graphic>
          <a:graphicData uri="http://schemas.openxmlformats.org/drawingml/2006/table">
            <a:tbl>
              <a:tblPr/>
              <a:tblGrid>
                <a:gridCol w="21031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0040">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Format</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Example</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Best for</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XML tags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&lt;context&gt;...&lt;/context&gt;</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Claude, OpenAI</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LABEL: sections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ROLE: / CONSTRAINTS: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Quick UIs, Gemini 3</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Markdown</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 Instructions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General readability</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Triple quotes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"""content"""</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Data vs instructions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64954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Few-Shot Prompting</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Show the model what you want by providing examples in the prompt itself.</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Technique</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Zero-shot:</a:t>
            </a:r>
            <a:r>
              <a:rPr lang="en-US" sz="1200" dirty="0">
                <a:solidFill>
                  <a:srgbClr val="1A2744"/>
                </a:solidFill>
                <a:latin typeface="Segoe UI" pitchFamily="34" charset="0"/>
                <a:ea typeface="Segoe UI" pitchFamily="34" charset="-122"/>
                <a:cs typeface="Segoe UI" pitchFamily="34" charset="-120"/>
              </a:rPr>
              <a:t> No examples. Relies entirely on the model's training.</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One-shot:</a:t>
            </a:r>
            <a:r>
              <a:rPr lang="en-US" sz="1200" dirty="0">
                <a:solidFill>
                  <a:srgbClr val="1A2744"/>
                </a:solidFill>
                <a:latin typeface="Segoe UI" pitchFamily="34" charset="0"/>
                <a:ea typeface="Segoe UI" pitchFamily="34" charset="-122"/>
                <a:cs typeface="Segoe UI" pitchFamily="34" charset="-120"/>
              </a:rPr>
              <a:t> One input–output pair shows the pattern.</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Few-shot (3–5):</a:t>
            </a:r>
            <a:r>
              <a:rPr lang="en-US" sz="1200" dirty="0">
                <a:solidFill>
                  <a:srgbClr val="1A2744"/>
                </a:solidFill>
                <a:latin typeface="Segoe UI" pitchFamily="34" charset="0"/>
                <a:ea typeface="Segoe UI" pitchFamily="34" charset="-122"/>
                <a:cs typeface="Segoe UI" pitchFamily="34" charset="-120"/>
              </a:rPr>
              <a:t> Multiple examples lock in format, tone, and edge cases.</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Best Practices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Diverse examples:</a:t>
            </a:r>
            <a:r>
              <a:rPr lang="en-US" sz="1200" dirty="0">
                <a:solidFill>
                  <a:srgbClr val="1A2744"/>
                </a:solidFill>
                <a:latin typeface="Segoe UI" pitchFamily="34" charset="0"/>
                <a:ea typeface="Segoe UI" pitchFamily="34" charset="-122"/>
                <a:cs typeface="Segoe UI" pitchFamily="34" charset="-120"/>
              </a:rPr>
              <a:t> Cover typical cases AND edge cases.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Consistent format:</a:t>
            </a:r>
            <a:r>
              <a:rPr lang="en-US" sz="1200" dirty="0">
                <a:solidFill>
                  <a:srgbClr val="1A2744"/>
                </a:solidFill>
                <a:latin typeface="Segoe UI" pitchFamily="34" charset="0"/>
                <a:ea typeface="Segoe UI" pitchFamily="34" charset="-122"/>
                <a:cs typeface="Segoe UI" pitchFamily="34" charset="-120"/>
              </a:rPr>
              <a:t> Use identical delimiters (Input: / Output:) in every example.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Order matters:</a:t>
            </a:r>
            <a:r>
              <a:rPr lang="en-US" sz="1200" dirty="0">
                <a:solidFill>
                  <a:srgbClr val="1A2744"/>
                </a:solidFill>
                <a:latin typeface="Segoe UI" pitchFamily="34" charset="0"/>
                <a:ea typeface="Segoe UI" pitchFamily="34" charset="-122"/>
                <a:cs typeface="Segoe UI" pitchFamily="34" charset="-120"/>
              </a:rPr>
              <a:t> Place the most similar example last, closest to the actual task.</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Few-shot is the single most reliable way to control output format without fine-tuning.</a:t>
            </a:r>
          </a:p>
        </p:txBody>
      </p:sp>
    </p:spTree>
    <p:extLst>
      <p:ext uri="{BB962C8B-B14F-4D97-AF65-F5344CB8AC3E}">
        <p14:creationId xmlns:p14="http://schemas.microsoft.com/office/powerpoint/2010/main" val="1459829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Chain of Thought (CoT)</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Force the model to show its work before giving a final answer.</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Why It Works</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dirty="0">
                <a:solidFill>
                  <a:srgbClr val="1A2744"/>
                </a:solidFill>
                <a:latin typeface="Segoe UI" pitchFamily="34" charset="0"/>
                <a:ea typeface="Segoe UI" pitchFamily="34" charset="-122"/>
                <a:cs typeface="Segoe UI" pitchFamily="34" charset="-120"/>
              </a:rPr>
              <a:t>LLMs generate tokens sequentially. When you force intermediate reasoning steps, each subsequent token is conditioned on better context.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Key insight:</a:t>
            </a:r>
            <a:r>
              <a:rPr lang="en-US" sz="1200" dirty="0">
                <a:solidFill>
                  <a:srgbClr val="1A2744"/>
                </a:solidFill>
                <a:latin typeface="Segoe UI" pitchFamily="34" charset="0"/>
                <a:ea typeface="Segoe UI" pitchFamily="34" charset="-122"/>
                <a:cs typeface="Segoe UI" pitchFamily="34" charset="-120"/>
              </a:rPr>
              <a:t> The model "thinks" by writing. No writing = no thinking. CoT gives the model scratch space.</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CoT Variants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Zero-shot CoT:</a:t>
            </a:r>
            <a:r>
              <a:rPr lang="en-US" sz="1200" dirty="0">
                <a:solidFill>
                  <a:srgbClr val="1A2744"/>
                </a:solidFill>
                <a:latin typeface="Segoe UI" pitchFamily="34" charset="0"/>
                <a:ea typeface="Segoe UI" pitchFamily="34" charset="-122"/>
                <a:cs typeface="Segoe UI" pitchFamily="34" charset="-120"/>
              </a:rPr>
              <a:t> Add "Let's think step by step" to trigger reasoning.</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Structured CoT:</a:t>
            </a:r>
            <a:r>
              <a:rPr lang="en-US" sz="1200" dirty="0">
                <a:solidFill>
                  <a:srgbClr val="1A2744"/>
                </a:solidFill>
                <a:latin typeface="Segoe UI" pitchFamily="34" charset="0"/>
                <a:ea typeface="Segoe UI" pitchFamily="34" charset="-122"/>
                <a:cs typeface="Segoe UI" pitchFamily="34" charset="-120"/>
              </a:rPr>
              <a:t> Prescribe steps: "First analyze X, then evaluate Y, finally conclude Z."</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Few-shot CoT:</a:t>
            </a:r>
            <a:r>
              <a:rPr lang="en-US" sz="1200" dirty="0">
                <a:solidFill>
                  <a:srgbClr val="1A2744"/>
                </a:solidFill>
                <a:latin typeface="Segoe UI" pitchFamily="34" charset="0"/>
                <a:ea typeface="Segoe UI" pitchFamily="34" charset="-122"/>
                <a:cs typeface="Segoe UI" pitchFamily="34" charset="-120"/>
              </a:rPr>
              <a:t> Provide examples that include reasoning traces, not just answers.</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CoT is most impactful for math, logic, multi-step reasoning, and complex decision-making tasks.</a:t>
            </a:r>
          </a:p>
        </p:txBody>
      </p:sp>
    </p:spTree>
    <p:extLst>
      <p:ext uri="{BB962C8B-B14F-4D97-AF65-F5344CB8AC3E}">
        <p14:creationId xmlns:p14="http://schemas.microsoft.com/office/powerpoint/2010/main" val="3661762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640080" y="320040"/>
            <a:ext cx="594360" cy="411480"/>
          </a:xfrm>
          <a:prstGeom prst="rect">
            <a:avLst/>
          </a:prstGeom>
          <a:solidFill>
            <a:srgbClr val="00BFA6"/>
          </a:solidFill>
          <a:ln/>
        </p:spPr>
        <p:txBody>
          <a:bodyPr/>
          <a:lstStyle/>
          <a:p>
            <a:endParaRPr lang="en-US"/>
          </a:p>
        </p:txBody>
      </p:sp>
      <p:sp>
        <p:nvSpPr>
          <p:cNvPr id="3" name="Text 1"/>
          <p:cNvSpPr/>
          <p:nvPr/>
        </p:nvSpPr>
        <p:spPr>
          <a:xfrm>
            <a:off x="640080" y="320040"/>
            <a:ext cx="594360" cy="411480"/>
          </a:xfrm>
          <a:prstGeom prst="rect">
            <a:avLst/>
          </a:prstGeom>
          <a:noFill/>
          <a:ln/>
        </p:spPr>
        <p:txBody>
          <a:bodyPr wrap="square" lIns="0" tIns="0" rIns="0" bIns="0" rtlCol="0" anchor="ctr"/>
          <a:lstStyle/>
          <a:p>
            <a:pPr marL="0" indent="0" algn="ctr">
              <a:buNone/>
            </a:pPr>
            <a:endParaRPr lang="en-US" sz="1600" dirty="0"/>
          </a:p>
        </p:txBody>
      </p:sp>
      <p:sp>
        <p:nvSpPr>
          <p:cNvPr id="4" name="Text 2"/>
          <p:cNvSpPr/>
          <p:nvPr/>
        </p:nvSpPr>
        <p:spPr>
          <a:xfrm>
            <a:off x="1417320" y="274320"/>
            <a:ext cx="6400800" cy="502920"/>
          </a:xfrm>
          <a:prstGeom prst="rect">
            <a:avLst/>
          </a:prstGeom>
          <a:noFill/>
          <a:ln/>
        </p:spPr>
        <p:txBody>
          <a:bodyPr wrap="square" lIns="0" tIns="0" rIns="0" bIns="0" rtlCol="0" anchor="ctr"/>
          <a:lstStyle/>
          <a:p>
            <a:pPr marL="0" indent="0">
              <a:buNone/>
            </a:pPr>
            <a:r>
              <a:rPr lang="en-US" sz="3200" b="1" dirty="0">
                <a:solidFill>
                  <a:srgbClr val="FFFFFF"/>
                </a:solidFill>
                <a:latin typeface="Segoe UI Black" pitchFamily="34" charset="0"/>
                <a:ea typeface="Segoe UI Black" pitchFamily="34" charset="-122"/>
                <a:cs typeface="Segoe UI Black" pitchFamily="34" charset="-120"/>
              </a:rPr>
              <a:t>Long-Context Placement</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i="1" dirty="0">
                <a:solidFill>
                  <a:srgbClr val="00BFA6"/>
                </a:solidFill>
                <a:latin typeface="Segoe UI" pitchFamily="34" charset="0"/>
                <a:ea typeface="Segoe UI" pitchFamily="34" charset="-122"/>
                <a:cs typeface="Segoe UI" pitchFamily="34" charset="-120"/>
              </a:rPr>
              <a:t>Where you place instructions relative to data significantly affects quality.</a:t>
            </a:r>
            <a:endParaRPr lang="en-US" sz="1400" dirty="0"/>
          </a:p>
        </p:txBody>
      </p:sp>
      <p:sp>
        <p:nvSpPr>
          <p:cNvPr id="6" name="Shape 4"/>
          <p:cNvSpPr/>
          <p:nvPr/>
        </p:nvSpPr>
        <p:spPr>
          <a:xfrm>
            <a:off x="640080" y="1463040"/>
            <a:ext cx="3749040" cy="2560320"/>
          </a:xfrm>
          <a:prstGeom prst="rect">
            <a:avLst/>
          </a:prstGeom>
          <a:solidFill>
            <a:srgbClr val="232B45"/>
          </a:solidFill>
          <a:ln/>
        </p:spPr>
        <p:txBody>
          <a:bodyPr/>
          <a:lstStyle/>
          <a:p>
            <a:endParaRPr lang="en-US"/>
          </a:p>
        </p:txBody>
      </p:sp>
      <p:sp>
        <p:nvSpPr>
          <p:cNvPr id="7" name="Shape 5"/>
          <p:cNvSpPr/>
          <p:nvPr/>
        </p:nvSpPr>
        <p:spPr>
          <a:xfrm>
            <a:off x="640080" y="1463040"/>
            <a:ext cx="3749040" cy="54864"/>
          </a:xfrm>
          <a:prstGeom prst="rect">
            <a:avLst/>
          </a:prstGeom>
          <a:solidFill>
            <a:srgbClr val="FF6B6B"/>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FF6B6B"/>
                </a:solidFill>
                <a:latin typeface="Segoe UI" pitchFamily="34" charset="0"/>
                <a:ea typeface="Segoe UI" pitchFamily="34" charset="-122"/>
                <a:cs typeface="Segoe UI" pitchFamily="34" charset="-120"/>
              </a:rPr>
              <a:t>Poor Placement (maybe)</a:t>
            </a:r>
            <a:endParaRPr lang="en-US" sz="1600" dirty="0"/>
          </a:p>
        </p:txBody>
      </p:sp>
      <p:sp>
        <p:nvSpPr>
          <p:cNvPr id="9" name="Text 7"/>
          <p:cNvSpPr/>
          <p:nvPr/>
        </p:nvSpPr>
        <p:spPr>
          <a:xfrm>
            <a:off x="914400" y="2103120"/>
            <a:ext cx="3200400" cy="164592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Answer these questions: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 Retention period?</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2. Backup procedures?</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Document:</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[15,000 words of policy...]</a:t>
            </a:r>
            <a:endParaRPr lang="en-US" sz="1200" dirty="0"/>
          </a:p>
        </p:txBody>
      </p:sp>
      <p:sp>
        <p:nvSpPr>
          <p:cNvPr id="10" name="Shape 8"/>
          <p:cNvSpPr/>
          <p:nvPr/>
        </p:nvSpPr>
        <p:spPr>
          <a:xfrm>
            <a:off x="4754880" y="1463040"/>
            <a:ext cx="3749040" cy="2560320"/>
          </a:xfrm>
          <a:prstGeom prst="rect">
            <a:avLst/>
          </a:prstGeom>
          <a:solidFill>
            <a:srgbClr val="232B45"/>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Good Placement (maybe)</a:t>
            </a:r>
            <a:endParaRPr lang="en-US" sz="1600" dirty="0"/>
          </a:p>
        </p:txBody>
      </p:sp>
      <p:sp>
        <p:nvSpPr>
          <p:cNvPr id="13" name="Text 11"/>
          <p:cNvSpPr/>
          <p:nvPr/>
        </p:nvSpPr>
        <p:spPr>
          <a:xfrm>
            <a:off x="5029200" y="2103120"/>
            <a:ext cx="3200400" cy="164592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&lt;document&gt;</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[15,000 words of policy...]</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&lt;/document&gt;</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Based on the document above:</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 Retention period?</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2. Backup procedures?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Cite relevant section numbers.</a:t>
            </a:r>
            <a:endParaRPr lang="en-US" sz="1200" dirty="0"/>
          </a:p>
        </p:txBody>
      </p:sp>
      <p:sp>
        <p:nvSpPr>
          <p:cNvPr id="14" name="Shape 12"/>
          <p:cNvSpPr/>
          <p:nvPr/>
        </p:nvSpPr>
        <p:spPr>
          <a:xfrm>
            <a:off x="640080" y="4251960"/>
            <a:ext cx="7863840" cy="640080"/>
          </a:xfrm>
          <a:prstGeom prst="rect">
            <a:avLst/>
          </a:prstGeom>
          <a:solidFill>
            <a:srgbClr val="00BFA6"/>
          </a:solidFill>
          <a:ln/>
        </p:spPr>
        <p:txBody>
          <a:bodyPr/>
          <a:lstStyle/>
          <a:p>
            <a:endParaRPr lang="en-US"/>
          </a:p>
        </p:txBody>
      </p:sp>
      <p:sp>
        <p:nvSpPr>
          <p:cNvPr id="15" name="Text 13"/>
          <p:cNvSpPr/>
          <p:nvPr/>
        </p:nvSpPr>
        <p:spPr>
          <a:xfrm>
            <a:off x="914400" y="4251960"/>
            <a:ext cx="7315200" cy="64008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The rule: Long data first → instructions last → query at the very end</a:t>
            </a:r>
            <a:endParaRPr lang="en-US" sz="1600" dirty="0"/>
          </a:p>
        </p:txBody>
      </p:sp>
    </p:spTree>
    <p:extLst>
      <p:ext uri="{BB962C8B-B14F-4D97-AF65-F5344CB8AC3E}">
        <p14:creationId xmlns:p14="http://schemas.microsoft.com/office/powerpoint/2010/main" val="326348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FFFFFF"/>
                </a:solidFill>
                <a:latin typeface="Segoe UI Black" pitchFamily="34" charset="0"/>
                <a:ea typeface="Segoe UI Black" pitchFamily="34" charset="-122"/>
                <a:cs typeface="Segoe UI Black" pitchFamily="34" charset="-120"/>
              </a:rPr>
              <a:t>Schema Extraction</a:t>
            </a:r>
            <a:endParaRPr lang="en-US" sz="3200" dirty="0"/>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i="1" dirty="0">
                <a:solidFill>
                  <a:srgbClr val="00BFA6"/>
                </a:solidFill>
                <a:latin typeface="Segoe UI" pitchFamily="34" charset="0"/>
                <a:ea typeface="Segoe UI" pitchFamily="34" charset="-122"/>
                <a:cs typeface="Segoe UI" pitchFamily="34" charset="-120"/>
              </a:rPr>
              <a:t>The biggest practical difference between UI and API.</a:t>
            </a:r>
            <a:endParaRPr lang="en-US" sz="1400" dirty="0"/>
          </a:p>
        </p:txBody>
      </p:sp>
      <p:sp>
        <p:nvSpPr>
          <p:cNvPr id="6" name="Shape 4"/>
          <p:cNvSpPr/>
          <p:nvPr/>
        </p:nvSpPr>
        <p:spPr>
          <a:xfrm>
            <a:off x="640080" y="1463040"/>
            <a:ext cx="3749040" cy="2926080"/>
          </a:xfrm>
          <a:prstGeom prst="rect">
            <a:avLst/>
          </a:prstGeom>
          <a:solidFill>
            <a:srgbClr val="232B45"/>
          </a:solidFill>
          <a:ln/>
        </p:spPr>
        <p:txBody>
          <a:bodyPr/>
          <a:lstStyle/>
          <a:p>
            <a:endParaRPr lang="en-US"/>
          </a:p>
        </p:txBody>
      </p:sp>
      <p:sp>
        <p:nvSpPr>
          <p:cNvPr id="7" name="Shape 5"/>
          <p:cNvSpPr/>
          <p:nvPr/>
        </p:nvSpPr>
        <p:spPr>
          <a:xfrm>
            <a:off x="640080" y="1463040"/>
            <a:ext cx="3749040" cy="54864"/>
          </a:xfrm>
          <a:prstGeom prst="rect">
            <a:avLst/>
          </a:prstGeom>
          <a:solidFill>
            <a:srgbClr val="8892A0"/>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B8C4D6"/>
                </a:solidFill>
                <a:latin typeface="Segoe UI" pitchFamily="34" charset="0"/>
                <a:ea typeface="Segoe UI" pitchFamily="34" charset="-122"/>
                <a:cs typeface="Segoe UI" pitchFamily="34" charset="-120"/>
              </a:rPr>
              <a:t>UI: Best-Effort</a:t>
            </a:r>
            <a:endParaRPr lang="en-US" sz="1600" dirty="0"/>
          </a:p>
        </p:txBody>
      </p:sp>
      <p:sp>
        <p:nvSpPr>
          <p:cNvPr id="9" name="Text 7"/>
          <p:cNvSpPr/>
          <p:nvPr/>
        </p:nvSpPr>
        <p:spPr>
          <a:xfrm>
            <a:off x="914400" y="2103120"/>
            <a:ext cx="3200400" cy="201168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Extract into JSON with</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exactly these keys: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party_name, jurisdiction,</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effective_date,</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termination_summary</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If unknown, set null.</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No extra keys.</a:t>
            </a:r>
            <a:endParaRPr lang="en-US" sz="1200" dirty="0"/>
          </a:p>
        </p:txBody>
      </p:sp>
      <p:sp>
        <p:nvSpPr>
          <p:cNvPr id="10" name="Shape 8"/>
          <p:cNvSpPr/>
          <p:nvPr/>
        </p:nvSpPr>
        <p:spPr>
          <a:xfrm>
            <a:off x="4754880" y="1463040"/>
            <a:ext cx="3749040" cy="2926080"/>
          </a:xfrm>
          <a:prstGeom prst="rect">
            <a:avLst/>
          </a:prstGeom>
          <a:solidFill>
            <a:srgbClr val="232B45"/>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API: Enforced</a:t>
            </a:r>
            <a:endParaRPr lang="en-US" sz="1600" dirty="0"/>
          </a:p>
        </p:txBody>
      </p:sp>
      <p:sp>
        <p:nvSpPr>
          <p:cNvPr id="13" name="Text 11"/>
          <p:cNvSpPr/>
          <p:nvPr/>
        </p:nvSpPr>
        <p:spPr>
          <a:xfrm>
            <a:off x="5029200" y="2103120"/>
            <a:ext cx="3200400" cy="2011680"/>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OpenAI: </a:t>
            </a:r>
            <a:r>
              <a:rPr lang="en-US" sz="1200" dirty="0">
                <a:solidFill>
                  <a:srgbClr val="B8C4D6"/>
                </a:solidFill>
                <a:latin typeface="Segoe UI" pitchFamily="34" charset="0"/>
                <a:ea typeface="Segoe UI" pitchFamily="34" charset="-122"/>
                <a:cs typeface="Segoe UI" pitchFamily="34" charset="-120"/>
              </a:rPr>
              <a:t>text.format with</a:t>
            </a:r>
            <a:endParaRPr lang="en-US" sz="1200" dirty="0"/>
          </a:p>
          <a:p>
            <a:pPr marL="0" indent="0">
              <a:buNone/>
            </a:pPr>
            <a:r>
              <a:rPr lang="en-US" sz="1200" dirty="0">
                <a:solidFill>
                  <a:srgbClr val="B8C4D6"/>
                </a:solidFill>
                <a:latin typeface="Segoe UI" pitchFamily="34" charset="0"/>
                <a:ea typeface="Segoe UI" pitchFamily="34" charset="-122"/>
                <a:cs typeface="Segoe UI" pitchFamily="34" charset="-120"/>
              </a:rPr>
              <a:t>strict: true → guaranteed shape</a:t>
            </a:r>
            <a:endParaRPr lang="en-US" sz="1200" dirty="0"/>
          </a:p>
          <a:p>
            <a:pPr marL="0" indent="0">
              <a:buNone/>
            </a:pPr>
            <a:r>
              <a:rPr lang="en-US" sz="1200" dirty="0">
                <a:solidFill>
                  <a:srgbClr val="000000"/>
                </a:solidFill>
                <a:latin typeface="Segoe UI" pitchFamily="34" charset="0"/>
                <a:ea typeface="Segoe UI" pitchFamily="34" charset="-122"/>
                <a:cs typeface="Segoe UI" pitchFamily="34" charset="-120"/>
              </a:rPr>
              <a:t>
</a:t>
            </a:r>
            <a:endParaRPr lang="en-US" sz="1200" dirty="0"/>
          </a:p>
          <a:p>
            <a:pPr marL="0" indent="0">
              <a:buNone/>
            </a:pPr>
            <a:r>
              <a:rPr lang="en-US" sz="1200" b="1" dirty="0">
                <a:solidFill>
                  <a:srgbClr val="FFFFFF"/>
                </a:solidFill>
                <a:latin typeface="Segoe UI" pitchFamily="34" charset="0"/>
                <a:ea typeface="Segoe UI" pitchFamily="34" charset="-122"/>
                <a:cs typeface="Segoe UI" pitchFamily="34" charset="-120"/>
              </a:rPr>
              <a:t>Anthropic: </a:t>
            </a:r>
            <a:r>
              <a:rPr lang="en-US" sz="1200" dirty="0">
                <a:solidFill>
                  <a:srgbClr val="B8C4D6"/>
                </a:solidFill>
                <a:latin typeface="Segoe UI" pitchFamily="34" charset="0"/>
                <a:ea typeface="Segoe UI" pitchFamily="34" charset="-122"/>
                <a:cs typeface="Segoe UI" pitchFamily="34" charset="-120"/>
              </a:rPr>
              <a:t>Prefilling + tool-use</a:t>
            </a:r>
            <a:endParaRPr lang="en-US" sz="1200" dirty="0"/>
          </a:p>
          <a:p>
            <a:pPr marL="0" indent="0">
              <a:buNone/>
            </a:pPr>
            <a:r>
              <a:rPr lang="en-US" sz="1200" dirty="0">
                <a:solidFill>
                  <a:srgbClr val="B8C4D6"/>
                </a:solidFill>
                <a:latin typeface="Segoe UI" pitchFamily="34" charset="0"/>
                <a:ea typeface="Segoe UI" pitchFamily="34" charset="-122"/>
                <a:cs typeface="Segoe UI" pitchFamily="34" charset="-120"/>
              </a:rPr>
              <a:t>schemas → enforced structure</a:t>
            </a:r>
            <a:endParaRPr lang="en-US" sz="1200" dirty="0"/>
          </a:p>
        </p:txBody>
      </p:sp>
      <p:sp>
        <p:nvSpPr>
          <p:cNvPr id="14" name="Text 12"/>
          <p:cNvSpPr/>
          <p:nvPr/>
        </p:nvSpPr>
        <p:spPr>
          <a:xfrm>
            <a:off x="640080" y="4572000"/>
            <a:ext cx="7772400" cy="320040"/>
          </a:xfrm>
          <a:prstGeom prst="rect">
            <a:avLst/>
          </a:prstGeom>
          <a:noFill/>
          <a:ln/>
        </p:spPr>
        <p:txBody>
          <a:bodyPr wrap="square" lIns="0" tIns="0" rIns="0" bIns="0" rtlCol="0" anchor="ctr"/>
          <a:lstStyle/>
          <a:p>
            <a:pPr marL="0" indent="0">
              <a:buNone/>
            </a:pPr>
            <a:r>
              <a:rPr lang="en-US" sz="1200" i="1" dirty="0">
                <a:solidFill>
                  <a:srgbClr val="B8C4D6"/>
                </a:solidFill>
                <a:latin typeface="Segoe UI" pitchFamily="34" charset="0"/>
                <a:ea typeface="Segoe UI" pitchFamily="34" charset="-122"/>
                <a:cs typeface="Segoe UI" pitchFamily="34" charset="-120"/>
              </a:rPr>
              <a:t>If you're building a pipeline that parses model output, always use API-level enforcement.</a:t>
            </a:r>
            <a:endParaRPr lang="en-US" sz="1200" dirty="0"/>
          </a:p>
        </p:txBody>
      </p:sp>
    </p:spTree>
    <p:extLst>
      <p:ext uri="{BB962C8B-B14F-4D97-AF65-F5344CB8AC3E}">
        <p14:creationId xmlns:p14="http://schemas.microsoft.com/office/powerpoint/2010/main" val="2054302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Reasoning Depth</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Trade off latency/cost vs. correctness. Not all tasks need deep reasoning.</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52936016"/>
              </p:ext>
            </p:extLst>
          </p:nvPr>
        </p:nvGraphicFramePr>
        <p:xfrm>
          <a:off x="640080" y="1371600"/>
          <a:ext cx="7863840" cy="3003630"/>
        </p:xfrm>
        <a:graphic>
          <a:graphicData uri="http://schemas.openxmlformats.org/drawingml/2006/table">
            <a:tbl>
              <a:tblPr/>
              <a:tblGrid>
                <a:gridCol w="1371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298732">
                  <a:extLst>
                    <a:ext uri="{9D8B030D-6E8A-4147-A177-3AD203B41FA5}">
                      <a16:colId xmlns:a16="http://schemas.microsoft.com/office/drawing/2014/main" val="20002"/>
                    </a:ext>
                  </a:extLst>
                </a:gridCol>
                <a:gridCol w="1998948">
                  <a:extLst>
                    <a:ext uri="{9D8B030D-6E8A-4147-A177-3AD203B41FA5}">
                      <a16:colId xmlns:a16="http://schemas.microsoft.com/office/drawing/2014/main" val="20003"/>
                    </a:ext>
                  </a:extLst>
                </a:gridCol>
              </a:tblGrid>
              <a:tr h="637134">
                <a:tc>
                  <a:txBody>
                    <a:bodyPr/>
                    <a:lstStyle/>
                    <a:p>
                      <a:pPr marL="0" indent="0">
                        <a:buNone/>
                      </a:pPr>
                      <a:endParaRPr lang="en-US" sz="2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2000" b="1" dirty="0">
                          <a:solidFill>
                            <a:srgbClr val="FFFFFF"/>
                          </a:solidFill>
                          <a:latin typeface="Segoe UI" pitchFamily="34" charset="0"/>
                          <a:ea typeface="Segoe UI" pitchFamily="34" charset="-122"/>
                          <a:cs typeface="Segoe UI" pitchFamily="34" charset="-120"/>
                        </a:rPr>
                        <a:t>OpenAI</a:t>
                      </a:r>
                      <a:endParaRPr lang="en-US" sz="2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2000" b="1" dirty="0">
                          <a:solidFill>
                            <a:srgbClr val="FFFFFF"/>
                          </a:solidFill>
                          <a:latin typeface="Segoe UI" pitchFamily="34" charset="0"/>
                          <a:ea typeface="Segoe UI" pitchFamily="34" charset="-122"/>
                          <a:cs typeface="Segoe UI" pitchFamily="34" charset="-120"/>
                        </a:rPr>
                        <a:t>Anthropic</a:t>
                      </a:r>
                      <a:endParaRPr lang="en-US" sz="2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2000" b="1" dirty="0">
                          <a:solidFill>
                            <a:srgbClr val="FFFFFF"/>
                          </a:solidFill>
                          <a:latin typeface="Segoe UI" pitchFamily="34" charset="0"/>
                          <a:ea typeface="Segoe UI" pitchFamily="34" charset="-122"/>
                          <a:cs typeface="Segoe UI" pitchFamily="34" charset="-120"/>
                        </a:rPr>
                        <a:t>Google</a:t>
                      </a:r>
                      <a:endParaRPr lang="en-US" sz="2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1183248">
                <a:tc>
                  <a:txBody>
                    <a:bodyPr/>
                    <a:lstStyle/>
                    <a:p>
                      <a:pPr marL="0" indent="0">
                        <a:buNone/>
                      </a:pPr>
                      <a:r>
                        <a:rPr lang="en-US" sz="2000" b="1" dirty="0">
                          <a:solidFill>
                            <a:srgbClr val="1A2744"/>
                          </a:solidFill>
                          <a:latin typeface="Segoe UI" pitchFamily="34" charset="0"/>
                          <a:ea typeface="Segoe UI" pitchFamily="34" charset="-122"/>
                          <a:cs typeface="Segoe UI" pitchFamily="34" charset="-120"/>
                        </a:rPr>
                        <a:t>Knob</a:t>
                      </a:r>
                      <a:endParaRPr lang="en-US" sz="2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64748B"/>
                          </a:solidFill>
                          <a:latin typeface="Segoe UI" pitchFamily="34" charset="0"/>
                          <a:ea typeface="Segoe UI" pitchFamily="34" charset="-122"/>
                          <a:cs typeface="Segoe UI" pitchFamily="34" charset="-120"/>
                        </a:rPr>
                        <a:t>reasoning.effort</a:t>
                      </a:r>
                      <a:endParaRPr lang="en-US" sz="1600" dirty="0">
                        <a:latin typeface="Segoe UI" charset="0"/>
                        <a:ea typeface="Segoe UI" charset="0"/>
                        <a:cs typeface="Segoe UI" charset="0"/>
                      </a:endParaRPr>
                    </a:p>
                    <a:p>
                      <a:pPr marL="0" indent="0">
                        <a:buNone/>
                      </a:pPr>
                      <a:r>
                        <a:rPr lang="en-US" sz="1600" dirty="0">
                          <a:solidFill>
                            <a:srgbClr val="64748B"/>
                          </a:solidFill>
                          <a:latin typeface="Segoe UI" pitchFamily="34" charset="0"/>
                          <a:ea typeface="Segoe UI" pitchFamily="34" charset="-122"/>
                          <a:cs typeface="Segoe UI" pitchFamily="34" charset="-120"/>
                        </a:rPr>
                        <a:t>(none/low/med/high)</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64748B"/>
                          </a:solidFill>
                          <a:latin typeface="Segoe UI" pitchFamily="34" charset="0"/>
                          <a:ea typeface="Segoe UI" pitchFamily="34" charset="-122"/>
                          <a:cs typeface="Segoe UI" pitchFamily="34" charset="-120"/>
                        </a:rPr>
                        <a:t>thinking.budget_tokens</a:t>
                      </a:r>
                      <a:endParaRPr lang="en-US" sz="1600" dirty="0">
                        <a:latin typeface="Segoe UI" charset="0"/>
                        <a:ea typeface="Segoe UI" charset="0"/>
                        <a:cs typeface="Segoe UI" charset="0"/>
                      </a:endParaRPr>
                    </a:p>
                    <a:p>
                      <a:pPr marL="0" indent="0">
                        <a:buNone/>
                      </a:pPr>
                      <a:r>
                        <a:rPr lang="en-US" sz="1600" dirty="0">
                          <a:solidFill>
                            <a:srgbClr val="64748B"/>
                          </a:solidFill>
                          <a:latin typeface="Segoe UI" pitchFamily="34" charset="0"/>
                          <a:ea typeface="Segoe UI" pitchFamily="34" charset="-122"/>
                          <a:cs typeface="Segoe UI" pitchFamily="34" charset="-120"/>
                        </a:rPr>
                        <a:t>(extended thinking)</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64748B"/>
                          </a:solidFill>
                          <a:latin typeface="Segoe UI" pitchFamily="34" charset="0"/>
                          <a:ea typeface="Segoe UI" pitchFamily="34" charset="-122"/>
                          <a:cs typeface="Segoe UI" pitchFamily="34" charset="-120"/>
                        </a:rPr>
                        <a:t>Model selection</a:t>
                      </a:r>
                      <a:endParaRPr lang="en-US" sz="1600" dirty="0">
                        <a:latin typeface="Segoe UI" charset="0"/>
                        <a:ea typeface="Segoe UI" charset="0"/>
                        <a:cs typeface="Segoe UI" charset="0"/>
                      </a:endParaRPr>
                    </a:p>
                    <a:p>
                      <a:pPr marL="0" indent="0">
                        <a:buNone/>
                      </a:pPr>
                      <a:r>
                        <a:rPr lang="en-US" sz="1600" dirty="0">
                          <a:solidFill>
                            <a:srgbClr val="64748B"/>
                          </a:solidFill>
                          <a:latin typeface="Segoe UI" pitchFamily="34" charset="0"/>
                          <a:ea typeface="Segoe UI" pitchFamily="34" charset="-122"/>
                          <a:cs typeface="Segoe UI" pitchFamily="34" charset="-120"/>
                        </a:rPr>
                        <a:t>(Flash vs Pro)</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1183248">
                <a:tc>
                  <a:txBody>
                    <a:bodyPr/>
                    <a:lstStyle/>
                    <a:p>
                      <a:pPr marL="0" indent="0">
                        <a:buNone/>
                      </a:pPr>
                      <a:r>
                        <a:rPr lang="en-US" sz="2000" b="1" dirty="0">
                          <a:solidFill>
                            <a:srgbClr val="1A2744"/>
                          </a:solidFill>
                          <a:latin typeface="Segoe UI" pitchFamily="34" charset="0"/>
                          <a:ea typeface="Segoe UI" pitchFamily="34" charset="-122"/>
                          <a:cs typeface="Segoe UI" pitchFamily="34" charset="-120"/>
                        </a:rPr>
                        <a:t>Best for</a:t>
                      </a:r>
                      <a:endParaRPr lang="en-US" sz="2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64748B"/>
                          </a:solidFill>
                          <a:latin typeface="Segoe UI" pitchFamily="34" charset="0"/>
                          <a:ea typeface="Segoe UI" pitchFamily="34" charset="-122"/>
                          <a:cs typeface="Segoe UI" pitchFamily="34" charset="-120"/>
                        </a:rPr>
                        <a:t>Granular effort tuning</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64748B"/>
                          </a:solidFill>
                          <a:latin typeface="Segoe UI" pitchFamily="34" charset="0"/>
                          <a:ea typeface="Segoe UI" pitchFamily="34" charset="-122"/>
                          <a:cs typeface="Segoe UI" pitchFamily="34" charset="-120"/>
                        </a:rPr>
                        <a:t>Complex multi-step;</a:t>
                      </a:r>
                      <a:endParaRPr lang="en-US" sz="1600" dirty="0">
                        <a:latin typeface="Segoe UI" charset="0"/>
                        <a:ea typeface="Segoe UI" charset="0"/>
                        <a:cs typeface="Segoe UI" charset="0"/>
                      </a:endParaRPr>
                    </a:p>
                    <a:p>
                      <a:pPr marL="0" indent="0">
                        <a:buNone/>
                      </a:pPr>
                      <a:r>
                        <a:rPr lang="en-US" sz="1600" dirty="0">
                          <a:solidFill>
                            <a:srgbClr val="64748B"/>
                          </a:solidFill>
                          <a:latin typeface="Segoe UI" pitchFamily="34" charset="0"/>
                          <a:ea typeface="Segoe UI" pitchFamily="34" charset="-122"/>
                          <a:cs typeface="Segoe UI" pitchFamily="34" charset="-120"/>
                        </a:rPr>
                        <a:t>interleaved thinking</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64748B"/>
                          </a:solidFill>
                          <a:latin typeface="Segoe UI" pitchFamily="34" charset="0"/>
                          <a:ea typeface="Segoe UI" pitchFamily="34" charset="-122"/>
                          <a:cs typeface="Segoe UI" pitchFamily="34" charset="-120"/>
                        </a:rPr>
                        <a:t>Binary model choice</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60121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marL="0" indent="0">
              <a:buNone/>
            </a:pPr>
            <a:r>
              <a:rPr lang="en-US" sz="3600" b="1" dirty="0">
                <a:solidFill>
                  <a:srgbClr val="1A2744"/>
                </a:solidFill>
                <a:latin typeface="Segoe UI Black" pitchFamily="34" charset="0"/>
                <a:ea typeface="Segoe UI Black" pitchFamily="34" charset="-122"/>
                <a:cs typeface="Segoe UI Black" pitchFamily="34" charset="-120"/>
              </a:rPr>
              <a:t>Quality Patterns</a:t>
            </a:r>
            <a:endParaRPr lang="en-US" sz="3600" dirty="0"/>
          </a:p>
        </p:txBody>
      </p:sp>
      <p:sp>
        <p:nvSpPr>
          <p:cNvPr id="3" name="Shape 1"/>
          <p:cNvSpPr/>
          <p:nvPr/>
        </p:nvSpPr>
        <p:spPr>
          <a:xfrm>
            <a:off x="640080" y="1051560"/>
            <a:ext cx="3749040" cy="3960278"/>
          </a:xfrm>
          <a:prstGeom prst="rect">
            <a:avLst/>
          </a:prstGeom>
          <a:solidFill>
            <a:srgbClr val="F5F7FA"/>
          </a:solidFill>
          <a:ln/>
        </p:spPr>
        <p:txBody>
          <a:bodyPr/>
          <a:lstStyle/>
          <a:p>
            <a:endParaRPr lang="en-US"/>
          </a:p>
        </p:txBody>
      </p:sp>
      <p:sp>
        <p:nvSpPr>
          <p:cNvPr id="4" name="Shape 2"/>
          <p:cNvSpPr/>
          <p:nvPr/>
        </p:nvSpPr>
        <p:spPr>
          <a:xfrm>
            <a:off x="640080" y="1051560"/>
            <a:ext cx="54864" cy="3200400"/>
          </a:xfrm>
          <a:prstGeom prst="rect">
            <a:avLst/>
          </a:prstGeom>
          <a:solidFill>
            <a:srgbClr val="00BFA6"/>
          </a:solidFill>
          <a:ln/>
        </p:spPr>
        <p:txBody>
          <a:bodyPr/>
          <a:lstStyle/>
          <a:p>
            <a:endParaRPr lang="en-US"/>
          </a:p>
        </p:txBody>
      </p:sp>
      <p:sp>
        <p:nvSpPr>
          <p:cNvPr id="5" name="Shape 3"/>
          <p:cNvSpPr/>
          <p:nvPr/>
        </p:nvSpPr>
        <p:spPr>
          <a:xfrm>
            <a:off x="914400" y="1188720"/>
            <a:ext cx="548640" cy="274320"/>
          </a:xfrm>
          <a:prstGeom prst="rect">
            <a:avLst/>
          </a:prstGeom>
          <a:solidFill>
            <a:srgbClr val="00BFA6"/>
          </a:solidFill>
          <a:ln/>
        </p:spPr>
        <p:txBody>
          <a:bodyPr/>
          <a:lstStyle/>
          <a:p>
            <a:endParaRPr lang="en-US"/>
          </a:p>
        </p:txBody>
      </p:sp>
      <p:sp>
        <p:nvSpPr>
          <p:cNvPr id="6" name="Text 4"/>
          <p:cNvSpPr/>
          <p:nvPr/>
        </p:nvSpPr>
        <p:spPr>
          <a:xfrm>
            <a:off x="914400" y="1188720"/>
            <a:ext cx="548640" cy="274320"/>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600200" y="1143000"/>
            <a:ext cx="256032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Answer → Review → Re-answer</a:t>
            </a:r>
            <a:endParaRPr lang="en-US" sz="1600" dirty="0"/>
          </a:p>
        </p:txBody>
      </p:sp>
      <p:sp>
        <p:nvSpPr>
          <p:cNvPr id="8" name="Text 6"/>
          <p:cNvSpPr/>
          <p:nvPr/>
        </p:nvSpPr>
        <p:spPr>
          <a:xfrm>
            <a:off x="914400" y="2051613"/>
            <a:ext cx="3200400" cy="548640"/>
          </a:xfrm>
          <a:prstGeom prst="rect">
            <a:avLst/>
          </a:prstGeom>
          <a:noFill/>
          <a:ln/>
        </p:spPr>
        <p:txBody>
          <a:bodyPr wrap="square" lIns="0" tIns="0" rIns="0" bIns="0" rtlCol="0" anchor="ctr"/>
          <a:lstStyle/>
          <a:p>
            <a:pPr marL="0" indent="0">
              <a:buNone/>
            </a:pPr>
            <a:r>
              <a:rPr lang="en-US" sz="1600" dirty="0">
                <a:solidFill>
                  <a:srgbClr val="64748B"/>
                </a:solidFill>
                <a:latin typeface="Segoe UI" pitchFamily="34" charset="0"/>
                <a:ea typeface="Segoe UI" pitchFamily="34" charset="-122"/>
                <a:cs typeface="Segoe UI" pitchFamily="34" charset="-120"/>
              </a:rPr>
              <a:t>A single-call self-critique: Draft your answer, critique it for errors and gaps, then revise. All three steps in one API call — no orchestration needed.</a:t>
            </a:r>
            <a:endParaRPr lang="en-US" sz="1600" dirty="0"/>
          </a:p>
        </p:txBody>
      </p:sp>
      <p:sp>
        <p:nvSpPr>
          <p:cNvPr id="9" name="Text 7"/>
          <p:cNvSpPr/>
          <p:nvPr/>
        </p:nvSpPr>
        <p:spPr>
          <a:xfrm>
            <a:off x="914400" y="3132109"/>
            <a:ext cx="32004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Self-check criteria:</a:t>
            </a:r>
            <a:endParaRPr lang="en-US" sz="1600" dirty="0"/>
          </a:p>
        </p:txBody>
      </p:sp>
      <p:sp>
        <p:nvSpPr>
          <p:cNvPr id="10" name="Text 8"/>
          <p:cNvSpPr/>
          <p:nvPr/>
        </p:nvSpPr>
        <p:spPr>
          <a:xfrm>
            <a:off x="914400" y="3475877"/>
            <a:ext cx="3200400" cy="1371600"/>
          </a:xfrm>
          <a:prstGeom prst="rect">
            <a:avLst/>
          </a:prstGeom>
          <a:noFill/>
          <a:ln/>
        </p:spPr>
        <p:txBody>
          <a:bodyPr wrap="square" rtlCol="0" anchor="ctr"/>
          <a:lstStyle/>
          <a:p>
            <a:pPr marL="342900" indent="-342900">
              <a:spcAft>
                <a:spcPts val="400"/>
              </a:spcAft>
              <a:buSzPct val="100000"/>
              <a:buChar char="•"/>
            </a:pPr>
            <a:r>
              <a:rPr lang="en-US" sz="1600" dirty="0">
                <a:solidFill>
                  <a:srgbClr val="64748B"/>
                </a:solidFill>
                <a:latin typeface="Segoe UI" pitchFamily="34" charset="0"/>
                <a:ea typeface="Segoe UI" pitchFamily="34" charset="-122"/>
                <a:cs typeface="Segoe UI" pitchFamily="34" charset="-120"/>
              </a:rPr>
              <a:t>Especially powerful for</a:t>
            </a:r>
            <a:endParaRPr lang="en-US" sz="1600" dirty="0"/>
          </a:p>
          <a:p>
            <a:pPr marL="342900" indent="-342900">
              <a:spcAft>
                <a:spcPts val="400"/>
              </a:spcAft>
              <a:buSzPct val="100000"/>
              <a:buChar char="•"/>
            </a:pPr>
            <a:r>
              <a:rPr lang="en-US" sz="1600" dirty="0">
                <a:solidFill>
                  <a:srgbClr val="64748B"/>
                </a:solidFill>
                <a:latin typeface="Segoe UI" pitchFamily="34" charset="0"/>
                <a:ea typeface="Segoe UI" pitchFamily="34" charset="-122"/>
                <a:cs typeface="Segoe UI" pitchFamily="34" charset="-120"/>
              </a:rPr>
              <a:t>factual tasks, math, and</a:t>
            </a:r>
            <a:endParaRPr lang="en-US" sz="1600" dirty="0"/>
          </a:p>
          <a:p>
            <a:pPr marL="342900" indent="-342900">
              <a:spcAft>
                <a:spcPts val="400"/>
              </a:spcAft>
              <a:buSzPct val="100000"/>
              <a:buChar char="•"/>
            </a:pPr>
            <a:r>
              <a:rPr lang="en-US" sz="1600" dirty="0">
                <a:solidFill>
                  <a:srgbClr val="64748B"/>
                </a:solidFill>
                <a:latin typeface="Segoe UI" pitchFamily="34" charset="0"/>
                <a:ea typeface="Segoe UI" pitchFamily="34" charset="-122"/>
                <a:cs typeface="Segoe UI" pitchFamily="34" charset="-120"/>
              </a:rPr>
              <a:t>any output that can be</a:t>
            </a:r>
            <a:endParaRPr lang="en-US" sz="1600" dirty="0"/>
          </a:p>
          <a:p>
            <a:pPr marL="342900" indent="-342900">
              <a:spcAft>
                <a:spcPts val="400"/>
              </a:spcAft>
              <a:buSzPct val="100000"/>
              <a:buChar char="•"/>
            </a:pPr>
            <a:r>
              <a:rPr lang="en-US" sz="1600" dirty="0">
                <a:solidFill>
                  <a:srgbClr val="64748B"/>
                </a:solidFill>
                <a:latin typeface="Segoe UI" pitchFamily="34" charset="0"/>
                <a:ea typeface="Segoe UI" pitchFamily="34" charset="-122"/>
                <a:cs typeface="Segoe UI" pitchFamily="34" charset="-120"/>
              </a:rPr>
              <a:t>objectively verified.</a:t>
            </a:r>
            <a:endParaRPr lang="en-US" sz="1600" dirty="0"/>
          </a:p>
        </p:txBody>
      </p:sp>
      <p:sp>
        <p:nvSpPr>
          <p:cNvPr id="11" name="Shape 9"/>
          <p:cNvSpPr/>
          <p:nvPr/>
        </p:nvSpPr>
        <p:spPr>
          <a:xfrm>
            <a:off x="4754880" y="1051560"/>
            <a:ext cx="3749040" cy="3960278"/>
          </a:xfrm>
          <a:prstGeom prst="rect">
            <a:avLst/>
          </a:prstGeom>
          <a:solidFill>
            <a:srgbClr val="F5F7FA"/>
          </a:solidFill>
          <a:ln/>
        </p:spPr>
        <p:txBody>
          <a:bodyPr/>
          <a:lstStyle/>
          <a:p>
            <a:endParaRPr lang="en-US" sz="2400"/>
          </a:p>
        </p:txBody>
      </p:sp>
      <p:sp>
        <p:nvSpPr>
          <p:cNvPr id="12" name="Shape 10"/>
          <p:cNvSpPr/>
          <p:nvPr/>
        </p:nvSpPr>
        <p:spPr>
          <a:xfrm>
            <a:off x="4754880" y="1051560"/>
            <a:ext cx="54864" cy="3200400"/>
          </a:xfrm>
          <a:prstGeom prst="rect">
            <a:avLst/>
          </a:prstGeom>
          <a:solidFill>
            <a:srgbClr val="00BFA6"/>
          </a:solidFill>
          <a:ln/>
        </p:spPr>
        <p:txBody>
          <a:bodyPr/>
          <a:lstStyle/>
          <a:p>
            <a:endParaRPr lang="en-US"/>
          </a:p>
        </p:txBody>
      </p:sp>
      <p:sp>
        <p:nvSpPr>
          <p:cNvPr id="13" name="Shape 11"/>
          <p:cNvSpPr/>
          <p:nvPr/>
        </p:nvSpPr>
        <p:spPr>
          <a:xfrm>
            <a:off x="5029200" y="1188720"/>
            <a:ext cx="548640" cy="274320"/>
          </a:xfrm>
          <a:prstGeom prst="rect">
            <a:avLst/>
          </a:prstGeom>
          <a:solidFill>
            <a:srgbClr val="00BFA6"/>
          </a:solidFill>
          <a:ln/>
        </p:spPr>
        <p:txBody>
          <a:bodyPr/>
          <a:lstStyle/>
          <a:p>
            <a:endParaRPr lang="en-US"/>
          </a:p>
        </p:txBody>
      </p:sp>
      <p:sp>
        <p:nvSpPr>
          <p:cNvPr id="14" name="Text 12"/>
          <p:cNvSpPr/>
          <p:nvPr/>
        </p:nvSpPr>
        <p:spPr>
          <a:xfrm>
            <a:off x="5029200" y="1188720"/>
            <a:ext cx="548640" cy="274320"/>
          </a:xfrm>
          <a:prstGeom prst="rect">
            <a:avLst/>
          </a:prstGeom>
          <a:noFill/>
          <a:ln/>
        </p:spPr>
        <p:txBody>
          <a:bodyPr wrap="square" lIns="0" tIns="0" rIns="0" bIns="0" rtlCol="0" anchor="ctr"/>
          <a:lstStyle/>
          <a:p>
            <a:pPr marL="0" indent="0" algn="ctr">
              <a:buNone/>
            </a:pPr>
            <a:endParaRPr lang="en-US" sz="1300" dirty="0"/>
          </a:p>
        </p:txBody>
      </p:sp>
      <p:sp>
        <p:nvSpPr>
          <p:cNvPr id="15" name="Text 13"/>
          <p:cNvSpPr/>
          <p:nvPr/>
        </p:nvSpPr>
        <p:spPr>
          <a:xfrm>
            <a:off x="5715000" y="1143000"/>
            <a:ext cx="256032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Evaluation-First</a:t>
            </a:r>
            <a:endParaRPr lang="en-US" sz="1600" dirty="0"/>
          </a:p>
        </p:txBody>
      </p:sp>
      <p:sp>
        <p:nvSpPr>
          <p:cNvPr id="16" name="Text 14"/>
          <p:cNvSpPr/>
          <p:nvPr/>
        </p:nvSpPr>
        <p:spPr>
          <a:xfrm>
            <a:off x="5029200" y="1912716"/>
            <a:ext cx="3200400" cy="548640"/>
          </a:xfrm>
          <a:prstGeom prst="rect">
            <a:avLst/>
          </a:prstGeom>
          <a:noFill/>
          <a:ln/>
        </p:spPr>
        <p:txBody>
          <a:bodyPr wrap="square" lIns="0" tIns="0" rIns="0" bIns="0" rtlCol="0" anchor="ctr"/>
          <a:lstStyle/>
          <a:p>
            <a:pPr marL="0" indent="0">
              <a:buNone/>
            </a:pPr>
            <a:r>
              <a:rPr lang="en-US" sz="1600" dirty="0">
                <a:solidFill>
                  <a:srgbClr val="64748B"/>
                </a:solidFill>
                <a:latin typeface="Segoe UI" pitchFamily="34" charset="0"/>
                <a:ea typeface="Segoe UI" pitchFamily="34" charset="-122"/>
                <a:cs typeface="Segoe UI" pitchFamily="34" charset="-120"/>
              </a:rPr>
              <a:t>Define success before proposing solutions. The prompting equivalent of test-driven development.</a:t>
            </a:r>
            <a:endParaRPr lang="en-US" sz="1600" dirty="0"/>
          </a:p>
        </p:txBody>
      </p:sp>
      <p:sp>
        <p:nvSpPr>
          <p:cNvPr id="17" name="Text 15"/>
          <p:cNvSpPr/>
          <p:nvPr/>
        </p:nvSpPr>
        <p:spPr>
          <a:xfrm>
            <a:off x="5029200" y="3085810"/>
            <a:ext cx="32004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Before proposing, do this:</a:t>
            </a:r>
            <a:endParaRPr lang="en-US" sz="1600" dirty="0"/>
          </a:p>
        </p:txBody>
      </p:sp>
      <p:sp>
        <p:nvSpPr>
          <p:cNvPr id="18" name="Text 16"/>
          <p:cNvSpPr/>
          <p:nvPr/>
        </p:nvSpPr>
        <p:spPr>
          <a:xfrm>
            <a:off x="5029200" y="3429578"/>
            <a:ext cx="3200400" cy="1371600"/>
          </a:xfrm>
          <a:prstGeom prst="rect">
            <a:avLst/>
          </a:prstGeom>
          <a:noFill/>
          <a:ln/>
        </p:spPr>
        <p:txBody>
          <a:bodyPr wrap="square" rtlCol="0" anchor="ctr"/>
          <a:lstStyle/>
          <a:p>
            <a:pPr marL="0" indent="0">
              <a:spcAft>
                <a:spcPts val="400"/>
              </a:spcAft>
              <a:buNone/>
            </a:pPr>
            <a:r>
              <a:rPr lang="en-US" sz="1600" dirty="0">
                <a:solidFill>
                  <a:srgbClr val="64748B"/>
                </a:solidFill>
                <a:latin typeface="Segoe UI" pitchFamily="34" charset="0"/>
                <a:ea typeface="Segoe UI" pitchFamily="34" charset="-122"/>
                <a:cs typeface="Segoe UI" pitchFamily="34" charset="-120"/>
              </a:rPr>
              <a:t>1) Define success metrics</a:t>
            </a:r>
            <a:endParaRPr lang="en-US" sz="1600" dirty="0"/>
          </a:p>
          <a:p>
            <a:pPr marL="0" indent="0">
              <a:spcAft>
                <a:spcPts val="400"/>
              </a:spcAft>
              <a:buNone/>
            </a:pPr>
            <a:r>
              <a:rPr lang="en-US" sz="1600" dirty="0">
                <a:solidFill>
                  <a:srgbClr val="64748B"/>
                </a:solidFill>
                <a:latin typeface="Segoe UI" pitchFamily="34" charset="0"/>
                <a:ea typeface="Segoe UI" pitchFamily="34" charset="-122"/>
                <a:cs typeface="Segoe UI" pitchFamily="34" charset="-120"/>
              </a:rPr>
              <a:t>2) Define baseline + thresholds</a:t>
            </a:r>
            <a:endParaRPr lang="en-US" sz="1600" dirty="0"/>
          </a:p>
          <a:p>
            <a:pPr marL="0" indent="0">
              <a:spcAft>
                <a:spcPts val="400"/>
              </a:spcAft>
              <a:buNone/>
            </a:pPr>
            <a:r>
              <a:rPr lang="en-US" sz="1600" dirty="0">
                <a:solidFill>
                  <a:srgbClr val="64748B"/>
                </a:solidFill>
                <a:latin typeface="Segoe UI" pitchFamily="34" charset="0"/>
                <a:ea typeface="Segoe UI" pitchFamily="34" charset="-122"/>
                <a:cs typeface="Segoe UI" pitchFamily="34" charset="-120"/>
              </a:rPr>
              <a:t>3) Propose 3 interventions</a:t>
            </a:r>
            <a:endParaRPr lang="en-US" sz="1600" dirty="0"/>
          </a:p>
          <a:p>
            <a:pPr marL="0" indent="0">
              <a:spcAft>
                <a:spcPts val="400"/>
              </a:spcAft>
              <a:buNone/>
            </a:pPr>
            <a:r>
              <a:rPr lang="en-US" sz="1600" dirty="0">
                <a:solidFill>
                  <a:srgbClr val="64748B"/>
                </a:solidFill>
                <a:latin typeface="Segoe UI" pitchFamily="34" charset="0"/>
                <a:ea typeface="Segoe UI" pitchFamily="34" charset="-122"/>
                <a:cs typeface="Segoe UI" pitchFamily="34" charset="-120"/>
              </a:rPr>
              <a:t>4) Predict impact + validation plan</a:t>
            </a:r>
            <a:endParaRPr lang="en-US" sz="1600" dirty="0"/>
          </a:p>
        </p:txBody>
      </p:sp>
    </p:spTree>
    <p:extLst>
      <p:ext uri="{BB962C8B-B14F-4D97-AF65-F5344CB8AC3E}">
        <p14:creationId xmlns:p14="http://schemas.microsoft.com/office/powerpoint/2010/main" val="3140501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Reflection Loops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Multi-turn self-improvement: ask the LLM to evaluate and iterate on its own output.</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Loop</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00BFA6"/>
                </a:solidFill>
                <a:latin typeface="Segoe UI" pitchFamily="34" charset="0"/>
                <a:ea typeface="Segoe UI" pitchFamily="34" charset="-122"/>
                <a:cs typeface="Segoe UI" pitchFamily="34" charset="-120"/>
              </a:rPr>
              <a:t>Call 1:</a:t>
            </a:r>
            <a:r>
              <a:rPr lang="en-US" sz="1200" dirty="0">
                <a:solidFill>
                  <a:srgbClr val="1A2744"/>
                </a:solidFill>
                <a:latin typeface="Segoe UI" pitchFamily="34" charset="0"/>
                <a:ea typeface="Segoe UI" pitchFamily="34" charset="-122"/>
                <a:cs typeface="Segoe UI" pitchFamily="34" charset="-120"/>
              </a:rPr>
              <a:t> Generate initial answer.</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Call 2:</a:t>
            </a:r>
            <a:r>
              <a:rPr lang="en-US" sz="1200" dirty="0">
                <a:solidFill>
                  <a:srgbClr val="1A2744"/>
                </a:solidFill>
                <a:latin typeface="Segoe UI" pitchFamily="34" charset="0"/>
                <a:ea typeface="Segoe UI" pitchFamily="34" charset="-122"/>
                <a:cs typeface="Segoe UI" pitchFamily="34" charset="-120"/>
              </a:rPr>
              <a:t> "Here is your previous answer. Rate it 1–10 on [criteria]. What would you improve?"</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Call 3:</a:t>
            </a:r>
            <a:r>
              <a:rPr lang="en-US" sz="1200" dirty="0">
                <a:solidFill>
                  <a:srgbClr val="1A2744"/>
                </a:solidFill>
                <a:latin typeface="Segoe UI" pitchFamily="34" charset="0"/>
                <a:ea typeface="Segoe UI" pitchFamily="34" charset="-122"/>
                <a:cs typeface="Segoe UI" pitchFamily="34" charset="-120"/>
              </a:rPr>
              <a:t> "Apply those improvements and produce the final version."</a:t>
            </a:r>
          </a:p>
          <a:p>
            <a:pPr marL="0" indent="0">
              <a:buNone/>
            </a:pPr>
            <a:endParaRPr lang="en-US" sz="600" dirty="0"/>
          </a:p>
          <a:p>
            <a:pPr marL="0" indent="0">
              <a:buNone/>
            </a:pPr>
            <a:r>
              <a:rPr lang="en-US" sz="1200" dirty="0">
                <a:solidFill>
                  <a:srgbClr val="1A2744"/>
                </a:solidFill>
                <a:latin typeface="Segoe UI" pitchFamily="34" charset="0"/>
                <a:ea typeface="Segoe UI" pitchFamily="34" charset="-122"/>
                <a:cs typeface="Segoe UI" pitchFamily="34" charset="-120"/>
              </a:rPr>
              <a:t>Repeat calls 2–3 until quality plateaus or budget is reached.</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When to Use</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High-stakes output:</a:t>
            </a:r>
            <a:r>
              <a:rPr lang="en-US" sz="1200" dirty="0">
                <a:solidFill>
                  <a:srgbClr val="1A2744"/>
                </a:solidFill>
                <a:latin typeface="Segoe UI" pitchFamily="34" charset="0"/>
                <a:ea typeface="Segoe UI" pitchFamily="34" charset="-122"/>
                <a:cs typeface="Segoe UI" pitchFamily="34" charset="-120"/>
              </a:rPr>
              <a:t> Legal drafts, medical summaries, customer-facing content.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Latency-tolerant:</a:t>
            </a:r>
            <a:r>
              <a:rPr lang="en-US" sz="1200" dirty="0">
                <a:solidFill>
                  <a:srgbClr val="1A2744"/>
                </a:solidFill>
                <a:latin typeface="Segoe UI" pitchFamily="34" charset="0"/>
                <a:ea typeface="Segoe UI" pitchFamily="34" charset="-122"/>
                <a:cs typeface="Segoe UI" pitchFamily="34" charset="-120"/>
              </a:rPr>
              <a:t> Batch processing, async workflows where extra calls are acceptable.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vs. Answer-Review-Reanswer:</a:t>
            </a:r>
            <a:r>
              <a:rPr lang="en-US" sz="1200" dirty="0">
                <a:solidFill>
                  <a:srgbClr val="1A2744"/>
                </a:solidFill>
                <a:latin typeface="Segoe UI" pitchFamily="34" charset="0"/>
                <a:ea typeface="Segoe UI" pitchFamily="34" charset="-122"/>
                <a:cs typeface="Segoe UI" pitchFamily="34" charset="-120"/>
              </a:rPr>
              <a:t> That pattern is single-call; reflection loops use multiple calls for deeper iteration.</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Set a max iteration count (2–3 rounds). Diminishing returns kick in fast.</a:t>
            </a:r>
          </a:p>
        </p:txBody>
      </p:sp>
    </p:spTree>
    <p:extLst>
      <p:ext uri="{BB962C8B-B14F-4D97-AF65-F5344CB8AC3E}">
        <p14:creationId xmlns:p14="http://schemas.microsoft.com/office/powerpoint/2010/main" val="1143682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594360" cy="411480"/>
          </a:xfrm>
          <a:prstGeom prst="rect">
            <a:avLst/>
          </a:prstGeom>
          <a:solidFill>
            <a:srgbClr val="00BFA6"/>
          </a:solidFill>
          <a:ln/>
        </p:spPr>
        <p:txBody>
          <a:bodyPr/>
          <a:lstStyle/>
          <a:p>
            <a:endParaRPr lang="en-US"/>
          </a:p>
        </p:txBody>
      </p:sp>
      <p:sp>
        <p:nvSpPr>
          <p:cNvPr id="3" name="Text 1"/>
          <p:cNvSpPr/>
          <p:nvPr/>
        </p:nvSpPr>
        <p:spPr>
          <a:xfrm>
            <a:off x="640080" y="320040"/>
            <a:ext cx="594360" cy="411480"/>
          </a:xfrm>
          <a:prstGeom prst="rect">
            <a:avLst/>
          </a:prstGeom>
          <a:noFill/>
          <a:ln/>
        </p:spPr>
        <p:txBody>
          <a:bodyPr wrap="square" lIns="0" tIns="0" rIns="0" bIns="0" rtlCol="0" anchor="ctr"/>
          <a:lstStyle/>
          <a:p>
            <a:pPr marL="0" indent="0" algn="ctr">
              <a:buNone/>
            </a:pPr>
            <a:endParaRPr lang="en-US" sz="1600" dirty="0"/>
          </a:p>
        </p:txBody>
      </p:sp>
      <p:sp>
        <p:nvSpPr>
          <p:cNvPr id="4" name="Text 2"/>
          <p:cNvSpPr/>
          <p:nvPr/>
        </p:nvSpPr>
        <p:spPr>
          <a:xfrm>
            <a:off x="141732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Prompt Chaining</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i="1" dirty="0">
                <a:solidFill>
                  <a:srgbClr val="64748B"/>
                </a:solidFill>
                <a:latin typeface="Segoe UI" pitchFamily="34" charset="0"/>
                <a:ea typeface="Segoe UI" pitchFamily="34" charset="-122"/>
                <a:cs typeface="Segoe UI" pitchFamily="34" charset="-120"/>
              </a:rPr>
              <a:t>The bridge between "prompting" and "building an AI system."</a:t>
            </a:r>
            <a:endParaRPr lang="en-US" sz="1400" dirty="0"/>
          </a:p>
        </p:txBody>
      </p:sp>
      <p:sp>
        <p:nvSpPr>
          <p:cNvPr id="6" name="Shape 4"/>
          <p:cNvSpPr/>
          <p:nvPr/>
        </p:nvSpPr>
        <p:spPr>
          <a:xfrm>
            <a:off x="64008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7" name="Shape 5"/>
          <p:cNvSpPr/>
          <p:nvPr/>
        </p:nvSpPr>
        <p:spPr>
          <a:xfrm>
            <a:off x="640080" y="1417320"/>
            <a:ext cx="2651760" cy="54864"/>
          </a:xfrm>
          <a:prstGeom prst="rect">
            <a:avLst/>
          </a:prstGeom>
          <a:solidFill>
            <a:srgbClr val="00BFA6"/>
          </a:solidFill>
          <a:ln/>
        </p:spPr>
        <p:txBody>
          <a:bodyPr/>
          <a:lstStyle/>
          <a:p>
            <a:endParaRPr lang="en-US"/>
          </a:p>
        </p:txBody>
      </p:sp>
      <p:sp>
        <p:nvSpPr>
          <p:cNvPr id="8" name="Text 6"/>
          <p:cNvSpPr/>
          <p:nvPr/>
        </p:nvSpPr>
        <p:spPr>
          <a:xfrm>
            <a:off x="82296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1</a:t>
            </a:r>
            <a:endParaRPr lang="en-US" sz="1100" dirty="0"/>
          </a:p>
        </p:txBody>
      </p:sp>
      <p:sp>
        <p:nvSpPr>
          <p:cNvPr id="9" name="Text 7"/>
          <p:cNvSpPr/>
          <p:nvPr/>
        </p:nvSpPr>
        <p:spPr>
          <a:xfrm>
            <a:off x="82296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EXTRACT</a:t>
            </a:r>
            <a:endParaRPr lang="en-US" sz="1600" dirty="0"/>
          </a:p>
        </p:txBody>
      </p:sp>
      <p:sp>
        <p:nvSpPr>
          <p:cNvPr id="10" name="Text 8"/>
          <p:cNvSpPr/>
          <p:nvPr/>
        </p:nvSpPr>
        <p:spPr>
          <a:xfrm>
            <a:off x="822960" y="2148840"/>
            <a:ext cx="2286000" cy="12801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Read 5 paper abstracts.</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For each: research question,</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methodology, key finding.</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Return as JSON array.</a:t>
            </a:r>
            <a:endParaRPr lang="en-US" sz="1400" dirty="0"/>
          </a:p>
        </p:txBody>
      </p:sp>
      <p:sp>
        <p:nvSpPr>
          <p:cNvPr id="11" name="Text 9"/>
          <p:cNvSpPr/>
          <p:nvPr/>
        </p:nvSpPr>
        <p:spPr>
          <a:xfrm>
            <a:off x="82296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low</a:t>
            </a:r>
            <a:endParaRPr lang="en-US" sz="1000" dirty="0"/>
          </a:p>
        </p:txBody>
      </p:sp>
      <p:sp>
        <p:nvSpPr>
          <p:cNvPr id="12" name="Text 10"/>
          <p:cNvSpPr/>
          <p:nvPr/>
        </p:nvSpPr>
        <p:spPr>
          <a:xfrm>
            <a:off x="3291840" y="2286000"/>
            <a:ext cx="228600" cy="365760"/>
          </a:xfrm>
          <a:prstGeom prst="rect">
            <a:avLst/>
          </a:prstGeom>
          <a:noFill/>
          <a:ln/>
        </p:spPr>
        <p:txBody>
          <a:bodyPr wrap="square" lIns="0" tIns="0" rIns="0" bIns="0" rtlCol="0" anchor="ctr"/>
          <a:lstStyle/>
          <a:p>
            <a:pPr marL="0" indent="0" algn="ctr">
              <a:buNone/>
            </a:pPr>
            <a:r>
              <a:rPr lang="en-US" sz="2000" b="1" dirty="0">
                <a:solidFill>
                  <a:srgbClr val="00BFA6"/>
                </a:solidFill>
                <a:latin typeface="Segoe UI" pitchFamily="34" charset="0"/>
                <a:ea typeface="Segoe UI" pitchFamily="34" charset="-122"/>
                <a:cs typeface="Segoe UI" pitchFamily="34" charset="-120"/>
              </a:rPr>
              <a:t>→</a:t>
            </a:r>
            <a:endParaRPr lang="en-US" sz="2000" dirty="0"/>
          </a:p>
        </p:txBody>
      </p:sp>
      <p:sp>
        <p:nvSpPr>
          <p:cNvPr id="13" name="Shape 11"/>
          <p:cNvSpPr/>
          <p:nvPr/>
        </p:nvSpPr>
        <p:spPr>
          <a:xfrm>
            <a:off x="352044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3520440" y="1417320"/>
            <a:ext cx="2651760" cy="54864"/>
          </a:xfrm>
          <a:prstGeom prst="rect">
            <a:avLst/>
          </a:prstGeom>
          <a:solidFill>
            <a:srgbClr val="00BFA6"/>
          </a:solidFill>
          <a:ln/>
        </p:spPr>
        <p:txBody>
          <a:bodyPr/>
          <a:lstStyle/>
          <a:p>
            <a:endParaRPr lang="en-US"/>
          </a:p>
        </p:txBody>
      </p:sp>
      <p:sp>
        <p:nvSpPr>
          <p:cNvPr id="15" name="Text 13"/>
          <p:cNvSpPr/>
          <p:nvPr/>
        </p:nvSpPr>
        <p:spPr>
          <a:xfrm>
            <a:off x="370332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2</a:t>
            </a:r>
            <a:endParaRPr lang="en-US" sz="1100" dirty="0"/>
          </a:p>
        </p:txBody>
      </p:sp>
      <p:sp>
        <p:nvSpPr>
          <p:cNvPr id="16" name="Text 14"/>
          <p:cNvSpPr/>
          <p:nvPr/>
        </p:nvSpPr>
        <p:spPr>
          <a:xfrm>
            <a:off x="370332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ANALYZE</a:t>
            </a:r>
            <a:endParaRPr lang="en-US" sz="1600" dirty="0"/>
          </a:p>
        </p:txBody>
      </p:sp>
      <p:sp>
        <p:nvSpPr>
          <p:cNvPr id="17" name="Text 15"/>
          <p:cNvSpPr/>
          <p:nvPr/>
        </p:nvSpPr>
        <p:spPr>
          <a:xfrm>
            <a:off x="3703320" y="2148840"/>
            <a:ext cx="2286000" cy="12801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Group by methodology.</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Identify agreements,</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contradictions, and gaps.</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Structured comparison.</a:t>
            </a:r>
            <a:endParaRPr lang="en-US" sz="1400" dirty="0"/>
          </a:p>
        </p:txBody>
      </p:sp>
      <p:sp>
        <p:nvSpPr>
          <p:cNvPr id="18" name="Text 16"/>
          <p:cNvSpPr/>
          <p:nvPr/>
        </p:nvSpPr>
        <p:spPr>
          <a:xfrm>
            <a:off x="370332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medium</a:t>
            </a:r>
            <a:endParaRPr lang="en-US" sz="1000" dirty="0"/>
          </a:p>
        </p:txBody>
      </p:sp>
      <p:sp>
        <p:nvSpPr>
          <p:cNvPr id="19" name="Text 17"/>
          <p:cNvSpPr/>
          <p:nvPr/>
        </p:nvSpPr>
        <p:spPr>
          <a:xfrm>
            <a:off x="6172200" y="2286000"/>
            <a:ext cx="228600" cy="365760"/>
          </a:xfrm>
          <a:prstGeom prst="rect">
            <a:avLst/>
          </a:prstGeom>
          <a:noFill/>
          <a:ln/>
        </p:spPr>
        <p:txBody>
          <a:bodyPr wrap="square" lIns="0" tIns="0" rIns="0" bIns="0" rtlCol="0" anchor="ctr"/>
          <a:lstStyle/>
          <a:p>
            <a:pPr marL="0" indent="0" algn="ctr">
              <a:buNone/>
            </a:pPr>
            <a:r>
              <a:rPr lang="en-US" sz="2000" b="1" dirty="0">
                <a:solidFill>
                  <a:srgbClr val="00BFA6"/>
                </a:solidFill>
                <a:latin typeface="Segoe UI" pitchFamily="34" charset="0"/>
                <a:ea typeface="Segoe UI" pitchFamily="34" charset="-122"/>
                <a:cs typeface="Segoe UI" pitchFamily="34" charset="-120"/>
              </a:rPr>
              <a:t>→</a:t>
            </a:r>
            <a:endParaRPr lang="en-US" sz="2000" dirty="0"/>
          </a:p>
        </p:txBody>
      </p:sp>
      <p:sp>
        <p:nvSpPr>
          <p:cNvPr id="20" name="Shape 18"/>
          <p:cNvSpPr/>
          <p:nvPr/>
        </p:nvSpPr>
        <p:spPr>
          <a:xfrm>
            <a:off x="640080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21" name="Shape 19"/>
          <p:cNvSpPr/>
          <p:nvPr/>
        </p:nvSpPr>
        <p:spPr>
          <a:xfrm>
            <a:off x="6400800" y="1417320"/>
            <a:ext cx="2651760" cy="54864"/>
          </a:xfrm>
          <a:prstGeom prst="rect">
            <a:avLst/>
          </a:prstGeom>
          <a:solidFill>
            <a:srgbClr val="00BFA6"/>
          </a:solidFill>
          <a:ln/>
        </p:spPr>
        <p:txBody>
          <a:bodyPr/>
          <a:lstStyle/>
          <a:p>
            <a:endParaRPr lang="en-US"/>
          </a:p>
        </p:txBody>
      </p:sp>
      <p:sp>
        <p:nvSpPr>
          <p:cNvPr id="22" name="Text 20"/>
          <p:cNvSpPr/>
          <p:nvPr/>
        </p:nvSpPr>
        <p:spPr>
          <a:xfrm>
            <a:off x="658368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3</a:t>
            </a:r>
            <a:endParaRPr lang="en-US" sz="1100" dirty="0"/>
          </a:p>
        </p:txBody>
      </p:sp>
      <p:sp>
        <p:nvSpPr>
          <p:cNvPr id="23" name="Text 21"/>
          <p:cNvSpPr/>
          <p:nvPr/>
        </p:nvSpPr>
        <p:spPr>
          <a:xfrm>
            <a:off x="658368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GENERATE</a:t>
            </a:r>
            <a:endParaRPr lang="en-US" sz="1600" dirty="0"/>
          </a:p>
        </p:txBody>
      </p:sp>
      <p:sp>
        <p:nvSpPr>
          <p:cNvPr id="24" name="Text 22"/>
          <p:cNvSpPr/>
          <p:nvPr/>
        </p:nvSpPr>
        <p:spPr>
          <a:xfrm>
            <a:off x="6583680" y="2148840"/>
            <a:ext cx="2286000" cy="12801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Write a 500-word literature</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review. Academic tone.</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Highlight the key</a:t>
            </a:r>
            <a:endParaRPr lang="en-US" sz="1400" dirty="0"/>
          </a:p>
          <a:p>
            <a:pPr marL="0" indent="0">
              <a:buNone/>
            </a:pPr>
            <a:r>
              <a:rPr lang="en-US" sz="1400" dirty="0">
                <a:solidFill>
                  <a:srgbClr val="64748B"/>
                </a:solidFill>
                <a:latin typeface="Segoe UI" pitchFamily="34" charset="0"/>
                <a:ea typeface="Segoe UI" pitchFamily="34" charset="-122"/>
                <a:cs typeface="Segoe UI" pitchFamily="34" charset="-120"/>
              </a:rPr>
              <a:t>unaddressed gap.</a:t>
            </a:r>
            <a:endParaRPr lang="en-US" sz="1400" dirty="0"/>
          </a:p>
        </p:txBody>
      </p:sp>
      <p:sp>
        <p:nvSpPr>
          <p:cNvPr id="25" name="Text 23"/>
          <p:cNvSpPr/>
          <p:nvPr/>
        </p:nvSpPr>
        <p:spPr>
          <a:xfrm>
            <a:off x="658368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high</a:t>
            </a:r>
            <a:endParaRPr lang="en-US" sz="1000" dirty="0"/>
          </a:p>
        </p:txBody>
      </p:sp>
      <p:sp>
        <p:nvSpPr>
          <p:cNvPr id="26" name="Shape 24"/>
          <p:cNvSpPr/>
          <p:nvPr/>
        </p:nvSpPr>
        <p:spPr>
          <a:xfrm>
            <a:off x="640080" y="4023360"/>
            <a:ext cx="7863840" cy="822960"/>
          </a:xfrm>
          <a:prstGeom prst="rect">
            <a:avLst/>
          </a:prstGeom>
          <a:solidFill>
            <a:srgbClr val="1A2744"/>
          </a:solidFill>
          <a:ln/>
        </p:spPr>
        <p:txBody>
          <a:bodyPr/>
          <a:lstStyle/>
          <a:p>
            <a:endParaRPr lang="en-US"/>
          </a:p>
        </p:txBody>
      </p:sp>
      <p:sp>
        <p:nvSpPr>
          <p:cNvPr id="27" name="Text 25"/>
          <p:cNvSpPr/>
          <p:nvPr/>
        </p:nvSpPr>
        <p:spPr>
          <a:xfrm>
            <a:off x="914400" y="4023360"/>
            <a:ext cx="7315200" cy="822960"/>
          </a:xfrm>
          <a:prstGeom prst="rect">
            <a:avLst/>
          </a:prstGeom>
          <a:noFill/>
          <a:ln/>
        </p:spPr>
        <p:txBody>
          <a:bodyPr wrap="square"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Why chain?  </a:t>
            </a:r>
            <a:r>
              <a:rPr lang="en-US" sz="1600" dirty="0">
                <a:solidFill>
                  <a:srgbClr val="FFFFFF"/>
                </a:solidFill>
                <a:latin typeface="Segoe UI" pitchFamily="34" charset="0"/>
                <a:ea typeface="Segoe UI" pitchFamily="34" charset="-122"/>
                <a:cs typeface="Segoe UI" pitchFamily="34" charset="-120"/>
              </a:rPr>
              <a:t>Verify intermediate results · Different models/reasoning per step · Clear debugging surface · Prevent corner-cutting</a:t>
            </a:r>
            <a:endParaRPr lang="en-US" sz="1600" dirty="0"/>
          </a:p>
        </p:txBody>
      </p:sp>
    </p:spTree>
    <p:extLst>
      <p:ext uri="{BB962C8B-B14F-4D97-AF65-F5344CB8AC3E}">
        <p14:creationId xmlns:p14="http://schemas.microsoft.com/office/powerpoint/2010/main" val="3721559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Error Handling &amp; Retries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dirty="0">
                <a:solidFill>
                  <a:srgbClr val="64748B"/>
                </a:solidFill>
                <a:latin typeface="Segoe UI" pitchFamily="34" charset="0"/>
                <a:ea typeface="Segoe UI" pitchFamily="34" charset="-122"/>
                <a:cs typeface="Segoe UI" pitchFamily="34" charset="-120"/>
              </a:rPr>
              <a:t>Production LLM calls fail. Plan for it.</a:t>
            </a:r>
          </a:p>
        </p:txBody>
      </p:sp>
      <p:sp>
        <p:nvSpPr>
          <p:cNvPr id="6" name="Shape 4"/>
          <p:cNvSpPr/>
          <p:nvPr/>
        </p:nvSpPr>
        <p:spPr>
          <a:xfrm>
            <a:off x="640080" y="1463040"/>
            <a:ext cx="3749040" cy="3493934"/>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Common Failures</a:t>
            </a:r>
          </a:p>
        </p:txBody>
      </p:sp>
      <p:sp>
        <p:nvSpPr>
          <p:cNvPr id="9" name="Text 7"/>
          <p:cNvSpPr/>
          <p:nvPr/>
        </p:nvSpPr>
        <p:spPr>
          <a:xfrm>
            <a:off x="914400" y="2613563"/>
            <a:ext cx="3474720" cy="1463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Rate limits (429):</a:t>
            </a:r>
            <a:r>
              <a:rPr lang="en-US" sz="1600" dirty="0">
                <a:solidFill>
                  <a:srgbClr val="64748B"/>
                </a:solidFill>
                <a:latin typeface="Segoe UI" pitchFamily="34" charset="0"/>
                <a:ea typeface="Segoe UI" pitchFamily="34" charset="-122"/>
                <a:cs typeface="Segoe UI" pitchFamily="34" charset="-120"/>
              </a:rPr>
              <a:t> Back off exponentially. Use jitter to avoid thundering herds.</a:t>
            </a:r>
          </a:p>
          <a:p>
            <a:pPr marL="0" indent="0">
              <a:buNone/>
            </a:pPr>
            <a:endParaRPr lang="en-US" sz="800" dirty="0"/>
          </a:p>
          <a:p>
            <a:pPr marL="0" indent="0">
              <a:buNone/>
            </a:pPr>
            <a:r>
              <a:rPr lang="en-US" sz="1600" b="1" dirty="0">
                <a:solidFill>
                  <a:srgbClr val="1A2744"/>
                </a:solidFill>
                <a:latin typeface="Segoe UI" pitchFamily="34" charset="0"/>
                <a:ea typeface="Segoe UI" pitchFamily="34" charset="-122"/>
                <a:cs typeface="Segoe UI" pitchFamily="34" charset="-120"/>
              </a:rPr>
              <a:t>Timeouts:</a:t>
            </a:r>
            <a:r>
              <a:rPr lang="en-US" sz="1600" dirty="0">
                <a:solidFill>
                  <a:srgbClr val="64748B"/>
                </a:solidFill>
                <a:latin typeface="Segoe UI" pitchFamily="34" charset="0"/>
                <a:ea typeface="Segoe UI" pitchFamily="34" charset="-122"/>
                <a:cs typeface="Segoe UI" pitchFamily="34" charset="-120"/>
              </a:rPr>
              <a:t> Set aggressive timeouts (30–60s). Retry with the same prompt; non-determinism means a retry may succeed.</a:t>
            </a:r>
          </a:p>
          <a:p>
            <a:pPr marL="0" indent="0">
              <a:buNone/>
            </a:pPr>
            <a:endParaRPr lang="en-US" sz="800" dirty="0"/>
          </a:p>
          <a:p>
            <a:pPr marL="0" indent="0">
              <a:buNone/>
            </a:pPr>
            <a:r>
              <a:rPr lang="en-US" sz="1600" b="1" dirty="0">
                <a:solidFill>
                  <a:srgbClr val="1A2744"/>
                </a:solidFill>
                <a:latin typeface="Segoe UI" pitchFamily="34" charset="0"/>
                <a:ea typeface="Segoe UI" pitchFamily="34" charset="-122"/>
                <a:cs typeface="Segoe UI" pitchFamily="34" charset="-120"/>
              </a:rPr>
              <a:t>Malformed output:</a:t>
            </a:r>
            <a:r>
              <a:rPr lang="en-US" sz="1600" dirty="0">
                <a:solidFill>
                  <a:srgbClr val="64748B"/>
                </a:solidFill>
                <a:latin typeface="Segoe UI" pitchFamily="34" charset="0"/>
                <a:ea typeface="Segoe UI" pitchFamily="34" charset="-122"/>
                <a:cs typeface="Segoe UI" pitchFamily="34" charset="-120"/>
              </a:rPr>
              <a:t> JSON didn't parse? Retry once. If it fails again, fall back to a simpler prompt or model.</a:t>
            </a:r>
          </a:p>
        </p:txBody>
      </p:sp>
      <p:sp>
        <p:nvSpPr>
          <p:cNvPr id="10" name="Shape 8"/>
          <p:cNvSpPr/>
          <p:nvPr/>
        </p:nvSpPr>
        <p:spPr>
          <a:xfrm>
            <a:off x="4754880" y="1463040"/>
            <a:ext cx="3749040" cy="3493934"/>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Robustness Patterns</a:t>
            </a:r>
          </a:p>
        </p:txBody>
      </p:sp>
      <p:sp>
        <p:nvSpPr>
          <p:cNvPr id="13" name="Text 11"/>
          <p:cNvSpPr/>
          <p:nvPr/>
        </p:nvSpPr>
        <p:spPr>
          <a:xfrm>
            <a:off x="5029200" y="2613563"/>
            <a:ext cx="3474720" cy="1463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Retry with backoff:</a:t>
            </a:r>
            <a:r>
              <a:rPr lang="en-US" sz="1600" dirty="0">
                <a:solidFill>
                  <a:srgbClr val="64748B"/>
                </a:solidFill>
                <a:latin typeface="Segoe UI" pitchFamily="34" charset="0"/>
                <a:ea typeface="Segoe UI" pitchFamily="34" charset="-122"/>
                <a:cs typeface="Segoe UI" pitchFamily="34" charset="-120"/>
              </a:rPr>
              <a:t> 1s → 2s → 4s with random jitter. Max 3 retries for most use cases.</a:t>
            </a:r>
          </a:p>
          <a:p>
            <a:pPr marL="0" indent="0">
              <a:buNone/>
            </a:pPr>
            <a:endParaRPr lang="en-US" sz="800" dirty="0"/>
          </a:p>
          <a:p>
            <a:pPr marL="0" indent="0">
              <a:buNone/>
            </a:pPr>
            <a:r>
              <a:rPr lang="en-US" sz="1600" b="1" dirty="0">
                <a:solidFill>
                  <a:srgbClr val="1A2744"/>
                </a:solidFill>
                <a:latin typeface="Segoe UI" pitchFamily="34" charset="0"/>
                <a:ea typeface="Segoe UI" pitchFamily="34" charset="-122"/>
                <a:cs typeface="Segoe UI" pitchFamily="34" charset="-120"/>
              </a:rPr>
              <a:t>Model fallback:</a:t>
            </a:r>
            <a:r>
              <a:rPr lang="en-US" sz="1600" dirty="0">
                <a:solidFill>
                  <a:srgbClr val="64748B"/>
                </a:solidFill>
                <a:latin typeface="Segoe UI" pitchFamily="34" charset="0"/>
                <a:ea typeface="Segoe UI" pitchFamily="34" charset="-122"/>
                <a:cs typeface="Segoe UI" pitchFamily="34" charset="-120"/>
              </a:rPr>
              <a:t> If GPT-4o fails, fall back to GPT-4o-mini. Graceful degradation beats total failure.</a:t>
            </a:r>
          </a:p>
          <a:p>
            <a:pPr marL="0" indent="0">
              <a:buNone/>
            </a:pPr>
            <a:endParaRPr lang="en-US" sz="800" dirty="0"/>
          </a:p>
          <a:p>
            <a:pPr marL="0" indent="0">
              <a:buNone/>
            </a:pPr>
            <a:r>
              <a:rPr lang="en-US" sz="1600" b="1" dirty="0">
                <a:solidFill>
                  <a:srgbClr val="1A2744"/>
                </a:solidFill>
                <a:latin typeface="Segoe UI" pitchFamily="34" charset="0"/>
                <a:ea typeface="Segoe UI" pitchFamily="34" charset="-122"/>
                <a:cs typeface="Segoe UI" pitchFamily="34" charset="-120"/>
              </a:rPr>
              <a:t>Validation layer:</a:t>
            </a:r>
            <a:r>
              <a:rPr lang="en-US" sz="1600" dirty="0">
                <a:solidFill>
                  <a:srgbClr val="64748B"/>
                </a:solidFill>
                <a:latin typeface="Segoe UI" pitchFamily="34" charset="0"/>
                <a:ea typeface="Segoe UI" pitchFamily="34" charset="-122"/>
                <a:cs typeface="Segoe UI" pitchFamily="34" charset="-120"/>
              </a:rPr>
              <a:t> Always validate output before using it. Schema checks, length checks, safety checks.</a:t>
            </a:r>
          </a:p>
        </p:txBody>
      </p:sp>
    </p:spTree>
    <p:extLst>
      <p:ext uri="{BB962C8B-B14F-4D97-AF65-F5344CB8AC3E}">
        <p14:creationId xmlns:p14="http://schemas.microsoft.com/office/powerpoint/2010/main" val="1456741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txBody>
          <a:bodyPr/>
          <a:lstStyle/>
          <a:p>
            <a:endParaRPr lang="en-US"/>
          </a:p>
        </p:txBody>
      </p:sp>
      <p:sp>
        <p:nvSpPr>
          <p:cNvPr id="3" name="Text 1"/>
          <p:cNvSpPr/>
          <p:nvPr/>
        </p:nvSpPr>
        <p:spPr>
          <a:xfrm>
            <a:off x="640080" y="914400"/>
            <a:ext cx="7772400" cy="2286000"/>
          </a:xfrm>
          <a:prstGeom prst="rect">
            <a:avLst/>
          </a:prstGeom>
          <a:noFill/>
          <a:ln/>
        </p:spPr>
        <p:txBody>
          <a:bodyPr wrap="square" lIns="0" tIns="0" rIns="0" bIns="0" rtlCol="0" anchor="ctr"/>
          <a:lstStyle/>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Start simple.</a:t>
            </a:r>
            <a:endParaRPr lang="en-US" sz="4400" dirty="0"/>
          </a:p>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Escalate on failure.</a:t>
            </a:r>
            <a:endParaRPr lang="en-US" sz="4400" dirty="0"/>
          </a:p>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Measure everything.</a:t>
            </a:r>
            <a:endParaRPr lang="en-US" sz="4400" dirty="0"/>
          </a:p>
        </p:txBody>
      </p:sp>
      <p:sp>
        <p:nvSpPr>
          <p:cNvPr id="4" name="Text 2"/>
          <p:cNvSpPr/>
          <p:nvPr/>
        </p:nvSpPr>
        <p:spPr>
          <a:xfrm>
            <a:off x="640080" y="3291840"/>
            <a:ext cx="7772400" cy="457200"/>
          </a:xfrm>
          <a:prstGeom prst="rect">
            <a:avLst/>
          </a:prstGeom>
          <a:noFill/>
          <a:ln/>
        </p:spPr>
        <p:txBody>
          <a:bodyPr wrap="square" lIns="0" tIns="0" rIns="0" bIns="0" rtlCol="0" anchor="ctr"/>
          <a:lstStyle/>
          <a:p>
            <a:pPr marL="0" indent="0">
              <a:buNone/>
            </a:pPr>
            <a:r>
              <a:rPr lang="en-US" sz="1600" i="1" dirty="0">
                <a:solidFill>
                  <a:srgbClr val="00BFA6"/>
                </a:solidFill>
                <a:latin typeface="Segoe UI" pitchFamily="34" charset="0"/>
                <a:ea typeface="Segoe UI" pitchFamily="34" charset="-122"/>
                <a:cs typeface="Segoe UI" pitchFamily="34" charset="-120"/>
              </a:rPr>
              <a:t>Patterns persist across model updates; knobs don't.</a:t>
            </a:r>
            <a:endParaRPr lang="en-US" sz="1600" dirty="0"/>
          </a:p>
        </p:txBody>
      </p:sp>
      <p:sp>
        <p:nvSpPr>
          <p:cNvPr id="5" name="Text 3"/>
          <p:cNvSpPr/>
          <p:nvPr/>
        </p:nvSpPr>
        <p:spPr>
          <a:xfrm>
            <a:off x="640080" y="4023360"/>
            <a:ext cx="7772400" cy="320040"/>
          </a:xfrm>
          <a:prstGeom prst="rect">
            <a:avLst/>
          </a:prstGeom>
          <a:noFill/>
          <a:ln/>
        </p:spPr>
        <p:txBody>
          <a:bodyPr wrap="square" lIns="0" tIns="0" rIns="0" bIns="0" rtlCol="0" anchor="ctr"/>
          <a:lstStyle/>
          <a:p>
            <a:pPr marL="0" indent="0">
              <a:buNone/>
            </a:pPr>
            <a:r>
              <a:rPr lang="en-US" sz="1000" dirty="0">
                <a:solidFill>
                  <a:srgbClr val="B8C4D6"/>
                </a:solidFill>
                <a:latin typeface="Segoe UI" pitchFamily="34" charset="0"/>
                <a:ea typeface="Segoe UI" pitchFamily="34" charset="-122"/>
                <a:cs typeface="Segoe UI" pitchFamily="34" charset="-120"/>
              </a:rPr>
              <a:t>Sources: Anthropic Prompting Best Practices · OpenAI GPT-5.x Guides · Google Gemini 3 Prompting Guide</a:t>
            </a:r>
            <a:endParaRPr lang="en-US" sz="1000" dirty="0"/>
          </a:p>
        </p:txBody>
      </p:sp>
      <p:sp>
        <p:nvSpPr>
          <p:cNvPr id="6" name="Text 4"/>
          <p:cNvSpPr/>
          <p:nvPr/>
        </p:nvSpPr>
        <p:spPr>
          <a:xfrm>
            <a:off x="640080" y="4480560"/>
            <a:ext cx="4572000" cy="320040"/>
          </a:xfrm>
          <a:prstGeom prst="rect">
            <a:avLst/>
          </a:prstGeom>
          <a:noFill/>
          <a:ln/>
        </p:spPr>
        <p:txBody>
          <a:bodyPr wrap="square" lIns="0" tIns="0" rIns="0" bIns="0" rtlCol="0" anchor="ctr"/>
          <a:lstStyle/>
          <a:p>
            <a:pPr marL="0" indent="0">
              <a:buNone/>
            </a:pPr>
            <a:r>
              <a:rPr lang="en-US" sz="1300" dirty="0">
                <a:solidFill>
                  <a:srgbClr val="B8C4D6"/>
                </a:solidFill>
                <a:latin typeface="Segoe UI" pitchFamily="34" charset="0"/>
                <a:ea typeface="Segoe UI" pitchFamily="34" charset="-122"/>
                <a:cs typeface="Segoe UI" pitchFamily="34" charset="-120"/>
              </a:rPr>
              <a:t>Fabio Casati  ·  University of Trento</a:t>
            </a:r>
            <a:endParaRPr lang="en-US" sz="1300" dirty="0"/>
          </a:p>
        </p:txBody>
      </p:sp>
    </p:spTree>
    <p:extLst>
      <p:ext uri="{BB962C8B-B14F-4D97-AF65-F5344CB8AC3E}">
        <p14:creationId xmlns:p14="http://schemas.microsoft.com/office/powerpoint/2010/main" val="955247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2042B32-A543-8C4D-8F3A-DE93398EBD38}">
  <we:reference id="wa200010001" version="1.0.0.0" store="en-US" storeType="OMEX"/>
  <we:alternateReferences>
    <we:reference id="wa200010001" version="1.0.0.0"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6060</TotalTime>
  <Words>2669</Words>
  <Application>Microsoft Macintosh PowerPoint</Application>
  <PresentationFormat>On-screen Show (16:9)</PresentationFormat>
  <Paragraphs>472</Paragraphs>
  <Slides>26</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Calibri</vt:lpstr>
      <vt:lpstr>Consolas</vt:lpstr>
      <vt:lpstr>Segoe UI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Prompting Cookbook — Reusable Patterns for Modern LLMs</dc:title>
  <dc:subject>PptxGenJS Presentation</dc:subject>
  <dc:creator>Fabio Casati</dc:creator>
  <cp:lastModifiedBy>Casati, Fabio</cp:lastModifiedBy>
  <cp:revision>16</cp:revision>
  <dcterms:created xsi:type="dcterms:W3CDTF">2026-02-28T16:36:44Z</dcterms:created>
  <dcterms:modified xsi:type="dcterms:W3CDTF">2026-03-12T13:08:28Z</dcterms:modified>
</cp:coreProperties>
</file>