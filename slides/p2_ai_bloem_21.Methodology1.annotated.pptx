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8"/>
  </p:notesMasterIdLst>
  <p:sldIdLst>
    <p:sldId id="281" r:id="rId3"/>
    <p:sldId id="282" r:id="rId4"/>
    <p:sldId id="285" r:id="rId5"/>
    <p:sldId id="286" r:id="rId6"/>
    <p:sldId id="287" r:id="rId7"/>
    <p:sldId id="289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380" r:id="rId16"/>
    <p:sldId id="298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58"/>
    <p:restoredTop sz="68904"/>
  </p:normalViewPr>
  <p:slideViewPr>
    <p:cSldViewPr snapToGrid="0" snapToObjects="1">
      <p:cViewPr varScale="1">
        <p:scale>
          <a:sx n="81" d="100"/>
          <a:sy n="81" d="100"/>
        </p:scale>
        <p:origin x="1728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2588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|section|Statistical Testing|</a:t>
            </a:r>
          </a:p>
          <a:p>
            <a:r>
              <a:t>|video|https://surfdrive.surf.nl/8iles/index.php/s/</a:t>
            </a:r>
          </a:p>
          <a:p>
            <a:r>
              <a:t>AoCsdmxAmof17Y9/download|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 noted in the 8irst lecture, statistics and ML are very</a:t>
            </a:r>
          </a:p>
          <a:p>
            <a:r>
              <a:t>closely related. It’s surprising then, that when we perform</a:t>
            </a:r>
          </a:p>
          <a:p>
            <a:r>
              <a:t>ML experiments, we use relatively little of the statistics</a:t>
            </a:r>
          </a:p>
          <a:p>
            <a:r>
              <a:t>toolkit. We don’t often do signi+icance tests, for instance.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brings us to the main question that statistical analysis</a:t>
            </a:r>
          </a:p>
          <a:p>
            <a:r>
              <a:t>is meant to answer. If we do things properly, and we have a</a:t>
            </a:r>
          </a:p>
          <a:p>
            <a:r>
              <a:t>large dataset, our estimate will be close to the true value.</a:t>
            </a:r>
          </a:p>
          <a:p>
            <a:r>
              <a:t>Often, we can even prove how close it is likely to be. But</a:t>
            </a:r>
          </a:p>
          <a:p>
            <a:r>
              <a:t>there will be some difference, which will be entirely</a:t>
            </a:r>
          </a:p>
          <a:p>
            <a:r>
              <a:t>random.</a:t>
            </a:r>
          </a:p>
          <a:p>
            <a:r>
              <a:t>So, when we estimate the test accuracy of models A and B</a:t>
            </a:r>
          </a:p>
          <a:p>
            <a:r>
              <a:t>and we see that classi8ier A is better than classi8ier B</a:t>
            </a:r>
          </a:p>
          <a:p>
            <a:r>
              <a:t>because their estimated accuracies on the test set are .997</a:t>
            </a:r>
          </a:p>
          <a:p>
            <a:r>
              <a:t>and .998 respectively, can we really trust that statement?</a:t>
            </a:r>
          </a:p>
          <a:p>
            <a:r>
              <a:t>Maybe this random noise we get when we compute the</a:t>
            </a:r>
          </a:p>
          <a:p>
            <a:r>
              <a:t>estimate of the accuracy caused this difference. In other</a:t>
            </a:r>
          </a:p>
          <a:p>
            <a:r>
              <a:t>words, how sure can we be, from these values, that the</a:t>
            </a:r>
          </a:p>
          <a:p>
            <a:r>
              <a:t>true accuracy of A is also higher than the true accuracy</a:t>
            </a:r>
          </a:p>
          <a:p>
            <a:r>
              <a:t>of B?</a:t>
            </a:r>
          </a:p>
          <a:p>
            <a:r>
              <a:t>quote source: http://www.icmla-conference.org/icmla11/</a:t>
            </a:r>
          </a:p>
          <a:p>
            <a:r>
              <a:t>PE_Tutorial.pdf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One way of doing this is to compute a con+idence interval.</a:t>
            </a:r>
          </a:p>
          <a:p>
            <a:r>
              <a:t>Here we see the process of computing a sample accuracy in</a:t>
            </a:r>
          </a:p>
          <a:p>
            <a:r>
              <a:t>a simple animation: we start with the true accuracy (for</a:t>
            </a:r>
          </a:p>
          <a:p>
            <a:r>
              <a:t>some given classi8ier, on the data distribution) which is</a:t>
            </a:r>
          </a:p>
          <a:p>
            <a:r>
              <a:t>somewhere between 0 and 1. We sample a bunch of points</a:t>
            </a:r>
          </a:p>
          <a:p>
            <a:r>
              <a:t>from the data distribution (our test set), and take the</a:t>
            </a:r>
          </a:p>
          <a:p>
            <a:r>
              <a:t>relative frequency of correctly classi8ied instances as the</a:t>
            </a:r>
          </a:p>
          <a:p>
            <a:r>
              <a:t>sample accuracy.</a:t>
            </a:r>
          </a:p>
          <a:p>
            <a:r>
              <a:t>Here, in the top half of the slide we model the process of</a:t>
            </a:r>
          </a:p>
          <a:p>
            <a:r>
              <a:t>taking one instance of our test set and seeing whether the</a:t>
            </a:r>
          </a:p>
          <a:p>
            <a:r>
              <a:t>classi8ier classi8ies it correctly as a single random draw</a:t>
            </a:r>
          </a:p>
          <a:p>
            <a:r>
              <a:t>resulting in the outcome correct or incorrect. We'll see in</a:t>
            </a:r>
          </a:p>
          <a:p>
            <a:r>
              <a:t>the next lecture that this type of distribution is called a</a:t>
            </a:r>
          </a:p>
          <a:p>
            <a:r>
              <a:t>Bernoulli distribution.</a:t>
            </a:r>
          </a:p>
          <a:p>
            <a:r>
              <a:t>The whole process of sampling the entire test set and</a:t>
            </a:r>
          </a:p>
          <a:p>
            <a:r>
              <a:t>computing the sample accuracy is also a random process. If</a:t>
            </a:r>
          </a:p>
          <a:p>
            <a:r>
              <a:t>we were to repeat it, sampling a new test set, we'd get a</a:t>
            </a:r>
          </a:p>
          <a:p>
            <a:r>
              <a:t>different value for the sample accuracy. To simplify this, we</a:t>
            </a:r>
          </a:p>
          <a:p>
            <a:r>
              <a:t>can look at the total number of instances in our sample that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size of this con8idence interval depends on two factors:</a:t>
            </a:r>
          </a:p>
          <a:p>
            <a:r>
              <a:t>the true accuracy and the size of the test set. Here are some</a:t>
            </a:r>
          </a:p>
          <a:p>
            <a:r>
              <a:t>examples for different accuracies and test set sizes.</a:t>
            </a:r>
          </a:p>
          <a:p>
            <a:r>
              <a:t>This tells us that if the true success probability (accuracy)</a:t>
            </a:r>
          </a:p>
          <a:p>
            <a:r>
              <a:t>of a classi8ier is 0.5, and the test set contains 100 examples,</a:t>
            </a:r>
          </a:p>
          <a:p>
            <a:r>
              <a:t>our con8idence interval has size 0.2. This means that even if</a:t>
            </a:r>
          </a:p>
          <a:p>
            <a:r>
              <a:t>we report 0.5 as the accuracy, we may well be wrong by as</a:t>
            </a:r>
          </a:p>
          <a:p>
            <a:r>
              <a:t>much as 0.1 either side.</a:t>
            </a:r>
          </a:p>
          <a:p>
            <a:r>
              <a:t>Even if these con8idence intervals are usually not reported,</a:t>
            </a:r>
          </a:p>
          <a:p>
            <a:r>
              <a:t>you can easily work them out (or look them up) yourself.</a:t>
            </a:r>
          </a:p>
          <a:p>
            <a:r>
              <a:t>So, if you see someone say that classi8ier A is better than</a:t>
            </a:r>
          </a:p>
          <a:p>
            <a:r>
              <a:t>classi8ier B because A scored 60% accuracy and and B score</a:t>
            </a:r>
          </a:p>
          <a:p>
            <a:r>
              <a:t>59%, on a test set of 100 instances, you have reason to be</a:t>
            </a:r>
          </a:p>
          <a:p>
            <a:r>
              <a:t>sceptical.</a:t>
            </a:r>
          </a:p>
          <a:p>
            <a:r>
              <a:t>In short, this is why large test sets are important. Without</a:t>
            </a:r>
          </a:p>
          <a:p>
            <a:r>
              <a:t>at least 1000 instances in your test data, you cannot reliably</a:t>
            </a:r>
          </a:p>
          <a:p>
            <a:r>
              <a:t>tell the difference between two classi8iers.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If you don’t have the luxury of a large test set, you may need</a:t>
            </a:r>
          </a:p>
          <a:p>
            <a:r>
              <a:t>to do some statistical testing to see whether the effect</a:t>
            </a:r>
          </a:p>
          <a:p>
            <a:r>
              <a:t>you’ve observed (classi8ier A is better than classi8ier B) is</a:t>
            </a:r>
          </a:p>
          <a:p>
            <a:r>
              <a:t>genuine or down to random chance. It’s generally accepted</a:t>
            </a:r>
          </a:p>
          <a:p>
            <a:r>
              <a:t>that Alpaydin’s 5x2 cross validation is the best test for this</a:t>
            </a:r>
          </a:p>
          <a:p>
            <a:r>
              <a:t>purpose. It’s out of scope for this course, but follow the link</a:t>
            </a:r>
          </a:p>
          <a:p>
            <a:r>
              <a:t>if you run into this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are good concepts to help us think about what we are</a:t>
            </a:r>
          </a:p>
          <a:p>
            <a:r>
              <a:t>measuring when we compute metrics on our test data. But</a:t>
            </a:r>
          </a:p>
          <a:p>
            <a:r>
              <a:t>it's important to realize that these are unobservable values.</a:t>
            </a:r>
          </a:p>
          <a:p>
            <a:r>
              <a:t>We can only work out the true con8idence interval for the</a:t>
            </a:r>
          </a:p>
          <a:p>
            <a:r>
              <a:t>sample accuracy if we know the true accuracy. This puts the</a:t>
            </a:r>
          </a:p>
          <a:p>
            <a:r>
              <a:t>con8idence intervals we've talked about so far in the</a:t>
            </a:r>
          </a:p>
          <a:p>
            <a:r>
              <a:t>unobservable column.</a:t>
            </a:r>
          </a:p>
          <a:p>
            <a:r>
              <a:t>So what about all those con8idence intervals you see</a:t>
            </a:r>
          </a:p>
          <a:p>
            <a:r>
              <a:t>reported in the literature? These are estimated con8idence</a:t>
            </a:r>
          </a:p>
          <a:p>
            <a:r>
              <a:t>intervals. They are usually computed in the same way as the</a:t>
            </a:r>
          </a:p>
          <a:p>
            <a:r>
              <a:t>true con8idence interval, but wherever we need the true</a:t>
            </a:r>
          </a:p>
          <a:p>
            <a:r>
              <a:t>value of some metric, we replace it by its estimate. This</a:t>
            </a:r>
          </a:p>
          <a:p>
            <a:r>
              <a:t>gives us a con8idence interval that isn't as correct as the</a:t>
            </a:r>
          </a:p>
          <a:p>
            <a:r>
              <a:t>true con8idence interval, and one that would change slightly</a:t>
            </a:r>
          </a:p>
          <a:p>
            <a:r>
              <a:t>if we were to resample the test set, but we can at least</a:t>
            </a:r>
          </a:p>
          <a:p>
            <a:r>
              <a:t>compute it, and it generally behaves in roughly the same</a:t>
            </a:r>
          </a:p>
          <a:p>
            <a:r>
              <a:t>way as the true con8idence interval.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When we use the phrase con&gt;idence interval to refer to this</a:t>
            </a:r>
          </a:p>
          <a:p>
            <a:r>
              <a:t>kind of estimate, it's important to speak about it correctly.</a:t>
            </a:r>
          </a:p>
          <a:p>
            <a:r>
              <a:t>There is no probability associated with the true mean at all.</a:t>
            </a:r>
          </a:p>
          <a:p>
            <a:r>
              <a:t>It is simply an objective, determined value (which we don’t</a:t>
            </a:r>
          </a:p>
          <a:p>
            <a:r>
              <a:t>know). The probability comes from sampling, and from</a:t>
            </a:r>
          </a:p>
          <a:p>
            <a:r>
              <a:t>computing the interval from a sample.</a:t>
            </a:r>
          </a:p>
          <a:p>
            <a:r>
              <a:t>So instead of having a 8ixed interval, with the true mean</a:t>
            </a:r>
          </a:p>
          <a:p>
            <a:r>
              <a:t>jumping around probabilistically, we have a 8ixed true mean</a:t>
            </a:r>
          </a:p>
          <a:p>
            <a:r>
              <a:t>around which we get an interval that jumps around if we</a:t>
            </a:r>
          </a:p>
          <a:p>
            <a:r>
              <a:t>resample the data. The probability of it jumping so much</a:t>
            </a:r>
          </a:p>
          <a:p>
            <a:r>
              <a:t>that it no longer contains the true mean is 5%.</a:t>
            </a:r>
          </a:p>
          <a:p>
            <a:r>
              <a:t>This is typical frequentist agonizing over what the phrase</a:t>
            </a:r>
          </a:p>
          <a:p>
            <a:r>
              <a:t>“probability” means. Con&gt;idence intervals are a uniquely</a:t>
            </a:r>
          </a:p>
          <a:p>
            <a:r>
              <a:t>frequentist tool. If the distinction on the slide doesn’t make</a:t>
            </a:r>
          </a:p>
          <a:p>
            <a:r>
              <a:t>sense to you, look back to the probability video in the</a:t>
            </a:r>
          </a:p>
          <a:p>
            <a:r>
              <a:t>preliminaries.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very relevant question is how do you interpret error</a:t>
            </a:r>
          </a:p>
          <a:p>
            <a:r>
              <a:t>bars?</a:t>
            </a:r>
          </a:p>
          <a:p>
            <a:r>
              <a:t>If you see a picture like this, showing the mean runtime of</a:t>
            </a:r>
          </a:p>
          <a:p>
            <a:r>
              <a:t>an experiment, measured for three models, and averaged</a:t>
            </a:r>
          </a:p>
          <a:p>
            <a:r>
              <a:t>over a number of runs, what would you imagine the error</a:t>
            </a:r>
          </a:p>
          <a:p>
            <a:r>
              <a:t>bars denote? We've seen standard deviations, standard</a:t>
            </a:r>
          </a:p>
          <a:p>
            <a:r>
              <a:t>errors and con8idence intervals. What do error bars</a:t>
            </a:r>
          </a:p>
          <a:p>
            <a:r>
              <a:t>represent?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truth is that there is no standard de8inition for what</a:t>
            </a:r>
          </a:p>
          <a:p>
            <a:r>
              <a:t>error bars denote, and if the authors didn’t specify what</a:t>
            </a:r>
          </a:p>
          <a:p>
            <a:r>
              <a:t>their error bars indicate, the authors messed up.</a:t>
            </a:r>
          </a:p>
          <a:p>
            <a:r>
              <a:t>These are the three most common options. If you didn't</a:t>
            </a:r>
          </a:p>
          <a:p>
            <a:r>
              <a:t>quite get all the details of the previous slides, this slide</a:t>
            </a:r>
          </a:p>
          <a:p>
            <a:r>
              <a:t>illustrates the most important distinction: If we sample</a:t>
            </a:r>
          </a:p>
          <a:p>
            <a:r>
              <a:t>more data, the estimate of our standard deviation</a:t>
            </a:r>
          </a:p>
          <a:p>
            <a:r>
              <a:t>becomes more accurate. It’s an estimate of a property of our</a:t>
            </a:r>
          </a:p>
          <a:p>
            <a:r>
              <a:t>data distribution. The error bars representing standard</a:t>
            </a:r>
          </a:p>
          <a:p>
            <a:r>
              <a:t>deviation don't get smaller, they just get closer to their</a:t>
            </a:r>
          </a:p>
          <a:p>
            <a:r>
              <a:t>correct size (which may be very wide around the head of</a:t>
            </a:r>
          </a:p>
          <a:p>
            <a:r>
              <a:t>the bar).</a:t>
            </a:r>
          </a:p>
          <a:p>
            <a:r>
              <a:t>The standard error and the con8idence interval are</a:t>
            </a:r>
          </a:p>
          <a:p>
            <a:r>
              <a:t>indicators of how con8ident we are about our estimate of</a:t>
            </a:r>
          </a:p>
          <a:p>
            <a:r>
              <a:t>the mean of our data. For these, the more data we have, the</a:t>
            </a:r>
          </a:p>
          <a:p>
            <a:r>
              <a:t>smaller they get. As we saw earlier, under the right</a:t>
            </a:r>
          </a:p>
          <a:p>
            <a:r>
              <a:t>assumptions, the 95% con8idence interval is roughly twice</a:t>
            </a:r>
          </a:p>
          <a:p>
            <a:r>
              <a:t>the standard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Under certain assumptions, the standard error of two</a:t>
            </a:r>
          </a:p>
          <a:p>
            <a:r>
              <a:t>estimates can tell you whether a Student's t test allows you</a:t>
            </a:r>
          </a:p>
          <a:p>
            <a:r>
              <a:t>to reject the null hypothesis that the two distributions are</a:t>
            </a:r>
          </a:p>
          <a:p>
            <a:r>
              <a:t>the same. This would allow you to say, for instance, that</a:t>
            </a:r>
          </a:p>
          <a:p>
            <a:r>
              <a:t>there is a statistically signi8icant difference between the</a:t>
            </a:r>
          </a:p>
          <a:p>
            <a:r>
              <a:t>accuracy estimates on two classi8iers. As we said before,</a:t>
            </a:r>
          </a:p>
          <a:p>
            <a:r>
              <a:t>such testing is not very popular in machine learning, so we</a:t>
            </a:r>
          </a:p>
          <a:p>
            <a:r>
              <a:t>won't go into it in detail, but this can offer an additional</a:t>
            </a:r>
          </a:p>
          <a:p>
            <a:r>
              <a:t>perspective on error bars.</a:t>
            </a:r>
          </a:p>
          <a:p>
            <a:r>
              <a:t>We won’t discuss the Student’s t test in detail, but it’s a</a:t>
            </a:r>
          </a:p>
          <a:p>
            <a:r>
              <a:t>common test for comparing two normally distributed values.</a:t>
            </a:r>
          </a:p>
          <a:p>
            <a:r>
              <a:t>Say you plot the mean squared error for regression models</a:t>
            </a:r>
          </a:p>
          <a:p>
            <a:r>
              <a:t>A and B, together with some error bars. Does the the fact</a:t>
            </a:r>
          </a:p>
          <a:p>
            <a:r>
              <a:t>that the error bars overlap or not tell you whether the</a:t>
            </a:r>
          </a:p>
          <a:p>
            <a:r>
              <a:t>measured difference between the two models is statistically</a:t>
            </a:r>
          </a:p>
          <a:p>
            <a:r>
              <a:t>signi8icant? That is, does it indicate whether we can</a:t>
            </a:r>
          </a:p>
          <a:p>
            <a:r>
              <a:t>conclude that A is a better model than B?</a:t>
            </a:r>
          </a:p>
          <a:p>
            <a:r>
              <a:t>Yes, but we have to be careful. For standard error bars, the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All of this was about showing con+idence: showing how</a:t>
            </a:r>
          </a:p>
          <a:p>
            <a:r>
              <a:t>reliable our numbers are as estimates of the true values that</a:t>
            </a:r>
          </a:p>
          <a:p>
            <a:r>
              <a:t>we can’t observe.</a:t>
            </a:r>
          </a:p>
          <a:p>
            <a:r>
              <a:t>Showing spread is more about providing insight to the</a:t>
            </a:r>
          </a:p>
          <a:p>
            <a:r>
              <a:t>reader. Say I train a classi8ier by gradient descent. If I have a</a:t>
            </a:r>
          </a:p>
          <a:p>
            <a:r>
              <a:t>big test set, I can very con&gt;idently measure and report the</a:t>
            </a:r>
          </a:p>
          <a:p>
            <a:r>
              <a:t>accuracy of this particular classi8ier. However, gradient</a:t>
            </a:r>
          </a:p>
          <a:p>
            <a:r>
              <a:t>descent uses random initialization. If I repeat the training</a:t>
            </a:r>
          </a:p>
          <a:p>
            <a:r>
              <a:t>process, I may end up in a different local minimum, and get</a:t>
            </a:r>
          </a:p>
          <a:p>
            <a:r>
              <a:t>a different classi8ication performance. It’s likely that I also</a:t>
            </a:r>
          </a:p>
          <a:p>
            <a:r>
              <a:t>want to communicate how much the measured</a:t>
            </a:r>
          </a:p>
          <a:p>
            <a:r>
              <a:t>performance is dependent on this randomness. In short,</a:t>
            </a:r>
          </a:p>
          <a:p>
            <a:r>
              <a:t>how lucky did we get in our choice of classi8ier?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If we have a large enough test set, we know that the</a:t>
            </a:r>
          </a:p>
          <a:p>
            <a:r>
              <a:t>con8idence interval for our measurement of the</a:t>
            </a:r>
          </a:p>
          <a:p>
            <a:r>
              <a:t>performance is small enough. But we also want to know</a:t>
            </a:r>
          </a:p>
          <a:p>
            <a:r>
              <a:t>how much the randomness in our process affects the result.</a:t>
            </a:r>
          </a:p>
          <a:p>
            <a:r>
              <a:t>What is the probability that repeating the process (on the</a:t>
            </a:r>
          </a:p>
          <a:p>
            <a:r>
              <a:t>same data, or on new data) produces wildly different</a:t>
            </a:r>
          </a:p>
          <a:p>
            <a:r>
              <a:t>results?</a:t>
            </a:r>
          </a:p>
          <a:p>
            <a:r>
              <a:t>For factors like the initialisation of gradient descent, this is</a:t>
            </a:r>
          </a:p>
          <a:p>
            <a:r>
              <a:t>easy to test: you just rerun a few times on the same data.</a:t>
            </a:r>
          </a:p>
          <a:p>
            <a:r>
              <a:t>But how do you test how robust the results are against</a:t>
            </a:r>
          </a:p>
          <a:p>
            <a:r>
              <a:t>sampling a new dataset?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0" name="TopAccentBar"/>
          <p:cNvSpPr/>
          <p:nvPr userDrawn="1"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rgbClr val="E8ECF4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rgbClr val="E8ECF4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rgbClr val="E8ECF4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rgbClr val="E8ECF4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rgbClr val="E8ECF4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E8ECF4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E8ECF4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E8ECF4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E8ECF4"/>
          </a:solidFill>
          <a:latin typeface="+mn-lt"/>
          <a:ea typeface="+mn-ea"/>
          <a:cs typeface="+mn-cs"/>
        </a:defRPr>
      </a:lvl9pPr>
    </p:bodyStyle>
    <p:otherStyle>
      <a:defPPr>
        <a:defRPr lang="en-US">
          <a:solidFill>
            <a:srgbClr val="E8ECF4"/>
          </a:solidFill>
        </a:defRPr>
      </a:defPPr>
      <a:lvl1pPr marL="0" algn="l" defTabSz="457200" rtl="0" eaLnBrk="1" latinLnBrk="0" hangingPunct="1">
        <a:defRPr sz="1800" kern="1200">
          <a:solidFill>
            <a:srgbClr val="E8ECF4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rgbClr val="E8ECF4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rgbClr val="E8ECF4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rgbClr val="E8ECF4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rgbClr val="E8ECF4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rgbClr val="E8ECF4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rgbClr val="E8ECF4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rgbClr val="E8ECF4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rgbClr val="E8ECF4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2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468"/>
            <a:ext cx="12191695" cy="67330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2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740"/>
            <a:ext cx="12191695" cy="6622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2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72789"/>
            <a:ext cx="12191695" cy="191242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3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" y="1388881"/>
            <a:ext cx="12191695" cy="37649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3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74777"/>
            <a:ext cx="12191695" cy="53084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3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52314"/>
            <a:ext cx="12191695" cy="435337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3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44090"/>
            <a:ext cx="12191695" cy="43698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3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2954"/>
            <a:ext cx="12191695" cy="661209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3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13337"/>
            <a:ext cx="12191695" cy="363132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3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740"/>
            <a:ext cx="12191695" cy="6622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05742"/>
            <a:ext cx="12191695" cy="404651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468"/>
            <a:ext cx="12191695" cy="673306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4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9421" y="2094067"/>
            <a:ext cx="12191695" cy="266986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7DF87-B9F9-9C44-0A5A-1397ADEDC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lang="en-US" sz="3600" b="1" dirty="0"/>
              <a:t>Why Stats in ML?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B89780-0F6D-162C-1F66-1234332B8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Card Confidence"/>
          <p:cNvSpPr/>
          <p:nvPr/>
        </p:nvSpPr>
        <p:spPr>
          <a:xfrm>
            <a:off x="762000" y="1524000"/>
            <a:ext cx="5080000" cy="457200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 w="0">
            <a:noFill/>
          </a:ln>
        </p:spPr>
        <p:txBody>
          <a:bodyPr wrap="square" lIns="228600" tIns="914400" rIns="228600" bIns="182880" anchor="t"/>
          <a:lstStyle/>
          <a:p>
            <a:pPr algn="l">
              <a:buNone/>
            </a:pPr>
            <a:r>
              <a:rPr lang="en-US" sz="2400" b="1" dirty="0">
                <a:solidFill>
                  <a:srgbClr val="1A56DB"/>
                </a:solidFill>
              </a:rPr>
              <a:t>Show Confidence</a:t>
            </a:r>
          </a:p>
          <a:p>
            <a:pPr algn="l">
              <a:buNone/>
            </a:pPr>
            <a:r>
              <a:rPr lang="en-US" sz="1800" dirty="0">
                <a:solidFill>
                  <a:srgbClr val="3C4043"/>
                </a:solidFill>
              </a:rPr>
              <a:t>Quantify certainty in predictions with confidence intervals, p-values, and statistical tests</a:t>
            </a:r>
          </a:p>
        </p:txBody>
      </p:sp>
      <p:sp>
        <p:nvSpPr>
          <p:cNvPr id="11" name="Card Spread"/>
          <p:cNvSpPr/>
          <p:nvPr/>
        </p:nvSpPr>
        <p:spPr>
          <a:xfrm>
            <a:off x="6350000" y="1524000"/>
            <a:ext cx="5080000" cy="4572000"/>
          </a:xfrm>
          <a:prstGeom prst="roundRect">
            <a:avLst>
              <a:gd name="adj" fmla="val 8000"/>
            </a:avLst>
          </a:prstGeom>
          <a:solidFill>
            <a:srgbClr val="FEF3E0"/>
          </a:solidFill>
          <a:ln w="0">
            <a:noFill/>
          </a:ln>
        </p:spPr>
        <p:txBody>
          <a:bodyPr wrap="square" lIns="228600" tIns="914400" rIns="228600" bIns="182880" anchor="t"/>
          <a:lstStyle/>
          <a:p>
            <a:pPr algn="l">
              <a:buNone/>
            </a:pPr>
            <a:r>
              <a:rPr lang="en-US" sz="2400" b="1" dirty="0">
                <a:solidFill>
                  <a:srgbClr val="E67700"/>
                </a:solidFill>
              </a:rPr>
              <a:t>Show Spread</a:t>
            </a:r>
          </a:p>
          <a:p>
            <a:pPr algn="l">
              <a:buNone/>
            </a:pPr>
            <a:r>
              <a:rPr lang="en-US" sz="1800" dirty="0">
                <a:solidFill>
                  <a:srgbClr val="3C4043"/>
                </a:solidFill>
              </a:rPr>
              <a:t>Visualize variability in data through standard deviation, variance, and distribution plots</a:t>
            </a:r>
          </a:p>
        </p:txBody>
      </p:sp>
      <p:pic>
        <p:nvPicPr>
          <p:cNvPr id="12" name="Graphic 12" descr="Confidence shield ico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5200" y="1676400"/>
            <a:ext cx="558800" cy="558800"/>
          </a:xfrm>
          <a:prstGeom prst="rect">
            <a:avLst/>
          </a:prstGeom>
        </p:spPr>
      </p:pic>
      <p:pic>
        <p:nvPicPr>
          <p:cNvPr id="13" name="Graphic 13" descr="Bar chart spread icon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53200" y="1676400"/>
            <a:ext cx="558800" cy="5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2344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4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66225"/>
            <a:ext cx="12191695" cy="4725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DarkTeal">
      <a:dk1>
        <a:srgbClr val="FFFFFF"/>
      </a:dk1>
      <a:lt1>
        <a:srgbClr val="1A1F2E"/>
      </a:lt1>
      <a:dk2>
        <a:srgbClr val="E8ECF4"/>
      </a:dk2>
      <a:lt2>
        <a:srgbClr val="212738"/>
      </a:lt2>
      <a:accent1>
        <a:srgbClr val="FFFFFF"/>
      </a:accent1>
      <a:accent2>
        <a:srgbClr val="F59E0B"/>
      </a:accent2>
      <a:accent3>
        <a:srgbClr val="16A34A"/>
      </a:accent3>
      <a:accent4>
        <a:srgbClr val="8A94A6"/>
      </a:accent4>
      <a:accent5>
        <a:srgbClr val="DC2626"/>
      </a:accent5>
      <a:accent6>
        <a:srgbClr val="80FFF0"/>
      </a:accent6>
      <a:hlink>
        <a:srgbClr val="FFFFFF"/>
      </a:hlink>
      <a:folHlink>
        <a:srgbClr val="8A94A6"/>
      </a:folHlink>
    </a:clrScheme>
    <a:fontScheme name="Calibri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5910636-4640-4D40-9933-078D7E3E0053}">
  <we:reference id="wa200010001" version="1.0.0.1" store="en-US" storeType="OMEX"/>
  <we:alternateReferences>
    <we:reference id="wa200010001" version="1.0.0.1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1199</TotalTime>
  <Words>1785</Words>
  <Application>Microsoft Macintosh PowerPoint</Application>
  <PresentationFormat>Widescreen</PresentationFormat>
  <Paragraphs>173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Why Stats in ML?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Casati, Fabio</cp:lastModifiedBy>
  <cp:revision>6</cp:revision>
  <dcterms:created xsi:type="dcterms:W3CDTF">2013-01-27T09:14:16Z</dcterms:created>
  <dcterms:modified xsi:type="dcterms:W3CDTF">2026-03-20T10:49:53Z</dcterms:modified>
  <cp:category/>
</cp:coreProperties>
</file>