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74"/>
  </p:notesMasterIdLst>
  <p:sldIdLst>
    <p:sldId id="303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2" r:id="rId11"/>
    <p:sldId id="313" r:id="rId12"/>
    <p:sldId id="314" r:id="rId13"/>
    <p:sldId id="315" r:id="rId14"/>
    <p:sldId id="316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49" r:id="rId47"/>
    <p:sldId id="350" r:id="rId48"/>
    <p:sldId id="351" r:id="rId49"/>
    <p:sldId id="352" r:id="rId50"/>
    <p:sldId id="353" r:id="rId51"/>
    <p:sldId id="354" r:id="rId52"/>
    <p:sldId id="355" r:id="rId53"/>
    <p:sldId id="356" r:id="rId54"/>
    <p:sldId id="357" r:id="rId55"/>
    <p:sldId id="358" r:id="rId56"/>
    <p:sldId id="359" r:id="rId57"/>
    <p:sldId id="360" r:id="rId58"/>
    <p:sldId id="361" r:id="rId59"/>
    <p:sldId id="362" r:id="rId60"/>
    <p:sldId id="363" r:id="rId61"/>
    <p:sldId id="364" r:id="rId62"/>
    <p:sldId id="365" r:id="rId63"/>
    <p:sldId id="366" r:id="rId64"/>
    <p:sldId id="367" r:id="rId65"/>
    <p:sldId id="368" r:id="rId66"/>
    <p:sldId id="369" r:id="rId67"/>
    <p:sldId id="370" r:id="rId68"/>
    <p:sldId id="371" r:id="rId69"/>
    <p:sldId id="372" r:id="rId70"/>
    <p:sldId id="373" r:id="rId71"/>
    <p:sldId id="374" r:id="rId72"/>
    <p:sldId id="375" r:id="rId7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68904"/>
  </p:normalViewPr>
  <p:slideViewPr>
    <p:cSldViewPr snapToGrid="0" snapToObjects="1">
      <p:cViewPr varScale="1">
        <p:scale>
          <a:sx n="81" d="100"/>
          <a:sy n="81" d="100"/>
        </p:scale>
        <p:origin x="17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58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video we'll look at how to evaluate regression and</a:t>
            </a:r>
          </a:p>
          <a:p>
            <a:r>
              <a:t>classi8ication experiments. There will be a few pointers on</a:t>
            </a:r>
          </a:p>
          <a:p>
            <a:r>
              <a:t>regression, but the main topic will be classi8ication</a:t>
            </a:r>
          </a:p>
          <a:p>
            <a:r>
              <a:t>experiments.</a:t>
            </a:r>
          </a:p>
          <a:p>
            <a:r>
              <a:t>|section|Metrics|</a:t>
            </a:r>
          </a:p>
          <a:p>
            <a:r>
              <a:t>|video|https://surfdrive.surf.nl/8iles/index.php/s/</a:t>
            </a:r>
          </a:p>
          <a:p>
            <a:r>
              <a:t>TrR5TrtLDZLBs08/download|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thing to pay attention to is that if you use MSE loss, you</a:t>
            </a:r>
          </a:p>
          <a:p>
            <a:r>
              <a:t>may want to report the square root (the RMSE). The RMSE</a:t>
            </a:r>
          </a:p>
          <a:p>
            <a:r>
              <a:t>is minimised at the same places as the MSE, but it’s easier</a:t>
            </a:r>
          </a:p>
          <a:p>
            <a:r>
              <a:t>to interpret, because it has the same units as the original</a:t>
            </a:r>
          </a:p>
          <a:p>
            <a:r>
              <a:t>output value.</a:t>
            </a:r>
          </a:p>
          <a:p>
            <a:r>
              <a:t>For instance, if your outputs are in meters, then your MSE is</a:t>
            </a:r>
          </a:p>
          <a:p>
            <a:r>
              <a:t>measured in square meters, but your RMSE is also</a:t>
            </a:r>
          </a:p>
          <a:p>
            <a:r>
              <a:t>measured in 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Bias and variance are good concepts to keep in mind when</a:t>
            </a:r>
          </a:p>
          <a:p>
            <a:r>
              <a:t>thinking about regression performance. The bias is the</a:t>
            </a:r>
          </a:p>
          <a:p>
            <a:r>
              <a:t>difference between your optimal MSE and the true MSE.</a:t>
            </a:r>
          </a:p>
          <a:p>
            <a:r>
              <a:t>This is the part of your error that is down to fundamental</a:t>
            </a:r>
          </a:p>
          <a:p>
            <a:r>
              <a:t>problems with your model: for instance, you are 8itting a</a:t>
            </a:r>
          </a:p>
          <a:p>
            <a:r>
              <a:t>line trough data with a parabolic pattern. This part stays the</a:t>
            </a:r>
          </a:p>
          <a:p>
            <a:r>
              <a:t>same if you resample your data.</a:t>
            </a:r>
          </a:p>
          <a:p>
            <a:r>
              <a:t>The variance is the difference between the true MSE and</a:t>
            </a:r>
          </a:p>
          <a:p>
            <a:r>
              <a:t>the measured MSE. This is the part of your error that is</a:t>
            </a:r>
          </a:p>
          <a:p>
            <a:r>
              <a:t>down to aspects of the random sampling of the data. This</a:t>
            </a:r>
          </a:p>
          <a:p>
            <a:r>
              <a:t>part changes when you resample your data.</a:t>
            </a:r>
          </a:p>
          <a:p>
            <a:r>
              <a:t>Normally, we train a regression model once, and get one</a:t>
            </a:r>
          </a:p>
          <a:p>
            <a:r>
              <a:t>MSE value. This gives us one dot on the axis above. Without</a:t>
            </a:r>
          </a:p>
          <a:p>
            <a:r>
              <a:t>repeating the process on freshly sampled data, we can't tell</a:t>
            </a:r>
          </a:p>
          <a:p>
            <a:r>
              <a:t>how our error falls apart in bias and variance. However, we</a:t>
            </a:r>
          </a:p>
          <a:p>
            <a:r>
              <a:t>can usually get some contextual clues, or investigate using</a:t>
            </a:r>
          </a:p>
          <a:p>
            <a:r>
              <a:t>resampling.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 metaphor that is often used to describe bias and</a:t>
            </a:r>
          </a:p>
          <a:p>
            <a:r>
              <a:t>variance: a dartboard.</a:t>
            </a:r>
          </a:p>
          <a:p>
            <a:r>
              <a:t>Remember, this is a metaphor for our RMSE error estimate.</a:t>
            </a:r>
          </a:p>
          <a:p>
            <a:r>
              <a:t>That means that normally, we have only one dart and we</a:t>
            </a:r>
          </a:p>
          <a:p>
            <a:r>
              <a:t>can’t tell whether our error is due to high bias or high</a:t>
            </a:r>
          </a:p>
          <a:p>
            <a:r>
              <a:t>variance.</a:t>
            </a:r>
          </a:p>
          <a:p>
            <a:r>
              <a:t>image source: http://scott.fortmann-roe.com/docs/</a:t>
            </a:r>
          </a:p>
          <a:p>
            <a:r>
              <a:t>BiasVariance.html (recommended reading)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 bias tends to happen when the model is too simple to</a:t>
            </a:r>
          </a:p>
          <a:p>
            <a:r>
              <a:t>follow the true "shape" of the data. Linear models in low-</a:t>
            </a:r>
          </a:p>
          <a:p>
            <a:r>
              <a:t>dimensional spaces often have this problem. Here, we see</a:t>
            </a:r>
          </a:p>
          <a:p>
            <a:r>
              <a:t>that the data has a slight curve, which is clearly part of its</a:t>
            </a:r>
          </a:p>
          <a:p>
            <a:r>
              <a:t>natural pattern, and something the model should learn.</a:t>
            </a:r>
          </a:p>
          <a:p>
            <a:r>
              <a:t>Since it's restricted to a line, however, it cannot make this</a:t>
            </a:r>
          </a:p>
          <a:p>
            <a:r>
              <a:t>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 variance happens when the model has the capacity to</a:t>
            </a:r>
          </a:p>
          <a:p>
            <a:r>
              <a:t>follow the shape of the data perfectly, but it does it so</a:t>
            </a:r>
          </a:p>
          <a:p>
            <a:r>
              <a:t>perfectly that it tends to get thrown off by small</a:t>
            </a:r>
          </a:p>
          <a:p>
            <a:r>
              <a:t>8luctuations.</a:t>
            </a:r>
          </a:p>
          <a:p>
            <a:r>
              <a:t>Here, the model doesn't just follow the natural curve of the</a:t>
            </a:r>
          </a:p>
          <a:p>
            <a:r>
              <a:t>data, it goes in and out of every random 8luctuation to</a:t>
            </a:r>
          </a:p>
          <a:p>
            <a:r>
              <a:t>model every single point perfectly.</a:t>
            </a:r>
          </a:p>
          <a:p>
            <a:r>
              <a:t>Even though this model (a regression tree) 8its the data</a:t>
            </a:r>
          </a:p>
          <a:p>
            <a:r>
              <a:t>perfectly, if we resample the data, we are stuck with all</a:t>
            </a:r>
          </a:p>
          <a:p>
            <a:r>
              <a:t>sorts of weird peaks that won’t 8it the new data. This is</a:t>
            </a:r>
          </a:p>
          <a:p>
            <a:r>
              <a:t>where the variance comes from. The true error varies</a:t>
            </a:r>
          </a:p>
          <a:p>
            <a:r>
              <a:t>wildly, because the model captures every single random</a:t>
            </a:r>
          </a:p>
          <a:p>
            <a:r>
              <a:t>8luctuation in the training data. These 8luctuation will cause</a:t>
            </a:r>
          </a:p>
          <a:p>
            <a:r>
              <a:t>a large error in the test data, which we put down to</a:t>
            </a:r>
          </a:p>
          <a:p>
            <a:r>
              <a:t>variance rather than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will see techniques for all of these in the coming weeks.</a:t>
            </a:r>
          </a:p>
          <a:p>
            <a:r>
              <a:t>Note that often, it really is a tradeoff: reducing the bias,</a:t>
            </a:r>
          </a:p>
          <a:p>
            <a:r>
              <a:t>increases the variance and vice versa.</a:t>
            </a:r>
          </a:p>
          <a:p>
            <a:r>
              <a:t>For some algorithms, there is a single parameter that allows</a:t>
            </a:r>
          </a:p>
          <a:p>
            <a:r>
              <a:t>us to make the bias/variance tradeoff. kNN is one example:</a:t>
            </a:r>
          </a:p>
          <a:p>
            <a:r>
              <a:t>low k values give us high variance, high k values give us</a:t>
            </a:r>
          </a:p>
          <a:p>
            <a:r>
              <a:t>high bias.</a:t>
            </a:r>
          </a:p>
          <a:p>
            <a:r>
              <a:t>In the strictest de&gt;inition of bias and variance, these concepts</a:t>
            </a:r>
          </a:p>
          <a:p>
            <a:r>
              <a:t>only apply to the mean squared error, where they explictly</a:t>
            </a:r>
          </a:p>
          <a:p>
            <a:r>
              <a:t>appear as terms if you rewrite the error in a certain way.</a:t>
            </a:r>
          </a:p>
          <a:p>
            <a:r>
              <a:t>However, in general machine learning parlance, the terms</a:t>
            </a:r>
          </a:p>
          <a:p>
            <a:r>
              <a:t>are applied to any regression error, and they are roughly</a:t>
            </a:r>
          </a:p>
          <a:p>
            <a:r>
              <a:t>synonymous with under- and over&gt;itting.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now move to classi8ication. We'll start by explaining</a:t>
            </a:r>
          </a:p>
          <a:p>
            <a:r>
              <a:t>these four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one example domain: breast cancer screening</a:t>
            </a:r>
          </a:p>
          <a:p>
            <a:r>
              <a:t>A recurring discussion in the Dutch media is the question</a:t>
            </a:r>
          </a:p>
          <a:p>
            <a:r>
              <a:t>whether all women over 50 be screened for breast cancer.</a:t>
            </a:r>
          </a:p>
          <a:p>
            <a:r>
              <a:t>This is an analogy for classi8ication: the instances are</a:t>
            </a:r>
          </a:p>
          <a:p>
            <a:r>
              <a:t>people and the target label is “has cancer” or “has no</a:t>
            </a:r>
          </a:p>
          <a:p>
            <a:r>
              <a:t>cancer.” You may think that this is a no-brainer: the more</a:t>
            </a:r>
          </a:p>
          <a:p>
            <a:r>
              <a:t>tests we do, the more lives saved. But we need to take into</a:t>
            </a:r>
          </a:p>
          <a:p>
            <a:r>
              <a:t>account how good the classi8ier is, and how bad the</a:t>
            </a:r>
          </a:p>
          <a:p>
            <a:r>
              <a:t>consequences are of it making a mistake.</a:t>
            </a:r>
          </a:p>
          <a:p>
            <a:r>
              <a:t>The 8irst problem this example illustrates is class</a:t>
            </a:r>
          </a:p>
          <a:p>
            <a:r>
              <a:t>imbalance. Unlike the classi8iers we've seen so far, this</a:t>
            </a:r>
          </a:p>
          <a:p>
            <a:r>
              <a:t>example has, thankfully, far more negatives than positives.</a:t>
            </a:r>
          </a:p>
          <a:p>
            <a:r>
              <a:t>In a given year the people in this age group for whom breast</a:t>
            </a:r>
          </a:p>
          <a:p>
            <a:r>
              <a:t>cancer will manifest is about half a percent. This includes</a:t>
            </a:r>
          </a:p>
          <a:p>
            <a:r>
              <a:t>men, for whom breast cancer is rare (but not impossible),</a:t>
            </a:r>
          </a:p>
          <a:p>
            <a:r>
              <a:t>so when we talk about screening for women over 50, we</a:t>
            </a:r>
          </a:p>
          <a:p>
            <a:r>
              <a:t>should probably assume about 1% positives.</a:t>
            </a:r>
          </a:p>
          <a:p>
            <a:r>
              <a:t>This means that we need to be very careful when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the next time you see a headline like this, your 8irst</a:t>
            </a:r>
          </a:p>
          <a:p>
            <a:r>
              <a:t>question should be: what was the class distribution in the</a:t>
            </a:r>
          </a:p>
          <a:p>
            <a:r>
              <a:t>training data? If 90% of the cases in the training data are</a:t>
            </a:r>
          </a:p>
          <a:p>
            <a:r>
              <a:t>acquittals, this is not a very impressive result.</a:t>
            </a:r>
          </a:p>
          <a:p>
            <a:r>
              <a:t>As it happens, in this case the classes were balanced 50/50,</a:t>
            </a:r>
          </a:p>
          <a:p>
            <a:r>
              <a:t>so 80 percent is at least notable. However, now we have a</a:t>
            </a:r>
          </a:p>
          <a:p>
            <a:r>
              <a:t>classi8ier trained on arti8icially balanced data. In a</a:t>
            </a:r>
          </a:p>
          <a:p>
            <a:r>
              <a:t>production environment (whatever that means here), the</a:t>
            </a:r>
          </a:p>
          <a:p>
            <a:r>
              <a:t>classes are likely not balanced 50/50, so this speci8ic</a:t>
            </a:r>
          </a:p>
          <a:p>
            <a:r>
              <a:t>classi8ier will be of no further use.</a:t>
            </a:r>
          </a:p>
          <a:p>
            <a:r>
              <a:t>Here is the original paper: https://peerj.com/articles/</a:t>
            </a:r>
          </a:p>
          <a:p>
            <a:r>
              <a:t>cs-93/#fn-6 There are some issues with this research</a:t>
            </a:r>
          </a:p>
          <a:p>
            <a:r>
              <a:t>beyond the class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Another reason to mistrust accuracy is cost imbalance. In</a:t>
            </a:r>
          </a:p>
          <a:p>
            <a:r>
              <a:t>breast cancer screening are two types of misclassi8ication:</a:t>
            </a:r>
          </a:p>
          <a:p>
            <a:r>
              <a:t>diagnosing a healthy person with cancer and diagnosing a</a:t>
            </a:r>
          </a:p>
          <a:p>
            <a:r>
              <a:t>person with cancer as healthy. Both come with a cost but</a:t>
            </a:r>
          </a:p>
          <a:p>
            <a:r>
              <a:t>not the same cost.</a:t>
            </a:r>
          </a:p>
          <a:p>
            <a:r>
              <a:t>We can either miss a cancer diagnosis (a false negative),</a:t>
            </a:r>
          </a:p>
          <a:p>
            <a:r>
              <a:t>which means the cancer will be caught much later and be</a:t>
            </a:r>
          </a:p>
          <a:p>
            <a:r>
              <a:t>much harder to treat. However, diagnosing a healthy person</a:t>
            </a:r>
          </a:p>
          <a:p>
            <a:r>
              <a:t>with cancer (a false positive) means they will be sent for</a:t>
            </a:r>
          </a:p>
          <a:p>
            <a:r>
              <a:t>unnecessary invasive testing and suffer great psychological</a:t>
            </a:r>
          </a:p>
          <a:p>
            <a:r>
              <a:t>stress. The cost of this is much less than the cost of missing</a:t>
            </a:r>
          </a:p>
          <a:p>
            <a:r>
              <a:t>a positive, but it isn't zero.</a:t>
            </a:r>
          </a:p>
          <a:p>
            <a:r>
              <a:t>This is what the discussion in the media centers on. If the</a:t>
            </a:r>
          </a:p>
          <a:p>
            <a:r>
              <a:t>screening causes many more false negatives than false</a:t>
            </a:r>
          </a:p>
          <a:p>
            <a:r>
              <a:t>positives, it may mean that the cost to human lives balances</a:t>
            </a:r>
          </a:p>
          <a:p>
            <a:r>
              <a:t>out, and the net effect of the screening isn't to save more</a:t>
            </a:r>
          </a:p>
          <a:p>
            <a:r>
              <a:t>lives.</a:t>
            </a:r>
          </a:p>
          <a:p>
            <a:r>
              <a:t>There is of course, also the 8inancial cost of screening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some examples of problems with cost imbalance</a:t>
            </a:r>
          </a:p>
          <a:p>
            <a:r>
              <a:t>In all these cases, one misclassi8ication one way costs much</a:t>
            </a:r>
          </a:p>
          <a:p>
            <a:r>
              <a:t>more than a misclassi8ication the other way. But both cost</a:t>
            </a:r>
          </a:p>
          <a:p>
            <a:r>
              <a:t>something. The time of an expert reviewer is not free, even</a:t>
            </a:r>
          </a:p>
          <a:p>
            <a:r>
              <a:t>though 8ive minutes of his time may be much cheaper than</a:t>
            </a:r>
          </a:p>
          <a:p>
            <a:r>
              <a:t>the cost of letting a single fraud go unchecked. In such a</a:t>
            </a:r>
          </a:p>
          <a:p>
            <a:r>
              <a:t>case, you may decide that missing one fraud is as costly as</a:t>
            </a:r>
          </a:p>
          <a:p>
            <a:r>
              <a:t>having an expert review 500 harmless transactions. This is</a:t>
            </a:r>
          </a:p>
          <a:p>
            <a:r>
              <a:t>then the general balance you are hoping for: one false</a:t>
            </a:r>
          </a:p>
          <a:p>
            <a:r>
              <a:t>negative for every 500 false positives.</a:t>
            </a:r>
          </a:p>
          <a:p>
            <a:r>
              <a:t>If you’re lucky, both types of misclassi8ication have the same</a:t>
            </a:r>
          </a:p>
          <a:p>
            <a:r>
              <a:t>unit, and you can turn your error (an estimate of the</a:t>
            </a:r>
          </a:p>
          <a:p>
            <a:r>
              <a:t>number of misclassi8ications) into a domain speci8ic</a:t>
            </a:r>
          </a:p>
          <a:p>
            <a:r>
              <a:t>evaluation function (like estimated dollars lost, or time</a:t>
            </a:r>
          </a:p>
          <a:p>
            <a:r>
              <a:t>saved). You simply assign a cost to each type if</a:t>
            </a:r>
          </a:p>
          <a:p>
            <a:r>
              <a:t>misclassi+ication, and multiply it by how often that</a:t>
            </a:r>
          </a:p>
          <a:p>
            <a:r>
              <a:t>misclassi+ication occurs in the test set. The total is the</a:t>
            </a:r>
          </a:p>
          <a:p>
            <a:r>
              <a:t>evaluation function you want to minimize.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 pretty imbalanced dataset (though still not as</a:t>
            </a:r>
          </a:p>
          <a:p>
            <a:r>
              <a:t>imbalanced as the cancer/not cancer problem). It looks</a:t>
            </a:r>
          </a:p>
          <a:p>
            <a:r>
              <a:t>pretty dif8icult. What would be a good performance on this</a:t>
            </a:r>
          </a:p>
          <a:p>
            <a:r>
              <a:t>task?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we've seen, even though an error of 0.05 might sound</a:t>
            </a:r>
          </a:p>
          <a:p>
            <a:r>
              <a:t>pretty good, but on an imbalanced dataset like this, there is</a:t>
            </a:r>
          </a:p>
          <a:p>
            <a:r>
              <a:t>a very simple classi8ier that gets that performance easily.</a:t>
            </a:r>
          </a:p>
          <a:p>
            <a:r>
              <a:t>The classi8ier that assigns anything the class with the most</a:t>
            </a:r>
          </a:p>
          <a:p>
            <a:r>
              <a:t>instances. We call this the majority class classi+ier.</a:t>
            </a:r>
          </a:p>
          <a:p>
            <a:r>
              <a:t>The majority class classi8ier is an example of a baseline, a</a:t>
            </a:r>
          </a:p>
          <a:p>
            <a:r>
              <a:t>simple method that is not meant to be used as a real model,</a:t>
            </a:r>
          </a:p>
          <a:p>
            <a:r>
              <a:t>but that can help you calibrate the performance scores. In</a:t>
            </a:r>
          </a:p>
          <a:p>
            <a:r>
              <a:t>this case, it tells you that you’re really only interested in in</a:t>
            </a:r>
          </a:p>
          <a:p>
            <a:r>
              <a:t>the error range from 0 to 0.05. Any higher error than that is</a:t>
            </a:r>
          </a:p>
          <a:p>
            <a:r>
              <a:t>pretty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another way that class imbalance can screw things</a:t>
            </a:r>
          </a:p>
          <a:p>
            <a:r>
              <a:t>up for you. You might think you have a pretty decent</a:t>
            </a:r>
          </a:p>
          <a:p>
            <a:r>
              <a:t>amount of data with 10 000 instances. However if you split</a:t>
            </a:r>
          </a:p>
          <a:p>
            <a:r>
              <a:t>off a test set of 1 000 instances, you'd be left with just 50</a:t>
            </a:r>
          </a:p>
          <a:p>
            <a:r>
              <a:t>instances of the positive class in your data. Practically, your</a:t>
            </a:r>
          </a:p>
          <a:p>
            <a:r>
              <a:t>8inal evaluation will just be a question of how many of these</a:t>
            </a:r>
          </a:p>
          <a:p>
            <a:r>
              <a:t>50 positives you detect. This means that you can really only</a:t>
            </a:r>
          </a:p>
          <a:p>
            <a:r>
              <a:t>have 50 “levels of performance” that you can distinguish</a:t>
            </a:r>
          </a:p>
          <a:p>
            <a:r>
              <a:t>b e tw e e n .</a:t>
            </a:r>
          </a:p>
          <a:p>
            <a:r>
              <a:t>Yo u c a n m ake a bigger test set of course (and you probably</a:t>
            </a:r>
          </a:p>
          <a:p>
            <a:r>
              <a:t>should) but that leads to problems in your training data.</a:t>
            </a:r>
          </a:p>
          <a:p>
            <a:r>
              <a:t>Since you’re essentially building a detector for positives, it</a:t>
            </a:r>
          </a:p>
          <a:p>
            <a:r>
              <a:t>doesn’t help if you can only give it 100 examples of what a</a:t>
            </a:r>
          </a:p>
          <a:p>
            <a:r>
              <a:t>positive looks like.</a:t>
            </a:r>
          </a:p>
          <a:p>
            <a:r>
              <a:t>In the next lecture, we’ll look at some tricks we can use to</a:t>
            </a:r>
          </a:p>
          <a:p>
            <a:r>
              <a:t>boost performance on such imbalanced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best thing to do under class and cost imbalance, is to</a:t>
            </a:r>
          </a:p>
          <a:p>
            <a:r>
              <a:t>look at your performance in more detail. We’ll look at six</a:t>
            </a:r>
          </a:p>
          <a:p>
            <a:r>
              <a:t>different ways to measure classi8ier performance.</a:t>
            </a:r>
          </a:p>
          <a:p>
            <a:r>
              <a:t>Most of these are only relevant if you have class or cost</a:t>
            </a:r>
          </a:p>
          <a:p>
            <a:r>
              <a:t>imbalance. If you have a nice, balanced dataset, it’s likely</a:t>
            </a:r>
          </a:p>
          <a:p>
            <a:r>
              <a:t>that error or accuracy is all you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confusion matrix (also known as a contingency</a:t>
            </a:r>
          </a:p>
          <a:p>
            <a:r>
              <a:t>table). It's simply a table with the actual classes on the</a:t>
            </a:r>
          </a:p>
          <a:p>
            <a:r>
              <a:t>rows, and the predicted classes on the columns, and a tally</a:t>
            </a:r>
          </a:p>
          <a:p>
            <a:r>
              <a:t>in each cell of how often each actual class is given a</a:t>
            </a:r>
          </a:p>
          <a:p>
            <a:r>
              <a:t>particular prediction. On the diagonal we tally all the</a:t>
            </a:r>
          </a:p>
          <a:p>
            <a:r>
              <a:t>correct classi8ications and off the diagonal we tally all the</a:t>
            </a:r>
          </a:p>
          <a:p>
            <a:r>
              <a:t>possible mistakes.</a:t>
            </a:r>
          </a:p>
          <a:p>
            <a:r>
              <a:t>A confusion matrix doesn’t give you a single number, so it’s</a:t>
            </a:r>
          </a:p>
          <a:p>
            <a:r>
              <a:t>more dif8icult to compare two classi8iers by their confusion</a:t>
            </a:r>
          </a:p>
          <a:p>
            <a:r>
              <a:t>matrices, but it’s a good way to get insight into what your</a:t>
            </a:r>
          </a:p>
          <a:p>
            <a:r>
              <a:t>classi8ier is actually doing.</a:t>
            </a:r>
          </a:p>
          <a:p>
            <a:r>
              <a:t>Note that for a binary classi8ication problem, we are getting</a:t>
            </a:r>
          </a:p>
          <a:p>
            <a:r>
              <a:t>the two types of mistakes (false positives and false</a:t>
            </a:r>
          </a:p>
          <a:p>
            <a:r>
              <a:t>negatives) along the second diagonal. If we have cost</a:t>
            </a:r>
          </a:p>
          <a:p>
            <a:r>
              <a:t>imbalance, the balance between these two values gives us a</a:t>
            </a:r>
          </a:p>
          <a:p>
            <a:r>
              <a:t>quick insight into how well the classi8ier is aligned with our</a:t>
            </a:r>
          </a:p>
          <a:p>
            <a:r>
              <a:t>estimate for the misclassi8ication costs.</a:t>
            </a:r>
          </a:p>
          <a:p>
            <a:r>
              <a:t>You can plot the confusion matrix for either the training,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call accurately classi8ied instances true positives and</a:t>
            </a:r>
          </a:p>
          <a:p>
            <a:r>
              <a:t>true negatives. Misclassi8ications are called false positives</a:t>
            </a:r>
          </a:p>
          <a:p>
            <a:r>
              <a:t>and false negatives.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we see the confusion matrix for the majority class</a:t>
            </a:r>
          </a:p>
          <a:p>
            <a:r>
              <a:t>baseline (the classi8ier that calls everything positive) in a</a:t>
            </a:r>
          </a:p>
          <a:p>
            <a:r>
              <a:t>problem with high class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Precision and recall are two metrics that express a tradeoff</a:t>
            </a:r>
          </a:p>
          <a:p>
            <a:r>
              <a:t>between the two types of mistakes.</a:t>
            </a:r>
          </a:p>
          <a:p>
            <a:r>
              <a:t>Precision: what proportion of the returned positives are</a:t>
            </a:r>
          </a:p>
          <a:p>
            <a:r>
              <a:t>actually positive?</a:t>
            </a:r>
          </a:p>
          <a:p>
            <a:r>
              <a:t>Recall: what proportion of the existing positives did we</a:t>
            </a:r>
          </a:p>
          <a:p>
            <a:r>
              <a:t>8ind?</a:t>
            </a:r>
          </a:p>
          <a:p>
            <a:r>
              <a:t>The idea is that we usually want to 8ind as many positives as</a:t>
            </a:r>
          </a:p>
          <a:p>
            <a:r>
              <a:t>possible, so we should be eager to label things positive,</a:t>
            </a:r>
          </a:p>
          <a:p>
            <a:r>
              <a:t>increasing the recall, but if we are too eager, we will label</a:t>
            </a:r>
          </a:p>
          <a:p>
            <a:r>
              <a:t>lots of negatives as positive as well, which will hurt our</a:t>
            </a:r>
          </a:p>
          <a:p>
            <a:r>
              <a:t>precision. Our main challenge in designing a classi8ier in the</a:t>
            </a:r>
          </a:p>
          <a:p>
            <a:r>
              <a:t>face of cost and class imbalance, is to 8ind the right tradeoff</a:t>
            </a:r>
          </a:p>
          <a:p>
            <a:r>
              <a:t>between precision and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It always takes me a minute to 8igure out what precision</a:t>
            </a:r>
          </a:p>
          <a:p>
            <a:r>
              <a:t>and recall mean in any given situation, and I usually consult</a:t>
            </a:r>
          </a:p>
          <a:p>
            <a:r>
              <a:t>this diagram from Wikipedia to help me out.</a:t>
            </a:r>
          </a:p>
          <a:p>
            <a:r>
              <a:t>The idea is that the goal of the classi8ier is to select the</a:t>
            </a:r>
          </a:p>
          <a:p>
            <a:r>
              <a:t>positives in the dataset. The more it selects, the higher its</a:t>
            </a:r>
          </a:p>
          <a:p>
            <a:r>
              <a:t>recall, but the lower its precision, as more negatives end up</a:t>
            </a:r>
          </a:p>
          <a:p>
            <a:r>
              <a:t>in the selection.</a:t>
            </a:r>
          </a:p>
          <a:p>
            <a:r>
              <a:t>source: By Walber - own work, CC BY-SA 4.0, https://</a:t>
            </a:r>
          </a:p>
          <a:p>
            <a:r>
              <a:t>commons.wikimedia.org/w/index.php?</a:t>
            </a:r>
          </a:p>
          <a:p>
            <a:r>
              <a:t>curid=36926283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There are many more metrics which you can derive from</a:t>
            </a:r>
          </a:p>
          <a:p>
            <a:r>
              <a:t>the confusion matrix. Wikipedia provides a helpful table, in</a:t>
            </a:r>
          </a:p>
          <a:p>
            <a:r>
              <a:t>case you ever come across them. For most purposes,</a:t>
            </a:r>
          </a:p>
          <a:p>
            <a:r>
              <a:t>precision, recall, accuracy and balanced accuracy are</a:t>
            </a:r>
          </a:p>
          <a:p>
            <a:r>
              <a:t>suf8icient.</a:t>
            </a:r>
          </a:p>
          <a:p>
            <a:r>
              <a:t>Note that some terms, like recall, go by many different</a:t>
            </a:r>
          </a:p>
          <a:p>
            <a:r>
              <a:t>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of these metrics can be applied to different datasets.</a:t>
            </a:r>
          </a:p>
          <a:p>
            <a:r>
              <a:t>When we compute (say) accuracy on the test set, we talk</a:t>
            </a:r>
          </a:p>
          <a:p>
            <a:r>
              <a:t>about test accuracy. This is computed—only once—at the</a:t>
            </a:r>
          </a:p>
          <a:p>
            <a:r>
              <a:t>very end of our project, to show that our conclusions are</a:t>
            </a:r>
          </a:p>
          <a:p>
            <a:r>
              <a:t>true.</a:t>
            </a:r>
          </a:p>
          <a:p>
            <a:r>
              <a:t>When we compute it on the validation set we call it</a:t>
            </a:r>
          </a:p>
          <a:p>
            <a:r>
              <a:t>validation accuracy. We compute this to help us choose</a:t>
            </a:r>
          </a:p>
          <a:p>
            <a:r>
              <a:t>good hyperparameters.</a:t>
            </a:r>
          </a:p>
          <a:p>
            <a:r>
              <a:t>And, predictably, when we compute it on the training data,</a:t>
            </a:r>
          </a:p>
          <a:p>
            <a:r>
              <a:t>we call it training accuracy. Remember that in the 8irst</a:t>
            </a:r>
          </a:p>
          <a:p>
            <a:r>
              <a:t>lecture I said, emphatically, that you should never judge</a:t>
            </a:r>
          </a:p>
          <a:p>
            <a:r>
              <a:t>your model on how it performs on the training set. Why</a:t>
            </a:r>
          </a:p>
          <a:p>
            <a:r>
              <a:t>then, would you ever want to compute the training accuracy</a:t>
            </a:r>
          </a:p>
          <a:p>
            <a:r>
              <a:t>(or any other metrics on the training data)?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answer is that the difference between your validation</a:t>
            </a:r>
          </a:p>
          <a:p>
            <a:r>
              <a:t>accuracy and your training accuracy, will tell you whether</a:t>
            </a:r>
          </a:p>
          <a:p>
            <a:r>
              <a:t>or not your model is over8itting (matching the data too</a:t>
            </a:r>
          </a:p>
          <a:p>
            <a:r>
              <a:t>well) or under8itting (not matching the data well enough).</a:t>
            </a:r>
          </a:p>
          <a:p>
            <a:r>
              <a:t>The difference between the training and validation sets is</a:t>
            </a:r>
          </a:p>
          <a:p>
            <a:r>
              <a:t>called the generalization gap. As in, it's the amount of</a:t>
            </a:r>
          </a:p>
          <a:p>
            <a:r>
              <a:t>performance that won't generalize to data that isn't your</a:t>
            </a:r>
          </a:p>
          <a:p>
            <a:r>
              <a:t>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Jim Unger, Herman.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|section|PR, ROC and AUC|</a:t>
            </a:r>
          </a:p>
          <a:p>
            <a:r>
              <a:t>|video|https://surfdrive.surf.nl/8iles/index.php/s/</a:t>
            </a:r>
          </a:p>
          <a:p>
            <a:r>
              <a:t>p6Atngg3Q5AzMiz/download|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return to the metrics of precision and recall. We often</a:t>
            </a:r>
          </a:p>
          <a:p>
            <a:r>
              <a:t>have to make a tradeoff between high precision and high</a:t>
            </a:r>
          </a:p>
          <a:p>
            <a:r>
              <a:t>recall. We can boost our recall by calling more things</a:t>
            </a:r>
          </a:p>
          <a:p>
            <a:r>
              <a:t>positive. The drawback is that our precision will go down if</a:t>
            </a:r>
          </a:p>
          <a:p>
            <a:r>
              <a:t>this means including more negatives among the things we</a:t>
            </a:r>
          </a:p>
          <a:p>
            <a:r>
              <a:t>call positive. We can boost our precision by calling fewer</a:t>
            </a:r>
          </a:p>
          <a:p>
            <a:r>
              <a:t>things positive, which will hurt our recall.</a:t>
            </a:r>
          </a:p>
          <a:p>
            <a:r>
              <a:t>How exactly we make the tradeoff depends on our cost</a:t>
            </a:r>
          </a:p>
          <a:p>
            <a:r>
              <a:t>imbalance, and our class imbalance. To help us investigate,</a:t>
            </a:r>
          </a:p>
          <a:p>
            <a:r>
              <a:t>we can plot the precision and recall we get from different</a:t>
            </a:r>
          </a:p>
          <a:p>
            <a:r>
              <a:t>classi8iers.</a:t>
            </a:r>
          </a:p>
          <a:p>
            <a:r>
              <a:t>source: By Walber - own work, CC BY-SA 4.0, https://</a:t>
            </a:r>
          </a:p>
          <a:p>
            <a:r>
              <a:t>commons.wikimedia.org/w/index.php?</a:t>
            </a:r>
          </a:p>
          <a:p>
            <a:r>
              <a:t>curid=36926283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Another pair of metrics that provides this kind of tradeoff</a:t>
            </a:r>
          </a:p>
          <a:p>
            <a:r>
              <a:t>are the true positive and false negative rate.</a:t>
            </a:r>
          </a:p>
          <a:p>
            <a:r>
              <a:t>true positive rate: what proportion of the actual positives</a:t>
            </a:r>
          </a:p>
          <a:p>
            <a:r>
              <a:t>did we get right. The higher the better. I.e. How many of the</a:t>
            </a:r>
          </a:p>
          <a:p>
            <a:r>
              <a:t>people with cancer did we detect.</a:t>
            </a:r>
          </a:p>
          <a:p>
            <a:r>
              <a:t>false positive rate: what proportion of the actual negatives</a:t>
            </a:r>
          </a:p>
          <a:p>
            <a:r>
              <a:t>did we get wrong (by labelling them as positives). The</a:t>
            </a:r>
          </a:p>
          <a:p>
            <a:r>
              <a:t>lower the better. I.e. How many healthy people did we</a:t>
            </a:r>
          </a:p>
          <a:p>
            <a:r>
              <a:t>diagnose with cancer.</a:t>
            </a:r>
          </a:p>
          <a:p>
            <a:r>
              <a:t>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want to get the TPR as high as possible, and the FPR as</a:t>
            </a:r>
          </a:p>
          <a:p>
            <a:r>
              <a:t>low as possible. That means the TPR/FPR space has the</a:t>
            </a:r>
          </a:p>
          <a:p>
            <a:r>
              <a:t>best classi8ier in the top left corner. This space is called ROC</a:t>
            </a:r>
          </a:p>
          <a:p>
            <a:r>
              <a:t>space.</a:t>
            </a:r>
          </a:p>
          <a:p>
            <a:r>
              <a:t>Again, the orange points are the extremes, and easy to</a:t>
            </a:r>
          </a:p>
          <a:p>
            <a:r>
              <a:t>achieve.</a:t>
            </a:r>
          </a:p>
          <a:p>
            <a:r>
              <a:t>ROC stands for receiver-operating characteristic. Like so</a:t>
            </a:r>
          </a:p>
          <a:p>
            <a:r>
              <a:t>many names in machine learning , this is a historical artifact,</a:t>
            </a:r>
          </a:p>
          <a:p>
            <a:r>
              <a:t>a leftover from its invention in WWII to improve the detection</a:t>
            </a:r>
          </a:p>
          <a:p>
            <a:r>
              <a:t>of Japanese aircraft from radar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far we’ve thought of FPR/TPR and precision/recall as a</a:t>
            </a:r>
          </a:p>
          <a:p>
            <a:r>
              <a:t>way to analyze a given set of models.</a:t>
            </a:r>
          </a:p>
          <a:p>
            <a:r>
              <a:t>However, what if we had a single classi8ier, but we could</a:t>
            </a:r>
          </a:p>
          <a:p>
            <a:r>
              <a:t>control how eager it was to call things positive? If we made</a:t>
            </a:r>
          </a:p>
          <a:p>
            <a:r>
              <a:t>it entirely timid, it would classify nothing as positive and</a:t>
            </a:r>
          </a:p>
          <a:p>
            <a:r>
              <a:t>start in the bottom left corner. As it grew more brave, it</a:t>
            </a:r>
          </a:p>
          <a:p>
            <a:r>
              <a:t>would start classifying some things as positive, but only if it</a:t>
            </a:r>
          </a:p>
          <a:p>
            <a:r>
              <a:t>was really sure, and its true positive rate would go up. If we</a:t>
            </a:r>
          </a:p>
          <a:p>
            <a:r>
              <a:t>made it even more daring, it would start getting some</a:t>
            </a:r>
          </a:p>
          <a:p>
            <a:r>
              <a:t>things wrong and both the TPR and the FPR would increase.</a:t>
            </a:r>
          </a:p>
          <a:p>
            <a:r>
              <a:t>Finally, it would end up classifying everything as positive,</a:t>
            </a:r>
          </a:p>
          <a:p>
            <a:r>
              <a:t>and end up on the top right corner.</a:t>
            </a:r>
          </a:p>
          <a:p>
            <a:r>
              <a:t>The curve this classi8ier would trace out, would give us an</a:t>
            </a:r>
          </a:p>
          <a:p>
            <a:r>
              <a:t>indication of its performance, independent of how brave or</a:t>
            </a:r>
          </a:p>
          <a:p>
            <a:r>
              <a:t>how timid we make it. How can we build such a classi8ier?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can achieve this by turning a regular classi8ier into a</a:t>
            </a:r>
          </a:p>
          <a:p>
            <a:r>
              <a:t>ranking classi+ier (also known as a scoring classi+ier). A</a:t>
            </a:r>
          </a:p>
          <a:p>
            <a:r>
              <a:t>ranking classi8ier doesn’t just provide classes, it also gives a</a:t>
            </a:r>
          </a:p>
          <a:p>
            <a:r>
              <a:t>score of how negative or how positive a point is. We can use</a:t>
            </a:r>
          </a:p>
          <a:p>
            <a:r>
              <a:t>this to rank the points from most negative to most positive.</a:t>
            </a:r>
          </a:p>
          <a:p>
            <a:r>
              <a:t>How to do this depends on the type of model we use. Here’s</a:t>
            </a:r>
          </a:p>
          <a:p>
            <a:r>
              <a:t>how to do it for a linear classi8ier. We simply measure the</a:t>
            </a:r>
          </a:p>
          <a:p>
            <a:r>
              <a:t>distance to the decision boundary. We can now scale our</a:t>
            </a:r>
          </a:p>
          <a:p>
            <a:r>
              <a:t>classi8ier from timid to bold by moving the decision</a:t>
            </a:r>
          </a:p>
          <a:p>
            <a:r>
              <a:t>boundary from left to right.</a:t>
            </a:r>
          </a:p>
          <a:p>
            <a:r>
              <a:t>After we have a ranking, we can scale the eagerness of the</a:t>
            </a:r>
          </a:p>
          <a:p>
            <a:r>
              <a:t>classi8ier to make things positive. by moving the threshold</a:t>
            </a:r>
          </a:p>
          <a:p>
            <a:r>
              <a:t>(the dotted line) from left to right, the classi8ier becomes</a:t>
            </a:r>
          </a:p>
          <a:p>
            <a:r>
              <a:t>more eager to call things negative. This allows us to trade</a:t>
            </a:r>
          </a:p>
          <a:p>
            <a:r>
              <a:t>off the true positive rate and the false positive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can make a big matrix of all the pairs for which we know</a:t>
            </a:r>
          </a:p>
          <a:p>
            <a:r>
              <a:t>how they should be ranked: negative points on the</a:t>
            </a:r>
          </a:p>
          <a:p>
            <a:r>
              <a:t>horizontal axis, positive on the vertical. The more sure we</a:t>
            </a:r>
          </a:p>
          <a:p>
            <a:r>
              <a:t>are that a point is positive, the closer we put it to the</a:t>
            </a:r>
          </a:p>
          <a:p>
            <a:r>
              <a:t>bottom left corner. This is called a coverage matrix. We</a:t>
            </a:r>
          </a:p>
          <a:p>
            <a:r>
              <a:t>color a cell green if the corresponding points are ranked the</a:t>
            </a:r>
          </a:p>
          <a:p>
            <a:r>
              <a:t>right way round, and red if they are ranked the wrong way</a:t>
            </a:r>
          </a:p>
          <a:p>
            <a:r>
              <a:t>round.</a:t>
            </a:r>
          </a:p>
          <a:p>
            <a:r>
              <a:t>Note that the proportion of this table that is red, is the</a:t>
            </a:r>
          </a:p>
          <a:p>
            <a:r>
              <a:t>probability of making a ranking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coverage matrix shows us exactly what happens to the</a:t>
            </a:r>
          </a:p>
          <a:p>
            <a:r>
              <a:t>true positive rate and the false positive rate if we move the</a:t>
            </a:r>
          </a:p>
          <a:p>
            <a:r>
              <a:t>threshold from the right to the left. We get exactly the kind</a:t>
            </a:r>
          </a:p>
          <a:p>
            <a:r>
              <a:t>of behaviour we talked about earlier. We move from the all-</a:t>
            </a:r>
          </a:p>
          <a:p>
            <a:r>
              <a:t>positive classi8ier step by step to the all-negative classi8ier.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one of the question types on the exam. People very</a:t>
            </a:r>
          </a:p>
          <a:p>
            <a:r>
              <a:t>often make mistakes in this question, so make sure you</a:t>
            </a:r>
          </a:p>
          <a:p>
            <a:r>
              <a:t>understand what a ranking error is. It's not a misclassi+ied</a:t>
            </a:r>
          </a:p>
          <a:p>
            <a:r>
              <a:t>example. It's a property of a pair of examples.</a:t>
            </a:r>
          </a:p>
          <a:p>
            <a:r>
              <a:t>There are more details in the third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means we can create any classi8ier in this green area,</a:t>
            </a:r>
          </a:p>
          <a:p>
            <a:r>
              <a:t>called the convex hull of the set of green dots. This is called</a:t>
            </a:r>
          </a:p>
          <a:p>
            <a:r>
              <a:t>the area under the (ROC) curve.</a:t>
            </a:r>
          </a:p>
          <a:p>
            <a:r>
              <a:t>The AUC is a good indication of the quality of the classi8ier.</a:t>
            </a:r>
          </a:p>
          <a:p>
            <a:r>
              <a:t>Every point in the green shaded area is a classi&gt;ier we now</a:t>
            </a:r>
          </a:p>
          <a:p>
            <a:r>
              <a:t>how to make, so the bigger this area, the more classi&gt;iers we</a:t>
            </a:r>
          </a:p>
          <a:p>
            <a:r>
              <a:t>can make (although the ones on the boundary are the only</a:t>
            </a:r>
          </a:p>
          <a:p>
            <a:r>
              <a:t>ones we’d ever want to use).</a:t>
            </a:r>
          </a:p>
          <a:p>
            <a:r>
              <a:t>If we have no idea of how we want to make the tradeoff</a:t>
            </a:r>
          </a:p>
          <a:p>
            <a:r>
              <a:t>between the TPR and the FPR, the AUC may be a good way</a:t>
            </a:r>
          </a:p>
          <a:p>
            <a:r>
              <a:t>to compare classi8iers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we saw before: normalizing the coverage matrix gives us</a:t>
            </a:r>
          </a:p>
          <a:p>
            <a:r>
              <a:t>the ROC space (barring some small differences that</a:t>
            </a:r>
          </a:p>
          <a:p>
            <a:r>
              <a:t>disappear for large datasets). The area under the ROC curve</a:t>
            </a:r>
          </a:p>
          <a:p>
            <a:r>
              <a:t>is an estimate of the green proportion of the coverage</a:t>
            </a:r>
          </a:p>
          <a:p>
            <a:r>
              <a:t>matrix. This gives us a good way to interpret the AUC.</a:t>
            </a:r>
          </a:p>
          <a:p>
            <a:r>
              <a:t>The AUC (in ROC space) is an estimate of the probability</a:t>
            </a:r>
          </a:p>
          <a:p>
            <a:r>
              <a:t>that a ranking classi+ier puts a randomly drawn pair of</a:t>
            </a:r>
          </a:p>
          <a:p>
            <a:r>
              <a:t>positive and negative examples in the correct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look at how this works for another type of classi8ier. To</a:t>
            </a:r>
          </a:p>
          <a:p>
            <a:r>
              <a:t>reiterate, how we get a ranking from a classi+ier</a:t>
            </a:r>
          </a:p>
          <a:p>
            <a:r>
              <a:t>depends entirely on the model class.</a:t>
            </a:r>
          </a:p>
          <a:p>
            <a:r>
              <a:t>The decision tree is an example of a partitioning classi8ier. Is</a:t>
            </a:r>
          </a:p>
          <a:p>
            <a:r>
              <a:t>splits the feature space into partitions, and assigns each</a:t>
            </a:r>
          </a:p>
          <a:p>
            <a:r>
              <a:t>partition, also known as a segment, a class. All instances in</a:t>
            </a:r>
          </a:p>
          <a:p>
            <a:r>
              <a:t>the segment get the same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example we have an instance space that has been</a:t>
            </a:r>
          </a:p>
          <a:p>
            <a:r>
              <a:t>split into four segments by a decision tree. We rank the</a:t>
            </a:r>
          </a:p>
          <a:p>
            <a:r>
              <a:t>segments by the proportion of positive points. We then put</a:t>
            </a:r>
          </a:p>
          <a:p>
            <a:r>
              <a:t>all points in one region on the same level in the ranking.</a:t>
            </a:r>
          </a:p>
          <a:p>
            <a:r>
              <a:t>In this example, b is more negative than a, because b’s</a:t>
            </a:r>
          </a:p>
          <a:p>
            <a:r>
              <a:t>segment contains only negative examples, whereas a’s</a:t>
            </a:r>
          </a:p>
          <a:p>
            <a:r>
              <a:t>segment contains a mix of positive and negative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means that for some pairs (like f,z), the classi8ier ranks</a:t>
            </a:r>
          </a:p>
          <a:p>
            <a:r>
              <a:t>them as “the same”. We’ll color these cells orange in the</a:t>
            </a:r>
          </a:p>
          <a:p>
            <a:r>
              <a:t>coverage matrix.</a:t>
            </a:r>
          </a:p>
          <a:p>
            <a:r>
              <a:t>For large datasets, these regions will not contribute much</a:t>
            </a:r>
          </a:p>
          <a:p>
            <a:r>
              <a:t>to the total area under the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 alternative to the ROC is the precision/recall curve. It</a:t>
            </a:r>
          </a:p>
          <a:p>
            <a:r>
              <a:t>works in exactly the same way, but has precision and recall</a:t>
            </a:r>
          </a:p>
          <a:p>
            <a:r>
              <a:t>on the axes.</a:t>
            </a:r>
          </a:p>
          <a:p>
            <a:r>
              <a:t>As you can see in this tweet, in many settings the PR curve</a:t>
            </a:r>
          </a:p>
          <a:p>
            <a:r>
              <a:t>can be much more informative, especially when you’re a</a:t>
            </a:r>
          </a:p>
          <a:p>
            <a:r>
              <a:t>plotting the curves. Practically, it’s little effort to just plot</a:t>
            </a:r>
          </a:p>
          <a:p>
            <a:r>
              <a:t>both, and judge which one is more informative.</a:t>
            </a:r>
          </a:p>
          <a:p>
            <a:r>
              <a:t>ROC has the bene8it of an intuitive interpretation for the</a:t>
            </a:r>
          </a:p>
          <a:p>
            <a:r>
              <a:t>AUC (the probability of ordering a random pair the right</a:t>
            </a:r>
          </a:p>
          <a:p>
            <a:r>
              <a:t>way round). I haven’t yet found a similar interpretation for</a:t>
            </a:r>
          </a:p>
          <a:p>
            <a:r>
              <a:t>the PR-AUC.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interpret the AUC, you should know not just what</a:t>
            </a:r>
          </a:p>
          <a:p>
            <a:r>
              <a:t>classi8ier was used, but how it was made into a collection of</a:t>
            </a:r>
          </a:p>
          <a:p>
            <a:r>
              <a:t>classi8iers. You should also know whether it’s the area</a:t>
            </a:r>
          </a:p>
          <a:p>
            <a:r>
              <a:t>under an ROC curve, or a precision/recall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put a classi8ier into production, a ranking may not be</a:t>
            </a:r>
          </a:p>
          <a:p>
            <a:r>
              <a:t>enough. Sometimes, you just need to produce a single</a:t>
            </a:r>
          </a:p>
          <a:p>
            <a:r>
              <a:t>answer. In that case, you can still use the ROC and PR curves</a:t>
            </a:r>
          </a:p>
          <a:p>
            <a:r>
              <a:t>to tune your hyperparameters and choose your model, but</a:t>
            </a:r>
          </a:p>
          <a:p>
            <a:r>
              <a:t>ultimately, you’ll need to choose a threshold as well: the</a:t>
            </a:r>
          </a:p>
          <a:p>
            <a:r>
              <a:t>point at which you decide to call something a positive.</a:t>
            </a:r>
          </a:p>
          <a:p>
            <a:r>
              <a:t>This is more of a software development issue than a</a:t>
            </a:r>
          </a:p>
          <a:p>
            <a:r>
              <a:t>scienti8ic choice. Often, you have to look carefully at the</a:t>
            </a:r>
          </a:p>
          <a:p>
            <a:r>
              <a:t>curves, perhaps together with the end users, to make a</a:t>
            </a:r>
          </a:p>
          <a:p>
            <a:r>
              <a:t>decision.</a:t>
            </a:r>
          </a:p>
          <a:p>
            <a:r>
              <a:t>The second approach works best with probabilistic</a:t>
            </a:r>
          </a:p>
          <a:p>
            <a:r>
              <a:t>classi8iers, which we’ll discuss next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|section|Social Impact 2|</a:t>
            </a:r>
          </a:p>
          <a:p>
            <a:r>
              <a:t>|video|https://surfdrive.surf.nl/8iles/index.php/s/</a:t>
            </a:r>
          </a:p>
          <a:p>
            <a:r>
              <a:t>6o4T6Xzi8EAc1x5/download|</a:t>
            </a:r>
          </a:p>
          <a:p>
            <a:r>
              <a:t>Model evaluation is not just about showing how well your</a:t>
            </a:r>
          </a:p>
          <a:p>
            <a:r>
              <a:t>model works. It’s also about working out what it means to</a:t>
            </a:r>
          </a:p>
          <a:p>
            <a:r>
              <a:t>get a certain performance. And more importantly, what it</a:t>
            </a:r>
          </a:p>
          <a:p>
            <a:r>
              <a:t>doesn’t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video, we will use the following research as a</a:t>
            </a:r>
          </a:p>
          <a:p>
            <a:r>
              <a:t>running example. In 2017 researchers from Stanford built a</a:t>
            </a:r>
          </a:p>
          <a:p>
            <a:r>
              <a:t>classi8ier that predicted sexual orientation (restricted to the</a:t>
            </a:r>
          </a:p>
          <a:p>
            <a:r>
              <a:t>classes “heterosexual” and “gay”) from pro8ile image taken</a:t>
            </a:r>
          </a:p>
          <a:p>
            <a:r>
              <a:t>from a dating site. They reported 91% ROC-AUC on men</a:t>
            </a:r>
          </a:p>
          <a:p>
            <a:r>
              <a:t>and 83% ROC-AUC on women.</a:t>
            </a:r>
          </a:p>
          <a:p>
            <a:r>
              <a:t>The results were immediately cited as evidence of a</a:t>
            </a:r>
          </a:p>
          <a:p>
            <a:r>
              <a:t>biological link between biology and sexual orientation. The</a:t>
            </a:r>
          </a:p>
          <a:p>
            <a:r>
              <a:t>following important caveats were largely overlooked in</a:t>
            </a:r>
          </a:p>
          <a:p>
            <a:r>
              <a:t>media reports:</a:t>
            </a:r>
          </a:p>
          <a:p>
            <a:r>
              <a:t>Some of the performance came from facial landmarks •</a:t>
            </a:r>
          </a:p>
          <a:p>
            <a:r>
              <a:t>(roundness, length of nose, distance between eyes, etc),</a:t>
            </a:r>
          </a:p>
          <a:p>
            <a:r>
              <a:t>but some came from super8icial details like hairstyle,</a:t>
            </a:r>
          </a:p>
          <a:p>
            <a:r>
              <a:t>lighting and grooming.</a:t>
            </a:r>
          </a:p>
          <a:p>
            <a:r>
              <a:t>The results were true when averaged over a large •</a:t>
            </a:r>
          </a:p>
          <a:p>
            <a:r>
              <a:t>population. It’s true that women live longer than men on</a:t>
            </a:r>
          </a:p>
          <a:p>
            <a:r>
              <a:t>average, but that doesn’t mean that there are no old men.</a:t>
            </a:r>
          </a:p>
          <a:p>
            <a:r>
              <a:t>Likewise, the fact that you can guess orientation based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Like in the previous video, we’ll look at some important</a:t>
            </a:r>
          </a:p>
          <a:p>
            <a:r>
              <a:t>questions to ask yourself when you come up against a topic</a:t>
            </a:r>
          </a:p>
          <a:p>
            <a:r>
              <a:t>like this. Let’s ask the same questions again (with some new</a:t>
            </a:r>
          </a:p>
          <a:p>
            <a:r>
              <a:t>ones thrown in for good measure).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these cases, it’s important to know your history.</a:t>
            </a:r>
          </a:p>
          <a:p>
            <a:r>
              <a:t>Physiognomy is the study which attempts to infer character</a:t>
            </a:r>
          </a:p>
          <a:p>
            <a:r>
              <a:t>from facial features.</a:t>
            </a:r>
          </a:p>
          <a:p>
            <a:r>
              <a:t>In this case there’s is a long history of scientists claiming to</a:t>
            </a:r>
          </a:p>
          <a:p>
            <a:r>
              <a:t>be able to divine personal attributes (most often</a:t>
            </a:r>
          </a:p>
          <a:p>
            <a:r>
              <a:t>“criminality”) from the structure of a subject’s face. This is</a:t>
            </a:r>
          </a:p>
          <a:p>
            <a:r>
              <a:t>called physiogmony and almost any claim made has been</a:t>
            </a:r>
          </a:p>
          <a:p>
            <a:r>
              <a:t>conclusively disproven, and based on poor scienti8ic</a:t>
            </a:r>
          </a:p>
          <a:p>
            <a:r>
              <a:t>practice and spurious correlations.</a:t>
            </a:r>
          </a:p>
          <a:p>
            <a:r>
              <a:t>That doesn’t mean, of course, that the entire idea of</a:t>
            </a:r>
          </a:p>
          <a:p>
            <a:r>
              <a:t>physiognomy is conclusively disproven. Just because people</a:t>
            </a:r>
          </a:p>
          <a:p>
            <a:r>
              <a:t>got it wrong in the past doesn’t mean there couldn’t still be</a:t>
            </a:r>
          </a:p>
          <a:p>
            <a:r>
              <a:t>a link. But it does mean that when we are stumbling into</a:t>
            </a:r>
          </a:p>
          <a:p>
            <a:r>
              <a:t>the same area with new tools, we should be aware of the</a:t>
            </a:r>
          </a:p>
          <a:p>
            <a:r>
              <a:t>mistakes made in the past, so that we can be careful not to</a:t>
            </a:r>
          </a:p>
          <a:p>
            <a:r>
              <a:t>repeat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next thing to be aware of is what you’re looking at. This</a:t>
            </a:r>
          </a:p>
          <a:p>
            <a:r>
              <a:t>is especially important with modern systems that can look</a:t>
            </a:r>
          </a:p>
          <a:p>
            <a:r>
              <a:t>at raw image data without extracting speci8ic, interpretable</a:t>
            </a:r>
          </a:p>
          <a:p>
            <a:r>
              <a:t>features.</a:t>
            </a:r>
          </a:p>
          <a:p>
            <a:r>
              <a:t>Here a visualization of a classi8ier looking at a chest x-ray</a:t>
            </a:r>
          </a:p>
          <a:p>
            <a:r>
              <a:t>and making a prediction of whether the patient has</a:t>
            </a:r>
          </a:p>
          <a:p>
            <a:r>
              <a:t>Cardiomegaly (an enlarged heart). The positive values in</a:t>
            </a:r>
          </a:p>
          <a:p>
            <a:r>
              <a:t>the heat map indicate that those regions are important for</a:t>
            </a:r>
          </a:p>
          <a:p>
            <a:r>
              <a:t>the current classi8ication. The largest values are near the</a:t>
            </a:r>
          </a:p>
          <a:p>
            <a:r>
              <a:t>heart, which is what we expect.</a:t>
            </a:r>
          </a:p>
          <a:p>
            <a:r>
              <a:t>The colors are a bit misleading, since the black background</a:t>
            </a:r>
          </a:p>
          <a:p>
            <a:r>
              <a:t>washes them out. Pay more attention to the actual numbers.</a:t>
            </a:r>
          </a:p>
          <a:p>
            <a:r>
              <a:t>However, the classi8ier is also getting a positive</a:t>
            </a:r>
          </a:p>
          <a:p>
            <a:r>
              <a:t>contribution from the “PORTABLE” label in the top right</a:t>
            </a:r>
          </a:p>
          <a:p>
            <a:r>
              <a:t>corner and the marker on the right. These indicate that the</a:t>
            </a:r>
          </a:p>
          <a:p>
            <a:r>
              <a:t>x-ray was taken with a portable scanner. Such scanners are</a:t>
            </a:r>
          </a:p>
          <a:p>
            <a:r>
              <a:t>only used when a patient’s condition has progressed so far</a:t>
            </a:r>
          </a:p>
          <a:p>
            <a:r>
              <a:t>that they can’t leave their house. In such cases it’s a safe bet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problems are often called “Clever Hans” effects.</a:t>
            </a:r>
          </a:p>
          <a:p>
            <a:r>
              <a:t>Clever Hans, or der Kluge Hans, was an early-20th century</a:t>
            </a:r>
          </a:p>
          <a:p>
            <a:r>
              <a:t>German horse, who appeared to be able to do arithmetic.</a:t>
            </a:r>
          </a:p>
          <a:p>
            <a:r>
              <a:t>As it turned out, Hans was not doing arithmetic, but just</a:t>
            </a:r>
          </a:p>
          <a:p>
            <a:r>
              <a:t>reading the body language of its handler, to see whether it</a:t>
            </a:r>
          </a:p>
          <a:p>
            <a:r>
              <a:t>was moving towards the right answer. This is impressive in</a:t>
            </a:r>
          </a:p>
          <a:p>
            <a:r>
              <a:t>itself, of course, but it does mean that Hans didn’t show the</a:t>
            </a:r>
          </a:p>
          <a:p>
            <a:r>
              <a:t>kind of intelligence that was being attributed to him.</a:t>
            </a:r>
          </a:p>
          <a:p>
            <a:r>
              <a:t>Crucially, this was not a hoax. The handler truly believed that</a:t>
            </a:r>
          </a:p>
          <a:p>
            <a:r>
              <a:t>Hans was able to do arithmetic, and had no idea that he was</a:t>
            </a:r>
          </a:p>
          <a:p>
            <a:r>
              <a:t>guiding him subconsciously. This, incidentally is also why</a:t>
            </a:r>
          </a:p>
          <a:p>
            <a:r>
              <a:t>double-blind experiments are so important in other &gt;ields.</a:t>
            </a:r>
          </a:p>
          <a:p>
            <a:r>
              <a:t>For us, Hans serves as a powerful reminder that just</a:t>
            </a:r>
          </a:p>
          <a:p>
            <a:r>
              <a:t>because we’re seeing the performance we were hoping for,</a:t>
            </a:r>
          </a:p>
          <a:p>
            <a:r>
              <a:t>doesn’t mean we’re seeing it for the reasons we were hoping</a:t>
            </a:r>
          </a:p>
          <a:p>
            <a:r>
              <a:t>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related question you should ask when you 8ind that you</a:t>
            </a:r>
          </a:p>
          <a:p>
            <a:r>
              <a:t>can successfully predict X from Y is which causes which?</a:t>
            </a:r>
          </a:p>
          <a:p>
            <a:r>
              <a:t>eimanyapgosesi bolene ftfehctes olfevfatri,e dfrom [1], shows a feature that</a:t>
            </a:r>
          </a:p>
          <a:p>
            <a:r>
              <a:t>ftothuenspdec trwumhoefn attempting to predict criminality</a:t>
            </a:r>
          </a:p>
          <a:p>
            <a:r>
              <a:t>hoanve tahe dsaamteainsteents itoyfd ifs-aces of criminals and non-criminals.</a:t>
            </a:r>
          </a:p>
          <a:p>
            <a:r>
              <a:t>foefv etryhienpiurt i m8iangedtointhegasv eir-s that the angle made by the corners</a:t>
            </a:r>
          </a:p>
          <a:p>
            <a:r>
              <a:t>of the mouth and the tip of the nose is a highly predictive</a:t>
            </a:r>
          </a:p>
          <a:p>
            <a:r>
              <a:t>PTEhGeso aftudetchodoinrgste cshu-ggest that such facial features are</a:t>
            </a:r>
          </a:p>
          <a:p>
            <a:r>
              <a:t>noyfd ecvriciem-deipnenadelnitt,y</a:t>
            </a:r>
          </a:p>
          <a:p>
            <a:r>
              <a:t>wonhCernim wineal iltoyok at the dataset we see that it’s not</a:t>
            </a:r>
          </a:p>
          <a:p>
            <a:r>
              <a:t>ufcetiaont,uonreewsa yooff tashseess ifnagcthee, so much as the expression that</a:t>
            </a:r>
          </a:p>
          <a:p>
            <a:r>
              <a:t>iIldna ntdhteest “clnasosifine-rscwriithminal” photographs, the subjects hold</a:t>
            </a:r>
          </a:p>
          <a:p>
            <a:r>
              <a:t>flithgehclta sssimficaitlioen, eaxpse riimse cntos.mmon, whereas in the criminal set the</a:t>
            </a:r>
          </a:p>
          <a:p>
            <a:r>
              <a:t>expressions have a more explicitly relaxed jaw. What we’re</a:t>
            </a:r>
          </a:p>
          <a:p>
            <a:r>
              <a:t>thheehyrpeo thaersiest hnatosttil lffaacceial features, so much as facial</a:t>
            </a:r>
          </a:p>
          <a:p>
            <a:r>
              <a:t>roughaspossible.</a:t>
            </a:r>
          </a:p>
          <a:p>
            <a:r>
              <a:t>This is important, because it changes the interpretation of</a:t>
            </a:r>
          </a:p>
          <a:p>
            <a:r>
              <a:t>t th r e e cl a s s i fi c a t io n m e th o d s w o rk o n i m a g e</a:t>
            </a:r>
          </a:p>
          <a:p>
            <a:r>
              <a:t>mt ha e erv ea su au tel tth se rc oe rmf rpm al ne cte se ol ny . The physiognomical interpretation is n t h e n d l i p o a</a:t>
            </a:r>
          </a:p>
          <a:p>
            <a:r>
              <a:t>f e at ur e s , i n c lu d in g 1 . F a c ia l la n d m a rk p o i n t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Let’s go back to the sexuality classi8ier. What might a Clever</a:t>
            </a:r>
          </a:p>
          <a:p>
            <a:r>
              <a:t>Hans effect look like here? In the most extreme case, you</a:t>
            </a:r>
          </a:p>
          <a:p>
            <a:r>
              <a:t>might expect a classi8ier just to look at the background of</a:t>
            </a:r>
          </a:p>
          <a:p>
            <a:r>
              <a:t>the image. The authors were more careful here than you</a:t>
            </a:r>
          </a:p>
          <a:p>
            <a:r>
              <a:t>249</a:t>
            </a:r>
          </a:p>
          <a:p>
            <a:r>
              <a:t>might expect:</a:t>
            </a:r>
          </a:p>
          <a:p>
            <a:r>
              <a:t>The background of the image was blurred and the the •</a:t>
            </a:r>
          </a:p>
          <a:p>
            <a:r>
              <a:t>facial features (eyes, nose, mouth) were detected and</a:t>
            </a:r>
          </a:p>
          <a:p>
            <a:r>
              <a:t>aligned.</a:t>
            </a:r>
          </a:p>
          <a:p>
            <a:r>
              <a:t>The focus of the classi8ier was investigated with saliency •</a:t>
            </a:r>
          </a:p>
          <a:p>
            <a:r>
              <a:t>maps (indicators of where the model is looking). This is a</a:t>
            </a:r>
          </a:p>
          <a:p>
            <a:r>
              <a:t>fallible method, but it does show a general focus on the</a:t>
            </a:r>
          </a:p>
          <a:p>
            <a:r>
              <a:t>face. (Still, remember how small the effect was in the ep e n d e n t v a ri a b l e ) u s in g 5 0 0 s i n g u la r v al u e s e x tr a c te d</a:t>
            </a:r>
          </a:p>
          <a:p>
            <a:r>
              <a:t>-F a c e s c o r e s ( i n d e p e n d en t v a r i a b le s) . L e a s t a b s o lu t e</a:t>
            </a:r>
          </a:p>
          <a:p>
            <a:r>
              <a:t>saliency map for the chest X-ray.)</a:t>
            </a:r>
          </a:p>
          <a:p>
            <a:r>
              <a:t>A second classi8ier was fed only facial landmarks: the • s e t t o 1 ; t h e r e g u la r i z a t i o n p a r a m e t e r w a s a u t o m a t i - %</a:t>
            </a:r>
          </a:p>
          <a:p>
            <a:r>
              <a:t>t e d u s i n g 1 0 - f o l d c r o s s - v a l i d a t i o n .</a:t>
            </a:r>
          </a:p>
          <a:p>
            <a:r>
              <a:t>position of the eyes, roundness of the jaw, etc. That is, the h e m o d e l b u i l t o n t h e t r a i n i n g s e t , c o m b i n i n g t h e S V D</a:t>
            </a:r>
          </a:p>
          <a:p>
            <a:r>
              <a:t>l i t y r e d u c t i o n a n d l o g i s t i c r e g r e s s i o n , w a s u s e d t o p r e -</a:t>
            </a:r>
          </a:p>
          <a:p>
            <a:r>
              <a:t>u a l o r i e n t a t i o n o f t h e p a r t i c i p a n t s i n t h e t e s t s e t . T h i s photo was translated to a series of explicit features. The</a:t>
            </a:r>
          </a:p>
          <a:p>
            <a:r>
              <a:t>suggestion being that this prevents Clever Hans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Another question we suggested in the last video is whether</a:t>
            </a:r>
          </a:p>
          <a:p>
            <a:r>
              <a:t>the target label you’ve chosen is saying what you think it’s</a:t>
            </a:r>
          </a:p>
          <a:p>
            <a:r>
              <a:t>saying.</a:t>
            </a:r>
          </a:p>
          <a:p>
            <a:r>
              <a:t>Here, the authors inferred sexuality from the stated</a:t>
            </a:r>
          </a:p>
          <a:p>
            <a:r>
              <a:t>preference in the dating pro8ile. This is clearly correlated</a:t>
            </a:r>
          </a:p>
          <a:p>
            <a:r>
              <a:t>with sexuality, but not the same thing. Firstly, sexuality is</a:t>
            </a:r>
          </a:p>
          <a:p>
            <a:r>
              <a:t>one of those attributes (like movie genre) that can only be</a:t>
            </a:r>
          </a:p>
          <a:p>
            <a:r>
              <a:t>crudely approximated by a set of 8inite categories.</a:t>
            </a:r>
          </a:p>
          <a:p>
            <a:r>
              <a:t>Moreover, for many people it’s not a 8ixed attribute, and it is</a:t>
            </a:r>
          </a:p>
          <a:p>
            <a:r>
              <a:t>subject to some evolution throughout their life.</a:t>
            </a:r>
          </a:p>
          <a:p>
            <a:r>
              <a:t>The stated preference on a dating pro8ile also means that</a:t>
            </a:r>
          </a:p>
          <a:p>
            <a:r>
              <a:t>you are capturing only those gay people who are willing to</a:t>
            </a:r>
          </a:p>
          <a:p>
            <a:r>
              <a:t>live (relatively) openly as gay. This may be highly dependent</a:t>
            </a:r>
          </a:p>
          <a:p>
            <a:r>
              <a:t>on social background. It’s certainly conceivable that in</a:t>
            </a:r>
          </a:p>
          <a:p>
            <a:r>
              <a:t>poorer subcultures, people are less likely to come out as</a:t>
            </a:r>
          </a:p>
          <a:p>
            <a:r>
              <a:t>gay, either to their community or to themselves.</a:t>
            </a:r>
          </a:p>
          <a:p>
            <a:r>
              <a:t>This means that what we’re detecting when we’re</a:t>
            </a:r>
          </a:p>
          <a:p>
            <a:r>
              <a:t>classifying a face in this dataset as “gay” is more likely a</a:t>
            </a:r>
          </a:p>
          <a:p>
            <a:r>
              <a:t>combination of factors that are correlation to that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So, what kind of hypotheses can we think of for what is</a:t>
            </a:r>
          </a:p>
          <a:p>
            <a:r>
              <a:t>causing the performance of the classi8ier?</a:t>
            </a:r>
          </a:p>
          <a:p>
            <a:r>
              <a:t>The authors observe that in their dataset the heterosexual</a:t>
            </a:r>
          </a:p>
          <a:p>
            <a:r>
              <a:t>men are more likely have facial hair. That’s most likely to be</a:t>
            </a:r>
          </a:p>
          <a:p>
            <a:r>
              <a:t>a grooming choice, based on the differences in gay and</a:t>
            </a:r>
          </a:p>
          <a:p>
            <a:r>
              <a:t>heterosexual subcultures.</a:t>
            </a:r>
          </a:p>
          <a:p>
            <a:r>
              <a:t>For other correlations, such as that between sexuality and</a:t>
            </a:r>
          </a:p>
          <a:p>
            <a:r>
              <a:t>nose length, the authors suggest the prenatal hormone</a:t>
            </a:r>
          </a:p>
          <a:p>
            <a:r>
              <a:t>theory, a theory that relates prenatal hormone levels in the</a:t>
            </a:r>
          </a:p>
          <a:p>
            <a:r>
              <a:t>m o t h e r w i th t h e s e x ua l it y o f t h e s u b je ct . I n s h o r t , a</a:t>
            </a:r>
          </a:p>
          <a:p>
            <a:r>
              <a:t>bio l o g i c a l m e c h a n is m t h a t is r e s p o n s ib le f o r b o t h th e</a:t>
            </a:r>
          </a:p>
          <a:p>
            <a:r>
              <a:t>(slight) variation in facial features and the variation in</a:t>
            </a:r>
          </a:p>
          <a:p>
            <a:r>
              <a:t>sexual preference.</a:t>
            </a:r>
          </a:p>
          <a:p>
            <a:r>
              <a:t>But that’s not the only possibility. In the previous slide, we</a:t>
            </a:r>
          </a:p>
          <a:p>
            <a:r>
              <a:t>saw that it’s dif8icult to separate facial features from facial</a:t>
            </a:r>
          </a:p>
          <a:p>
            <a:r>
              <a:t>expressions. However, even if we somehow eliminate the</a:t>
            </a:r>
          </a:p>
          <a:p>
            <a:r>
              <a:t>expression, that doesn’t mean that every facial feature we</a:t>
            </a:r>
          </a:p>
          <a:p>
            <a:r>
              <a:t>see is determined at birth. For instance, the roundness of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authors plotted the four average faces for the classes</a:t>
            </a:r>
          </a:p>
          <a:p>
            <a:r>
              <a:t>male/female and gay/heterosexual in their dataset. Here</a:t>
            </a:r>
          </a:p>
          <a:p>
            <a:r>
              <a:t>are the four options. It’s a peculiar property of datasets of</a:t>
            </a:r>
          </a:p>
          <a:p>
            <a:r>
              <a:t>(aligned) faces that the mean is often quite a realistic face</a:t>
            </a:r>
          </a:p>
          <a:p>
            <a:r>
              <a:t>itself.</a:t>
            </a:r>
          </a:p>
          <a:p>
            <a:r>
              <a:t>Consider this plot with the hypotheses on the previous</a:t>
            </a:r>
          </a:p>
          <a:p>
            <a:r>
              <a:t>slide. What differences do you see? Pay particular attention</a:t>
            </a:r>
          </a:p>
          <a:p>
            <a:r>
              <a:t>to the differences in skin tone, grooming, body weight, and</a:t>
            </a:r>
          </a:p>
          <a:p>
            <a:r>
              <a:t>the presence of glasses.</a:t>
            </a:r>
          </a:p>
          <a:p>
            <a:r>
              <a:t>I’ll leave you to decide which you think is the more likely</a:t>
            </a:r>
          </a:p>
          <a:p>
            <a:r>
              <a:t>explanation for these difference: choice of presentation,</a:t>
            </a:r>
          </a:p>
          <a:p>
            <a:r>
              <a:t>social class, or sexuality.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authors repeated their experiments by classifying</a:t>
            </a:r>
          </a:p>
          <a:p>
            <a:r>
              <a:t>based purely on facial landmarks. The idea is that we can 253</a:t>
            </a:r>
          </a:p>
          <a:p>
            <a:r>
              <a:t>detect landmarks very accurately, and classifying on these</a:t>
            </a:r>
          </a:p>
          <a:p>
            <a:r>
              <a:t>alone removes a lot of sources for potential Clever Hans</a:t>
            </a:r>
          </a:p>
          <a:p>
            <a:r>
              <a:t>effects.</a:t>
            </a:r>
          </a:p>
          <a:p>
            <a:r>
              <a:t>We see that all subsets of the face landmarks allow for some</a:t>
            </a:r>
          </a:p>
          <a:p>
            <a:r>
              <a:t>predictive performance, but there is a clear difference</a:t>
            </a:r>
          </a:p>
          <a:p>
            <a:r>
              <a:t>between them. Note that just because we are isolating</a:t>
            </a:r>
          </a:p>
          <a:p>
            <a:r>
              <a:t>landmarks, doesn’t mean that we are focusing only on</a:t>
            </a:r>
          </a:p>
          <a:p>
            <a:r>
              <a:t>biological causes. As we saw earlier, the shape of the mouth</a:t>
            </a:r>
          </a:p>
          <a:p>
            <a:r>
              <a:t>is determined more by expression than by facial features,</a:t>
            </a:r>
          </a:p>
          <a:p>
            <a:r>
              <a:t>and the roundness of the jaw is partly determined by body</a:t>
            </a:r>
          </a:p>
          <a:p>
            <a:r>
              <a:t>weight, which is correlated with social class.</a:t>
            </a:r>
          </a:p>
          <a:p>
            <a:r>
              <a:t>We will discuss the AUC metric in the third lecture. For now,</a:t>
            </a:r>
          </a:p>
          <a:p>
            <a:r>
              <a:t>you can think of a classi8ier with 81% AUC as one that,</a:t>
            </a:r>
          </a:p>
          <a:p>
            <a:r>
              <a:t>given a random pair of gay and heterosexual instances from</a:t>
            </a:r>
          </a:p>
          <a:p>
            <a:r>
              <a:t>the data, will successfully select the gay instance 81% of the</a:t>
            </a:r>
          </a:p>
          <a:p>
            <a:r>
              <a:t>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interpret numbers like these, it’s good to get some points</a:t>
            </a:r>
          </a:p>
          <a:p>
            <a:r>
              <a:t>of reference. If we try to guess somebody’s gender or sex</a:t>
            </a:r>
          </a:p>
          <a:p>
            <a:r>
              <a:t>(the distinction doesn’t matter much for such a crude</a:t>
            </a:r>
          </a:p>
          <a:p>
            <a:r>
              <a:t>guess), while knowing nothing about them except their</a:t>
            </a:r>
          </a:p>
          <a:p>
            <a:r>
              <a:t>age, the best we can expect to do is slightly better than</a:t>
            </a:r>
          </a:p>
          <a:p>
            <a:r>
              <a:t>chance level (51% of our guesses will be correct). The</a:t>
            </a:r>
          </a:p>
          <a:p>
            <a:r>
              <a:t>reason we can get better than chance level is that women</a:t>
            </a:r>
          </a:p>
          <a:p>
            <a:r>
              <a:t>tend to live longer than men. This means that if we guess</a:t>
            </a:r>
          </a:p>
          <a:p>
            <a:r>
              <a:t>“female” for older people, we are a little bit more likely to</a:t>
            </a:r>
          </a:p>
          <a:p>
            <a:r>
              <a:t>be correct.</a:t>
            </a:r>
          </a:p>
          <a:p>
            <a:r>
              <a:t>If we restrict ourselves to older people, the effect becomes</a:t>
            </a:r>
          </a:p>
          <a:p>
            <a:r>
              <a:t>more pronounced and we can get to the level the sexuality</a:t>
            </a:r>
          </a:p>
          <a:p>
            <a:r>
              <a:t>classi8ier achieved (based purely on noses in the female</a:t>
            </a:r>
          </a:p>
          <a:p>
            <a:r>
              <a:t>part of the data). This can help us to interpret the AUC the</a:t>
            </a:r>
          </a:p>
          <a:p>
            <a:r>
              <a:t>authors managed to achieve. Note that this accuracy is</a:t>
            </a:r>
          </a:p>
          <a:p>
            <a:r>
              <a:t>achieved by calling everybody female, and the AUC is</a:t>
            </a:r>
          </a:p>
          <a:p>
            <a:r>
              <a:t>achieved by guessing that the older person in a pair is</a:t>
            </a:r>
          </a:p>
          <a:p>
            <a:r>
              <a:t>always female. Think about that. If you walk into a care</a:t>
            </a:r>
          </a:p>
          <a:p>
            <a:r>
              <a:t>home blindfolded and simply call everybody female,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provide some points of references for ROC curves, here</a:t>
            </a:r>
          </a:p>
          <a:p>
            <a:r>
              <a:t>are all the curves you can achieve for sex/gender</a:t>
            </a:r>
          </a:p>
          <a:p>
            <a:r>
              <a:t>classi8ication based on a single physical measurement. For</a:t>
            </a:r>
          </a:p>
          <a:p>
            <a:r>
              <a:t>some of these we get very impressive looking curves. But is</a:t>
            </a:r>
          </a:p>
          <a:p>
            <a:r>
              <a:t>the word "detection" really appropriate when you are</a:t>
            </a:r>
          </a:p>
          <a:p>
            <a:r>
              <a:t>making one physical measurement and predicting sex or</a:t>
            </a:r>
          </a:p>
          <a:p>
            <a:r>
              <a:t>gender based on that?</a:t>
            </a:r>
          </a:p>
          <a:p>
            <a:r>
              <a:t>The lowest AUC comes from using buttock circumference as</a:t>
            </a:r>
          </a:p>
          <a:p>
            <a:r>
              <a:t>a feature, and the highest from using neck circumference.</a:t>
            </a:r>
          </a:p>
          <a:p>
            <a:r>
              <a:t>Since these are soldiers, it's likely that differences due to</a:t>
            </a:r>
          </a:p>
          <a:p>
            <a:r>
              <a:t>muscle volume are more pronounced here than they would</a:t>
            </a:r>
          </a:p>
          <a:p>
            <a:r>
              <a:t>be generally. This plot is for the complete, unbalanced data</a:t>
            </a:r>
          </a:p>
          <a:p>
            <a:r>
              <a:t>so there is a 4:1 class imbalance (male:female).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the histograms per sex/gender for the ANSUR</a:t>
            </a:r>
          </a:p>
          <a:p>
            <a:r>
              <a:t>data. There is a big discrepancy, but notice also how big the</a:t>
            </a:r>
          </a:p>
          <a:p>
            <a:r>
              <a:t>area of overlap is.</a:t>
            </a:r>
          </a:p>
          <a:p>
            <a:r>
              <a:t>This is always what we should imagine when people say</a:t>
            </a:r>
          </a:p>
          <a:p>
            <a:r>
              <a:t>that property A is predictive for attribute B. Just because</a:t>
            </a:r>
          </a:p>
          <a:p>
            <a:r>
              <a:t>there’s some difference between the populations doesn’t</a:t>
            </a:r>
          </a:p>
          <a:p>
            <a:r>
              <a:t>mean that there are no short men or tall women. And most</a:t>
            </a:r>
          </a:p>
          <a:p>
            <a:r>
              <a:t>importantly it doesn’t mean that being short makes you in</a:t>
            </a:r>
          </a:p>
          <a:p>
            <a:r>
              <a:t>some way more feminine or being tall makes you in some</a:t>
            </a:r>
          </a:p>
          <a:p>
            <a:r>
              <a:t>way more masculine.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all that, it’s natural to ask whether this research</a:t>
            </a:r>
          </a:p>
          <a:p>
            <a:r>
              <a:t>project was a mistake. In short, were the authors wrong to</a:t>
            </a:r>
          </a:p>
          <a:p>
            <a:r>
              <a:t>do this, and if so in what way? This is a question of values</a:t>
            </a:r>
          </a:p>
          <a:p>
            <a:r>
              <a:t>rather than science, so it’s up to you to decide. I’ll just note</a:t>
            </a:r>
          </a:p>
          <a:p>
            <a:r>
              <a:t>some important points to consider.</a:t>
            </a:r>
          </a:p>
          <a:p>
            <a:r>
              <a:t>Firstly, the authors weren’t looking to prove this point one</a:t>
            </a:r>
          </a:p>
          <a:p>
            <a:r>
              <a:t>way or another, and they initially stumbled on to their</a:t>
            </a:r>
          </a:p>
          <a:p>
            <a:r>
              <a:t>8indings. Given that a result has been established, it’s most</a:t>
            </a:r>
          </a:p>
          <a:p>
            <a:r>
              <a:t>often unethical not to report it. So long as that reporting is</a:t>
            </a:r>
          </a:p>
          <a:p>
            <a:r>
              <a:t>done carefully and responsibly, of course.</a:t>
            </a:r>
          </a:p>
          <a:p>
            <a:r>
              <a:t>The stated aim of the paper is not to make any claims about</a:t>
            </a:r>
          </a:p>
          <a:p>
            <a:r>
              <a:t>causal mechanisms. The authors are less interested in</a:t>
            </a:r>
          </a:p>
          <a:p>
            <a:r>
              <a:t>whether the classi8ier picks up on grooming choices of</a:t>
            </a:r>
          </a:p>
          <a:p>
            <a:r>
              <a:t>biological features, than in whether the guess can be made</a:t>
            </a:r>
          </a:p>
          <a:p>
            <a:r>
              <a:t>with some success at all.</a:t>
            </a:r>
          </a:p>
          <a:p>
            <a:r>
              <a:t>If we decide that the result did need to be reported, we may</a:t>
            </a:r>
          </a:p>
          <a:p>
            <a:r>
              <a:t>consider whether the authors were guilty of poor framing.</a:t>
            </a:r>
          </a:p>
          <a:p>
            <a:r>
              <a:t>The use of the word detecting is subject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 8ind yourself in the unfortunate situation of having to</a:t>
            </a:r>
          </a:p>
          <a:p>
            <a:r>
              <a:t>publish something controversial like this, or having to</a:t>
            </a:r>
          </a:p>
          <a:p>
            <a:r>
              <a:t>interpret somebody else's work on a controversial topic,</a:t>
            </a:r>
          </a:p>
          <a:p>
            <a:r>
              <a:t>keep these tips in mind.</a:t>
            </a:r>
          </a:p>
          <a:p>
            <a:r>
              <a:t>Finally, and this is a personal opinion, so make of it what</a:t>
            </a:r>
          </a:p>
          <a:p>
            <a:r>
              <a:t>you will: if you read about research like this in a newspaper,</a:t>
            </a:r>
          </a:p>
          <a:p>
            <a:r>
              <a:t>or on social media, remember that you are an academic (or</a:t>
            </a:r>
          </a:p>
          <a:p>
            <a:r>
              <a:t>at least you will be when you graduate). That comes with a</a:t>
            </a:r>
          </a:p>
          <a:p>
            <a:r>
              <a:t>certain responsibility to dig into the primary research</a:t>
            </a:r>
          </a:p>
          <a:p>
            <a:r>
              <a:t>before you make a judgment. Don't just trust the journalists,</a:t>
            </a:r>
          </a:p>
          <a:p>
            <a:r>
              <a:t>or worse, the commenters on Twitter. If you really want to</a:t>
            </a:r>
          </a:p>
          <a:p>
            <a:r>
              <a:t>give your opinion on a situation like this, dig out the</a:t>
            </a:r>
          </a:p>
          <a:p>
            <a:r>
              <a:t>original paper and read it. If you don't, the most honest</a:t>
            </a:r>
          </a:p>
          <a:p>
            <a:r>
              <a:t>thing to do is to withhold judgment.</a:t>
            </a:r>
          </a:p>
          <a:p>
            <a:r>
              <a:t>What you you will 8ind when you dig down, is almost always</a:t>
            </a:r>
          </a:p>
          <a:p>
            <a:r>
              <a:t>that the truth is much more subtle than the news and social</a:t>
            </a:r>
          </a:p>
          <a:p>
            <a:r>
              <a:t>media make it look. In this speci8ic case, the majority of</a:t>
            </a:r>
          </a:p>
          <a:p>
            <a:r>
              <a:t>criticism leveled at the authors was simply inaccurate.</a:t>
            </a:r>
          </a:p>
          <a:p>
            <a:r>
              <a:t>There are valid and serious criticisms of the paper, but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I’m indebted to people on twitter for helping me to see the</a:t>
            </a:r>
          </a:p>
          <a:p>
            <a:r>
              <a:t>different angles on this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|section|No Free Lunch|</a:t>
            </a:r>
          </a:p>
          <a:p>
            <a:r>
              <a:t>|video|https://surfdrive.surf.nl/8iles/index.php/s/</a:t>
            </a:r>
          </a:p>
          <a:p>
            <a:r>
              <a:t>Ox1323uBQfMfwmX/download|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end with a very short, but important discussion.</a:t>
            </a:r>
          </a:p>
          <a:p>
            <a:r>
              <a:t>A question that often arises is: which classi&gt;ier, model, search</a:t>
            </a:r>
          </a:p>
          <a:p>
            <a:r>
              <a:t>method, etc. is the best, independent of the data? Before we</a:t>
            </a:r>
          </a:p>
          <a:p>
            <a:r>
              <a:t>see the data, can we make a best guess for which</a:t>
            </a:r>
          </a:p>
          <a:p>
            <a:r>
              <a:t>approaches to try? Are there some methods that always</a:t>
            </a:r>
          </a:p>
          <a:p>
            <a:r>
              <a:t>work really well?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the 90s two researchers, named Wolpert and MacReady</a:t>
            </a:r>
          </a:p>
          <a:p>
            <a:r>
              <a:t>published a proof of an important theorem. The details are</a:t>
            </a:r>
          </a:p>
          <a:p>
            <a:r>
              <a:t>technical, but it basically stated that if we look at</a:t>
            </a:r>
          </a:p>
          <a:p>
            <a:r>
              <a:t>optimization algorithms (of which machine learning</a:t>
            </a:r>
          </a:p>
          <a:p>
            <a:r>
              <a:t>algorithms are a speci8ic instance), by averaging their</a:t>
            </a:r>
          </a:p>
          <a:p>
            <a:r>
              <a:t>performance over all possible tasks, they all perform</a:t>
            </a:r>
          </a:p>
          <a:p>
            <a:r>
              <a:t>exactly the same. That is, if we want to know which</a:t>
            </a:r>
          </a:p>
          <a:p>
            <a:r>
              <a:t>algorithm is the best independent of the task, we cannot tell</a:t>
            </a:r>
          </a:p>
          <a:p>
            <a:r>
              <a:t>them apart by their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another example, that should show you what a</a:t>
            </a:r>
          </a:p>
          <a:p>
            <a:r>
              <a:t>strange result the no free lunch theorem is. The common</a:t>
            </a:r>
          </a:p>
          <a:p>
            <a:r>
              <a:t>practice of dataset splitting and choosing a model by its test</a:t>
            </a:r>
          </a:p>
          <a:p>
            <a:r>
              <a:t>set performance is also an algorithm. We do it manually, but</a:t>
            </a:r>
          </a:p>
          <a:p>
            <a:r>
              <a:t>we could also program it into a computer. Let's say we want</a:t>
            </a:r>
          </a:p>
          <a:p>
            <a:r>
              <a:t>to choose between two methods A and B. We can follow the</a:t>
            </a:r>
          </a:p>
          <a:p>
            <a:r>
              <a:t>normal approach: split the data, apply both and choose</a:t>
            </a:r>
          </a:p>
          <a:p>
            <a:r>
              <a:t>whichever performs best. Call this method C.</a:t>
            </a:r>
          </a:p>
          <a:p>
            <a:r>
              <a:t>We can also do a ridiculous, counter-intuitive thing and</a:t>
            </a:r>
          </a:p>
          <a:p>
            <a:r>
              <a:t>choose the method that performs worst. Call this method D.</a:t>
            </a:r>
          </a:p>
          <a:p>
            <a:r>
              <a:t>The no free lunch theorem says that method D should</a:t>
            </a:r>
          </a:p>
          <a:p>
            <a:r>
              <a:t>outperform method C just as often as the other way around.</a:t>
            </a:r>
          </a:p>
          <a:p>
            <a:r>
              <a:t>The kind of datasets where this happens are the ones where</a:t>
            </a:r>
          </a:p>
          <a:p>
            <a:r>
              <a:t>the test set happens to behave very differently from the</a:t>
            </a:r>
          </a:p>
          <a:p>
            <a:r>
              <a:t>training set. Since we usually make the split randomly, these</a:t>
            </a:r>
          </a:p>
          <a:p>
            <a:r>
              <a:t>would be very unusual or unlikely datasets, and we feel</a:t>
            </a:r>
          </a:p>
          <a:p>
            <a:r>
              <a:t>justi8ied in using method C. Still, this only works because</a:t>
            </a:r>
          </a:p>
          <a:p>
            <a:r>
              <a:t>we are able to make certain assumptions about our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a way, we’re back to the problem of induction. For any</a:t>
            </a:r>
          </a:p>
          <a:p>
            <a:r>
              <a:t>given situation where a learning method works, there’s a</a:t>
            </a:r>
          </a:p>
          <a:p>
            <a:r>
              <a:t>situation where it doesn’t. Induction (aka. learning from</a:t>
            </a:r>
          </a:p>
          <a:p>
            <a:r>
              <a:t>experience) works in practice, but there are exceptions, and</a:t>
            </a:r>
          </a:p>
          <a:p>
            <a:r>
              <a:t>we can't tell just by looking at the data when it will and</a:t>
            </a:r>
          </a:p>
          <a:p>
            <a:r>
              <a:t>won't work.</a:t>
            </a:r>
          </a:p>
          <a:p>
            <a:r>
              <a:t>Note that if there were some algorithm that could tell us</a:t>
            </a:r>
          </a:p>
          <a:p>
            <a:r>
              <a:t>which situation we were in, we could just use this algorithm</a:t>
            </a:r>
          </a:p>
          <a:p>
            <a:r>
              <a:t>to select our learning method, and beat the NFL theorem.</a:t>
            </a:r>
          </a:p>
          <a:p>
            <a:r>
              <a:t>In short, we need to make some assumptions about the</a:t>
            </a:r>
          </a:p>
          <a:p>
            <a:r>
              <a:t>nature of whatever it was that created our data. Without</a:t>
            </a:r>
          </a:p>
          <a:p>
            <a:r>
              <a:t>such assumptions, learning doesn't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an increasingly important phrase in machine</a:t>
            </a:r>
          </a:p>
          <a:p>
            <a:r>
              <a:t>learning. The inductive bias of a method or model are those</a:t>
            </a:r>
          </a:p>
          <a:p>
            <a:r>
              <a:t>assumptions about the domain that are, explicitly or</a:t>
            </a:r>
          </a:p>
          <a:p>
            <a:r>
              <a:t>implicitly, hardcoded into the model.</a:t>
            </a:r>
          </a:p>
          <a:p>
            <a:r>
              <a:t>For instance, in a linear regression model, the assumption is</a:t>
            </a:r>
          </a:p>
          <a:p>
            <a:r>
              <a:t>that all instances lie on a line (or the higher-dimensional</a:t>
            </a:r>
          </a:p>
          <a:p>
            <a:r>
              <a:t>equivalent). If this assumption isn't violated too much, the</a:t>
            </a:r>
          </a:p>
          <a:p>
            <a:r>
              <a:t>model is a good 8it for the data. If the assumption is violated</a:t>
            </a:r>
          </a:p>
          <a:p>
            <a:r>
              <a:t>very badly, we need to look for ways to change the</a:t>
            </a:r>
          </a:p>
          <a:p>
            <a:r>
              <a:t>inductive bias, for instance by picking a different model, or</a:t>
            </a:r>
          </a:p>
          <a:p>
            <a:r>
              <a:t>by enriching the linear model with extra features, like we</a:t>
            </a:r>
          </a:p>
          <a:p>
            <a:r>
              <a:t>will do in the next lecture.</a:t>
            </a:r>
          </a:p>
          <a:p>
            <a:r>
              <a:t>We can summarize the business of machine learning and</a:t>
            </a:r>
          </a:p>
          <a:p>
            <a:r>
              <a:t>data science as follows. The business of the machine</a:t>
            </a:r>
          </a:p>
          <a:p>
            <a:r>
              <a:t>learning researcher is to create a variety of models with</a:t>
            </a:r>
          </a:p>
          <a:p>
            <a:r>
              <a:t>helpful inductive biases. The business of the data scientist is</a:t>
            </a:r>
          </a:p>
          <a:p>
            <a:r>
              <a:t>to 8igure out which of the available inductive biases is</a:t>
            </a:r>
          </a:p>
          <a:p>
            <a:r>
              <a:t>helpful for any given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“out” to the NFL Theorem, is that there is a “universal</a:t>
            </a:r>
          </a:p>
          <a:p>
            <a:r>
              <a:t>distribution” governing all processes that create data.</a:t>
            </a:r>
          </a:p>
          <a:p>
            <a:r>
              <a:t>The NFL Theorem implicitly assumes that all datasets are</a:t>
            </a:r>
          </a:p>
          <a:p>
            <a:r>
              <a:t>equally likely. Since this is not the case, there is some other,</a:t>
            </a:r>
          </a:p>
          <a:p>
            <a:r>
              <a:t>non-uniform distribution that tells us which datasets are</a:t>
            </a:r>
          </a:p>
          <a:p>
            <a:r>
              <a:t>more likely than others, averaged over all possible settings.</a:t>
            </a:r>
          </a:p>
          <a:p>
            <a:r>
              <a:t>Using such a universal data distribution, we could (in</a:t>
            </a:r>
          </a:p>
          <a:p>
            <a:r>
              <a:t>theory) work out a universally best learning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don't have too many practical ideas about the properties</a:t>
            </a:r>
          </a:p>
          <a:p>
            <a:r>
              <a:t>of such a universal distribution, but one thing that crops up</a:t>
            </a:r>
          </a:p>
          <a:p>
            <a:r>
              <a:t>a lot is that simple data is necessarily more likely than</a:t>
            </a:r>
          </a:p>
          <a:p>
            <a:r>
              <a:t>complex data.</a:t>
            </a:r>
          </a:p>
          <a:p>
            <a:r>
              <a:t>This suggests that in learning we should have a simplicity</a:t>
            </a:r>
          </a:p>
          <a:p>
            <a:r>
              <a:t>bias. If there are two models that both 8it the data, one very</a:t>
            </a:r>
          </a:p>
          <a:p>
            <a:r>
              <a:t>simple, like a linear model, and one very complex, like a</a:t>
            </a:r>
          </a:p>
          <a:p>
            <a:r>
              <a:t>very big decision tree, then it's more likely that the simple</a:t>
            </a:r>
          </a:p>
          <a:p>
            <a:r>
              <a:t>model generated the data.</a:t>
            </a:r>
          </a:p>
          <a:p>
            <a:r>
              <a:t>Such simplicity biases can be implemented in many</a:t>
            </a:r>
          </a:p>
          <a:p>
            <a:r>
              <a:t>different ways, and we'll see some concrete examples as the</a:t>
            </a:r>
          </a:p>
          <a:p>
            <a:r>
              <a:t>course progresses.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E8ECF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E8ECF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E8ECF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E8ECF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E8ECF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CF4"/>
          </a:solidFill>
        </a:defRPr>
      </a:defPPr>
      <a:lvl1pPr marL="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486"/>
            <a:ext cx="12191695" cy="55170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4860"/>
            <a:ext cx="12191695" cy="23882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6148"/>
            <a:ext cx="12191695" cy="2325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6236"/>
            <a:ext cx="12191695" cy="4265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58165"/>
            <a:ext cx="12191695" cy="17416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8406"/>
            <a:ext cx="12191695" cy="54811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9733"/>
            <a:ext cx="12191695" cy="43385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3066"/>
            <a:ext cx="12191695" cy="42518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6382"/>
            <a:ext cx="12191695" cy="30052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6000"/>
            <a:ext cx="12191695" cy="50059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0421"/>
            <a:ext cx="12191695" cy="527715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9134"/>
            <a:ext cx="12191695" cy="53397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0892"/>
            <a:ext cx="12191695" cy="37962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0533"/>
            <a:ext cx="12191695" cy="293693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1862"/>
            <a:ext cx="12191695" cy="32142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098"/>
            <a:ext cx="12191695" cy="407780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124"/>
            <a:ext cx="12191695" cy="661775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2826"/>
            <a:ext cx="12191695" cy="265234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2179"/>
            <a:ext cx="12191695" cy="373364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9156"/>
            <a:ext cx="12191695" cy="38796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7351"/>
            <a:ext cx="12191695" cy="382329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344"/>
            <a:ext cx="12191695" cy="547531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6365"/>
            <a:ext cx="12191695" cy="47452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51"/>
            <a:ext cx="12191695" cy="673929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3615"/>
            <a:ext cx="12191695" cy="305076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124"/>
            <a:ext cx="12191695" cy="661775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591"/>
            <a:ext cx="12191695" cy="563481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0527"/>
            <a:ext cx="12191695" cy="405694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8852"/>
            <a:ext cx="12191695" cy="268029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9475"/>
            <a:ext cx="12191695" cy="337904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6065"/>
            <a:ext cx="12191695" cy="524587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0584"/>
            <a:ext cx="12191695" cy="323683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4690"/>
            <a:ext cx="12191695" cy="336862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9548"/>
            <a:ext cx="12191695" cy="17189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DarkTeal">
      <a:dk1>
        <a:srgbClr val="FFFFFF"/>
      </a:dk1>
      <a:lt1>
        <a:srgbClr val="1A1F2E"/>
      </a:lt1>
      <a:dk2>
        <a:srgbClr val="E8ECF4"/>
      </a:dk2>
      <a:lt2>
        <a:srgbClr val="212738"/>
      </a:lt2>
      <a:accent1>
        <a:srgbClr val="FFFFFF"/>
      </a:accent1>
      <a:accent2>
        <a:srgbClr val="F59E0B"/>
      </a:accent2>
      <a:accent3>
        <a:srgbClr val="16A34A"/>
      </a:accent3>
      <a:accent4>
        <a:srgbClr val="8A94A6"/>
      </a:accent4>
      <a:accent5>
        <a:srgbClr val="DC2626"/>
      </a:accent5>
      <a:accent6>
        <a:srgbClr val="80FFF0"/>
      </a:accent6>
      <a:hlink>
        <a:srgbClr val="FFFFFF"/>
      </a:hlink>
      <a:folHlink>
        <a:srgbClr val="8A94A6"/>
      </a:folHlink>
    </a:clrScheme>
    <a:fontScheme name="Calibri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910636-4640-4D40-9933-078D7E3E0053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8290</Words>
  <Application>Microsoft Macintosh PowerPoint</Application>
  <PresentationFormat>Widescreen</PresentationFormat>
  <Paragraphs>764</Paragraphs>
  <Slides>71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Arial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6</cp:revision>
  <dcterms:created xsi:type="dcterms:W3CDTF">2013-01-27T09:14:16Z</dcterms:created>
  <dcterms:modified xsi:type="dcterms:W3CDTF">2026-03-20T10:51:59Z</dcterms:modified>
  <cp:category/>
</cp:coreProperties>
</file>