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312" r:id="rId2"/>
    <p:sldId id="352" r:id="rId3"/>
    <p:sldId id="314" r:id="rId4"/>
    <p:sldId id="315" r:id="rId5"/>
    <p:sldId id="353" r:id="rId6"/>
    <p:sldId id="317" r:id="rId7"/>
    <p:sldId id="354" r:id="rId8"/>
    <p:sldId id="319" r:id="rId9"/>
    <p:sldId id="355" r:id="rId10"/>
    <p:sldId id="321" r:id="rId11"/>
    <p:sldId id="322" r:id="rId12"/>
    <p:sldId id="375" r:id="rId13"/>
    <p:sldId id="356" r:id="rId14"/>
    <p:sldId id="360" r:id="rId15"/>
    <p:sldId id="327" r:id="rId16"/>
    <p:sldId id="330" r:id="rId17"/>
    <p:sldId id="371" r:id="rId18"/>
    <p:sldId id="372" r:id="rId19"/>
    <p:sldId id="364" r:id="rId20"/>
    <p:sldId id="363" r:id="rId21"/>
    <p:sldId id="332" r:id="rId22"/>
    <p:sldId id="334" r:id="rId23"/>
    <p:sldId id="374" r:id="rId24"/>
    <p:sldId id="336" r:id="rId25"/>
    <p:sldId id="347" r:id="rId26"/>
    <p:sldId id="348" r:id="rId27"/>
    <p:sldId id="350"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0274"/>
  </p:normalViewPr>
  <p:slideViewPr>
    <p:cSldViewPr snapToGrid="0" snapToObjects="1">
      <p:cViewPr varScale="1">
        <p:scale>
          <a:sx n="110" d="100"/>
          <a:sy n="110" d="100"/>
        </p:scale>
        <p:origin x="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038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39B6-4248-4F26-A2F3-921337ACD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9C021-7000-FB6D-F13B-591A0B0A9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1164F-3933-CD54-1F05-AF592AAFF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171A8A-C049-8B07-1468-F3E4058F3D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3452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PREFILLING — Explaining the table row</a:t>
            </a:r>
          </a:p>
          <a:p>
            <a:endParaRPr lang="en-US" dirty="0"/>
          </a:p>
          <a:p>
            <a:r>
              <a:rPr lang="en-US" dirty="0"/>
              <a:t>Prefilling is a technique unique to the API where you pre-populate the beginning of the assistant's response before the model generates the rest.</a:t>
            </a:r>
          </a:p>
          <a:p>
            <a:endParaRPr lang="en-US" dirty="0"/>
          </a:p>
          <a:p>
            <a:r>
              <a:rPr lang="en-US" dirty="0"/>
              <a:t>How it works: Normally, the model generates its entire reply from scratch. With prefilling, you provide the start of the assistant message in the messages array, and the model continues from where you left off.</a:t>
            </a:r>
          </a:p>
          <a:p>
            <a:endParaRPr lang="en-US" dirty="0"/>
          </a:p>
          <a:p>
            <a:r>
              <a:rPr lang="en-US" dirty="0"/>
              <a:t>Why it's useful:</a:t>
            </a:r>
          </a:p>
          <a:p>
            <a:r>
              <a:rPr lang="en-US" dirty="0"/>
              <a:t>- Control output format: prefill with "{" to force JSON output, or a code fence to force code.</a:t>
            </a:r>
          </a:p>
          <a:p>
            <a:r>
              <a:rPr lang="en-US" dirty="0"/>
              <a:t>- Steer tone/style: start the response in a certain voice and the model continues accordingly.</a:t>
            </a:r>
          </a:p>
          <a:p>
            <a:r>
              <a:rPr lang="en-US" dirty="0"/>
              <a:t>- Reduce preamble: skip filler like "Sure, I'd be happy to help!" and get straight to the answer.</a:t>
            </a:r>
          </a:p>
          <a:p>
            <a:r>
              <a:rPr lang="en-US" dirty="0"/>
              <a:t>- Guide reasoning: nudge the model toward a specific line of thinking.</a:t>
            </a:r>
          </a:p>
          <a:p>
            <a:endParaRPr lang="en-US" dirty="0"/>
          </a:p>
          <a:p>
            <a:r>
              <a:rPr lang="en-US" dirty="0"/>
              <a:t>Example: If you set the assistant turn to start with "The answer is:" the model continues directly with the answer rather than generating its own intro.</a:t>
            </a:r>
          </a:p>
          <a:p>
            <a:endParaRPr lang="en-US" dirty="0"/>
          </a:p>
          <a:p>
            <a:r>
              <a:rPr lang="en-US" dirty="0"/>
              <a:t>Why is this "Not available" in the Chat UI? Because the product controls the full message flow — there is no way for end users to inject a partial assistant turn. In the API, developers have full control over the messages array, including setting a partial assistant message that the model will complete.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02874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AC8E5-4CA3-2600-7579-F83FAC52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E4F8B-29E2-50A1-4181-11065C44A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29B56-5D3F-ED6B-8F35-17C89EBEA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3B555F-67D1-09EA-EDE9-6CFC29BFB46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188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E762-D2C4-7EFD-6C80-34D9A45E0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7A622-993A-E6C6-898E-0EC2CD606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E8617-5AE7-C8A3-1509-C93EDF445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94865A-28CC-A4C3-05C2-3DEFEE9111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698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0671-053C-137E-B27E-F2276E65C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A88E6-DA6A-6076-152C-25F9EB18B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65A86-887B-F62E-6CB4-2B107AC85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B7EA9-566A-F263-B3D5-590482A3B07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5014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0A44-5F45-1CA4-4A96-FE56B65A6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E8F8D-1F62-9950-6342-70557217E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D4DE0-1E28-DE74-5C4D-AB6B061F9C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Sample from the smallest set of tokens whose probability sums to p. Use either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top_p</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or temperature, not both.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Hard cap on output length. Set it high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nough</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to avoid truncation, low enough to control cost. Always check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finish_reason</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Strings that halt generation (e.g., "\n\n", "END"). Essential for structured output and preventing runaway completions.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Fixed seed + low temperature = near-deterministic outputs. Critical for reproducible evals and debugging.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endParaRPr lang="en-US" dirty="0"/>
          </a:p>
          <a:p>
            <a:endParaRPr lang="en-US" dirty="0"/>
          </a:p>
        </p:txBody>
      </p:sp>
      <p:sp>
        <p:nvSpPr>
          <p:cNvPr id="4" name="Slide Number Placeholder 3">
            <a:extLst>
              <a:ext uri="{FF2B5EF4-FFF2-40B4-BE49-F238E27FC236}">
                <a16:creationId xmlns:a16="http://schemas.microsoft.com/office/drawing/2014/main" id="{E2BCE821-4774-39C2-394B-99639FC3304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18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D815-60D8-BB01-F603-E5BD58CAF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C375-83F7-760F-F317-7CDFDB1F6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C7D20-C743-76DC-F28D-886FCB873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B0F2C-EDEA-B0DD-F1A9-CD8449DB2ED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42056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5241F8F-EDD8-9CE3-BD72-D7A4ECBCE9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4A51BD-241B-C9FF-C22F-65BC4BE1B1E5}"/>
              </a:ext>
            </a:extLst>
          </p:cNvPr>
          <p:cNvSpPr/>
          <p:nvPr/>
        </p:nvSpPr>
        <p:spPr>
          <a:xfrm>
            <a:off x="0" y="0"/>
            <a:ext cx="914400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6E8BA19-6762-77EA-B4DA-92206B306694}"/>
              </a:ext>
            </a:extLst>
          </p:cNvPr>
          <p:cNvSpPr/>
          <p:nvPr/>
        </p:nvSpPr>
        <p:spPr>
          <a:xfrm>
            <a:off x="640080" y="731520"/>
            <a:ext cx="7772400" cy="237744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Mastering</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Individual Calls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to LLMs</a:t>
            </a:r>
          </a:p>
        </p:txBody>
      </p:sp>
      <p:sp>
        <p:nvSpPr>
          <p:cNvPr id="4" name="Text 2">
            <a:extLst>
              <a:ext uri="{FF2B5EF4-FFF2-40B4-BE49-F238E27FC236}">
                <a16:creationId xmlns:a16="http://schemas.microsoft.com/office/drawing/2014/main" id="{B63330BC-2099-954A-A8E3-E07F1241A032}"/>
              </a:ext>
            </a:extLst>
          </p:cNvPr>
          <p:cNvSpPr/>
          <p:nvPr/>
        </p:nvSpPr>
        <p:spPr>
          <a:xfrm>
            <a:off x="640080" y="3108960"/>
            <a:ext cx="7772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1" u="none" strike="noStrike" kern="1200" cap="none" spc="0" normalizeH="0" baseline="0" noProof="0" dirty="0">
              <a:ln>
                <a:noFill/>
              </a:ln>
              <a:solidFill>
                <a:srgbClr val="00BFA6"/>
              </a:solidFill>
              <a:effectLst/>
              <a:uLnTx/>
              <a:uFillTx/>
              <a:latin typeface="Segoe UI" pitchFamily="34" charset="0"/>
              <a:ea typeface="Segoe UI" pitchFamily="34" charset="-122"/>
              <a:cs typeface="Segoe UI" pitchFamily="34" charset="-120"/>
            </a:endParaRPr>
          </a:p>
        </p:txBody>
      </p:sp>
      <p:sp>
        <p:nvSpPr>
          <p:cNvPr id="6" name="Text 4">
            <a:extLst>
              <a:ext uri="{FF2B5EF4-FFF2-40B4-BE49-F238E27FC236}">
                <a16:creationId xmlns:a16="http://schemas.microsoft.com/office/drawing/2014/main" id="{4803E927-0578-FFE0-92C5-C14D661C09E2}"/>
              </a:ext>
            </a:extLst>
          </p:cNvPr>
          <p:cNvSpPr/>
          <p:nvPr/>
        </p:nvSpPr>
        <p:spPr>
          <a:xfrm>
            <a:off x="640080" y="429768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Fabio Casati  ·  University of Trento</a:t>
            </a:r>
          </a:p>
        </p:txBody>
      </p:sp>
    </p:spTree>
    <p:extLst>
      <p:ext uri="{BB962C8B-B14F-4D97-AF65-F5344CB8AC3E}">
        <p14:creationId xmlns:p14="http://schemas.microsoft.com/office/powerpoint/2010/main" val="2251614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20040"/>
            <a:ext cx="7772400" cy="731520"/>
          </a:xfrm>
          <a:prstGeom prst="rect">
            <a:avLst/>
          </a:prstGeom>
          <a:noFill/>
          <a:ln/>
        </p:spPr>
        <p:txBody>
          <a:bodyPr wrap="square" lIns="0" tIns="0" rIns="0" bIns="0" rtlCol="0" anchor="ctr"/>
          <a:lstStyle/>
          <a:p>
            <a:pPr marL="0" indent="0">
              <a:buNone/>
            </a:pPr>
            <a:r>
              <a:rPr lang="en-US" sz="4200" b="1" dirty="0">
                <a:solidFill>
                  <a:srgbClr val="1A2744"/>
                </a:solidFill>
                <a:latin typeface="Segoe UI Black" pitchFamily="34" charset="0"/>
                <a:ea typeface="Segoe UI Black" pitchFamily="34" charset="-122"/>
                <a:cs typeface="Segoe UI Black" pitchFamily="34" charset="-120"/>
              </a:rPr>
              <a:t>UI vs API</a:t>
            </a:r>
            <a:endParaRPr lang="en-US" sz="4200" dirty="0"/>
          </a:p>
        </p:txBody>
      </p:sp>
      <p:sp>
        <p:nvSpPr>
          <p:cNvPr id="3" name="Text 1"/>
          <p:cNvSpPr/>
          <p:nvPr/>
        </p:nvSpPr>
        <p:spPr>
          <a:xfrm>
            <a:off x="593780" y="1211869"/>
            <a:ext cx="7772400" cy="929447"/>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i="1" dirty="0">
                <a:solidFill>
                  <a:srgbClr val="1A2744"/>
                </a:solidFill>
                <a:latin typeface="Segoe UI" pitchFamily="34" charset="0"/>
                <a:ea typeface="Segoe UI" pitchFamily="34" charset="-122"/>
                <a:cs typeface="Segoe UI" pitchFamily="34" charset="-120"/>
              </a:rPr>
              <a:t>With both, you have 1. defaults and 2. controls.</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But – they vary. And you must make choices intentionally</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New features come out EVERY DAY</a:t>
            </a:r>
            <a:endParaRPr lang="en-US" sz="2000" dirty="0"/>
          </a:p>
        </p:txBody>
      </p:sp>
      <p:graphicFrame>
        <p:nvGraphicFramePr>
          <p:cNvPr id="5" name="Table 0"/>
          <p:cNvGraphicFramePr>
            <a:graphicFrameLocks noGrp="1"/>
          </p:cNvGraphicFramePr>
          <p:nvPr/>
        </p:nvGraphicFramePr>
        <p:xfrm>
          <a:off x="243068" y="2809754"/>
          <a:ext cx="8646287" cy="2028078"/>
        </p:xfrm>
        <a:graphic>
          <a:graphicData uri="http://schemas.openxmlformats.org/drawingml/2006/table">
            <a:tbl>
              <a:tblPr/>
              <a:tblGrid>
                <a:gridCol w="2211841">
                  <a:extLst>
                    <a:ext uri="{9D8B030D-6E8A-4147-A177-3AD203B41FA5}">
                      <a16:colId xmlns:a16="http://schemas.microsoft.com/office/drawing/2014/main" val="20000"/>
                    </a:ext>
                  </a:extLst>
                </a:gridCol>
                <a:gridCol w="3217223">
                  <a:extLst>
                    <a:ext uri="{9D8B030D-6E8A-4147-A177-3AD203B41FA5}">
                      <a16:colId xmlns:a16="http://schemas.microsoft.com/office/drawing/2014/main" val="20001"/>
                    </a:ext>
                  </a:extLst>
                </a:gridCol>
                <a:gridCol w="3217223">
                  <a:extLst>
                    <a:ext uri="{9D8B030D-6E8A-4147-A177-3AD203B41FA5}">
                      <a16:colId xmlns:a16="http://schemas.microsoft.com/office/drawing/2014/main" val="20002"/>
                    </a:ext>
                  </a:extLst>
                </a:gridCol>
              </a:tblGrid>
              <a:tr h="497480">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Capability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Chat UI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API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08239">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Tools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Developer-defined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1965">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Memory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Developer-managed (if you want)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05114">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Structured outputs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Best-effort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Enforced via JSON Schema</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2516">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9553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Anatomy of an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2AE8DF7-D195-6327-2E04-EA4AE98A4B35}"/>
              </a:ext>
            </a:extLst>
          </p:cNvPr>
          <p:cNvSpPr/>
          <p:nvPr/>
        </p:nvSpPr>
        <p:spPr>
          <a:xfrm>
            <a:off x="640080" y="201168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C4815066-66A1-59FC-7349-946E9C4402DC}"/>
              </a:ext>
            </a:extLst>
          </p:cNvPr>
          <p:cNvSpPr/>
          <p:nvPr/>
        </p:nvSpPr>
        <p:spPr>
          <a:xfrm>
            <a:off x="640080" y="201168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4512780C-AA96-81A6-6AFD-CC870C41D6E5}"/>
              </a:ext>
            </a:extLst>
          </p:cNvPr>
          <p:cNvSpPr/>
          <p:nvPr/>
        </p:nvSpPr>
        <p:spPr>
          <a:xfrm>
            <a:off x="1417320" y="196596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Message</a:t>
            </a:r>
          </a:p>
        </p:txBody>
      </p:sp>
      <p:sp>
        <p:nvSpPr>
          <p:cNvPr id="7" name="Text 5">
            <a:extLst>
              <a:ext uri="{FF2B5EF4-FFF2-40B4-BE49-F238E27FC236}">
                <a16:creationId xmlns:a16="http://schemas.microsoft.com/office/drawing/2014/main" id="{25CAB123-4FE1-DB89-629F-5D6E18170171}"/>
              </a:ext>
            </a:extLst>
          </p:cNvPr>
          <p:cNvSpPr/>
          <p:nvPr/>
        </p:nvSpPr>
        <p:spPr>
          <a:xfrm>
            <a:off x="1417320" y="228600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Sets the persona, rules, and constraints the model follows throughout the conversation. Think of it as the model's "job description."</a:t>
            </a:r>
          </a:p>
        </p:txBody>
      </p:sp>
      <p:sp>
        <p:nvSpPr>
          <p:cNvPr id="8" name="Shape 6">
            <a:extLst>
              <a:ext uri="{FF2B5EF4-FFF2-40B4-BE49-F238E27FC236}">
                <a16:creationId xmlns:a16="http://schemas.microsoft.com/office/drawing/2014/main" id="{ABFFC6FB-0B13-8F29-DD9D-196590B8FFA0}"/>
              </a:ext>
            </a:extLst>
          </p:cNvPr>
          <p:cNvSpPr/>
          <p:nvPr/>
        </p:nvSpPr>
        <p:spPr>
          <a:xfrm>
            <a:off x="640080" y="301752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5003E05-5BA1-6961-6269-B17BA975B0AE}"/>
              </a:ext>
            </a:extLst>
          </p:cNvPr>
          <p:cNvSpPr/>
          <p:nvPr/>
        </p:nvSpPr>
        <p:spPr>
          <a:xfrm>
            <a:off x="640080" y="301752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0C49A927-356F-2767-527C-ED591F693561}"/>
              </a:ext>
            </a:extLst>
          </p:cNvPr>
          <p:cNvSpPr/>
          <p:nvPr/>
        </p:nvSpPr>
        <p:spPr>
          <a:xfrm>
            <a:off x="1417320" y="297180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User Message</a:t>
            </a:r>
          </a:p>
        </p:txBody>
      </p:sp>
      <p:sp>
        <p:nvSpPr>
          <p:cNvPr id="11" name="Text 9">
            <a:extLst>
              <a:ext uri="{FF2B5EF4-FFF2-40B4-BE49-F238E27FC236}">
                <a16:creationId xmlns:a16="http://schemas.microsoft.com/office/drawing/2014/main" id="{FEACD849-5B34-A795-3AB0-1F9D13B1A128}"/>
              </a:ext>
            </a:extLst>
          </p:cNvPr>
          <p:cNvSpPr/>
          <p:nvPr/>
        </p:nvSpPr>
        <p:spPr>
          <a:xfrm>
            <a:off x="1417320" y="329184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The actual task or question. Includes the input data, instructions, and any examples (few-shot) you want the model to follow.</a:t>
            </a:r>
          </a:p>
        </p:txBody>
      </p:sp>
      <p:sp>
        <p:nvSpPr>
          <p:cNvPr id="12" name="Shape 10">
            <a:extLst>
              <a:ext uri="{FF2B5EF4-FFF2-40B4-BE49-F238E27FC236}">
                <a16:creationId xmlns:a16="http://schemas.microsoft.com/office/drawing/2014/main" id="{EA109285-1727-47EE-C4B8-E697F3E85715}"/>
              </a:ext>
            </a:extLst>
          </p:cNvPr>
          <p:cNvSpPr/>
          <p:nvPr/>
        </p:nvSpPr>
        <p:spPr>
          <a:xfrm>
            <a:off x="640080" y="402336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4BE354B5-2949-CB76-4EE8-AC130CC561B1}"/>
              </a:ext>
            </a:extLst>
          </p:cNvPr>
          <p:cNvSpPr/>
          <p:nvPr/>
        </p:nvSpPr>
        <p:spPr>
          <a:xfrm>
            <a:off x="640080" y="402336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8BE4EE10-AE50-F05D-BDFF-AE7DF48A5E66}"/>
              </a:ext>
            </a:extLst>
          </p:cNvPr>
          <p:cNvSpPr/>
          <p:nvPr/>
        </p:nvSpPr>
        <p:spPr>
          <a:xfrm>
            <a:off x="1417320" y="397764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Parameters</a:t>
            </a:r>
          </a:p>
        </p:txBody>
      </p:sp>
      <p:sp>
        <p:nvSpPr>
          <p:cNvPr id="15" name="Text 13">
            <a:extLst>
              <a:ext uri="{FF2B5EF4-FFF2-40B4-BE49-F238E27FC236}">
                <a16:creationId xmlns:a16="http://schemas.microsoft.com/office/drawing/2014/main" id="{93A140BD-46B2-DF48-011B-23D435027558}"/>
              </a:ext>
            </a:extLst>
          </p:cNvPr>
          <p:cNvSpPr/>
          <p:nvPr/>
        </p:nvSpPr>
        <p:spPr>
          <a:xfrm>
            <a:off x="1417320" y="429768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Temperature, top_p, max_tokens, stop sequences, and more. These knobs control how the model generates its response.</a:t>
            </a:r>
          </a:p>
        </p:txBody>
      </p:sp>
    </p:spTree>
    <p:extLst>
      <p:ext uri="{BB962C8B-B14F-4D97-AF65-F5344CB8AC3E}">
        <p14:creationId xmlns:p14="http://schemas.microsoft.com/office/powerpoint/2010/main" val="61054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Your First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CodeBg"/>
          <p:cNvSpPr/>
          <p:nvPr/>
        </p:nvSpPr>
        <p:spPr>
          <a:xfrm>
            <a:off x="457200" y="1143000"/>
            <a:ext cx="822960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Text"/>
          <p:cNvSpPr/>
          <p:nvPr/>
        </p:nvSpPr>
        <p:spPr>
          <a:xfrm>
            <a:off x="594360" y="1280160"/>
            <a:ext cx="7955280" cy="3383280"/>
          </a:xfrm>
          <a:prstGeom prst="rect">
            <a:avLst/>
          </a:prstGeom>
          <a:noFill/>
          <a:ln>
            <a:noFill/>
          </a:ln>
        </p:spPr>
        <p:txBody>
          <a:bodyPr wrap="square" lIns="91440" tIns="45720" rIns="91440" bIns="45720" rtlCol="0" anchor="t"/>
          <a:lstStyle/>
          <a:p>
            <a:pPr algn="l">
              <a:lnSpc>
                <a:spcPts val="1800"/>
              </a:lnSpc>
              <a:buNone/>
            </a:pPr>
            <a:r>
              <a:rPr lang="en-US" sz="1100" b="1" dirty="0">
                <a:solidFill>
                  <a:srgbClr val="FF7B72"/>
                </a:solidFill>
                <a:latin typeface="Consolas"/>
                <a:cs typeface="Consolas"/>
              </a:rPr>
              <a:t>from</a:t>
            </a:r>
            <a:r>
              <a:rPr lang="en-US" sz="1100" dirty="0">
                <a:solidFill>
                  <a:srgbClr val="C9D1D9"/>
                </a:solidFill>
                <a:latin typeface="Consolas"/>
                <a:cs typeface="Consolas"/>
              </a:rPr>
              <a:t> openai </a:t>
            </a:r>
            <a:r>
              <a:rPr lang="en-US" sz="1100" b="1" dirty="0">
                <a:solidFill>
                  <a:srgbClr val="FF7B72"/>
                </a:solidFill>
                <a:latin typeface="Consolas"/>
                <a:cs typeface="Consolas"/>
              </a:rPr>
              <a:t>import</a:t>
            </a:r>
            <a:r>
              <a:rPr lang="en-US" sz="1100" dirty="0">
                <a:solidFill>
                  <a:srgbClr val="C9D1D9"/>
                </a:solidFill>
                <a:latin typeface="Consolas"/>
                <a:cs typeface="Consolas"/>
              </a:rPr>
              <a:t>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client =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response = client.chat.completions.create(</a:t>
            </a:r>
          </a:p>
          <a:p>
            <a:pPr algn="l">
              <a:lnSpc>
                <a:spcPts val="1800"/>
              </a:lnSpc>
              <a:buNone/>
            </a:pPr>
            <a:r>
              <a:rPr lang="en-US" sz="1100" dirty="0">
                <a:solidFill>
                  <a:srgbClr val="C9D1D9"/>
                </a:solidFill>
                <a:latin typeface="Consolas"/>
                <a:cs typeface="Consolas"/>
              </a:rPr>
              <a:t>    model=</a:t>
            </a:r>
            <a:r>
              <a:rPr lang="en-US" sz="1100" dirty="0">
                <a:solidFill>
                  <a:srgbClr val="A5D6FF"/>
                </a:solidFill>
                <a:latin typeface="Consolas"/>
                <a:cs typeface="Consolas"/>
              </a:rPr>
              <a:t>"gpt-4.1-mini"</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messages=[</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"system"</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"You are a helpful assistant."</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"user"</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"What is the capital of France?"</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p>
          <a:p>
            <a:pPr algn="l">
              <a:lnSpc>
                <a:spcPts val="1800"/>
              </a:lnSpc>
              <a:buNone/>
            </a:pPr>
            <a:r>
              <a:rPr lang="en-US" sz="1100" dirty="0">
                <a:solidFill>
                  <a:srgbClr val="C9D1D9"/>
                </a:solidFill>
                <a:latin typeface="Consolas"/>
                <a:cs typeface="Consolas"/>
              </a:rPr>
              <a:t>    temperature=</a:t>
            </a:r>
            <a:r>
              <a:rPr lang="en-US" sz="1100" dirty="0">
                <a:solidFill>
                  <a:srgbClr val="79C0FF"/>
                </a:solidFill>
                <a:latin typeface="Consolas"/>
                <a:cs typeface="Consolas"/>
              </a:rPr>
              <a:t>0.0</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print(response.choices[</a:t>
            </a:r>
            <a:r>
              <a:rPr lang="en-US" sz="1100" dirty="0">
                <a:solidFill>
                  <a:srgbClr val="79C0FF"/>
                </a:solidFill>
                <a:latin typeface="Consolas"/>
                <a:cs typeface="Consolas"/>
              </a:rPr>
              <a:t>0</a:t>
            </a:r>
            <a:r>
              <a:rPr lang="en-US" sz="1100" dirty="0">
                <a:solidFill>
                  <a:srgbClr val="C9D1D9"/>
                </a:solidFill>
                <a:latin typeface="Consolas"/>
                <a:cs typeface="Consolas"/>
              </a:rPr>
              <a:t>].message.content)</a:t>
            </a:r>
          </a:p>
          <a:p>
            <a:pPr algn="l">
              <a:lnSpc>
                <a:spcPts val="1800"/>
              </a:lnSpc>
              <a:buNone/>
            </a:pPr>
            <a:r>
              <a:rPr lang="en-US" sz="1100" dirty="0">
                <a:solidFill>
                  <a:srgbClr val="B8C4D6"/>
                </a:solidFill>
                <a:latin typeface="Consolas"/>
                <a:cs typeface="Consolas"/>
              </a:rPr>
              <a:t># &gt;&gt;&gt; The capital of France is Paris.</a:t>
            </a:r>
          </a:p>
        </p:txBody>
      </p:sp>
    </p:spTree>
    <p:extLst>
      <p:ext uri="{BB962C8B-B14F-4D97-AF65-F5344CB8AC3E}">
        <p14:creationId xmlns:p14="http://schemas.microsoft.com/office/powerpoint/2010/main" val="362130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32801E-E686-542A-1F2A-CF9CCF6FBA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E40BB0-1B38-925F-7EC8-4597345C1C2E}"/>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71D1FF9-7372-C0C1-F568-45C3E998AC3B}"/>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1</a:t>
            </a:r>
          </a:p>
        </p:txBody>
      </p:sp>
      <p:sp>
        <p:nvSpPr>
          <p:cNvPr id="4" name="Text 2">
            <a:extLst>
              <a:ext uri="{FF2B5EF4-FFF2-40B4-BE49-F238E27FC236}">
                <a16:creationId xmlns:a16="http://schemas.microsoft.com/office/drawing/2014/main" id="{E141AF81-C944-C096-7963-B6EC72EC39F0}"/>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System vs. User Messages</a:t>
            </a:r>
          </a:p>
        </p:txBody>
      </p:sp>
      <p:sp>
        <p:nvSpPr>
          <p:cNvPr id="5" name="Text 3">
            <a:extLst>
              <a:ext uri="{FF2B5EF4-FFF2-40B4-BE49-F238E27FC236}">
                <a16:creationId xmlns:a16="http://schemas.microsoft.com/office/drawing/2014/main" id="{986327BF-975C-5EBC-CC52-2C291AB91B02}"/>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Two distinct roles that frame every API call.</a:t>
            </a:r>
          </a:p>
        </p:txBody>
      </p:sp>
      <p:sp>
        <p:nvSpPr>
          <p:cNvPr id="6" name="Shape 4">
            <a:extLst>
              <a:ext uri="{FF2B5EF4-FFF2-40B4-BE49-F238E27FC236}">
                <a16:creationId xmlns:a16="http://schemas.microsoft.com/office/drawing/2014/main" id="{030EFBE5-6AD6-0D96-C576-A34A942B9B77}"/>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30CB4942-437D-59BB-9CB0-9E4CE2CEB31C}"/>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4FA30342-B31F-C6D0-25B3-407BAB092D2E}"/>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System Message</a:t>
            </a:r>
          </a:p>
        </p:txBody>
      </p:sp>
      <p:sp>
        <p:nvSpPr>
          <p:cNvPr id="9" name="Text 7">
            <a:extLst>
              <a:ext uri="{FF2B5EF4-FFF2-40B4-BE49-F238E27FC236}">
                <a16:creationId xmlns:a16="http://schemas.microsoft.com/office/drawing/2014/main" id="{968878CB-A7DA-A452-2428-DD2CF5F83647}"/>
              </a:ext>
            </a:extLst>
          </p:cNvPr>
          <p:cNvSpPr/>
          <p:nvPr/>
        </p:nvSpPr>
        <p:spPr>
          <a:xfrm>
            <a:off x="9144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Defines the model's persona, tone, constraints, and output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Convention:</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You resend it every call, but keep it the same across turns. The API is stateless.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Put guardrails and formatting rules here so they can't be overridden by user input.</a:t>
            </a:r>
          </a:p>
        </p:txBody>
      </p:sp>
      <p:sp>
        <p:nvSpPr>
          <p:cNvPr id="10" name="Shape 8">
            <a:extLst>
              <a:ext uri="{FF2B5EF4-FFF2-40B4-BE49-F238E27FC236}">
                <a16:creationId xmlns:a16="http://schemas.microsoft.com/office/drawing/2014/main" id="{A5B3C6E5-51B1-74D1-02CC-64A56B3506C3}"/>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844E2946-7BAA-8A1A-8D1E-F35C7D113C5E}"/>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CF0A6A37-DDDB-C203-5B0B-FA3DBB723A11}"/>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User Message</a:t>
            </a:r>
          </a:p>
        </p:txBody>
      </p:sp>
      <p:sp>
        <p:nvSpPr>
          <p:cNvPr id="13" name="Text 11">
            <a:extLst>
              <a:ext uri="{FF2B5EF4-FFF2-40B4-BE49-F238E27FC236}">
                <a16:creationId xmlns:a16="http://schemas.microsoft.com/office/drawing/2014/main" id="{0B0A4125-7AF9-A935-ED0F-F11624E5CF52}"/>
              </a:ext>
            </a:extLst>
          </p:cNvPr>
          <p:cNvSpPr/>
          <p:nvPr/>
        </p:nvSpPr>
        <p:spPr>
          <a:xfrm>
            <a:off x="50292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The actual task, question, or input data for this specific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Changes:</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turn. Each new request or follow-up goes here.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Include few-shot examples, context, and delimiters in the user message for best results.</a:t>
            </a:r>
          </a:p>
        </p:txBody>
      </p:sp>
      <p:sp>
        <p:nvSpPr>
          <p:cNvPr id="14" name="Shape 12">
            <a:extLst>
              <a:ext uri="{FF2B5EF4-FFF2-40B4-BE49-F238E27FC236}">
                <a16:creationId xmlns:a16="http://schemas.microsoft.com/office/drawing/2014/main" id="{CA650C77-0D39-5B62-BC49-AD2390830F5A}"/>
              </a:ext>
            </a:extLst>
          </p:cNvPr>
          <p:cNvSpPr/>
          <p:nvPr/>
        </p:nvSpPr>
        <p:spPr>
          <a:xfrm>
            <a:off x="640080" y="4023360"/>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029FB6A-FE08-CC40-23CE-BC5CEBB9CA41}"/>
              </a:ext>
            </a:extLst>
          </p:cNvPr>
          <p:cNvSpPr/>
          <p:nvPr/>
        </p:nvSpPr>
        <p:spPr>
          <a:xfrm>
            <a:off x="914400" y="4023360"/>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 stable rules. User = variable input. Separate concerns cleanly.</a:t>
            </a:r>
          </a:p>
        </p:txBody>
      </p:sp>
    </p:spTree>
    <p:extLst>
      <p:ext uri="{BB962C8B-B14F-4D97-AF65-F5344CB8AC3E}">
        <p14:creationId xmlns:p14="http://schemas.microsoft.com/office/powerpoint/2010/main" val="89164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System Message Examples</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Bg"/>
          <p:cNvSpPr/>
          <p:nvPr/>
        </p:nvSpPr>
        <p:spPr>
          <a:xfrm>
            <a:off x="45720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LeftCode"/>
          <p:cNvSpPr/>
          <p:nvPr/>
        </p:nvSpPr>
        <p:spPr>
          <a:xfrm>
            <a:off x="54864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formal financial</a:t>
            </a:r>
          </a:p>
          <a:p>
            <a:pPr algn="l">
              <a:lnSpc>
                <a:spcPts val="1600"/>
              </a:lnSpc>
              <a:buNone/>
            </a:pPr>
            <a:r>
              <a:rPr lang="en-US" sz="1000" dirty="0">
                <a:solidFill>
                  <a:srgbClr val="A5D6FF"/>
                </a:solidFill>
                <a:latin typeface="Consolas"/>
                <a:cs typeface="Consolas"/>
              </a:rPr>
              <a:t>analyst. Be precise and use</a:t>
            </a:r>
          </a:p>
          <a:p>
            <a:pPr algn="l">
              <a:lnSpc>
                <a:spcPts val="1600"/>
              </a:lnSpc>
              <a:buNone/>
            </a:pPr>
            <a:r>
              <a:rPr lang="en-US" sz="1000" dirty="0">
                <a:solidFill>
                  <a:srgbClr val="A5D6FF"/>
                </a:solidFill>
                <a:latin typeface="Consolas"/>
                <a:cs typeface="Consolas"/>
              </a:rPr>
              <a:t>technical terminology."</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An Application Programming</a:t>
            </a:r>
          </a:p>
          <a:p>
            <a:pPr algn="l">
              <a:lnSpc>
                <a:spcPts val="1600"/>
              </a:lnSpc>
              <a:buNone/>
            </a:pPr>
            <a:r>
              <a:rPr lang="en-US" sz="1000" i="1" dirty="0">
                <a:solidFill>
                  <a:srgbClr val="B8C4D6"/>
                </a:solidFill>
                <a:latin typeface="Consolas"/>
                <a:cs typeface="Consolas"/>
              </a:rPr>
              <a:t>Interface (API) is a formally</a:t>
            </a:r>
          </a:p>
          <a:p>
            <a:pPr algn="l">
              <a:lnSpc>
                <a:spcPts val="1600"/>
              </a:lnSpc>
              <a:buNone/>
            </a:pPr>
            <a:r>
              <a:rPr lang="en-US" sz="1000" i="1" dirty="0">
                <a:solidFill>
                  <a:srgbClr val="B8C4D6"/>
                </a:solidFill>
                <a:latin typeface="Consolas"/>
                <a:cs typeface="Consolas"/>
              </a:rPr>
              <a:t>defined contract specifying how</a:t>
            </a:r>
          </a:p>
          <a:p>
            <a:pPr algn="l">
              <a:lnSpc>
                <a:spcPts val="1600"/>
              </a:lnSpc>
              <a:buNone/>
            </a:pPr>
            <a:r>
              <a:rPr lang="en-US" sz="1000" i="1" dirty="0">
                <a:solidFill>
                  <a:srgbClr val="B8C4D6"/>
                </a:solidFill>
                <a:latin typeface="Consolas"/>
                <a:cs typeface="Consolas"/>
              </a:rPr>
              <a:t>software components exchange</a:t>
            </a:r>
          </a:p>
          <a:p>
            <a:pPr algn="l">
              <a:lnSpc>
                <a:spcPts val="1600"/>
              </a:lnSpc>
              <a:buNone/>
            </a:pPr>
            <a:r>
              <a:rPr lang="en-US" sz="1000" i="1" dirty="0">
                <a:solidFill>
                  <a:srgbClr val="B8C4D6"/>
                </a:solidFill>
                <a:latin typeface="Consolas"/>
                <a:cs typeface="Consolas"/>
              </a:rPr>
              <a:t>data and invoke operations...</a:t>
            </a:r>
          </a:p>
        </p:txBody>
      </p:sp>
      <p:sp>
        <p:nvSpPr>
          <p:cNvPr id="22" name="RightBg"/>
          <p:cNvSpPr/>
          <p:nvPr/>
        </p:nvSpPr>
        <p:spPr>
          <a:xfrm>
            <a:off x="470916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3" name="RightCode"/>
          <p:cNvSpPr/>
          <p:nvPr/>
        </p:nvSpPr>
        <p:spPr>
          <a:xfrm>
            <a:off x="480060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friendly teacher</a:t>
            </a:r>
          </a:p>
          <a:p>
            <a:pPr algn="l">
              <a:lnSpc>
                <a:spcPts val="1600"/>
              </a:lnSpc>
              <a:buNone/>
            </a:pPr>
            <a:r>
              <a:rPr lang="en-US" sz="1000" dirty="0">
                <a:solidFill>
                  <a:srgbClr val="A5D6FF"/>
                </a:solidFill>
                <a:latin typeface="Consolas"/>
                <a:cs typeface="Consolas"/>
              </a:rPr>
              <a:t>explaining concepts to a</a:t>
            </a:r>
          </a:p>
          <a:p>
            <a:pPr algn="l">
              <a:lnSpc>
                <a:spcPts val="1600"/>
              </a:lnSpc>
              <a:buNone/>
            </a:pPr>
            <a:r>
              <a:rPr lang="en-US" sz="1000" dirty="0">
                <a:solidFill>
                  <a:srgbClr val="A5D6FF"/>
                </a:solidFill>
                <a:latin typeface="Consolas"/>
                <a:cs typeface="Consolas"/>
              </a:rPr>
              <a:t>10-year-old. Use analogies."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Think of an API like a waiter</a:t>
            </a:r>
          </a:p>
          <a:p>
            <a:pPr algn="l">
              <a:lnSpc>
                <a:spcPts val="1600"/>
              </a:lnSpc>
              <a:buNone/>
            </a:pPr>
            <a:r>
              <a:rPr lang="en-US" sz="1000" i="1" dirty="0">
                <a:solidFill>
                  <a:srgbClr val="B8C4D6"/>
                </a:solidFill>
                <a:latin typeface="Consolas"/>
                <a:cs typeface="Consolas"/>
              </a:rPr>
              <a:t>in a restaurant! You tell the</a:t>
            </a:r>
          </a:p>
          <a:p>
            <a:pPr algn="l">
              <a:lnSpc>
                <a:spcPts val="1600"/>
              </a:lnSpc>
              <a:buNone/>
            </a:pPr>
            <a:r>
              <a:rPr lang="en-US" sz="1000" i="1" dirty="0">
                <a:solidFill>
                  <a:srgbClr val="B8C4D6"/>
                </a:solidFill>
                <a:latin typeface="Consolas"/>
                <a:cs typeface="Consolas"/>
              </a:rPr>
              <a:t>waiter what you want, they go</a:t>
            </a:r>
          </a:p>
          <a:p>
            <a:pPr algn="l">
              <a:lnSpc>
                <a:spcPts val="1600"/>
              </a:lnSpc>
              <a:buNone/>
            </a:pPr>
            <a:r>
              <a:rPr lang="en-US" sz="1000" i="1" dirty="0">
                <a:solidFill>
                  <a:srgbClr val="B8C4D6"/>
                </a:solidFill>
                <a:latin typeface="Consolas"/>
                <a:cs typeface="Consolas"/>
              </a:rPr>
              <a:t>to the kitchen, and bring back</a:t>
            </a:r>
          </a:p>
          <a:p>
            <a:pPr algn="l">
              <a:lnSpc>
                <a:spcPts val="1600"/>
              </a:lnSpc>
              <a:buNone/>
            </a:pPr>
            <a:r>
              <a:rPr lang="en-US" sz="1000" i="1" dirty="0">
                <a:solidFill>
                  <a:srgbClr val="B8C4D6"/>
                </a:solidFill>
                <a:latin typeface="Consolas"/>
                <a:cs typeface="Consolas"/>
              </a:rPr>
              <a:t>exactly what you asked for...</a:t>
            </a:r>
          </a:p>
        </p:txBody>
      </p:sp>
      <p:sp>
        <p:nvSpPr>
          <p:cNvPr id="24" name="Takeaway"/>
          <p:cNvSpPr/>
          <p:nvPr/>
        </p:nvSpPr>
        <p:spPr>
          <a:xfrm>
            <a:off x="457200" y="4846320"/>
            <a:ext cx="8229600" cy="228600"/>
          </a:xfrm>
          <a:prstGeom prst="rect">
            <a:avLst/>
          </a:prstGeom>
          <a:noFill/>
          <a:ln>
            <a:noFill/>
          </a:ln>
        </p:spPr>
        <p:txBody>
          <a:bodyPr wrap="square" lIns="0" tIns="0" rIns="0" bIns="0" rtlCol="0" anchor="ctr"/>
          <a:lstStyle/>
          <a:p>
            <a:pPr algn="ctr">
              <a:buNone/>
            </a:pPr>
            <a:r>
              <a:rPr lang="en-US" sz="1200" b="1" dirty="0">
                <a:solidFill>
                  <a:srgbClr val="00BFA6"/>
                </a:solidFill>
                <a:latin typeface="Segoe UI"/>
                <a:cs typeface="Segoe UI"/>
              </a:rPr>
              <a:t>Same question, same model, same temperature — completely different tone and depth.</a:t>
            </a:r>
          </a:p>
        </p:txBody>
      </p:sp>
    </p:spTree>
    <p:extLst>
      <p:ext uri="{BB962C8B-B14F-4D97-AF65-F5344CB8AC3E}">
        <p14:creationId xmlns:p14="http://schemas.microsoft.com/office/powerpoint/2010/main" val="64162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EA4F75-7BAF-24FB-275A-39A9502C07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BADA7D-6BF7-250A-1DB4-F510BB0E8AB5}"/>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E68CA72-6BAB-758F-371C-5AD8FE9C6C0D}"/>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2</a:t>
            </a:r>
          </a:p>
        </p:txBody>
      </p:sp>
      <p:sp>
        <p:nvSpPr>
          <p:cNvPr id="4" name="Text 2">
            <a:extLst>
              <a:ext uri="{FF2B5EF4-FFF2-40B4-BE49-F238E27FC236}">
                <a16:creationId xmlns:a16="http://schemas.microsoft.com/office/drawing/2014/main" id="{FEDEA2A0-0F1C-797D-2504-D1EB3E507A38}"/>
              </a:ext>
            </a:extLst>
          </p:cNvPr>
          <p:cNvSpPr/>
          <p:nvPr/>
        </p:nvSpPr>
        <p:spPr>
          <a:xfrm>
            <a:off x="1280160" y="274320"/>
            <a:ext cx="71311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Temperature: The Creativity Dial</a:t>
            </a:r>
          </a:p>
        </p:txBody>
      </p:sp>
      <p:sp>
        <p:nvSpPr>
          <p:cNvPr id="5" name="Text 3">
            <a:extLst>
              <a:ext uri="{FF2B5EF4-FFF2-40B4-BE49-F238E27FC236}">
                <a16:creationId xmlns:a16="http://schemas.microsoft.com/office/drawing/2014/main" id="{57C378B3-D93A-D628-FEDC-A6BE70B5CA21}"/>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6" name="Shape 4">
            <a:extLst>
              <a:ext uri="{FF2B5EF4-FFF2-40B4-BE49-F238E27FC236}">
                <a16:creationId xmlns:a16="http://schemas.microsoft.com/office/drawing/2014/main" id="{59A9474A-8283-81D8-F9FB-1DEA5DE149B1}"/>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099ADE3-D1BA-B24E-1BD6-537266BFB0C3}"/>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C9C0B778-D4E8-64C3-3BC7-53865CCA5419}"/>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Low Temperature (0.0 – 0.3)</a:t>
            </a:r>
          </a:p>
        </p:txBody>
      </p:sp>
      <p:sp>
        <p:nvSpPr>
          <p:cNvPr id="9" name="Text 7">
            <a:extLst>
              <a:ext uri="{FF2B5EF4-FFF2-40B4-BE49-F238E27FC236}">
                <a16:creationId xmlns:a16="http://schemas.microsoft.com/office/drawing/2014/main" id="{31E4E992-087F-DAC3-F056-F698355C44EF}"/>
              </a:ext>
            </a:extLst>
          </p:cNvPr>
          <p:cNvSpPr/>
          <p:nvPr/>
        </p:nvSpPr>
        <p:spPr>
          <a:xfrm>
            <a:off x="914400" y="2173728"/>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Picks the most likely token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time. Output is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consistent and repeatable.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Classification, data extraction</a:t>
            </a:r>
            <a:r>
              <a:rPr lang="en-US" sz="1600" dirty="0">
                <a:solidFill>
                  <a:srgbClr val="1A2744"/>
                </a:solidFill>
                <a:latin typeface="Segoe UI" pitchFamily="34" charset="0"/>
                <a:ea typeface="Segoe UI" pitchFamily="34" charset="-122"/>
                <a:cs typeface="Segoe UI" pitchFamily="34" charset="-120"/>
              </a:rPr>
              <a:t>.</a:t>
            </a:r>
            <a:endPar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0" name="Shape 8">
            <a:extLst>
              <a:ext uri="{FF2B5EF4-FFF2-40B4-BE49-F238E27FC236}">
                <a16:creationId xmlns:a16="http://schemas.microsoft.com/office/drawing/2014/main" id="{1643FD0B-82E5-68C9-3D41-66B4FA8BA876}"/>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07C3EC0-9FD6-A984-FE2A-5AEDA2B70AA0}"/>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9CE69D8F-B0AB-372F-A84F-C7326CC86D86}"/>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High Temperature (0.7 – 1.5)</a:t>
            </a:r>
          </a:p>
        </p:txBody>
      </p:sp>
      <p:sp>
        <p:nvSpPr>
          <p:cNvPr id="13" name="Text 11">
            <a:extLst>
              <a:ext uri="{FF2B5EF4-FFF2-40B4-BE49-F238E27FC236}">
                <a16:creationId xmlns:a16="http://schemas.microsoft.com/office/drawing/2014/main" id="{527079D8-B344-8219-FFB4-C433A23406E4}"/>
              </a:ext>
            </a:extLst>
          </p:cNvPr>
          <p:cNvSpPr/>
          <p:nvPr/>
        </p:nvSpPr>
        <p:spPr>
          <a:xfrm>
            <a:off x="4936600" y="2173728"/>
            <a:ext cx="347472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Flattens the probability distribution, giving less-likely tokens a real chance. Output varies across runs.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Creative writing, brainstorming, dialogue,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exploration</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generating diverse options.</a:t>
            </a:r>
          </a:p>
        </p:txBody>
      </p:sp>
      <p:sp>
        <p:nvSpPr>
          <p:cNvPr id="14" name="Shape 12">
            <a:extLst>
              <a:ext uri="{FF2B5EF4-FFF2-40B4-BE49-F238E27FC236}">
                <a16:creationId xmlns:a16="http://schemas.microsoft.com/office/drawing/2014/main" id="{615B5BCD-2510-FFFE-8267-5347B11A9DF3}"/>
              </a:ext>
            </a:extLst>
          </p:cNvPr>
          <p:cNvSpPr/>
          <p:nvPr/>
        </p:nvSpPr>
        <p:spPr>
          <a:xfrm>
            <a:off x="640080" y="4208555"/>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8ED0D2D-1729-3CC7-9A1B-7DAF254AF41E}"/>
              </a:ext>
            </a:extLst>
          </p:cNvPr>
          <p:cNvSpPr/>
          <p:nvPr/>
        </p:nvSpPr>
        <p:spPr>
          <a:xfrm>
            <a:off x="914400" y="4208555"/>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Rule of thumb: start at 0.0 for precision tasks, 0.7 for creative tasks. Adjust from there.</a:t>
            </a:r>
          </a:p>
        </p:txBody>
      </p:sp>
    </p:spTree>
    <p:extLst>
      <p:ext uri="{BB962C8B-B14F-4D97-AF65-F5344CB8AC3E}">
        <p14:creationId xmlns:p14="http://schemas.microsoft.com/office/powerpoint/2010/main" val="3107260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Temperature in Action</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Bg1"/>
          <p:cNvSpPr/>
          <p:nvPr/>
        </p:nvSpPr>
        <p:spPr>
          <a:xfrm>
            <a:off x="32004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1"/>
          <p:cNvSpPr/>
          <p:nvPr/>
        </p:nvSpPr>
        <p:spPr>
          <a:xfrm>
            <a:off x="41148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0.0</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PROMPT</a:t>
            </a:r>
          </a:p>
          <a:p>
            <a:pPr algn="l">
              <a:lnSpc>
                <a:spcPts val="1500"/>
              </a:lnSpc>
              <a:buNone/>
            </a:pPr>
            <a:r>
              <a:rPr lang="en-US" sz="900" dirty="0">
                <a:solidFill>
                  <a:srgbClr val="A5D6FF"/>
                </a:solidFill>
                <a:latin typeface="Consolas"/>
                <a:cs typeface="Consolas"/>
              </a:rPr>
              <a:t>"Write a one-sentence</a:t>
            </a:r>
          </a:p>
          <a:p>
            <a:pPr algn="l">
              <a:lnSpc>
                <a:spcPts val="1500"/>
              </a:lnSpc>
              <a:buNone/>
            </a:pPr>
            <a:r>
              <a:rPr lang="en-US" sz="900" dirty="0">
                <a:solidFill>
                  <a:srgbClr val="A5D6FF"/>
                </a:solidFill>
                <a:latin typeface="Consolas"/>
                <a:cs typeface="Consolas"/>
              </a:rPr>
              <a:t>description of the ocean."</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Identical outputs</a:t>
            </a:r>
          </a:p>
        </p:txBody>
      </p:sp>
      <p:sp>
        <p:nvSpPr>
          <p:cNvPr id="30" name="Bg2"/>
          <p:cNvSpPr/>
          <p:nvPr/>
        </p:nvSpPr>
        <p:spPr>
          <a:xfrm>
            <a:off x="320040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31" name="Code2"/>
          <p:cNvSpPr/>
          <p:nvPr/>
        </p:nvSpPr>
        <p:spPr>
          <a:xfrm>
            <a:off x="329184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0.7</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an immense,</a:t>
            </a:r>
          </a:p>
          <a:p>
            <a:pPr algn="l">
              <a:lnSpc>
                <a:spcPts val="1500"/>
              </a:lnSpc>
              <a:buNone/>
            </a:pPr>
            <a:r>
              <a:rPr lang="en-US" sz="900" i="1" dirty="0">
                <a:solidFill>
                  <a:srgbClr val="B8C4D6"/>
                </a:solidFill>
                <a:latin typeface="Consolas"/>
                <a:cs typeface="Consolas"/>
              </a:rPr>
              <a:t>ever-shifting expanse of</a:t>
            </a:r>
          </a:p>
          <a:p>
            <a:pPr algn="l">
              <a:lnSpc>
                <a:spcPts val="1500"/>
              </a:lnSpc>
              <a:buNone/>
            </a:pPr>
            <a:r>
              <a:rPr lang="en-US" sz="900" i="1" dirty="0">
                <a:solidFill>
                  <a:srgbClr val="B8C4D6"/>
                </a:solidFill>
                <a:latin typeface="Consolas"/>
                <a:cs typeface="Consolas"/>
              </a:rPr>
              <a:t>saltwater teeming with life.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A vast, interconnected body</a:t>
            </a:r>
          </a:p>
          <a:p>
            <a:pPr algn="l">
              <a:lnSpc>
                <a:spcPts val="1500"/>
              </a:lnSpc>
              <a:buNone/>
            </a:pPr>
            <a:r>
              <a:rPr lang="en-US" sz="900" i="1" dirty="0">
                <a:solidFill>
                  <a:srgbClr val="B8C4D6"/>
                </a:solidFill>
                <a:latin typeface="Consolas"/>
                <a:cs typeface="Consolas"/>
              </a:rPr>
              <a:t>of water shaping climate and</a:t>
            </a:r>
          </a:p>
          <a:p>
            <a:pPr algn="l">
              <a:lnSpc>
                <a:spcPts val="1500"/>
              </a:lnSpc>
              <a:buNone/>
            </a:pPr>
            <a:r>
              <a:rPr lang="en-US" sz="900" i="1" dirty="0">
                <a:solidFill>
                  <a:srgbClr val="B8C4D6"/>
                </a:solidFill>
                <a:latin typeface="Consolas"/>
                <a:cs typeface="Consolas"/>
              </a:rPr>
              <a:t>harboring diverse ecosystems.</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Similar but varied</a:t>
            </a:r>
          </a:p>
        </p:txBody>
      </p:sp>
      <p:sp>
        <p:nvSpPr>
          <p:cNvPr id="40" name="Bg3"/>
          <p:cNvSpPr/>
          <p:nvPr/>
        </p:nvSpPr>
        <p:spPr>
          <a:xfrm>
            <a:off x="608076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41" name="Code3"/>
          <p:cNvSpPr/>
          <p:nvPr/>
        </p:nvSpPr>
        <p:spPr>
          <a:xfrm>
            <a:off x="617220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1.5</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Beneath turquoise veils the</a:t>
            </a:r>
          </a:p>
          <a:p>
            <a:pPr algn="l">
              <a:lnSpc>
                <a:spcPts val="1500"/>
              </a:lnSpc>
              <a:buNone/>
            </a:pPr>
            <a:r>
              <a:rPr lang="en-US" sz="900" i="1" dirty="0">
                <a:solidFill>
                  <a:srgbClr val="B8C4D6"/>
                </a:solidFill>
                <a:latin typeface="Consolas"/>
                <a:cs typeface="Consolas"/>
              </a:rPr>
              <a:t>ocean hums ancient lullabies</a:t>
            </a:r>
          </a:p>
          <a:p>
            <a:pPr algn="l">
              <a:lnSpc>
                <a:spcPts val="1500"/>
              </a:lnSpc>
              <a:buNone/>
            </a:pPr>
            <a:r>
              <a:rPr lang="en-US" sz="900" i="1" dirty="0">
                <a:solidFill>
                  <a:srgbClr val="B8C4D6"/>
                </a:solidFill>
                <a:latin typeface="Consolas"/>
                <a:cs typeface="Consolas"/>
              </a:rPr>
              <a:t>to forgotten shores.</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Sapphire wilderness sprawling</a:t>
            </a:r>
          </a:p>
          <a:p>
            <a:pPr algn="l">
              <a:lnSpc>
                <a:spcPts val="1500"/>
              </a:lnSpc>
              <a:buNone/>
            </a:pPr>
            <a:r>
              <a:rPr lang="en-US" sz="900" i="1" dirty="0">
                <a:solidFill>
                  <a:srgbClr val="B8C4D6"/>
                </a:solidFill>
                <a:latin typeface="Consolas"/>
                <a:cs typeface="Consolas"/>
              </a:rPr>
              <a:t>beyond horizons, cradling</a:t>
            </a:r>
          </a:p>
          <a:p>
            <a:pPr algn="l">
              <a:lnSpc>
                <a:spcPts val="1500"/>
              </a:lnSpc>
              <a:buNone/>
            </a:pPr>
            <a:r>
              <a:rPr lang="en-US" sz="900" i="1" dirty="0">
                <a:solidFill>
                  <a:srgbClr val="B8C4D6"/>
                </a:solidFill>
                <a:latin typeface="Consolas"/>
                <a:cs typeface="Consolas"/>
              </a:rPr>
              <a:t>mysteries in salted breath.</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Wildly different</a:t>
            </a:r>
          </a:p>
        </p:txBody>
      </p:sp>
      <p:sp>
        <p:nvSpPr>
          <p:cNvPr id="50" name="Takeaway"/>
          <p:cNvSpPr/>
          <p:nvPr/>
        </p:nvSpPr>
        <p:spPr>
          <a:xfrm>
            <a:off x="320040" y="4389120"/>
            <a:ext cx="8503920" cy="640080"/>
          </a:xfrm>
          <a:prstGeom prst="roundRect">
            <a:avLst>
              <a:gd name="adj" fmla="val 5000"/>
            </a:avLst>
          </a:prstGeom>
          <a:solidFill>
            <a:srgbClr val="0D1117"/>
          </a:solidFill>
          <a:ln w="12700">
            <a:solidFill>
              <a:srgbClr val="2D333B"/>
            </a:solidFill>
          </a:ln>
        </p:spPr>
        <p:txBody>
          <a:bodyPr wrap="square" lIns="91440" tIns="45720" rIns="91440" bIns="45720" rtlCol="0" anchor="ctr"/>
          <a:lstStyle/>
          <a:p>
            <a:pPr algn="ctr">
              <a:buNone/>
            </a:pPr>
            <a:r>
              <a:rPr lang="en-US" sz="1200" b="1" dirty="0">
                <a:solidFill>
                  <a:srgbClr val="00BFA6"/>
                </a:solidFill>
                <a:latin typeface="Segoe UI"/>
                <a:cs typeface="Segoe UI"/>
              </a:rPr>
              <a:t>temp=0.0</a:t>
            </a:r>
            <a:r>
              <a:rPr lang="en-US" sz="1200" dirty="0">
                <a:solidFill>
                  <a:srgbClr val="B8C4D6"/>
                </a:solidFill>
                <a:latin typeface="Segoe UI"/>
                <a:cs typeface="Segoe UI"/>
              </a:rPr>
              <a:t> → deterministic, same every time   </a:t>
            </a:r>
            <a:r>
              <a:rPr lang="en-US" sz="1200" b="1" dirty="0">
                <a:solidFill>
                  <a:srgbClr val="00BFA6"/>
                </a:solidFill>
                <a:latin typeface="Segoe UI"/>
                <a:cs typeface="Segoe UI"/>
              </a:rPr>
              <a:t>temp=0.7</a:t>
            </a:r>
            <a:r>
              <a:rPr lang="en-US" sz="1200" dirty="0">
                <a:solidFill>
                  <a:srgbClr val="B8C4D6"/>
                </a:solidFill>
                <a:latin typeface="Segoe UI"/>
                <a:cs typeface="Segoe UI"/>
              </a:rPr>
              <a:t> → balanced variety   </a:t>
            </a:r>
            <a:r>
              <a:rPr lang="en-US" sz="1200" b="1" dirty="0">
                <a:solidFill>
                  <a:srgbClr val="00BFA6"/>
                </a:solidFill>
                <a:latin typeface="Segoe UI"/>
                <a:cs typeface="Segoe UI"/>
              </a:rPr>
              <a:t>temp=1.5</a:t>
            </a:r>
            <a:r>
              <a:rPr lang="en-US" sz="1200" dirty="0">
                <a:solidFill>
                  <a:srgbClr val="B8C4D6"/>
                </a:solidFill>
                <a:latin typeface="Segoe UI"/>
                <a:cs typeface="Segoe UI"/>
              </a:rPr>
              <a:t> → creative chaos</a:t>
            </a:r>
          </a:p>
        </p:txBody>
      </p:sp>
    </p:spTree>
    <p:extLst>
      <p:ext uri="{BB962C8B-B14F-4D97-AF65-F5344CB8AC3E}">
        <p14:creationId xmlns:p14="http://schemas.microsoft.com/office/powerpoint/2010/main" val="1808068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A805BB-893F-CC83-EC5E-E30C518C38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90ADF3-A665-16D8-B9FA-8B107DD8D57F}"/>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4F0846B-9386-12C9-01CC-93D4BB05E653}"/>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3</a:t>
            </a:r>
          </a:p>
        </p:txBody>
      </p:sp>
      <p:sp>
        <p:nvSpPr>
          <p:cNvPr id="4" name="Text 2">
            <a:extLst>
              <a:ext uri="{FF2B5EF4-FFF2-40B4-BE49-F238E27FC236}">
                <a16:creationId xmlns:a16="http://schemas.microsoft.com/office/drawing/2014/main" id="{19CA1CEB-4923-3161-F35B-FE67DC189E8D}"/>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Some useful (?) API Parameters</a:t>
            </a:r>
          </a:p>
        </p:txBody>
      </p:sp>
      <p:sp>
        <p:nvSpPr>
          <p:cNvPr id="5" name="Text 3">
            <a:extLst>
              <a:ext uri="{FF2B5EF4-FFF2-40B4-BE49-F238E27FC236}">
                <a16:creationId xmlns:a16="http://schemas.microsoft.com/office/drawing/2014/main" id="{4D18BC44-53E3-CD96-9D40-5FD0A7D00CB8}"/>
              </a:ext>
            </a:extLst>
          </p:cNvPr>
          <p:cNvSpPr/>
          <p:nvPr/>
        </p:nvSpPr>
        <p:spPr>
          <a:xfrm>
            <a:off x="640080" y="914400"/>
            <a:ext cx="7772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Six knobs that control how the model generates its response.</a:t>
            </a:r>
          </a:p>
        </p:txBody>
      </p:sp>
      <p:sp>
        <p:nvSpPr>
          <p:cNvPr id="6" name="Shape 4">
            <a:extLst>
              <a:ext uri="{FF2B5EF4-FFF2-40B4-BE49-F238E27FC236}">
                <a16:creationId xmlns:a16="http://schemas.microsoft.com/office/drawing/2014/main" id="{73DCB13D-A0BF-8337-E273-78399927C63B}"/>
              </a:ext>
            </a:extLst>
          </p:cNvPr>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6963B0D-B8A6-4353-C0C8-A54062589ED3}"/>
              </a:ext>
            </a:extLst>
          </p:cNvPr>
          <p:cNvSpPr/>
          <p:nvPr/>
        </p:nvSpPr>
        <p:spPr>
          <a:xfrm>
            <a:off x="64008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796B6622-FEAF-2976-7084-5E02412A5DCB}"/>
              </a:ext>
            </a:extLst>
          </p:cNvPr>
          <p:cNvSpPr/>
          <p:nvPr/>
        </p:nvSpPr>
        <p:spPr>
          <a:xfrm>
            <a:off x="82296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top_p (Nucleus)</a:t>
            </a:r>
          </a:p>
        </p:txBody>
      </p:sp>
      <p:sp>
        <p:nvSpPr>
          <p:cNvPr id="10" name="Shape 8">
            <a:extLst>
              <a:ext uri="{FF2B5EF4-FFF2-40B4-BE49-F238E27FC236}">
                <a16:creationId xmlns:a16="http://schemas.microsoft.com/office/drawing/2014/main" id="{0BACBF5A-7F05-21E7-B84B-AD6FE2B94290}"/>
              </a:ext>
            </a:extLst>
          </p:cNvPr>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3C71C022-C06E-3A9E-67AE-D2117A2C827D}"/>
              </a:ext>
            </a:extLst>
          </p:cNvPr>
          <p:cNvSpPr/>
          <p:nvPr/>
        </p:nvSpPr>
        <p:spPr>
          <a:xfrm>
            <a:off x="342900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D7A1F333-796D-15D1-957D-41C38643B5B4}"/>
              </a:ext>
            </a:extLst>
          </p:cNvPr>
          <p:cNvSpPr/>
          <p:nvPr/>
        </p:nvSpPr>
        <p:spPr>
          <a:xfrm>
            <a:off x="361188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max_tokens</a:t>
            </a:r>
          </a:p>
        </p:txBody>
      </p:sp>
      <p:sp>
        <p:nvSpPr>
          <p:cNvPr id="14" name="Shape 12">
            <a:extLst>
              <a:ext uri="{FF2B5EF4-FFF2-40B4-BE49-F238E27FC236}">
                <a16:creationId xmlns:a16="http://schemas.microsoft.com/office/drawing/2014/main" id="{A91FF2A6-BCF7-02DE-D1B4-AA3ECC518BD4}"/>
              </a:ext>
            </a:extLst>
          </p:cNvPr>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63988658-F81A-D712-AF96-4E54EBF868C0}"/>
              </a:ext>
            </a:extLst>
          </p:cNvPr>
          <p:cNvSpPr/>
          <p:nvPr/>
        </p:nvSpPr>
        <p:spPr>
          <a:xfrm>
            <a:off x="621792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0D02F6A6-8666-1E3B-31B4-C8FE92297D5D}"/>
              </a:ext>
            </a:extLst>
          </p:cNvPr>
          <p:cNvSpPr/>
          <p:nvPr/>
        </p:nvSpPr>
        <p:spPr>
          <a:xfrm>
            <a:off x="640080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stop sequences</a:t>
            </a:r>
          </a:p>
        </p:txBody>
      </p:sp>
      <p:sp>
        <p:nvSpPr>
          <p:cNvPr id="17" name="Text 15">
            <a:extLst>
              <a:ext uri="{FF2B5EF4-FFF2-40B4-BE49-F238E27FC236}">
                <a16:creationId xmlns:a16="http://schemas.microsoft.com/office/drawing/2014/main" id="{3FC64E8C-9AB8-E014-E887-9EC7CDC4D89E}"/>
              </a:ext>
            </a:extLst>
          </p:cNvPr>
          <p:cNvSpPr/>
          <p:nvPr/>
        </p:nvSpPr>
        <p:spPr>
          <a:xfrm>
            <a:off x="6400800" y="19659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8" name="Shape 16">
            <a:extLst>
              <a:ext uri="{FF2B5EF4-FFF2-40B4-BE49-F238E27FC236}">
                <a16:creationId xmlns:a16="http://schemas.microsoft.com/office/drawing/2014/main" id="{6C393E32-C6D2-0AD4-1F33-2AB5507CFFD0}"/>
              </a:ext>
            </a:extLst>
          </p:cNvPr>
          <p:cNvSpPr/>
          <p:nvPr/>
        </p:nvSpPr>
        <p:spPr>
          <a:xfrm>
            <a:off x="640080" y="2834640"/>
            <a:ext cx="335318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4DD07AF6-FF2A-C980-90A5-22ED53FD7E83}"/>
              </a:ext>
            </a:extLst>
          </p:cNvPr>
          <p:cNvSpPr/>
          <p:nvPr/>
        </p:nvSpPr>
        <p:spPr>
          <a:xfrm>
            <a:off x="640080"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F0BDCE10-8720-22FC-F09F-568834EDDA0D}"/>
              </a:ext>
            </a:extLst>
          </p:cNvPr>
          <p:cNvSpPr/>
          <p:nvPr/>
        </p:nvSpPr>
        <p:spPr>
          <a:xfrm>
            <a:off x="822960"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frequency_penalty</a:t>
            </a:r>
          </a:p>
        </p:txBody>
      </p:sp>
      <p:sp>
        <p:nvSpPr>
          <p:cNvPr id="21" name="Text 19">
            <a:extLst>
              <a:ext uri="{FF2B5EF4-FFF2-40B4-BE49-F238E27FC236}">
                <a16:creationId xmlns:a16="http://schemas.microsoft.com/office/drawing/2014/main" id="{B8DBE495-D5D3-202F-BC77-A830A2DBDB49}"/>
              </a:ext>
            </a:extLst>
          </p:cNvPr>
          <p:cNvSpPr/>
          <p:nvPr/>
        </p:nvSpPr>
        <p:spPr>
          <a:xfrm>
            <a:off x="822960" y="3337560"/>
            <a:ext cx="30082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Penalizes tokens proportional to how often they've appeared. Reduces repetition in long-form text.</a:t>
            </a:r>
          </a:p>
        </p:txBody>
      </p:sp>
      <p:sp>
        <p:nvSpPr>
          <p:cNvPr id="22" name="Shape 20">
            <a:extLst>
              <a:ext uri="{FF2B5EF4-FFF2-40B4-BE49-F238E27FC236}">
                <a16:creationId xmlns:a16="http://schemas.microsoft.com/office/drawing/2014/main" id="{F84781F3-F756-6257-1217-D350480AA128}"/>
              </a:ext>
            </a:extLst>
          </p:cNvPr>
          <p:cNvSpPr/>
          <p:nvPr/>
        </p:nvSpPr>
        <p:spPr>
          <a:xfrm>
            <a:off x="4297101" y="2834640"/>
            <a:ext cx="343779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9E058196-62F7-6418-FC62-51D5ADD5578B}"/>
              </a:ext>
            </a:extLst>
          </p:cNvPr>
          <p:cNvSpPr/>
          <p:nvPr/>
        </p:nvSpPr>
        <p:spPr>
          <a:xfrm>
            <a:off x="4297101"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45631F3A-A351-AAFA-344F-8486D90D1AD7}"/>
              </a:ext>
            </a:extLst>
          </p:cNvPr>
          <p:cNvSpPr/>
          <p:nvPr/>
        </p:nvSpPr>
        <p:spPr>
          <a:xfrm>
            <a:off x="4479981"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presence_penalty</a:t>
            </a:r>
          </a:p>
        </p:txBody>
      </p:sp>
      <p:sp>
        <p:nvSpPr>
          <p:cNvPr id="25" name="Text 23">
            <a:extLst>
              <a:ext uri="{FF2B5EF4-FFF2-40B4-BE49-F238E27FC236}">
                <a16:creationId xmlns:a16="http://schemas.microsoft.com/office/drawing/2014/main" id="{7B18314B-7C87-027E-0B2F-6F8B2AB9E5DC}"/>
              </a:ext>
            </a:extLst>
          </p:cNvPr>
          <p:cNvSpPr/>
          <p:nvPr/>
        </p:nvSpPr>
        <p:spPr>
          <a:xfrm>
            <a:off x="4479981" y="3337560"/>
            <a:ext cx="314611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Flat penalty for any token that has appeared at all. Encourages the model to explore new topics.</a:t>
            </a:r>
          </a:p>
        </p:txBody>
      </p:sp>
      <p:sp>
        <p:nvSpPr>
          <p:cNvPr id="29" name="Text 27">
            <a:extLst>
              <a:ext uri="{FF2B5EF4-FFF2-40B4-BE49-F238E27FC236}">
                <a16:creationId xmlns:a16="http://schemas.microsoft.com/office/drawing/2014/main" id="{8AFD995D-1703-9632-3D53-D2888C87744C}"/>
              </a:ext>
            </a:extLst>
          </p:cNvPr>
          <p:cNvSpPr/>
          <p:nvPr/>
        </p:nvSpPr>
        <p:spPr>
          <a:xfrm>
            <a:off x="6400800" y="33375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30" name="Text 28">
            <a:extLst>
              <a:ext uri="{FF2B5EF4-FFF2-40B4-BE49-F238E27FC236}">
                <a16:creationId xmlns:a16="http://schemas.microsoft.com/office/drawing/2014/main" id="{736F7111-5F51-793D-2294-BEDA2B586689}"/>
              </a:ext>
            </a:extLst>
          </p:cNvPr>
          <p:cNvSpPr/>
          <p:nvPr/>
        </p:nvSpPr>
        <p:spPr>
          <a:xfrm>
            <a:off x="640080" y="448056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mn-ea"/>
                <a:cs typeface="+mn-cs"/>
              </a:rPr>
              <a:t>Default values work for most cases. Tune one parameter at a time and measure the impact.</a:t>
            </a:r>
          </a:p>
        </p:txBody>
      </p:sp>
      <p:sp>
        <p:nvSpPr>
          <p:cNvPr id="32" name="Text 7">
            <a:extLst>
              <a:ext uri="{FF2B5EF4-FFF2-40B4-BE49-F238E27FC236}">
                <a16:creationId xmlns:a16="http://schemas.microsoft.com/office/drawing/2014/main" id="{5C246552-3E06-42DB-C64D-1C7643AF8313}"/>
              </a:ext>
            </a:extLst>
          </p:cNvPr>
          <p:cNvSpPr/>
          <p:nvPr/>
        </p:nvSpPr>
        <p:spPr>
          <a:xfrm>
            <a:off x="975360" y="21183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237526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731520"/>
            <a:ext cx="7772400" cy="2377440"/>
          </a:xfrm>
          <a:prstGeom prst="rect">
            <a:avLst/>
          </a:prstGeom>
          <a:noFill/>
          <a:ln/>
        </p:spPr>
        <p:txBody>
          <a:bodyPr wrap="square" lIns="0" tIns="0" rIns="0" bIns="0" rtlCol="0" anchor="ctr"/>
          <a:lstStyle/>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Prompting</a:t>
            </a:r>
            <a:endParaRPr lang="en-US" sz="5400" dirty="0"/>
          </a:p>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Cookbook</a:t>
            </a:r>
            <a:endParaRPr lang="en-US" sz="5400" dirty="0"/>
          </a:p>
        </p:txBody>
      </p:sp>
      <p:sp>
        <p:nvSpPr>
          <p:cNvPr id="4" name="Text 2"/>
          <p:cNvSpPr/>
          <p:nvPr/>
        </p:nvSpPr>
        <p:spPr>
          <a:xfrm>
            <a:off x="640080" y="3108960"/>
            <a:ext cx="7772400" cy="457200"/>
          </a:xfrm>
          <a:prstGeom prst="rect">
            <a:avLst/>
          </a:prstGeom>
          <a:noFill/>
          <a:ln/>
        </p:spPr>
        <p:txBody>
          <a:bodyPr wrap="square" lIns="0" tIns="0" rIns="0" bIns="0" rtlCol="0" anchor="ctr"/>
          <a:lstStyle/>
          <a:p>
            <a:pPr marL="0" indent="0">
              <a:buNone/>
            </a:pPr>
            <a:r>
              <a:rPr lang="en-US" sz="2000" b="1" i="1" dirty="0">
                <a:solidFill>
                  <a:srgbClr val="00BFA6"/>
                </a:solidFill>
                <a:latin typeface="Segoe UI" pitchFamily="34" charset="0"/>
                <a:ea typeface="Segoe UI" pitchFamily="34" charset="-122"/>
                <a:cs typeface="Segoe UI" pitchFamily="34" charset="-120"/>
              </a:rPr>
              <a:t>Reusable Patterns for Modern LLMs</a:t>
            </a:r>
            <a:endParaRPr lang="en-US" sz="2000" dirty="0"/>
          </a:p>
        </p:txBody>
      </p:sp>
      <p:sp>
        <p:nvSpPr>
          <p:cNvPr id="5" name="Text 3"/>
          <p:cNvSpPr/>
          <p:nvPr/>
        </p:nvSpPr>
        <p:spPr>
          <a:xfrm>
            <a:off x="640080" y="3840480"/>
            <a:ext cx="4572000" cy="320040"/>
          </a:xfrm>
          <a:prstGeom prst="rect">
            <a:avLst/>
          </a:prstGeom>
          <a:noFill/>
          <a:ln/>
        </p:spPr>
        <p:txBody>
          <a:bodyPr wrap="square" lIns="0" tIns="0" rIns="0" bIns="0"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reliableai.github.io</a:t>
            </a:r>
            <a:endParaRPr lang="en-US" sz="1300" dirty="0"/>
          </a:p>
        </p:txBody>
      </p:sp>
      <p:sp>
        <p:nvSpPr>
          <p:cNvPr id="6" name="Text 4"/>
          <p:cNvSpPr/>
          <p:nvPr/>
        </p:nvSpPr>
        <p:spPr>
          <a:xfrm>
            <a:off x="640080" y="429768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289171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A2035"/>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The Key Meta-Insight</a:t>
            </a:r>
            <a:endParaRPr lang="en-US" sz="4200" dirty="0"/>
          </a:p>
        </p:txBody>
      </p:sp>
      <p:sp>
        <p:nvSpPr>
          <p:cNvPr id="3" name="Text 1"/>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p:cNvSpPr/>
          <p:nvPr/>
        </p:nvSpPr>
        <p:spPr>
          <a:xfrm>
            <a:off x="640080" y="1791761"/>
            <a:ext cx="594360" cy="502920"/>
          </a:xfrm>
          <a:prstGeom prst="rect">
            <a:avLst/>
          </a:prstGeom>
          <a:solidFill>
            <a:srgbClr val="00BFA6"/>
          </a:solidFill>
          <a:ln/>
        </p:spPr>
        <p:txBody>
          <a:bodyPr/>
          <a:lstStyle/>
          <a:p>
            <a:endParaRPr lang="en-US"/>
          </a:p>
        </p:txBody>
      </p:sp>
      <p:sp>
        <p:nvSpPr>
          <p:cNvPr id="5" name="Text 3"/>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p:cNvSpPr/>
          <p:nvPr/>
        </p:nvSpPr>
        <p:spPr>
          <a:xfrm>
            <a:off x="1417320" y="174604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Calibrate Specificity</a:t>
            </a:r>
            <a:endParaRPr lang="en-US" sz="2400" dirty="0"/>
          </a:p>
        </p:txBody>
      </p:sp>
      <p:sp>
        <p:nvSpPr>
          <p:cNvPr id="7" name="Text 5"/>
          <p:cNvSpPr/>
          <p:nvPr/>
        </p:nvSpPr>
        <p:spPr>
          <a:xfrm>
            <a:off x="1417320" y="206608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Find the Goldilocks zone between brittle over-specification and vague under-specification. Anthropic calls this "the right altitude."</a:t>
            </a:r>
            <a:endParaRPr lang="en-US" sz="1600" dirty="0"/>
          </a:p>
        </p:txBody>
      </p:sp>
      <p:sp>
        <p:nvSpPr>
          <p:cNvPr id="8" name="Shape 6"/>
          <p:cNvSpPr/>
          <p:nvPr/>
        </p:nvSpPr>
        <p:spPr>
          <a:xfrm>
            <a:off x="640080" y="2948071"/>
            <a:ext cx="594360" cy="502920"/>
          </a:xfrm>
          <a:prstGeom prst="rect">
            <a:avLst/>
          </a:prstGeom>
          <a:solidFill>
            <a:srgbClr val="00BFA6"/>
          </a:solidFill>
          <a:ln/>
        </p:spPr>
        <p:txBody>
          <a:bodyPr/>
          <a:lstStyle/>
          <a:p>
            <a:endParaRPr lang="en-US"/>
          </a:p>
        </p:txBody>
      </p:sp>
      <p:sp>
        <p:nvSpPr>
          <p:cNvPr id="9" name="Text 7"/>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p:cNvSpPr/>
          <p:nvPr/>
        </p:nvSpPr>
        <p:spPr>
          <a:xfrm>
            <a:off x="1417320" y="290235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Models Follow Literally</a:t>
            </a:r>
            <a:endParaRPr lang="en-US" sz="2400" dirty="0"/>
          </a:p>
        </p:txBody>
      </p:sp>
      <p:sp>
        <p:nvSpPr>
          <p:cNvPr id="11" name="Text 9"/>
          <p:cNvSpPr/>
          <p:nvPr/>
        </p:nvSpPr>
        <p:spPr>
          <a:xfrm>
            <a:off x="1417320" y="322239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Claude 4.x does exactly what you ask — no more, no less. If you want thoroughness, ask for it. If you want brevity, specify it.</a:t>
            </a:r>
            <a:endParaRPr lang="en-US" sz="1600" dirty="0"/>
          </a:p>
        </p:txBody>
      </p:sp>
      <p:sp>
        <p:nvSpPr>
          <p:cNvPr id="12" name="Shape 10"/>
          <p:cNvSpPr/>
          <p:nvPr/>
        </p:nvSpPr>
        <p:spPr>
          <a:xfrm>
            <a:off x="640080" y="4023360"/>
            <a:ext cx="594360" cy="502920"/>
          </a:xfrm>
          <a:prstGeom prst="rect">
            <a:avLst/>
          </a:prstGeom>
          <a:solidFill>
            <a:srgbClr val="00BFA6"/>
          </a:solidFill>
          <a:ln/>
        </p:spPr>
        <p:txBody>
          <a:bodyPr/>
          <a:lstStyle/>
          <a:p>
            <a:endParaRPr lang="en-US"/>
          </a:p>
        </p:txBody>
      </p:sp>
      <p:sp>
        <p:nvSpPr>
          <p:cNvPr id="13" name="Text 11"/>
          <p:cNvSpPr/>
          <p:nvPr/>
        </p:nvSpPr>
        <p:spPr>
          <a:xfrm>
            <a:off x="640080" y="4023360"/>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03</a:t>
            </a:r>
            <a:endParaRPr lang="en-US" sz="1600" dirty="0"/>
          </a:p>
        </p:txBody>
      </p:sp>
      <p:sp>
        <p:nvSpPr>
          <p:cNvPr id="14" name="Text 12"/>
          <p:cNvSpPr/>
          <p:nvPr/>
        </p:nvSpPr>
        <p:spPr>
          <a:xfrm>
            <a:off x="1417320" y="3977640"/>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Cut Redundancy, Not Structure</a:t>
            </a:r>
            <a:endParaRPr lang="en-US" sz="2400" dirty="0"/>
          </a:p>
        </p:txBody>
      </p:sp>
      <p:sp>
        <p:nvSpPr>
          <p:cNvPr id="15" name="Text 13"/>
          <p:cNvSpPr/>
          <p:nvPr/>
        </p:nvSpPr>
        <p:spPr>
          <a:xfrm>
            <a:off x="1417320" y="4297680"/>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Remove hedging and over-explanation. Keep output format, constraints, audience, and verification criteria.</a:t>
            </a:r>
            <a:endParaRPr lang="en-US" sz="1600" dirty="0"/>
          </a:p>
        </p:txBody>
      </p:sp>
    </p:spTree>
    <p:extLst>
      <p:ext uri="{BB962C8B-B14F-4D97-AF65-F5344CB8AC3E}">
        <p14:creationId xmlns:p14="http://schemas.microsoft.com/office/powerpoint/2010/main" val="91537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ndex">
    <p:bg>
      <p:bgPr>
        <a:solidFill>
          <a:srgbClr val="1A2035"/>
        </a:solidFill>
        <a:effectLst/>
      </p:bgPr>
    </p:bg>
    <p:spTree>
      <p:nvGrpSpPr>
        <p:cNvPr id="1" name=""/>
        <p:cNvGrpSpPr/>
        <p:nvPr/>
      </p:nvGrpSpPr>
      <p:grpSpPr>
        <a:xfrm>
          <a:off x="0" y="0"/>
          <a:ext cx="0" cy="0"/>
          <a:chOff x="0" y="0"/>
          <a:chExt cx="0" cy="0"/>
        </a:xfrm>
      </p:grpSpPr>
      <p:sp>
        <p:nvSpPr>
          <p:cNvPr id="2" name="Title"/>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FFFFFF"/>
                </a:solidFill>
                <a:latin typeface="Segoe UI Black" pitchFamily="34" charset="0"/>
                <a:ea typeface="Segoe UI Black" pitchFamily="34" charset="-122"/>
                <a:cs typeface="Segoe UI Black" pitchFamily="34" charset="-120"/>
              </a:rPr>
              <a:t>Prompting Cookbook — Methods</a:t>
            </a:r>
          </a:p>
        </p:txBody>
      </p:sp>
      <p:sp>
        <p:nvSpPr>
          <p:cNvPr id="3" name="Accent"/>
          <p:cNvSpPr/>
          <p:nvPr/>
        </p:nvSpPr>
        <p:spPr>
          <a:xfrm>
            <a:off x="640080" y="1005840"/>
            <a:ext cx="7772400" cy="0"/>
          </a:xfrm>
          <a:prstGeom prst="line">
            <a:avLst/>
          </a:prstGeom>
          <a:ln w="19050">
            <a:solidFill>
              <a:srgbClr val="00BFA6"/>
            </a:solidFill>
          </a:ln>
        </p:spPr>
        <p:txBody>
          <a:bodyPr/>
          <a:lstStyle/>
          <a:p>
            <a:endParaRPr lang="en-US"/>
          </a:p>
        </p:txBody>
      </p:sp>
      <p:sp>
        <p:nvSpPr>
          <p:cNvPr id="4" name="LeftColumn"/>
          <p:cNvSpPr/>
          <p:nvPr/>
        </p:nvSpPr>
        <p:spPr>
          <a:xfrm>
            <a:off x="640080" y="1143000"/>
            <a:ext cx="3886200" cy="3657600"/>
          </a:xfrm>
          <a:prstGeom prst="rect">
            <a:avLst/>
          </a:prstGeom>
          <a:noFill/>
          <a:ln/>
        </p:spPr>
        <p:txBody>
          <a:bodyPr wrap="square" lIns="0" tIns="0" rIns="0" bIns="0" rtlCol="0" anchor="t"/>
          <a:lstStyle/>
          <a:p>
            <a:pPr marL="0" indent="0">
              <a:lnSpc>
                <a:spcPts val="3200"/>
              </a:lnSpc>
              <a:buNone/>
            </a:pPr>
            <a:r>
              <a:rPr lang="en-US" sz="1600" b="1" dirty="0">
                <a:solidFill>
                  <a:srgbClr val="00BFA6"/>
                </a:solidFill>
                <a:latin typeface="Segoe UI" pitchFamily="34" charset="0"/>
              </a:rPr>
              <a:t>Prompt Foundations</a:t>
            </a:r>
          </a:p>
          <a:p>
            <a:pPr marL="0" indent="0">
              <a:lnSpc>
                <a:spcPts val="2800"/>
              </a:lnSpc>
              <a:buNone/>
            </a:pPr>
            <a:r>
              <a:rPr lang="en-US" sz="1400" dirty="0">
                <a:solidFill>
                  <a:srgbClr val="FFFFFF"/>
                </a:solidFill>
                <a:latin typeface="Segoe UI" pitchFamily="34" charset="0"/>
              </a:rPr>
              <a:t>  Prompt Skeleton</a:t>
            </a:r>
          </a:p>
          <a:p>
            <a:pPr marL="0" indent="0">
              <a:lnSpc>
                <a:spcPts val="2800"/>
              </a:lnSpc>
              <a:buNone/>
            </a:pPr>
            <a:r>
              <a:rPr lang="en-US" sz="1400" dirty="0">
                <a:solidFill>
                  <a:srgbClr val="FFFFFF"/>
                </a:solidFill>
                <a:latin typeface="Segoe UI" pitchFamily="34" charset="0"/>
              </a:rPr>
              <a:t>  Direct Instruction &amp; Role Prompting</a:t>
            </a:r>
          </a:p>
          <a:p>
            <a:pPr marL="0" indent="0">
              <a:lnSpc>
                <a:spcPts val="2800"/>
              </a:lnSpc>
              <a:buNone/>
            </a:pPr>
            <a:r>
              <a:rPr lang="en-US" sz="1400" dirty="0">
                <a:solidFill>
                  <a:srgbClr val="FFFFFF"/>
                </a:solidFill>
                <a:latin typeface="Segoe UI" pitchFamily="34" charset="0"/>
              </a:rPr>
              <a:t>  Scope &amp; Structure</a:t>
            </a:r>
          </a:p>
          <a:p>
            <a:pPr marL="0" indent="0">
              <a:lnSpc>
                <a:spcPts val="3200"/>
              </a:lnSpc>
              <a:buNone/>
            </a:pPr>
            <a:endParaRPr lang="en-US" sz="800" dirty="0"/>
          </a:p>
          <a:p>
            <a:pPr marL="0" indent="0">
              <a:lnSpc>
                <a:spcPts val="3200"/>
              </a:lnSpc>
              <a:buNone/>
            </a:pPr>
            <a:r>
              <a:rPr lang="en-US" sz="1600" b="1" dirty="0">
                <a:solidFill>
                  <a:srgbClr val="00BFA6"/>
                </a:solidFill>
                <a:latin typeface="Segoe UI" pitchFamily="34" charset="0"/>
              </a:rPr>
              <a:t>Reasoning Techniques</a:t>
            </a:r>
          </a:p>
          <a:p>
            <a:pPr marL="0" indent="0">
              <a:lnSpc>
                <a:spcPts val="2800"/>
              </a:lnSpc>
              <a:buNone/>
            </a:pPr>
            <a:r>
              <a:rPr lang="en-US" sz="1400" dirty="0">
                <a:solidFill>
                  <a:srgbClr val="FFFFFF"/>
                </a:solidFill>
                <a:latin typeface="Segoe UI" pitchFamily="34" charset="0"/>
              </a:rPr>
              <a:t>  Few-Shot Prompting</a:t>
            </a:r>
          </a:p>
          <a:p>
            <a:pPr marL="0" indent="0">
              <a:lnSpc>
                <a:spcPts val="2800"/>
              </a:lnSpc>
              <a:buNone/>
            </a:pPr>
            <a:r>
              <a:rPr lang="en-US" sz="1400" dirty="0">
                <a:solidFill>
                  <a:srgbClr val="FFFFFF"/>
                </a:solidFill>
                <a:latin typeface="Segoe UI" pitchFamily="34" charset="0"/>
              </a:rPr>
              <a:t>  Chain of Thought</a:t>
            </a:r>
          </a:p>
          <a:p>
            <a:pPr marL="0" indent="0">
              <a:lnSpc>
                <a:spcPts val="2800"/>
              </a:lnSpc>
              <a:buNone/>
            </a:pPr>
            <a:r>
              <a:rPr lang="en-US" sz="1400" dirty="0">
                <a:solidFill>
                  <a:srgbClr val="FFFFFF"/>
                </a:solidFill>
                <a:latin typeface="Segoe UI" pitchFamily="34" charset="0"/>
              </a:rPr>
              <a:t>  Long-Context Placement</a:t>
            </a:r>
          </a:p>
        </p:txBody>
      </p:sp>
      <p:sp>
        <p:nvSpPr>
          <p:cNvPr id="5" name="RightColumn"/>
          <p:cNvSpPr/>
          <p:nvPr/>
        </p:nvSpPr>
        <p:spPr>
          <a:xfrm>
            <a:off x="4800600" y="1143000"/>
            <a:ext cx="3886200" cy="3657600"/>
          </a:xfrm>
          <a:prstGeom prst="rect">
            <a:avLst/>
          </a:prstGeom>
          <a:noFill/>
          <a:ln/>
        </p:spPr>
        <p:txBody>
          <a:bodyPr wrap="square" lIns="0" tIns="0" rIns="0" bIns="0" rtlCol="0" anchor="t"/>
          <a:lstStyle/>
          <a:p>
            <a:pPr marL="0" indent="0">
              <a:lnSpc>
                <a:spcPts val="3200"/>
              </a:lnSpc>
              <a:buNone/>
            </a:pPr>
            <a:r>
              <a:rPr lang="en-US" sz="1600" b="1" dirty="0">
                <a:solidFill>
                  <a:srgbClr val="00BFA6"/>
                </a:solidFill>
                <a:latin typeface="Segoe UI" pitchFamily="34" charset="0"/>
              </a:rPr>
              <a:t>Structured Output</a:t>
            </a:r>
          </a:p>
          <a:p>
            <a:pPr marL="0" indent="0">
              <a:lnSpc>
                <a:spcPts val="2800"/>
              </a:lnSpc>
              <a:buNone/>
            </a:pPr>
            <a:r>
              <a:rPr lang="en-US" sz="1400" dirty="0">
                <a:solidFill>
                  <a:srgbClr val="FFFFFF"/>
                </a:solidFill>
                <a:latin typeface="Segoe UI" pitchFamily="34" charset="0"/>
              </a:rPr>
              <a:t>  Schema Extraction</a:t>
            </a:r>
          </a:p>
          <a:p>
            <a:pPr marL="0" indent="0">
              <a:lnSpc>
                <a:spcPts val="2800"/>
              </a:lnSpc>
              <a:buNone/>
            </a:pPr>
            <a:r>
              <a:rPr lang="en-US" sz="1400" dirty="0">
                <a:solidFill>
                  <a:srgbClr val="FFFFFF"/>
                </a:solidFill>
                <a:latin typeface="Segoe UI" pitchFamily="34" charset="0"/>
              </a:rPr>
              <a:t>  Reasoning Depth</a:t>
            </a:r>
          </a:p>
          <a:p>
            <a:pPr marL="0" indent="0">
              <a:lnSpc>
                <a:spcPts val="3200"/>
              </a:lnSpc>
              <a:buNone/>
            </a:pPr>
            <a:endParaRPr lang="en-US" sz="800" dirty="0"/>
          </a:p>
          <a:p>
            <a:pPr marL="0" indent="0">
              <a:lnSpc>
                <a:spcPts val="3200"/>
              </a:lnSpc>
              <a:buNone/>
            </a:pPr>
            <a:r>
              <a:rPr lang="en-US" sz="1600" b="1" dirty="0">
                <a:solidFill>
                  <a:srgbClr val="00BFA6"/>
                </a:solidFill>
                <a:latin typeface="Segoe UI" pitchFamily="34" charset="0"/>
              </a:rPr>
              <a:t>Quality &amp; Production</a:t>
            </a:r>
          </a:p>
          <a:p>
            <a:pPr marL="0" indent="0">
              <a:lnSpc>
                <a:spcPts val="2800"/>
              </a:lnSpc>
              <a:buNone/>
            </a:pPr>
            <a:r>
              <a:rPr lang="en-US" sz="1400" dirty="0">
                <a:solidFill>
                  <a:srgbClr val="FFFFFF"/>
                </a:solidFill>
                <a:latin typeface="Segoe UI" pitchFamily="34" charset="0"/>
              </a:rPr>
              <a:t>  Quality Patterns</a:t>
            </a:r>
          </a:p>
          <a:p>
            <a:pPr marL="0" indent="0">
              <a:lnSpc>
                <a:spcPts val="2800"/>
              </a:lnSpc>
              <a:buNone/>
            </a:pPr>
            <a:r>
              <a:rPr lang="en-US" sz="1400" dirty="0">
                <a:solidFill>
                  <a:srgbClr val="FFFFFF"/>
                </a:solidFill>
                <a:latin typeface="Segoe UI" pitchFamily="34" charset="0"/>
              </a:rPr>
              <a:t>  Reflection Loops</a:t>
            </a:r>
          </a:p>
          <a:p>
            <a:pPr marL="0" indent="0">
              <a:lnSpc>
                <a:spcPts val="2800"/>
              </a:lnSpc>
              <a:buNone/>
            </a:pPr>
            <a:r>
              <a:rPr lang="en-US" sz="1400" dirty="0">
                <a:solidFill>
                  <a:srgbClr val="FFFFFF"/>
                </a:solidFill>
                <a:latin typeface="Segoe UI" pitchFamily="34" charset="0"/>
              </a:rPr>
              <a:t>  Prompt Chaining</a:t>
            </a:r>
          </a:p>
          <a:p>
            <a:pPr marL="0" indent="0">
              <a:lnSpc>
                <a:spcPts val="2800"/>
              </a:lnSpc>
              <a:buNone/>
            </a:pPr>
            <a:r>
              <a:rPr lang="en-US" sz="1400" dirty="0">
                <a:solidFill>
                  <a:srgbClr val="FFFFFF"/>
                </a:solidFill>
                <a:latin typeface="Segoe UI" pitchFamily="34" charset="0"/>
              </a:rPr>
              <a:t>  Error Handling &amp; Retries</a:t>
            </a:r>
          </a:p>
          <a:p>
            <a:pPr marL="0" indent="0">
              <a:lnSpc>
                <a:spcPts val="2800"/>
              </a:lnSpc>
              <a:buNone/>
            </a:pPr>
            <a:r>
              <a:rPr lang="en-US" sz="1400" dirty="0">
                <a:solidFill>
                  <a:srgbClr val="FFFFFF"/>
                </a:solidFill>
                <a:latin typeface="Segoe UI" pitchFamily="34" charset="0"/>
              </a:rPr>
              <a:t>  Guardrail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B75BFB0-E20A-3210-1BCD-6028F8AF64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66FF3D-E2AB-DC5F-3961-00705830CCF9}"/>
              </a:ext>
            </a:extLst>
          </p:cNvPr>
          <p:cNvSpPr/>
          <p:nvPr/>
        </p:nvSpPr>
        <p:spPr>
          <a:xfrm>
            <a:off x="640080" y="365760"/>
            <a:ext cx="8226128"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And now, the Real Key Insights</a:t>
            </a:r>
            <a:endParaRPr lang="en-US" sz="4200" dirty="0"/>
          </a:p>
        </p:txBody>
      </p:sp>
      <p:sp>
        <p:nvSpPr>
          <p:cNvPr id="3" name="Text 1">
            <a:extLst>
              <a:ext uri="{FF2B5EF4-FFF2-40B4-BE49-F238E27FC236}">
                <a16:creationId xmlns:a16="http://schemas.microsoft.com/office/drawing/2014/main" id="{BBC6C4E0-00E8-D103-7E7B-6FCC46EFA4C6}"/>
              </a:ext>
            </a:extLst>
          </p:cNvPr>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a:extLst>
              <a:ext uri="{FF2B5EF4-FFF2-40B4-BE49-F238E27FC236}">
                <a16:creationId xmlns:a16="http://schemas.microsoft.com/office/drawing/2014/main" id="{FAF88373-B15C-ED54-1A46-129BAEA80C25}"/>
              </a:ext>
            </a:extLst>
          </p:cNvPr>
          <p:cNvSpPr/>
          <p:nvPr/>
        </p:nvSpPr>
        <p:spPr>
          <a:xfrm>
            <a:off x="640080" y="1791761"/>
            <a:ext cx="594360" cy="502920"/>
          </a:xfrm>
          <a:prstGeom prst="rect">
            <a:avLst/>
          </a:prstGeom>
          <a:solidFill>
            <a:srgbClr val="00BFA6"/>
          </a:solidFill>
          <a:ln/>
        </p:spPr>
        <p:txBody>
          <a:bodyPr/>
          <a:lstStyle/>
          <a:p>
            <a:endParaRPr lang="en-US"/>
          </a:p>
        </p:txBody>
      </p:sp>
      <p:sp>
        <p:nvSpPr>
          <p:cNvPr id="5" name="Text 3">
            <a:extLst>
              <a:ext uri="{FF2B5EF4-FFF2-40B4-BE49-F238E27FC236}">
                <a16:creationId xmlns:a16="http://schemas.microsoft.com/office/drawing/2014/main" id="{E25551FD-1FEB-ABAA-F521-984BC8376D51}"/>
              </a:ext>
            </a:extLst>
          </p:cNvPr>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a:extLst>
              <a:ext uri="{FF2B5EF4-FFF2-40B4-BE49-F238E27FC236}">
                <a16:creationId xmlns:a16="http://schemas.microsoft.com/office/drawing/2014/main" id="{333F46EA-6094-1388-B74D-0F7875B35E1F}"/>
              </a:ext>
            </a:extLst>
          </p:cNvPr>
          <p:cNvSpPr/>
          <p:nvPr/>
        </p:nvSpPr>
        <p:spPr>
          <a:xfrm>
            <a:off x="1417320" y="1884937"/>
            <a:ext cx="717804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Ask the model – iterate – “fine tune” the prompt</a:t>
            </a:r>
            <a:endParaRPr lang="en-US" sz="2400" dirty="0"/>
          </a:p>
        </p:txBody>
      </p:sp>
      <p:sp>
        <p:nvSpPr>
          <p:cNvPr id="8" name="Shape 6">
            <a:extLst>
              <a:ext uri="{FF2B5EF4-FFF2-40B4-BE49-F238E27FC236}">
                <a16:creationId xmlns:a16="http://schemas.microsoft.com/office/drawing/2014/main" id="{EC8F6E71-AA4C-C880-2489-25FA1755AD71}"/>
              </a:ext>
            </a:extLst>
          </p:cNvPr>
          <p:cNvSpPr/>
          <p:nvPr/>
        </p:nvSpPr>
        <p:spPr>
          <a:xfrm>
            <a:off x="640080" y="2948071"/>
            <a:ext cx="594360" cy="502920"/>
          </a:xfrm>
          <a:prstGeom prst="rect">
            <a:avLst/>
          </a:prstGeom>
          <a:solidFill>
            <a:srgbClr val="00BFA6"/>
          </a:solidFill>
          <a:ln/>
        </p:spPr>
        <p:txBody>
          <a:bodyPr/>
          <a:lstStyle/>
          <a:p>
            <a:endParaRPr lang="en-US"/>
          </a:p>
        </p:txBody>
      </p:sp>
      <p:sp>
        <p:nvSpPr>
          <p:cNvPr id="9" name="Text 7">
            <a:extLst>
              <a:ext uri="{FF2B5EF4-FFF2-40B4-BE49-F238E27FC236}">
                <a16:creationId xmlns:a16="http://schemas.microsoft.com/office/drawing/2014/main" id="{06F43AF7-589C-D44E-9304-D6C096165B4F}"/>
              </a:ext>
            </a:extLst>
          </p:cNvPr>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a:extLst>
              <a:ext uri="{FF2B5EF4-FFF2-40B4-BE49-F238E27FC236}">
                <a16:creationId xmlns:a16="http://schemas.microsoft.com/office/drawing/2014/main" id="{4F60EC64-953D-6289-7B1B-761ACE836600}"/>
              </a:ext>
            </a:extLst>
          </p:cNvPr>
          <p:cNvSpPr/>
          <p:nvPr/>
        </p:nvSpPr>
        <p:spPr>
          <a:xfrm>
            <a:off x="1417319" y="3087546"/>
            <a:ext cx="6309361"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Don’t trust people  with with “key meta-insight slides”</a:t>
            </a:r>
            <a:endParaRPr lang="en-US" sz="2400" dirty="0"/>
          </a:p>
        </p:txBody>
      </p:sp>
      <p:sp>
        <p:nvSpPr>
          <p:cNvPr id="11" name="Text 9">
            <a:extLst>
              <a:ext uri="{FF2B5EF4-FFF2-40B4-BE49-F238E27FC236}">
                <a16:creationId xmlns:a16="http://schemas.microsoft.com/office/drawing/2014/main" id="{293DB445-2817-5D2F-9667-F337C1273CE3}"/>
              </a:ext>
            </a:extLst>
          </p:cNvPr>
          <p:cNvSpPr/>
          <p:nvPr/>
        </p:nvSpPr>
        <p:spPr>
          <a:xfrm>
            <a:off x="1417320" y="3605514"/>
            <a:ext cx="7182670" cy="350712"/>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Just try stuff</a:t>
            </a:r>
            <a:endParaRPr lang="en-US" sz="1600" dirty="0"/>
          </a:p>
        </p:txBody>
      </p:sp>
    </p:spTree>
    <p:extLst>
      <p:ext uri="{BB962C8B-B14F-4D97-AF65-F5344CB8AC3E}">
        <p14:creationId xmlns:p14="http://schemas.microsoft.com/office/powerpoint/2010/main" val="241217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A Possible Prompt Skeleton</a:t>
            </a:r>
            <a:endParaRPr lang="en-US" sz="3200" dirty="0"/>
          </a:p>
        </p:txBody>
      </p:sp>
      <p:sp>
        <p:nvSpPr>
          <p:cNvPr id="6" name="Shape 4"/>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7" name="Shape 5"/>
          <p:cNvSpPr/>
          <p:nvPr/>
        </p:nvSpPr>
        <p:spPr>
          <a:xfrm>
            <a:off x="640080" y="1463040"/>
            <a:ext cx="54864" cy="1097280"/>
          </a:xfrm>
          <a:prstGeom prst="rect">
            <a:avLst/>
          </a:prstGeom>
          <a:solidFill>
            <a:srgbClr val="00BFA6"/>
          </a:solidFill>
          <a:ln/>
        </p:spPr>
        <p:txBody>
          <a:bodyPr/>
          <a:lstStyle/>
          <a:p>
            <a:endParaRPr lang="en-US" sz="2000"/>
          </a:p>
        </p:txBody>
      </p:sp>
      <p:sp>
        <p:nvSpPr>
          <p:cNvPr id="8" name="Text 6"/>
          <p:cNvSpPr/>
          <p:nvPr/>
        </p:nvSpPr>
        <p:spPr>
          <a:xfrm>
            <a:off x="82296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ROLE</a:t>
            </a:r>
            <a:endParaRPr lang="en-US" sz="1400" dirty="0"/>
          </a:p>
        </p:txBody>
      </p:sp>
      <p:sp>
        <p:nvSpPr>
          <p:cNvPr id="9" name="Text 7"/>
          <p:cNvSpPr/>
          <p:nvPr/>
        </p:nvSpPr>
        <p:spPr>
          <a:xfrm>
            <a:off x="82296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Expert stance (optional)</a:t>
            </a:r>
            <a:endParaRPr lang="en-US" sz="1400" dirty="0"/>
          </a:p>
        </p:txBody>
      </p:sp>
      <p:sp>
        <p:nvSpPr>
          <p:cNvPr id="10" name="Shape 8"/>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1" name="Shape 9"/>
          <p:cNvSpPr/>
          <p:nvPr/>
        </p:nvSpPr>
        <p:spPr>
          <a:xfrm>
            <a:off x="3429000" y="1463040"/>
            <a:ext cx="54864" cy="1097280"/>
          </a:xfrm>
          <a:prstGeom prst="rect">
            <a:avLst/>
          </a:prstGeom>
          <a:solidFill>
            <a:srgbClr val="00BFA6"/>
          </a:solidFill>
          <a:ln/>
        </p:spPr>
        <p:txBody>
          <a:bodyPr/>
          <a:lstStyle/>
          <a:p>
            <a:endParaRPr lang="en-US" sz="2000"/>
          </a:p>
        </p:txBody>
      </p:sp>
      <p:sp>
        <p:nvSpPr>
          <p:cNvPr id="12" name="Text 10"/>
          <p:cNvSpPr/>
          <p:nvPr/>
        </p:nvSpPr>
        <p:spPr>
          <a:xfrm>
            <a:off x="361188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OBJECTIVE</a:t>
            </a:r>
            <a:endParaRPr lang="en-US" sz="1400" dirty="0"/>
          </a:p>
        </p:txBody>
      </p:sp>
      <p:sp>
        <p:nvSpPr>
          <p:cNvPr id="13" name="Text 11"/>
          <p:cNvSpPr/>
          <p:nvPr/>
        </p:nvSpPr>
        <p:spPr>
          <a:xfrm>
            <a:off x="361188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One-sentence goal</a:t>
            </a:r>
            <a:endParaRPr lang="en-US" sz="1400" dirty="0"/>
          </a:p>
        </p:txBody>
      </p:sp>
      <p:sp>
        <p:nvSpPr>
          <p:cNvPr id="14" name="Shape 12"/>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5" name="Shape 13"/>
          <p:cNvSpPr/>
          <p:nvPr/>
        </p:nvSpPr>
        <p:spPr>
          <a:xfrm>
            <a:off x="6217920" y="1463040"/>
            <a:ext cx="54864" cy="1097280"/>
          </a:xfrm>
          <a:prstGeom prst="rect">
            <a:avLst/>
          </a:prstGeom>
          <a:solidFill>
            <a:srgbClr val="00BFA6"/>
          </a:solidFill>
          <a:ln/>
        </p:spPr>
        <p:txBody>
          <a:bodyPr/>
          <a:lstStyle/>
          <a:p>
            <a:endParaRPr lang="en-US" sz="2000"/>
          </a:p>
        </p:txBody>
      </p:sp>
      <p:sp>
        <p:nvSpPr>
          <p:cNvPr id="16" name="Text 14"/>
          <p:cNvSpPr/>
          <p:nvPr/>
        </p:nvSpPr>
        <p:spPr>
          <a:xfrm>
            <a:off x="640080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CONTEXT</a:t>
            </a:r>
            <a:endParaRPr lang="en-US" sz="1400" dirty="0"/>
          </a:p>
        </p:txBody>
      </p:sp>
      <p:sp>
        <p:nvSpPr>
          <p:cNvPr id="17" name="Text 15"/>
          <p:cNvSpPr/>
          <p:nvPr/>
        </p:nvSpPr>
        <p:spPr>
          <a:xfrm>
            <a:off x="640080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Facts, input data</a:t>
            </a:r>
            <a:endParaRPr lang="en-US" sz="1400" dirty="0"/>
          </a:p>
        </p:txBody>
      </p:sp>
      <p:sp>
        <p:nvSpPr>
          <p:cNvPr id="18" name="Shape 16"/>
          <p:cNvSpPr/>
          <p:nvPr/>
        </p:nvSpPr>
        <p:spPr>
          <a:xfrm>
            <a:off x="64008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9" name="Shape 17"/>
          <p:cNvSpPr/>
          <p:nvPr/>
        </p:nvSpPr>
        <p:spPr>
          <a:xfrm>
            <a:off x="640080" y="2834640"/>
            <a:ext cx="54864" cy="1097280"/>
          </a:xfrm>
          <a:prstGeom prst="rect">
            <a:avLst/>
          </a:prstGeom>
          <a:solidFill>
            <a:srgbClr val="00BFA6"/>
          </a:solidFill>
          <a:ln/>
        </p:spPr>
        <p:txBody>
          <a:bodyPr/>
          <a:lstStyle/>
          <a:p>
            <a:endParaRPr lang="en-US" sz="2000"/>
          </a:p>
        </p:txBody>
      </p:sp>
      <p:sp>
        <p:nvSpPr>
          <p:cNvPr id="20" name="Text 18"/>
          <p:cNvSpPr/>
          <p:nvPr/>
        </p:nvSpPr>
        <p:spPr>
          <a:xfrm>
            <a:off x="82296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CONSTRAINTS</a:t>
            </a:r>
            <a:endParaRPr lang="en-US" sz="1400" dirty="0"/>
          </a:p>
        </p:txBody>
      </p:sp>
      <p:sp>
        <p:nvSpPr>
          <p:cNvPr id="21" name="Text 19"/>
          <p:cNvSpPr/>
          <p:nvPr/>
        </p:nvSpPr>
        <p:spPr>
          <a:xfrm>
            <a:off x="82296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Audience, length, tone</a:t>
            </a:r>
            <a:endParaRPr lang="en-US" sz="1400" dirty="0"/>
          </a:p>
        </p:txBody>
      </p:sp>
      <p:sp>
        <p:nvSpPr>
          <p:cNvPr id="22" name="Shape 20"/>
          <p:cNvSpPr/>
          <p:nvPr/>
        </p:nvSpPr>
        <p:spPr>
          <a:xfrm>
            <a:off x="342900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3" name="Shape 21"/>
          <p:cNvSpPr/>
          <p:nvPr/>
        </p:nvSpPr>
        <p:spPr>
          <a:xfrm>
            <a:off x="3429000" y="2834640"/>
            <a:ext cx="54864" cy="1097280"/>
          </a:xfrm>
          <a:prstGeom prst="rect">
            <a:avLst/>
          </a:prstGeom>
          <a:solidFill>
            <a:srgbClr val="00BFA6"/>
          </a:solidFill>
          <a:ln/>
        </p:spPr>
        <p:txBody>
          <a:bodyPr/>
          <a:lstStyle/>
          <a:p>
            <a:endParaRPr lang="en-US" sz="2000"/>
          </a:p>
        </p:txBody>
      </p:sp>
      <p:sp>
        <p:nvSpPr>
          <p:cNvPr id="24" name="Text 22"/>
          <p:cNvSpPr/>
          <p:nvPr/>
        </p:nvSpPr>
        <p:spPr>
          <a:xfrm>
            <a:off x="361188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OUTPUT FORMAT</a:t>
            </a:r>
            <a:endParaRPr lang="en-US" sz="1400" dirty="0"/>
          </a:p>
        </p:txBody>
      </p:sp>
      <p:sp>
        <p:nvSpPr>
          <p:cNvPr id="25" name="Text 23"/>
          <p:cNvSpPr/>
          <p:nvPr/>
        </p:nvSpPr>
        <p:spPr>
          <a:xfrm>
            <a:off x="361188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Exact structure</a:t>
            </a:r>
            <a:endParaRPr lang="en-US" sz="1400" dirty="0"/>
          </a:p>
        </p:txBody>
      </p:sp>
      <p:sp>
        <p:nvSpPr>
          <p:cNvPr id="26" name="Shape 24"/>
          <p:cNvSpPr/>
          <p:nvPr/>
        </p:nvSpPr>
        <p:spPr>
          <a:xfrm>
            <a:off x="621792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7" name="Shape 25"/>
          <p:cNvSpPr/>
          <p:nvPr/>
        </p:nvSpPr>
        <p:spPr>
          <a:xfrm>
            <a:off x="6217920" y="2834640"/>
            <a:ext cx="54864" cy="1097280"/>
          </a:xfrm>
          <a:prstGeom prst="rect">
            <a:avLst/>
          </a:prstGeom>
          <a:solidFill>
            <a:srgbClr val="00BFA6"/>
          </a:solidFill>
          <a:ln/>
        </p:spPr>
        <p:txBody>
          <a:bodyPr/>
          <a:lstStyle/>
          <a:p>
            <a:endParaRPr lang="en-US" sz="2000"/>
          </a:p>
        </p:txBody>
      </p:sp>
      <p:sp>
        <p:nvSpPr>
          <p:cNvPr id="28" name="Text 26"/>
          <p:cNvSpPr/>
          <p:nvPr/>
        </p:nvSpPr>
        <p:spPr>
          <a:xfrm>
            <a:off x="640080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VERIFY</a:t>
            </a:r>
            <a:endParaRPr lang="en-US" sz="1400" dirty="0"/>
          </a:p>
        </p:txBody>
      </p:sp>
      <p:sp>
        <p:nvSpPr>
          <p:cNvPr id="29" name="Text 27"/>
          <p:cNvSpPr/>
          <p:nvPr/>
        </p:nvSpPr>
        <p:spPr>
          <a:xfrm>
            <a:off x="640080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Quality gate</a:t>
            </a:r>
            <a:endParaRPr lang="en-US" sz="1400" dirty="0"/>
          </a:p>
        </p:txBody>
      </p:sp>
      <p:sp>
        <p:nvSpPr>
          <p:cNvPr id="30" name="Text 28"/>
          <p:cNvSpPr/>
          <p:nvPr/>
        </p:nvSpPr>
        <p:spPr>
          <a:xfrm>
            <a:off x="640080" y="4480560"/>
            <a:ext cx="7772400" cy="365760"/>
          </a:xfrm>
          <a:prstGeom prst="rect">
            <a:avLst/>
          </a:prstGeom>
          <a:noFill/>
          <a:ln/>
        </p:spPr>
        <p:txBody>
          <a:bodyPr wrap="square" lIns="0" tIns="0" rIns="0" bIns="0" rtlCol="0" anchor="ctr"/>
          <a:lstStyle/>
          <a:p>
            <a:pPr marL="0" indent="0">
              <a:buNone/>
            </a:pPr>
            <a:r>
              <a:rPr lang="en-US" sz="1600" i="1" dirty="0">
                <a:solidFill>
                  <a:srgbClr val="1A2744"/>
                </a:solidFill>
                <a:latin typeface="Segoe UI" pitchFamily="34" charset="0"/>
                <a:ea typeface="Segoe UI" pitchFamily="34" charset="-122"/>
                <a:cs typeface="Segoe UI" pitchFamily="34" charset="-120"/>
              </a:rPr>
              <a:t>Claude prefers XML tags (&lt;context&gt;, &lt;instructions&gt;). OpenAI works with both XML and LABEL: sections.</a:t>
            </a:r>
            <a:endParaRPr lang="en-US" sz="1600" dirty="0"/>
          </a:p>
        </p:txBody>
      </p:sp>
    </p:spTree>
    <p:extLst>
      <p:ext uri="{BB962C8B-B14F-4D97-AF65-F5344CB8AC3E}">
        <p14:creationId xmlns:p14="http://schemas.microsoft.com/office/powerpoint/2010/main" val="3768151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Direct Instruction &amp; Role Prompting</a:t>
            </a:r>
            <a:endParaRPr lang="en-US" sz="3200" dirty="0"/>
          </a:p>
        </p:txBody>
      </p:sp>
      <p:sp>
        <p:nvSpPr>
          <p:cNvPr id="3" name="Shape 1"/>
          <p:cNvSpPr/>
          <p:nvPr/>
        </p:nvSpPr>
        <p:spPr>
          <a:xfrm>
            <a:off x="640080" y="1051560"/>
            <a:ext cx="3749040" cy="3474720"/>
          </a:xfrm>
          <a:prstGeom prst="rect">
            <a:avLst/>
          </a:prstGeom>
          <a:solidFill>
            <a:srgbClr val="F5F7FA"/>
          </a:solidFill>
          <a:ln/>
        </p:spPr>
        <p:txBody>
          <a:bodyPr/>
          <a:lstStyle/>
          <a:p>
            <a:endParaRPr lang="en-US"/>
          </a:p>
        </p:txBody>
      </p:sp>
      <p:sp>
        <p:nvSpPr>
          <p:cNvPr id="4" name="Shape 2"/>
          <p:cNvSpPr/>
          <p:nvPr/>
        </p:nvSpPr>
        <p:spPr>
          <a:xfrm>
            <a:off x="640080" y="1051560"/>
            <a:ext cx="54864" cy="3474720"/>
          </a:xfrm>
          <a:prstGeom prst="rect">
            <a:avLst/>
          </a:prstGeom>
          <a:solidFill>
            <a:srgbClr val="00BFA6"/>
          </a:solidFill>
          <a:ln/>
        </p:spPr>
        <p:txBody>
          <a:bodyPr/>
          <a:lstStyle/>
          <a:p>
            <a:endParaRPr lang="en-US"/>
          </a:p>
        </p:txBody>
      </p:sp>
      <p:sp>
        <p:nvSpPr>
          <p:cNvPr id="5" name="Shape 3"/>
          <p:cNvSpPr/>
          <p:nvPr/>
        </p:nvSpPr>
        <p:spPr>
          <a:xfrm>
            <a:off x="914400" y="1188720"/>
            <a:ext cx="365760" cy="320040"/>
          </a:xfrm>
          <a:prstGeom prst="rect">
            <a:avLst/>
          </a:prstGeom>
          <a:solidFill>
            <a:srgbClr val="00BFA6"/>
          </a:solidFill>
          <a:ln/>
        </p:spPr>
        <p:txBody>
          <a:bodyPr/>
          <a:lstStyle/>
          <a:p>
            <a:endParaRPr lang="en-US"/>
          </a:p>
        </p:txBody>
      </p:sp>
      <p:sp>
        <p:nvSpPr>
          <p:cNvPr id="6" name="Text 4"/>
          <p:cNvSpPr/>
          <p:nvPr/>
        </p:nvSpPr>
        <p:spPr>
          <a:xfrm>
            <a:off x="914400" y="1188720"/>
            <a:ext cx="365760" cy="320040"/>
          </a:xfrm>
          <a:prstGeom prst="rect">
            <a:avLst/>
          </a:prstGeom>
          <a:noFill/>
          <a:ln/>
        </p:spPr>
        <p:txBody>
          <a:bodyPr wrap="square" lIns="0" tIns="0" rIns="0" bIns="0" rtlCol="0" anchor="ctr"/>
          <a:lstStyle/>
          <a:p>
            <a:pPr marL="0" indent="0" algn="ctr">
              <a:buNone/>
            </a:pPr>
            <a:endParaRPr lang="en-US" sz="1400" dirty="0"/>
          </a:p>
        </p:txBody>
      </p:sp>
      <p:sp>
        <p:nvSpPr>
          <p:cNvPr id="7" name="Text 5"/>
          <p:cNvSpPr/>
          <p:nvPr/>
        </p:nvSpPr>
        <p:spPr>
          <a:xfrm>
            <a:off x="14173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Direct Instruction</a:t>
            </a:r>
            <a:endParaRPr lang="en-US" sz="1800" dirty="0"/>
          </a:p>
        </p:txBody>
      </p:sp>
      <p:sp>
        <p:nvSpPr>
          <p:cNvPr id="8" name="Text 6"/>
          <p:cNvSpPr/>
          <p:nvPr/>
        </p:nvSpPr>
        <p:spPr>
          <a:xfrm>
            <a:off x="9144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The baseline. Clear, literal instructions for simple tasks.</a:t>
            </a:r>
            <a:endParaRPr lang="en-US" sz="1200" dirty="0"/>
          </a:p>
        </p:txBody>
      </p:sp>
      <p:sp>
        <p:nvSpPr>
          <p:cNvPr id="9" name="Text 7"/>
          <p:cNvSpPr/>
          <p:nvPr/>
        </p:nvSpPr>
        <p:spPr>
          <a:xfrm>
            <a:off x="9144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Summarize for a VP:</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exactly 5 bullets</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include 1 risk + 1 recommendation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Text: [paste]</a:t>
            </a:r>
            <a:endParaRPr lang="en-US" sz="1100" dirty="0"/>
          </a:p>
        </p:txBody>
      </p:sp>
      <p:sp>
        <p:nvSpPr>
          <p:cNvPr id="10" name="Text 8"/>
          <p:cNvSpPr/>
          <p:nvPr/>
        </p:nvSpPr>
        <p:spPr>
          <a:xfrm>
            <a:off x="9144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If output drifts, add Recipe 5 (output clamp).</a:t>
            </a:r>
            <a:endParaRPr lang="en-US" sz="1100" dirty="0"/>
          </a:p>
        </p:txBody>
      </p:sp>
      <p:sp>
        <p:nvSpPr>
          <p:cNvPr id="11" name="Shape 9"/>
          <p:cNvSpPr/>
          <p:nvPr/>
        </p:nvSpPr>
        <p:spPr>
          <a:xfrm>
            <a:off x="4754880" y="1051560"/>
            <a:ext cx="3749040" cy="3474720"/>
          </a:xfrm>
          <a:prstGeom prst="rect">
            <a:avLst/>
          </a:prstGeom>
          <a:solidFill>
            <a:srgbClr val="F5F7FA"/>
          </a:solidFill>
          <a:ln/>
        </p:spPr>
        <p:txBody>
          <a:bodyPr/>
          <a:lstStyle/>
          <a:p>
            <a:endParaRPr lang="en-US"/>
          </a:p>
        </p:txBody>
      </p:sp>
      <p:sp>
        <p:nvSpPr>
          <p:cNvPr id="12" name="Shape 10"/>
          <p:cNvSpPr/>
          <p:nvPr/>
        </p:nvSpPr>
        <p:spPr>
          <a:xfrm>
            <a:off x="4754880" y="1051560"/>
            <a:ext cx="54864" cy="3474720"/>
          </a:xfrm>
          <a:prstGeom prst="rect">
            <a:avLst/>
          </a:prstGeom>
          <a:solidFill>
            <a:srgbClr val="00BFA6"/>
          </a:solidFill>
          <a:ln/>
        </p:spPr>
        <p:txBody>
          <a:bodyPr/>
          <a:lstStyle/>
          <a:p>
            <a:endParaRPr lang="en-US"/>
          </a:p>
        </p:txBody>
      </p:sp>
      <p:sp>
        <p:nvSpPr>
          <p:cNvPr id="13" name="Shape 11"/>
          <p:cNvSpPr/>
          <p:nvPr/>
        </p:nvSpPr>
        <p:spPr>
          <a:xfrm>
            <a:off x="5029200" y="1188720"/>
            <a:ext cx="365760" cy="320040"/>
          </a:xfrm>
          <a:prstGeom prst="rect">
            <a:avLst/>
          </a:prstGeom>
          <a:solidFill>
            <a:srgbClr val="00BFA6"/>
          </a:solidFill>
          <a:ln/>
        </p:spPr>
        <p:txBody>
          <a:bodyPr/>
          <a:lstStyle/>
          <a:p>
            <a:endParaRPr lang="en-US"/>
          </a:p>
        </p:txBody>
      </p:sp>
      <p:sp>
        <p:nvSpPr>
          <p:cNvPr id="14" name="Text 12"/>
          <p:cNvSpPr/>
          <p:nvPr/>
        </p:nvSpPr>
        <p:spPr>
          <a:xfrm>
            <a:off x="5029200" y="1188720"/>
            <a:ext cx="365760" cy="320040"/>
          </a:xfrm>
          <a:prstGeom prst="rect">
            <a:avLst/>
          </a:prstGeom>
          <a:noFill/>
          <a:ln/>
        </p:spPr>
        <p:txBody>
          <a:bodyPr wrap="square" lIns="0" tIns="0" rIns="0" bIns="0" rtlCol="0" anchor="ctr"/>
          <a:lstStyle/>
          <a:p>
            <a:pPr marL="0" indent="0" algn="ctr">
              <a:buNone/>
            </a:pPr>
            <a:endParaRPr lang="en-US" sz="1400" dirty="0"/>
          </a:p>
        </p:txBody>
      </p:sp>
      <p:sp>
        <p:nvSpPr>
          <p:cNvPr id="15" name="Text 13"/>
          <p:cNvSpPr/>
          <p:nvPr/>
        </p:nvSpPr>
        <p:spPr>
          <a:xfrm>
            <a:off x="55321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Role Prompting</a:t>
            </a:r>
            <a:endParaRPr lang="en-US" sz="1800" dirty="0"/>
          </a:p>
        </p:txBody>
      </p:sp>
      <p:sp>
        <p:nvSpPr>
          <p:cNvPr id="16" name="Text 14"/>
          <p:cNvSpPr/>
          <p:nvPr/>
        </p:nvSpPr>
        <p:spPr>
          <a:xfrm>
            <a:off x="50292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Shapes tone, vocabulary, depth. Does NOT improve factual correctness.</a:t>
            </a:r>
            <a:endParaRPr lang="en-US" sz="1200" dirty="0"/>
          </a:p>
        </p:txBody>
      </p:sp>
      <p:sp>
        <p:nvSpPr>
          <p:cNvPr id="17" name="Text 15"/>
          <p:cNvSpPr/>
          <p:nvPr/>
        </p:nvSpPr>
        <p:spPr>
          <a:xfrm>
            <a:off x="50292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Act as a senior SRE.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Return: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1) Findings (major)</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2) Missing evidence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3) Follow-ups (top 5)</a:t>
            </a:r>
            <a:endParaRPr lang="en-US" sz="1100" dirty="0"/>
          </a:p>
        </p:txBody>
      </p:sp>
      <p:sp>
        <p:nvSpPr>
          <p:cNvPr id="18" name="Text 16"/>
          <p:cNvSpPr/>
          <p:nvPr/>
        </p:nvSpPr>
        <p:spPr>
          <a:xfrm>
            <a:off x="50292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Gemini takes personas very seriously — test for conflicts.</a:t>
            </a:r>
            <a:endParaRPr lang="en-US" sz="1100" dirty="0"/>
          </a:p>
        </p:txBody>
      </p:sp>
    </p:spTree>
    <p:extLst>
      <p:ext uri="{BB962C8B-B14F-4D97-AF65-F5344CB8AC3E}">
        <p14:creationId xmlns:p14="http://schemas.microsoft.com/office/powerpoint/2010/main" val="3159525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59436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Scope &amp; Structure</a:t>
            </a:r>
            <a:endParaRPr lang="en-US" sz="3600" dirty="0"/>
          </a:p>
        </p:txBody>
      </p:sp>
      <p:sp>
        <p:nvSpPr>
          <p:cNvPr id="3" name="Shape 1"/>
          <p:cNvSpPr/>
          <p:nvPr/>
        </p:nvSpPr>
        <p:spPr>
          <a:xfrm>
            <a:off x="640080" y="1005840"/>
            <a:ext cx="3749040" cy="1828800"/>
          </a:xfrm>
          <a:prstGeom prst="rect">
            <a:avLst/>
          </a:prstGeom>
          <a:solidFill>
            <a:srgbClr val="F5F7FA"/>
          </a:solidFill>
          <a:ln/>
        </p:spPr>
        <p:txBody>
          <a:bodyPr/>
          <a:lstStyle/>
          <a:p>
            <a:endParaRPr lang="en-US"/>
          </a:p>
        </p:txBody>
      </p:sp>
      <p:sp>
        <p:nvSpPr>
          <p:cNvPr id="4" name="Shape 2"/>
          <p:cNvSpPr/>
          <p:nvPr/>
        </p:nvSpPr>
        <p:spPr>
          <a:xfrm>
            <a:off x="640080" y="1005840"/>
            <a:ext cx="54864" cy="1828800"/>
          </a:xfrm>
          <a:prstGeom prst="rect">
            <a:avLst/>
          </a:prstGeom>
          <a:solidFill>
            <a:srgbClr val="00BFA6"/>
          </a:solidFill>
          <a:ln/>
        </p:spPr>
        <p:txBody>
          <a:bodyPr/>
          <a:lstStyle/>
          <a:p>
            <a:endParaRPr lang="en-US"/>
          </a:p>
        </p:txBody>
      </p:sp>
      <p:sp>
        <p:nvSpPr>
          <p:cNvPr id="5" name="Shape 3"/>
          <p:cNvSpPr/>
          <p:nvPr/>
        </p:nvSpPr>
        <p:spPr>
          <a:xfrm>
            <a:off x="914400" y="1143000"/>
            <a:ext cx="365760" cy="274320"/>
          </a:xfrm>
          <a:prstGeom prst="rect">
            <a:avLst/>
          </a:prstGeom>
          <a:solidFill>
            <a:srgbClr val="00BFA6"/>
          </a:solidFill>
          <a:ln/>
        </p:spPr>
        <p:txBody>
          <a:bodyPr/>
          <a:lstStyle/>
          <a:p>
            <a:endParaRPr lang="en-US"/>
          </a:p>
        </p:txBody>
      </p:sp>
      <p:sp>
        <p:nvSpPr>
          <p:cNvPr id="6" name="Text 4"/>
          <p:cNvSpPr/>
          <p:nvPr/>
        </p:nvSpPr>
        <p:spPr>
          <a:xfrm>
            <a:off x="914400" y="1143000"/>
            <a:ext cx="365760" cy="274320"/>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4173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Scope Discipline</a:t>
            </a:r>
            <a:endParaRPr lang="en-US" sz="1600" dirty="0"/>
          </a:p>
        </p:txBody>
      </p:sp>
      <p:sp>
        <p:nvSpPr>
          <p:cNvPr id="8" name="Text 6"/>
          <p:cNvSpPr/>
          <p:nvPr/>
        </p:nvSpPr>
        <p:spPr>
          <a:xfrm>
            <a:off x="9144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Set explicit boundaries. "Fix this function" without scope may trigger a full refactor.</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Implement EXACTLY this and nothing else.</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If ambiguous, pick simplest valid interpretation.</a:t>
            </a:r>
            <a:endParaRPr lang="en-US" sz="1200" dirty="0"/>
          </a:p>
        </p:txBody>
      </p:sp>
      <p:sp>
        <p:nvSpPr>
          <p:cNvPr id="9" name="Shape 7"/>
          <p:cNvSpPr/>
          <p:nvPr/>
        </p:nvSpPr>
        <p:spPr>
          <a:xfrm>
            <a:off x="4754880" y="1005840"/>
            <a:ext cx="3749040" cy="1828800"/>
          </a:xfrm>
          <a:prstGeom prst="rect">
            <a:avLst/>
          </a:prstGeom>
          <a:solidFill>
            <a:srgbClr val="F5F7FA"/>
          </a:solidFill>
          <a:ln/>
        </p:spPr>
        <p:txBody>
          <a:bodyPr/>
          <a:lstStyle/>
          <a:p>
            <a:endParaRPr lang="en-US"/>
          </a:p>
        </p:txBody>
      </p:sp>
      <p:sp>
        <p:nvSpPr>
          <p:cNvPr id="10" name="Shape 8"/>
          <p:cNvSpPr/>
          <p:nvPr/>
        </p:nvSpPr>
        <p:spPr>
          <a:xfrm>
            <a:off x="4754880" y="1005840"/>
            <a:ext cx="54864" cy="1828800"/>
          </a:xfrm>
          <a:prstGeom prst="rect">
            <a:avLst/>
          </a:prstGeom>
          <a:solidFill>
            <a:srgbClr val="00BFA6"/>
          </a:solidFill>
          <a:ln/>
        </p:spPr>
        <p:txBody>
          <a:bodyPr/>
          <a:lstStyle/>
          <a:p>
            <a:endParaRPr lang="en-US"/>
          </a:p>
        </p:txBody>
      </p:sp>
      <p:sp>
        <p:nvSpPr>
          <p:cNvPr id="11" name="Shape 9"/>
          <p:cNvSpPr/>
          <p:nvPr/>
        </p:nvSpPr>
        <p:spPr>
          <a:xfrm>
            <a:off x="5029200" y="1143000"/>
            <a:ext cx="365760" cy="274320"/>
          </a:xfrm>
          <a:prstGeom prst="rect">
            <a:avLst/>
          </a:prstGeom>
          <a:solidFill>
            <a:srgbClr val="00BFA6"/>
          </a:solidFill>
          <a:ln/>
        </p:spPr>
        <p:txBody>
          <a:bodyPr/>
          <a:lstStyle/>
          <a:p>
            <a:endParaRPr lang="en-US"/>
          </a:p>
        </p:txBody>
      </p:sp>
      <p:sp>
        <p:nvSpPr>
          <p:cNvPr id="12" name="Text 10"/>
          <p:cNvSpPr/>
          <p:nvPr/>
        </p:nvSpPr>
        <p:spPr>
          <a:xfrm>
            <a:off x="5029200" y="1143000"/>
            <a:ext cx="365760" cy="274320"/>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55321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Structured Formatting</a:t>
            </a:r>
            <a:endParaRPr lang="en-US" sz="1600" dirty="0"/>
          </a:p>
        </p:txBody>
      </p:sp>
      <p:sp>
        <p:nvSpPr>
          <p:cNvPr id="14" name="Text 12"/>
          <p:cNvSpPr/>
          <p:nvPr/>
        </p:nvSpPr>
        <p:spPr>
          <a:xfrm>
            <a:off x="50292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Delimiters prevent the model from confusing instructions with data.</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Separate instructions from data.</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Put long data first, instructions last.</a:t>
            </a:r>
            <a:endParaRPr lang="en-US" sz="1200" dirty="0"/>
          </a:p>
        </p:txBody>
      </p:sp>
      <p:graphicFrame>
        <p:nvGraphicFramePr>
          <p:cNvPr id="15" name="Table 0"/>
          <p:cNvGraphicFramePr>
            <a:graphicFrameLocks noGrp="1"/>
          </p:cNvGraphicFramePr>
          <p:nvPr/>
        </p:nvGraphicFramePr>
        <p:xfrm>
          <a:off x="640080" y="3063240"/>
          <a:ext cx="7863840" cy="1600200"/>
        </p:xfrm>
        <a:graphic>
          <a:graphicData uri="http://schemas.openxmlformats.org/drawingml/2006/table">
            <a:tbl>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Format</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Example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XML tags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&lt;context&gt;...&lt;/context&gt;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Claude, 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LABEL: sections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ROLE: / CONSTRAINTS: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Quick UIs, Gemini 3</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Markdown</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 Instructions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General readability</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Triple quotes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"""content"""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Data vs instructions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64954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Few-Shot Prompting</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Show the model what you want by providing examples in the prompt itself.</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Technique</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a:t>
            </a:r>
            <a:r>
              <a:rPr lang="en-US" sz="1200" dirty="0">
                <a:solidFill>
                  <a:srgbClr val="1A2744"/>
                </a:solidFill>
                <a:latin typeface="Segoe UI" pitchFamily="34" charset="0"/>
                <a:ea typeface="Segoe UI" pitchFamily="34" charset="-122"/>
                <a:cs typeface="Segoe UI" pitchFamily="34" charset="-120"/>
              </a:rPr>
              <a:t> No examples. Relies entirely on the model's training.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One-shot:</a:t>
            </a:r>
            <a:r>
              <a:rPr lang="en-US" sz="1200" dirty="0">
                <a:solidFill>
                  <a:srgbClr val="1A2744"/>
                </a:solidFill>
                <a:latin typeface="Segoe UI" pitchFamily="34" charset="0"/>
                <a:ea typeface="Segoe UI" pitchFamily="34" charset="-122"/>
                <a:cs typeface="Segoe UI" pitchFamily="34" charset="-120"/>
              </a:rPr>
              <a:t> One input–output pair shows the pattern.</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(3–5):</a:t>
            </a:r>
            <a:r>
              <a:rPr lang="en-US" sz="1200" dirty="0">
                <a:solidFill>
                  <a:srgbClr val="1A2744"/>
                </a:solidFill>
                <a:latin typeface="Segoe UI" pitchFamily="34" charset="0"/>
                <a:ea typeface="Segoe UI" pitchFamily="34" charset="-122"/>
                <a:cs typeface="Segoe UI" pitchFamily="34" charset="-120"/>
              </a:rPr>
              <a:t> Multiple examples lock in format, tone, and edge cases.</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Best Practices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Diverse examples:</a:t>
            </a:r>
            <a:r>
              <a:rPr lang="en-US" sz="1200" dirty="0">
                <a:solidFill>
                  <a:srgbClr val="1A2744"/>
                </a:solidFill>
                <a:latin typeface="Segoe UI" pitchFamily="34" charset="0"/>
                <a:ea typeface="Segoe UI" pitchFamily="34" charset="-122"/>
                <a:cs typeface="Segoe UI" pitchFamily="34" charset="-120"/>
              </a:rPr>
              <a:t> Cover typical cases AND edge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Consistent format:</a:t>
            </a:r>
            <a:r>
              <a:rPr lang="en-US" sz="1200" dirty="0">
                <a:solidFill>
                  <a:srgbClr val="1A2744"/>
                </a:solidFill>
                <a:latin typeface="Segoe UI" pitchFamily="34" charset="0"/>
                <a:ea typeface="Segoe UI" pitchFamily="34" charset="-122"/>
                <a:cs typeface="Segoe UI" pitchFamily="34" charset="-120"/>
              </a:rPr>
              <a:t> Use identical delimiters (Input: / Output:) in every example.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Order matters:</a:t>
            </a:r>
            <a:r>
              <a:rPr lang="en-US" sz="1200" dirty="0">
                <a:solidFill>
                  <a:srgbClr val="1A2744"/>
                </a:solidFill>
                <a:latin typeface="Segoe UI" pitchFamily="34" charset="0"/>
                <a:ea typeface="Segoe UI" pitchFamily="34" charset="-122"/>
                <a:cs typeface="Segoe UI" pitchFamily="34" charset="-120"/>
              </a:rPr>
              <a:t> Place the most similar example last, closest to the actual task.</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Few-shot is the single most reliable way to control output format without fine-tuning.</a:t>
            </a:r>
          </a:p>
        </p:txBody>
      </p:sp>
    </p:spTree>
    <p:extLst>
      <p:ext uri="{BB962C8B-B14F-4D97-AF65-F5344CB8AC3E}">
        <p14:creationId xmlns:p14="http://schemas.microsoft.com/office/powerpoint/2010/main" val="145982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Chain of Thought (CoT)</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Force the model to show its work before giving a final answer.</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Why It Works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dirty="0">
                <a:solidFill>
                  <a:srgbClr val="1A2744"/>
                </a:solidFill>
                <a:latin typeface="Segoe UI" pitchFamily="34" charset="0"/>
                <a:ea typeface="Segoe UI" pitchFamily="34" charset="-122"/>
                <a:cs typeface="Segoe UI" pitchFamily="34" charset="-120"/>
              </a:rPr>
              <a:t>LLMs generate tokens sequentially. When you force intermediate reasoning steps, each subsequent token is conditioned on better context.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Key insight:</a:t>
            </a:r>
            <a:r>
              <a:rPr lang="en-US" sz="1200" dirty="0">
                <a:solidFill>
                  <a:srgbClr val="1A2744"/>
                </a:solidFill>
                <a:latin typeface="Segoe UI" pitchFamily="34" charset="0"/>
                <a:ea typeface="Segoe UI" pitchFamily="34" charset="-122"/>
                <a:cs typeface="Segoe UI" pitchFamily="34" charset="-120"/>
              </a:rPr>
              <a:t> The model "thinks" by writing. No writing = no thinking. CoT gives the model scratch space.</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CoT Variants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 CoT:</a:t>
            </a:r>
            <a:r>
              <a:rPr lang="en-US" sz="1200" dirty="0">
                <a:solidFill>
                  <a:srgbClr val="1A2744"/>
                </a:solidFill>
                <a:latin typeface="Segoe UI" pitchFamily="34" charset="0"/>
                <a:ea typeface="Segoe UI" pitchFamily="34" charset="-122"/>
                <a:cs typeface="Segoe UI" pitchFamily="34" charset="-120"/>
              </a:rPr>
              <a:t> Add "Let's think step by step" to trigger reasoning.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Structured CoT:</a:t>
            </a:r>
            <a:r>
              <a:rPr lang="en-US" sz="1200" dirty="0">
                <a:solidFill>
                  <a:srgbClr val="1A2744"/>
                </a:solidFill>
                <a:latin typeface="Segoe UI" pitchFamily="34" charset="0"/>
                <a:ea typeface="Segoe UI" pitchFamily="34" charset="-122"/>
                <a:cs typeface="Segoe UI" pitchFamily="34" charset="-120"/>
              </a:rPr>
              <a:t> Prescribe steps: "First analyze X, then evaluate Y, finally conclude Z."</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CoT:</a:t>
            </a:r>
            <a:r>
              <a:rPr lang="en-US" sz="1200" dirty="0">
                <a:solidFill>
                  <a:srgbClr val="1A2744"/>
                </a:solidFill>
                <a:latin typeface="Segoe UI" pitchFamily="34" charset="0"/>
                <a:ea typeface="Segoe UI" pitchFamily="34" charset="-122"/>
                <a:cs typeface="Segoe UI" pitchFamily="34" charset="-120"/>
              </a:rPr>
              <a:t> Provide examples that include reasoning traces, not just answers.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CoT is most impactful for math, logic, multi-step reasoning, and complex decision-making tasks.</a:t>
            </a:r>
          </a:p>
        </p:txBody>
      </p:sp>
    </p:spTree>
    <p:extLst>
      <p:ext uri="{BB962C8B-B14F-4D97-AF65-F5344CB8AC3E}">
        <p14:creationId xmlns:p14="http://schemas.microsoft.com/office/powerpoint/2010/main" val="3661762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Long-Context Placement</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Where you place instructions relative to data significantly affects quality.</a:t>
            </a:r>
            <a:endParaRPr lang="en-US" sz="1400" dirty="0"/>
          </a:p>
        </p:txBody>
      </p:sp>
      <p:sp>
        <p:nvSpPr>
          <p:cNvPr id="6" name="Shape 4"/>
          <p:cNvSpPr/>
          <p:nvPr/>
        </p:nvSpPr>
        <p:spPr>
          <a:xfrm>
            <a:off x="640080" y="1463040"/>
            <a:ext cx="3749040" cy="256032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FF6B6B"/>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FF6B6B"/>
                </a:solidFill>
                <a:latin typeface="Segoe UI" pitchFamily="34" charset="0"/>
                <a:ea typeface="Segoe UI" pitchFamily="34" charset="-122"/>
                <a:cs typeface="Segoe UI" pitchFamily="34" charset="-120"/>
              </a:rPr>
              <a:t>Poor Placement (maybe)</a:t>
            </a:r>
            <a:endParaRPr lang="en-US" sz="1600" dirty="0"/>
          </a:p>
        </p:txBody>
      </p:sp>
      <p:sp>
        <p:nvSpPr>
          <p:cNvPr id="9" name="Text 7"/>
          <p:cNvSpPr/>
          <p:nvPr/>
        </p:nvSpPr>
        <p:spPr>
          <a:xfrm>
            <a:off x="9144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Answer these questions: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Document: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p:txBody>
      </p:sp>
      <p:sp>
        <p:nvSpPr>
          <p:cNvPr id="10" name="Shape 8"/>
          <p:cNvSpPr/>
          <p:nvPr/>
        </p:nvSpPr>
        <p:spPr>
          <a:xfrm>
            <a:off x="4754880" y="1463040"/>
            <a:ext cx="3749040" cy="256032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Good Placement (maybe)</a:t>
            </a:r>
            <a:endParaRPr lang="en-US" sz="1600" dirty="0"/>
          </a:p>
        </p:txBody>
      </p:sp>
      <p:sp>
        <p:nvSpPr>
          <p:cNvPr id="13" name="Text 11"/>
          <p:cNvSpPr/>
          <p:nvPr/>
        </p:nvSpPr>
        <p:spPr>
          <a:xfrm>
            <a:off x="50292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Based on the document above: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Cite relevant section numbers.</a:t>
            </a:r>
            <a:endParaRPr lang="en-US" sz="1200" dirty="0"/>
          </a:p>
        </p:txBody>
      </p:sp>
      <p:sp>
        <p:nvSpPr>
          <p:cNvPr id="14" name="Shape 12"/>
          <p:cNvSpPr/>
          <p:nvPr/>
        </p:nvSpPr>
        <p:spPr>
          <a:xfrm>
            <a:off x="640080" y="4251960"/>
            <a:ext cx="7863840" cy="640080"/>
          </a:xfrm>
          <a:prstGeom prst="rect">
            <a:avLst/>
          </a:prstGeom>
          <a:solidFill>
            <a:srgbClr val="00BFA6"/>
          </a:solidFill>
          <a:ln/>
        </p:spPr>
        <p:txBody>
          <a:bodyPr/>
          <a:lstStyle/>
          <a:p>
            <a:endParaRPr lang="en-US"/>
          </a:p>
        </p:txBody>
      </p:sp>
      <p:sp>
        <p:nvSpPr>
          <p:cNvPr id="15" name="Text 13"/>
          <p:cNvSpPr/>
          <p:nvPr/>
        </p:nvSpPr>
        <p:spPr>
          <a:xfrm>
            <a:off x="914400" y="4251960"/>
            <a:ext cx="7315200" cy="64008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The rule: Long data first → instructions last → query at the very end</a:t>
            </a:r>
            <a:endParaRPr lang="en-US" sz="1600" dirty="0"/>
          </a:p>
        </p:txBody>
      </p:sp>
    </p:spTree>
    <p:extLst>
      <p:ext uri="{BB962C8B-B14F-4D97-AF65-F5344CB8AC3E}">
        <p14:creationId xmlns:p14="http://schemas.microsoft.com/office/powerpoint/2010/main" val="326348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Schema Extraction</a:t>
            </a:r>
            <a:endParaRPr lang="en-US" sz="3200" dirty="0"/>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The biggest practical difference between UI and API.</a:t>
            </a:r>
            <a:endParaRPr lang="en-US" sz="1400" dirty="0"/>
          </a:p>
        </p:txBody>
      </p:sp>
      <p:sp>
        <p:nvSpPr>
          <p:cNvPr id="6" name="Shape 4"/>
          <p:cNvSpPr/>
          <p:nvPr/>
        </p:nvSpPr>
        <p:spPr>
          <a:xfrm>
            <a:off x="640080" y="1463040"/>
            <a:ext cx="3749040" cy="292608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8892A0"/>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B8C4D6"/>
                </a:solidFill>
                <a:latin typeface="Segoe UI" pitchFamily="34" charset="0"/>
                <a:ea typeface="Segoe UI" pitchFamily="34" charset="-122"/>
                <a:cs typeface="Segoe UI" pitchFamily="34" charset="-120"/>
              </a:rPr>
              <a:t>UI: Best-Effort</a:t>
            </a:r>
            <a:endParaRPr lang="en-US" sz="1600" dirty="0"/>
          </a:p>
        </p:txBody>
      </p:sp>
      <p:sp>
        <p:nvSpPr>
          <p:cNvPr id="9" name="Text 7"/>
          <p:cNvSpPr/>
          <p:nvPr/>
        </p:nvSpPr>
        <p:spPr>
          <a:xfrm>
            <a:off x="914400" y="2103120"/>
            <a:ext cx="3200400" cy="201168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Extract into JSON with</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exactly these keys: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party_name, jurisdiction,</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effective_date,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termination_summary</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If unknown, set null.</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No extra keys.</a:t>
            </a:r>
            <a:endParaRPr lang="en-US" sz="1200" dirty="0"/>
          </a:p>
        </p:txBody>
      </p:sp>
      <p:sp>
        <p:nvSpPr>
          <p:cNvPr id="10" name="Shape 8"/>
          <p:cNvSpPr/>
          <p:nvPr/>
        </p:nvSpPr>
        <p:spPr>
          <a:xfrm>
            <a:off x="4754880" y="1463040"/>
            <a:ext cx="3749040" cy="292608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API: Enforced</a:t>
            </a:r>
            <a:endParaRPr lang="en-US" sz="1600" dirty="0"/>
          </a:p>
        </p:txBody>
      </p:sp>
      <p:sp>
        <p:nvSpPr>
          <p:cNvPr id="13" name="Text 11"/>
          <p:cNvSpPr/>
          <p:nvPr/>
        </p:nvSpPr>
        <p:spPr>
          <a:xfrm>
            <a:off x="5029200" y="2103120"/>
            <a:ext cx="3200400" cy="2011680"/>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OpenAI: </a:t>
            </a:r>
            <a:r>
              <a:rPr lang="en-US" sz="1200" dirty="0">
                <a:solidFill>
                  <a:srgbClr val="B8C4D6"/>
                </a:solidFill>
                <a:latin typeface="Segoe UI" pitchFamily="34" charset="0"/>
                <a:ea typeface="Segoe UI" pitchFamily="34" charset="-122"/>
                <a:cs typeface="Segoe UI" pitchFamily="34" charset="-120"/>
              </a:rPr>
              <a:t>text.format with</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strict: true → guaranteed shape</a:t>
            </a:r>
            <a:endParaRPr lang="en-US" sz="1200" dirty="0"/>
          </a:p>
          <a:p>
            <a:pPr marL="0" indent="0">
              <a:buNone/>
            </a:pPr>
            <a:r>
              <a:rPr lang="en-US" sz="1200" dirty="0">
                <a:solidFill>
                  <a:srgbClr val="000000"/>
                </a:solidFill>
                <a:latin typeface="Segoe UI" pitchFamily="34" charset="0"/>
                <a:ea typeface="Segoe UI" pitchFamily="34" charset="-122"/>
                <a:cs typeface="Segoe UI" pitchFamily="34" charset="-120"/>
              </a:rPr>
              <a:t>
</a:t>
            </a:r>
            <a:endParaRPr lang="en-US" sz="1200" dirty="0"/>
          </a:p>
          <a:p>
            <a:pPr marL="0" indent="0">
              <a:buNone/>
            </a:pPr>
            <a:r>
              <a:rPr lang="en-US" sz="1200" b="1" dirty="0">
                <a:solidFill>
                  <a:srgbClr val="FFFFFF"/>
                </a:solidFill>
                <a:latin typeface="Segoe UI" pitchFamily="34" charset="0"/>
                <a:ea typeface="Segoe UI" pitchFamily="34" charset="-122"/>
                <a:cs typeface="Segoe UI" pitchFamily="34" charset="-120"/>
              </a:rPr>
              <a:t>Anthropic: </a:t>
            </a:r>
            <a:r>
              <a:rPr lang="en-US" sz="1200" dirty="0">
                <a:solidFill>
                  <a:srgbClr val="B8C4D6"/>
                </a:solidFill>
                <a:latin typeface="Segoe UI" pitchFamily="34" charset="0"/>
                <a:ea typeface="Segoe UI" pitchFamily="34" charset="-122"/>
                <a:cs typeface="Segoe UI" pitchFamily="34" charset="-120"/>
              </a:rPr>
              <a:t>Prefilling + tool-use</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schemas → enforced structure</a:t>
            </a:r>
            <a:endParaRPr lang="en-US" sz="1200" dirty="0"/>
          </a:p>
        </p:txBody>
      </p:sp>
      <p:sp>
        <p:nvSpPr>
          <p:cNvPr id="14" name="Text 12"/>
          <p:cNvSpPr/>
          <p:nvPr/>
        </p:nvSpPr>
        <p:spPr>
          <a:xfrm>
            <a:off x="640080" y="4572000"/>
            <a:ext cx="7772400" cy="320040"/>
          </a:xfrm>
          <a:prstGeom prst="rect">
            <a:avLst/>
          </a:prstGeom>
          <a:noFill/>
          <a:ln/>
        </p:spPr>
        <p:txBody>
          <a:bodyPr wrap="square" lIns="0" tIns="0" rIns="0" bIns="0" rtlCol="0" anchor="ctr"/>
          <a:lstStyle/>
          <a:p>
            <a:pPr marL="0" indent="0">
              <a:buNone/>
            </a:pPr>
            <a:r>
              <a:rPr lang="en-US" sz="1200" i="1" dirty="0">
                <a:solidFill>
                  <a:srgbClr val="B8C4D6"/>
                </a:solidFill>
                <a:latin typeface="Segoe UI" pitchFamily="34" charset="0"/>
                <a:ea typeface="Segoe UI" pitchFamily="34" charset="-122"/>
                <a:cs typeface="Segoe UI" pitchFamily="34" charset="-120"/>
              </a:rPr>
              <a:t>If you're building a pipeline that parses model output, always use API-level enforcement.</a:t>
            </a:r>
            <a:endParaRPr lang="en-US" sz="1200" dirty="0"/>
          </a:p>
        </p:txBody>
      </p:sp>
    </p:spTree>
    <p:extLst>
      <p:ext uri="{BB962C8B-B14F-4D97-AF65-F5344CB8AC3E}">
        <p14:creationId xmlns:p14="http://schemas.microsoft.com/office/powerpoint/2010/main" val="2054302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Reasoning Depth</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Trade off latency/cost vs. correctness. Not all tasks need deep reasoning.</a:t>
            </a:r>
            <a:endParaRPr lang="en-US" sz="1400" dirty="0"/>
          </a:p>
        </p:txBody>
      </p:sp>
      <p:graphicFrame>
        <p:nvGraphicFramePr>
          <p:cNvPr id="14" name="Table 0"/>
          <p:cNvGraphicFramePr>
            <a:graphicFrameLocks noGrp="1"/>
          </p:cNvGraphicFramePr>
          <p:nvPr/>
        </p:nvGraphicFramePr>
        <p:xfrm>
          <a:off x="640080" y="1371600"/>
          <a:ext cx="7863840" cy="1508760"/>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0040">
                <a:tc>
                  <a:txBody>
                    <a:bodyPr/>
                    <a:lstStyle/>
                    <a:p>
                      <a:pPr marL="0" indent="0">
                        <a:buNone/>
                      </a:pP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Anthropic</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Google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9436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Knob</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reasoning.effort</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(none/low/med/high)</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thinking.budget_tokens</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(extended thinking)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Model selection</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(Flash vs Pro)</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Granular effort tuning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Complex multi-step;</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interleaved thinking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Binary model choice</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Shape 4"/>
          <p:cNvSpPr/>
          <p:nvPr/>
        </p:nvSpPr>
        <p:spPr>
          <a:xfrm>
            <a:off x="640080" y="2926080"/>
            <a:ext cx="3749040" cy="1371600"/>
          </a:xfrm>
          <a:prstGeom prst="rect">
            <a:avLst/>
          </a:prstGeom>
          <a:solidFill>
            <a:srgbClr val="F5F7FA"/>
          </a:solidFill>
          <a:ln/>
        </p:spPr>
        <p:txBody>
          <a:bodyPr/>
          <a:lstStyle/>
          <a:p>
            <a:endParaRPr lang="en-US"/>
          </a:p>
        </p:txBody>
      </p:sp>
      <p:sp>
        <p:nvSpPr>
          <p:cNvPr id="8" name="Shape 5"/>
          <p:cNvSpPr/>
          <p:nvPr/>
        </p:nvSpPr>
        <p:spPr>
          <a:xfrm>
            <a:off x="640080" y="2926080"/>
            <a:ext cx="54864" cy="1371600"/>
          </a:xfrm>
          <a:prstGeom prst="rect">
            <a:avLst/>
          </a:prstGeom>
          <a:solidFill>
            <a:srgbClr val="00BFA6"/>
          </a:solidFill>
          <a:ln/>
        </p:spPr>
        <p:txBody>
          <a:bodyPr/>
          <a:lstStyle/>
          <a:p>
            <a:endParaRPr lang="en-US"/>
          </a:p>
        </p:txBody>
      </p:sp>
      <p:sp>
        <p:nvSpPr>
          <p:cNvPr id="9" name="Text 6"/>
          <p:cNvSpPr/>
          <p:nvPr/>
        </p:nvSpPr>
        <p:spPr>
          <a:xfrm>
            <a:off x="914400" y="3017520"/>
            <a:ext cx="3200400" cy="274320"/>
          </a:xfrm>
          <a:prstGeom prst="rect">
            <a:avLst/>
          </a:prstGeom>
          <a:noFill/>
          <a:ln/>
        </p:spPr>
        <p:txBody>
          <a:bodyPr wrap="square" lIns="0" tIns="0" rIns="0" bIns="0" rtlCol="0" anchor="ctr"/>
          <a:lstStyle/>
          <a:p>
            <a:pPr marL="0" indent="0">
              <a:buNone/>
            </a:pPr>
            <a:r>
              <a:rPr lang="en-US" sz="1400" b="1" dirty="0">
                <a:solidFill>
                  <a:srgbClr val="1A2744"/>
                </a:solidFill>
                <a:latin typeface="Segoe UI" pitchFamily="34" charset="0"/>
                <a:ea typeface="Segoe UI" pitchFamily="34" charset="-122"/>
                <a:cs typeface="Segoe UI" pitchFamily="34" charset="-120"/>
              </a:rPr>
              <a:t>The Calibration Principle</a:t>
            </a:r>
            <a:endParaRPr lang="en-US" sz="1400" dirty="0"/>
          </a:p>
        </p:txBody>
      </p:sp>
      <p:sp>
        <p:nvSpPr>
          <p:cNvPr id="10" name="Text 7"/>
          <p:cNvSpPr/>
          <p:nvPr/>
        </p:nvSpPr>
        <p:spPr>
          <a:xfrm>
            <a:off x="914400" y="3337560"/>
            <a:ext cx="3200400" cy="82296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Deep reasoning: 10/10 for complex tasks (math, code debugging). 3/10 for simple tasks (classification, formatting). Over-reasoning adds cost without quality.</a:t>
            </a:r>
            <a:endParaRPr lang="en-US" sz="1200" dirty="0"/>
          </a:p>
        </p:txBody>
      </p:sp>
      <p:sp>
        <p:nvSpPr>
          <p:cNvPr id="11" name="Shape 8"/>
          <p:cNvSpPr/>
          <p:nvPr/>
        </p:nvSpPr>
        <p:spPr>
          <a:xfrm>
            <a:off x="4754880" y="2926080"/>
            <a:ext cx="3749040" cy="1371600"/>
          </a:xfrm>
          <a:prstGeom prst="rect">
            <a:avLst/>
          </a:prstGeom>
          <a:solidFill>
            <a:srgbClr val="F5F7FA"/>
          </a:solidFill>
          <a:ln/>
        </p:spPr>
        <p:txBody>
          <a:bodyPr/>
          <a:lstStyle/>
          <a:p>
            <a:endParaRPr lang="en-US"/>
          </a:p>
        </p:txBody>
      </p:sp>
      <p:sp>
        <p:nvSpPr>
          <p:cNvPr id="12" name="Shape 9"/>
          <p:cNvSpPr/>
          <p:nvPr/>
        </p:nvSpPr>
        <p:spPr>
          <a:xfrm>
            <a:off x="4754880" y="2926080"/>
            <a:ext cx="54864" cy="1371600"/>
          </a:xfrm>
          <a:prstGeom prst="rect">
            <a:avLst/>
          </a:prstGeom>
          <a:solidFill>
            <a:srgbClr val="00BFA6"/>
          </a:solidFill>
          <a:ln/>
        </p:spPr>
        <p:txBody>
          <a:bodyPr/>
          <a:lstStyle/>
          <a:p>
            <a:endParaRPr lang="en-US"/>
          </a:p>
        </p:txBody>
      </p:sp>
      <p:sp>
        <p:nvSpPr>
          <p:cNvPr id="13" name="Text 10"/>
          <p:cNvSpPr/>
          <p:nvPr/>
        </p:nvSpPr>
        <p:spPr>
          <a:xfrm>
            <a:off x="5029200" y="3017520"/>
            <a:ext cx="3200400" cy="274320"/>
          </a:xfrm>
          <a:prstGeom prst="rect">
            <a:avLst/>
          </a:prstGeom>
          <a:noFill/>
          <a:ln/>
        </p:spPr>
        <p:txBody>
          <a:bodyPr wrap="square" lIns="0" tIns="0" rIns="0" bIns="0" rtlCol="0" anchor="ctr"/>
          <a:lstStyle/>
          <a:p>
            <a:pPr marL="0" indent="0">
              <a:buNone/>
            </a:pPr>
            <a:r>
              <a:rPr lang="en-US" sz="1400" b="1" dirty="0">
                <a:solidFill>
                  <a:srgbClr val="1A2744"/>
                </a:solidFill>
                <a:latin typeface="Segoe UI" pitchFamily="34" charset="0"/>
                <a:ea typeface="Segoe UI" pitchFamily="34" charset="-122"/>
                <a:cs typeface="Segoe UI" pitchFamily="34" charset="-120"/>
              </a:rPr>
              <a:t>Interleaved Thinking</a:t>
            </a:r>
            <a:endParaRPr lang="en-US" sz="1400" dirty="0"/>
          </a:p>
        </p:txBody>
      </p:sp>
      <p:sp>
        <p:nvSpPr>
          <p:cNvPr id="6" name="Text 11"/>
          <p:cNvSpPr/>
          <p:nvPr/>
        </p:nvSpPr>
        <p:spPr>
          <a:xfrm>
            <a:off x="5029200" y="3337560"/>
            <a:ext cx="3200400" cy="82296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Anthropic-specific: Claude can reflect after receiving tool results before proceeding. Useful in agentic workflows for quality evaluation.</a:t>
            </a:r>
            <a:endParaRPr lang="en-US" sz="1200" dirty="0"/>
          </a:p>
        </p:txBody>
      </p:sp>
    </p:spTree>
    <p:extLst>
      <p:ext uri="{BB962C8B-B14F-4D97-AF65-F5344CB8AC3E}">
        <p14:creationId xmlns:p14="http://schemas.microsoft.com/office/powerpoint/2010/main" val="426012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Quality Patterns</a:t>
            </a:r>
            <a:endParaRPr lang="en-US" sz="3600" dirty="0"/>
          </a:p>
        </p:txBody>
      </p:sp>
      <p:sp>
        <p:nvSpPr>
          <p:cNvPr id="3" name="Shape 1"/>
          <p:cNvSpPr/>
          <p:nvPr/>
        </p:nvSpPr>
        <p:spPr>
          <a:xfrm>
            <a:off x="640080" y="1051560"/>
            <a:ext cx="3749040" cy="3200400"/>
          </a:xfrm>
          <a:prstGeom prst="rect">
            <a:avLst/>
          </a:prstGeom>
          <a:solidFill>
            <a:srgbClr val="F5F7FA"/>
          </a:solidFill>
          <a:ln/>
        </p:spPr>
        <p:txBody>
          <a:bodyPr/>
          <a:lstStyle/>
          <a:p>
            <a:endParaRPr lang="en-US"/>
          </a:p>
        </p:txBody>
      </p:sp>
      <p:sp>
        <p:nvSpPr>
          <p:cNvPr id="4" name="Shape 2"/>
          <p:cNvSpPr/>
          <p:nvPr/>
        </p:nvSpPr>
        <p:spPr>
          <a:xfrm>
            <a:off x="640080" y="1051560"/>
            <a:ext cx="54864" cy="3200400"/>
          </a:xfrm>
          <a:prstGeom prst="rect">
            <a:avLst/>
          </a:prstGeom>
          <a:solidFill>
            <a:srgbClr val="00BFA6"/>
          </a:solidFill>
          <a:ln/>
        </p:spPr>
        <p:txBody>
          <a:bodyPr/>
          <a:lstStyle/>
          <a:p>
            <a:endParaRPr lang="en-US"/>
          </a:p>
        </p:txBody>
      </p:sp>
      <p:sp>
        <p:nvSpPr>
          <p:cNvPr id="5" name="Shape 3"/>
          <p:cNvSpPr/>
          <p:nvPr/>
        </p:nvSpPr>
        <p:spPr>
          <a:xfrm>
            <a:off x="914400" y="1188720"/>
            <a:ext cx="548640" cy="274320"/>
          </a:xfrm>
          <a:prstGeom prst="rect">
            <a:avLst/>
          </a:prstGeom>
          <a:solidFill>
            <a:srgbClr val="00BFA6"/>
          </a:solidFill>
          <a:ln/>
        </p:spPr>
        <p:txBody>
          <a:bodyPr/>
          <a:lstStyle/>
          <a:p>
            <a:endParaRPr lang="en-US"/>
          </a:p>
        </p:txBody>
      </p:sp>
      <p:sp>
        <p:nvSpPr>
          <p:cNvPr id="6" name="Text 4"/>
          <p:cNvSpPr/>
          <p:nvPr/>
        </p:nvSpPr>
        <p:spPr>
          <a:xfrm>
            <a:off x="914400" y="1188720"/>
            <a:ext cx="548640" cy="274320"/>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6002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Answer → Review → Re-answer</a:t>
            </a:r>
            <a:endParaRPr lang="en-US" sz="1600" dirty="0"/>
          </a:p>
        </p:txBody>
      </p:sp>
      <p:sp>
        <p:nvSpPr>
          <p:cNvPr id="8" name="Text 6"/>
          <p:cNvSpPr/>
          <p:nvPr/>
        </p:nvSpPr>
        <p:spPr>
          <a:xfrm>
            <a:off x="914400" y="1600200"/>
            <a:ext cx="3200400" cy="54864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A single-call self-critique: Draft your answer, critique it for errors and gaps, then revise. All three steps in one API call — no orchestration needed.</a:t>
            </a:r>
            <a:endParaRPr lang="en-US" sz="1200" dirty="0"/>
          </a:p>
        </p:txBody>
      </p:sp>
      <p:sp>
        <p:nvSpPr>
          <p:cNvPr id="9" name="Text 7"/>
          <p:cNvSpPr/>
          <p:nvPr/>
        </p:nvSpPr>
        <p:spPr>
          <a:xfrm>
            <a:off x="914400" y="2194560"/>
            <a:ext cx="3200400" cy="27432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Self-check criteria:</a:t>
            </a:r>
            <a:endParaRPr lang="en-US" sz="1200" dirty="0"/>
          </a:p>
        </p:txBody>
      </p:sp>
      <p:sp>
        <p:nvSpPr>
          <p:cNvPr id="10" name="Text 8"/>
          <p:cNvSpPr/>
          <p:nvPr/>
        </p:nvSpPr>
        <p:spPr>
          <a:xfrm>
            <a:off x="914400" y="2468880"/>
            <a:ext cx="320040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Especially powerful for</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factual tasks, math, and</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any output that can be</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objectively verified.</a:t>
            </a:r>
            <a:endParaRPr lang="en-US" sz="1200" dirty="0"/>
          </a:p>
        </p:txBody>
      </p:sp>
      <p:sp>
        <p:nvSpPr>
          <p:cNvPr id="11" name="Shape 9"/>
          <p:cNvSpPr/>
          <p:nvPr/>
        </p:nvSpPr>
        <p:spPr>
          <a:xfrm>
            <a:off x="4754880" y="1051560"/>
            <a:ext cx="3749040" cy="3200400"/>
          </a:xfrm>
          <a:prstGeom prst="rect">
            <a:avLst/>
          </a:prstGeom>
          <a:solidFill>
            <a:srgbClr val="F5F7FA"/>
          </a:solidFill>
          <a:ln/>
        </p:spPr>
        <p:txBody>
          <a:bodyPr/>
          <a:lstStyle/>
          <a:p>
            <a:endParaRPr lang="en-US"/>
          </a:p>
        </p:txBody>
      </p:sp>
      <p:sp>
        <p:nvSpPr>
          <p:cNvPr id="12" name="Shape 10"/>
          <p:cNvSpPr/>
          <p:nvPr/>
        </p:nvSpPr>
        <p:spPr>
          <a:xfrm>
            <a:off x="4754880" y="1051560"/>
            <a:ext cx="54864" cy="3200400"/>
          </a:xfrm>
          <a:prstGeom prst="rect">
            <a:avLst/>
          </a:prstGeom>
          <a:solidFill>
            <a:srgbClr val="00BFA6"/>
          </a:solidFill>
          <a:ln/>
        </p:spPr>
        <p:txBody>
          <a:bodyPr/>
          <a:lstStyle/>
          <a:p>
            <a:endParaRPr lang="en-US"/>
          </a:p>
        </p:txBody>
      </p:sp>
      <p:sp>
        <p:nvSpPr>
          <p:cNvPr id="13" name="Shape 11"/>
          <p:cNvSpPr/>
          <p:nvPr/>
        </p:nvSpPr>
        <p:spPr>
          <a:xfrm>
            <a:off x="5029200" y="1188720"/>
            <a:ext cx="548640" cy="274320"/>
          </a:xfrm>
          <a:prstGeom prst="rect">
            <a:avLst/>
          </a:prstGeom>
          <a:solidFill>
            <a:srgbClr val="00BFA6"/>
          </a:solidFill>
          <a:ln/>
        </p:spPr>
        <p:txBody>
          <a:bodyPr/>
          <a:lstStyle/>
          <a:p>
            <a:endParaRPr lang="en-US"/>
          </a:p>
        </p:txBody>
      </p:sp>
      <p:sp>
        <p:nvSpPr>
          <p:cNvPr id="14" name="Text 12"/>
          <p:cNvSpPr/>
          <p:nvPr/>
        </p:nvSpPr>
        <p:spPr>
          <a:xfrm>
            <a:off x="5029200" y="1188720"/>
            <a:ext cx="548640" cy="274320"/>
          </a:xfrm>
          <a:prstGeom prst="rect">
            <a:avLst/>
          </a:prstGeom>
          <a:noFill/>
          <a:ln/>
        </p:spPr>
        <p:txBody>
          <a:bodyPr wrap="square" lIns="0" tIns="0" rIns="0" bIns="0" rtlCol="0" anchor="ctr"/>
          <a:lstStyle/>
          <a:p>
            <a:pPr marL="0" indent="0" algn="ctr">
              <a:buNone/>
            </a:pPr>
            <a:endParaRPr lang="en-US" sz="1300" dirty="0"/>
          </a:p>
        </p:txBody>
      </p:sp>
      <p:sp>
        <p:nvSpPr>
          <p:cNvPr id="15" name="Text 13"/>
          <p:cNvSpPr/>
          <p:nvPr/>
        </p:nvSpPr>
        <p:spPr>
          <a:xfrm>
            <a:off x="57150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Evaluation-First</a:t>
            </a:r>
            <a:endParaRPr lang="en-US" sz="1600" dirty="0"/>
          </a:p>
        </p:txBody>
      </p:sp>
      <p:sp>
        <p:nvSpPr>
          <p:cNvPr id="16" name="Text 14"/>
          <p:cNvSpPr/>
          <p:nvPr/>
        </p:nvSpPr>
        <p:spPr>
          <a:xfrm>
            <a:off x="5029200" y="1600200"/>
            <a:ext cx="3200400" cy="54864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Define success before proposing solutions. The prompting equivalent of test-driven development.</a:t>
            </a:r>
            <a:endParaRPr lang="en-US" sz="1200" dirty="0"/>
          </a:p>
        </p:txBody>
      </p:sp>
      <p:sp>
        <p:nvSpPr>
          <p:cNvPr id="17" name="Text 15"/>
          <p:cNvSpPr/>
          <p:nvPr/>
        </p:nvSpPr>
        <p:spPr>
          <a:xfrm>
            <a:off x="5029200" y="2194560"/>
            <a:ext cx="3200400" cy="27432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Before proposing, do this:</a:t>
            </a:r>
            <a:endParaRPr lang="en-US" sz="1200" dirty="0"/>
          </a:p>
        </p:txBody>
      </p:sp>
      <p:sp>
        <p:nvSpPr>
          <p:cNvPr id="18" name="Text 16"/>
          <p:cNvSpPr/>
          <p:nvPr/>
        </p:nvSpPr>
        <p:spPr>
          <a:xfrm>
            <a:off x="5029200" y="2468880"/>
            <a:ext cx="3200400" cy="1371600"/>
          </a:xfrm>
          <a:prstGeom prst="rect">
            <a:avLst/>
          </a:prstGeom>
          <a:noFill/>
          <a:ln/>
        </p:spPr>
        <p:txBody>
          <a:bodyPr wrap="square" rtlCol="0" anchor="ctr"/>
          <a:lstStyle/>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1) Define success metrics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2) Define baseline + thresholds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3) Propose 3 interventions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4) Predict impact + validation plan</a:t>
            </a:r>
            <a:endParaRPr lang="en-US" sz="1200" dirty="0"/>
          </a:p>
        </p:txBody>
      </p:sp>
    </p:spTree>
    <p:extLst>
      <p:ext uri="{BB962C8B-B14F-4D97-AF65-F5344CB8AC3E}">
        <p14:creationId xmlns:p14="http://schemas.microsoft.com/office/powerpoint/2010/main" val="3140501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Reflection Loops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Multi-turn self-improvement: ask the LLM to evaluate and iterate on its own output.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Loop</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00BFA6"/>
                </a:solidFill>
                <a:latin typeface="Segoe UI" pitchFamily="34" charset="0"/>
                <a:ea typeface="Segoe UI" pitchFamily="34" charset="-122"/>
                <a:cs typeface="Segoe UI" pitchFamily="34" charset="-120"/>
              </a:rPr>
              <a:t>Call 1:</a:t>
            </a:r>
            <a:r>
              <a:rPr lang="en-US" sz="1200" dirty="0">
                <a:solidFill>
                  <a:srgbClr val="1A2744"/>
                </a:solidFill>
                <a:latin typeface="Segoe UI" pitchFamily="34" charset="0"/>
                <a:ea typeface="Segoe UI" pitchFamily="34" charset="-122"/>
                <a:cs typeface="Segoe UI" pitchFamily="34" charset="-120"/>
              </a:rPr>
              <a:t> Generate initial answer.</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2:</a:t>
            </a:r>
            <a:r>
              <a:rPr lang="en-US" sz="1200" dirty="0">
                <a:solidFill>
                  <a:srgbClr val="1A2744"/>
                </a:solidFill>
                <a:latin typeface="Segoe UI" pitchFamily="34" charset="0"/>
                <a:ea typeface="Segoe UI" pitchFamily="34" charset="-122"/>
                <a:cs typeface="Segoe UI" pitchFamily="34" charset="-120"/>
              </a:rPr>
              <a:t> "Here is your previous answer. Rate it 1–10 on [criteria]. What would you improve?"</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3:</a:t>
            </a:r>
            <a:r>
              <a:rPr lang="en-US" sz="1200" dirty="0">
                <a:solidFill>
                  <a:srgbClr val="1A2744"/>
                </a:solidFill>
                <a:latin typeface="Segoe UI" pitchFamily="34" charset="0"/>
                <a:ea typeface="Segoe UI" pitchFamily="34" charset="-122"/>
                <a:cs typeface="Segoe UI" pitchFamily="34" charset="-120"/>
              </a:rPr>
              <a:t> "Apply those improvements and produce the final version."</a:t>
            </a:r>
          </a:p>
          <a:p>
            <a:pPr marL="0" indent="0">
              <a:buNone/>
            </a:pPr>
            <a:endParaRPr lang="en-US" sz="600" dirty="0"/>
          </a:p>
          <a:p>
            <a:pPr marL="0" indent="0">
              <a:buNone/>
            </a:pPr>
            <a:r>
              <a:rPr lang="en-US" sz="1200" dirty="0">
                <a:solidFill>
                  <a:srgbClr val="1A2744"/>
                </a:solidFill>
                <a:latin typeface="Segoe UI" pitchFamily="34" charset="0"/>
                <a:ea typeface="Segoe UI" pitchFamily="34" charset="-122"/>
                <a:cs typeface="Segoe UI" pitchFamily="34" charset="-120"/>
              </a:rPr>
              <a:t>Repeat calls 2–3 until quality plateaus or budget is reached.</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When to Use</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High-stakes output:</a:t>
            </a:r>
            <a:r>
              <a:rPr lang="en-US" sz="1200" dirty="0">
                <a:solidFill>
                  <a:srgbClr val="1A2744"/>
                </a:solidFill>
                <a:latin typeface="Segoe UI" pitchFamily="34" charset="0"/>
                <a:ea typeface="Segoe UI" pitchFamily="34" charset="-122"/>
                <a:cs typeface="Segoe UI" pitchFamily="34" charset="-120"/>
              </a:rPr>
              <a:t> Legal drafts, medical summaries, customer-facing content.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Latency-tolerant:</a:t>
            </a:r>
            <a:r>
              <a:rPr lang="en-US" sz="1200" dirty="0">
                <a:solidFill>
                  <a:srgbClr val="1A2744"/>
                </a:solidFill>
                <a:latin typeface="Segoe UI" pitchFamily="34" charset="0"/>
                <a:ea typeface="Segoe UI" pitchFamily="34" charset="-122"/>
                <a:cs typeface="Segoe UI" pitchFamily="34" charset="-120"/>
              </a:rPr>
              <a:t> Batch processing, async workflows where extra calls are acceptable.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vs. Answer-Review-Reanswer:</a:t>
            </a:r>
            <a:r>
              <a:rPr lang="en-US" sz="1200" dirty="0">
                <a:solidFill>
                  <a:srgbClr val="1A2744"/>
                </a:solidFill>
                <a:latin typeface="Segoe UI" pitchFamily="34" charset="0"/>
                <a:ea typeface="Segoe UI" pitchFamily="34" charset="-122"/>
                <a:cs typeface="Segoe UI" pitchFamily="34" charset="-120"/>
              </a:rPr>
              <a:t> That pattern is single-call; reflection loops use multiple calls for deeper iteration.</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Set a max iteration count (2–3 rounds). Diminishing returns kick in fast.</a:t>
            </a:r>
          </a:p>
        </p:txBody>
      </p:sp>
    </p:spTree>
    <p:extLst>
      <p:ext uri="{BB962C8B-B14F-4D97-AF65-F5344CB8AC3E}">
        <p14:creationId xmlns:p14="http://schemas.microsoft.com/office/powerpoint/2010/main" val="1143682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Prompt Chaining</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64748B"/>
                </a:solidFill>
                <a:latin typeface="Segoe UI" pitchFamily="34" charset="0"/>
                <a:ea typeface="Segoe UI" pitchFamily="34" charset="-122"/>
                <a:cs typeface="Segoe UI" pitchFamily="34" charset="-120"/>
              </a:rPr>
              <a:t>The bridge between "prompting" and "building an AI system."</a:t>
            </a:r>
            <a:endParaRPr lang="en-US" sz="1400" dirty="0"/>
          </a:p>
        </p:txBody>
      </p:sp>
      <p:sp>
        <p:nvSpPr>
          <p:cNvPr id="6" name="Shape 4"/>
          <p:cNvSpPr/>
          <p:nvPr/>
        </p:nvSpPr>
        <p:spPr>
          <a:xfrm>
            <a:off x="64008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640080" y="1417320"/>
            <a:ext cx="2651760" cy="54864"/>
          </a:xfrm>
          <a:prstGeom prst="rect">
            <a:avLst/>
          </a:prstGeom>
          <a:solidFill>
            <a:srgbClr val="00BFA6"/>
          </a:solidFill>
          <a:ln/>
        </p:spPr>
        <p:txBody>
          <a:bodyPr/>
          <a:lstStyle/>
          <a:p>
            <a:endParaRPr lang="en-US"/>
          </a:p>
        </p:txBody>
      </p:sp>
      <p:sp>
        <p:nvSpPr>
          <p:cNvPr id="8" name="Text 6"/>
          <p:cNvSpPr/>
          <p:nvPr/>
        </p:nvSpPr>
        <p:spPr>
          <a:xfrm>
            <a:off x="82296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1</a:t>
            </a:r>
            <a:endParaRPr lang="en-US" sz="1100" dirty="0"/>
          </a:p>
        </p:txBody>
      </p:sp>
      <p:sp>
        <p:nvSpPr>
          <p:cNvPr id="9" name="Text 7"/>
          <p:cNvSpPr/>
          <p:nvPr/>
        </p:nvSpPr>
        <p:spPr>
          <a:xfrm>
            <a:off x="82296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EXTRACT</a:t>
            </a:r>
            <a:endParaRPr lang="en-US" sz="1600" dirty="0"/>
          </a:p>
        </p:txBody>
      </p:sp>
      <p:sp>
        <p:nvSpPr>
          <p:cNvPr id="10" name="Text 8"/>
          <p:cNvSpPr/>
          <p:nvPr/>
        </p:nvSpPr>
        <p:spPr>
          <a:xfrm>
            <a:off x="82296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Read 5 paper abstracts.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For each: research question,</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methodology, key finding.</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Return as JSON array.</a:t>
            </a:r>
            <a:endParaRPr lang="en-US" sz="1100" dirty="0"/>
          </a:p>
        </p:txBody>
      </p:sp>
      <p:sp>
        <p:nvSpPr>
          <p:cNvPr id="11" name="Text 9"/>
          <p:cNvSpPr/>
          <p:nvPr/>
        </p:nvSpPr>
        <p:spPr>
          <a:xfrm>
            <a:off x="82296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low</a:t>
            </a:r>
            <a:endParaRPr lang="en-US" sz="1000" dirty="0"/>
          </a:p>
        </p:txBody>
      </p:sp>
      <p:sp>
        <p:nvSpPr>
          <p:cNvPr id="12" name="Text 10"/>
          <p:cNvSpPr/>
          <p:nvPr/>
        </p:nvSpPr>
        <p:spPr>
          <a:xfrm>
            <a:off x="329184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13" name="Shape 11"/>
          <p:cNvSpPr/>
          <p:nvPr/>
        </p:nvSpPr>
        <p:spPr>
          <a:xfrm>
            <a:off x="352044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520440" y="1417320"/>
            <a:ext cx="2651760" cy="54864"/>
          </a:xfrm>
          <a:prstGeom prst="rect">
            <a:avLst/>
          </a:prstGeom>
          <a:solidFill>
            <a:srgbClr val="00BFA6"/>
          </a:solidFill>
          <a:ln/>
        </p:spPr>
        <p:txBody>
          <a:bodyPr/>
          <a:lstStyle/>
          <a:p>
            <a:endParaRPr lang="en-US"/>
          </a:p>
        </p:txBody>
      </p:sp>
      <p:sp>
        <p:nvSpPr>
          <p:cNvPr id="15" name="Text 13"/>
          <p:cNvSpPr/>
          <p:nvPr/>
        </p:nvSpPr>
        <p:spPr>
          <a:xfrm>
            <a:off x="370332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2</a:t>
            </a:r>
            <a:endParaRPr lang="en-US" sz="1100" dirty="0"/>
          </a:p>
        </p:txBody>
      </p:sp>
      <p:sp>
        <p:nvSpPr>
          <p:cNvPr id="16" name="Text 14"/>
          <p:cNvSpPr/>
          <p:nvPr/>
        </p:nvSpPr>
        <p:spPr>
          <a:xfrm>
            <a:off x="370332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ANALYZE</a:t>
            </a:r>
            <a:endParaRPr lang="en-US" sz="1600" dirty="0"/>
          </a:p>
        </p:txBody>
      </p:sp>
      <p:sp>
        <p:nvSpPr>
          <p:cNvPr id="17" name="Text 15"/>
          <p:cNvSpPr/>
          <p:nvPr/>
        </p:nvSpPr>
        <p:spPr>
          <a:xfrm>
            <a:off x="370332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Group by methodology.</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Identify agreements,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contradictions, and gaps.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Structured comparison.</a:t>
            </a:r>
            <a:endParaRPr lang="en-US" sz="1100" dirty="0"/>
          </a:p>
        </p:txBody>
      </p:sp>
      <p:sp>
        <p:nvSpPr>
          <p:cNvPr id="18" name="Text 16"/>
          <p:cNvSpPr/>
          <p:nvPr/>
        </p:nvSpPr>
        <p:spPr>
          <a:xfrm>
            <a:off x="370332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medium</a:t>
            </a:r>
            <a:endParaRPr lang="en-US" sz="1000" dirty="0"/>
          </a:p>
        </p:txBody>
      </p:sp>
      <p:sp>
        <p:nvSpPr>
          <p:cNvPr id="19" name="Text 17"/>
          <p:cNvSpPr/>
          <p:nvPr/>
        </p:nvSpPr>
        <p:spPr>
          <a:xfrm>
            <a:off x="617220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20" name="Shape 18"/>
          <p:cNvSpPr/>
          <p:nvPr/>
        </p:nvSpPr>
        <p:spPr>
          <a:xfrm>
            <a:off x="640080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6400800" y="1417320"/>
            <a:ext cx="2651760" cy="54864"/>
          </a:xfrm>
          <a:prstGeom prst="rect">
            <a:avLst/>
          </a:prstGeom>
          <a:solidFill>
            <a:srgbClr val="00BFA6"/>
          </a:solidFill>
          <a:ln/>
        </p:spPr>
        <p:txBody>
          <a:bodyPr/>
          <a:lstStyle/>
          <a:p>
            <a:endParaRPr lang="en-US"/>
          </a:p>
        </p:txBody>
      </p:sp>
      <p:sp>
        <p:nvSpPr>
          <p:cNvPr id="22" name="Text 20"/>
          <p:cNvSpPr/>
          <p:nvPr/>
        </p:nvSpPr>
        <p:spPr>
          <a:xfrm>
            <a:off x="658368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3</a:t>
            </a:r>
            <a:endParaRPr lang="en-US" sz="1100" dirty="0"/>
          </a:p>
        </p:txBody>
      </p:sp>
      <p:sp>
        <p:nvSpPr>
          <p:cNvPr id="23" name="Text 21"/>
          <p:cNvSpPr/>
          <p:nvPr/>
        </p:nvSpPr>
        <p:spPr>
          <a:xfrm>
            <a:off x="658368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GENERATE</a:t>
            </a:r>
            <a:endParaRPr lang="en-US" sz="1600" dirty="0"/>
          </a:p>
        </p:txBody>
      </p:sp>
      <p:sp>
        <p:nvSpPr>
          <p:cNvPr id="24" name="Text 22"/>
          <p:cNvSpPr/>
          <p:nvPr/>
        </p:nvSpPr>
        <p:spPr>
          <a:xfrm>
            <a:off x="658368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Write a 500-word literature</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review. Academic tone.</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Highlight the key</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unaddressed gap.</a:t>
            </a:r>
            <a:endParaRPr lang="en-US" sz="1100" dirty="0"/>
          </a:p>
        </p:txBody>
      </p:sp>
      <p:sp>
        <p:nvSpPr>
          <p:cNvPr id="25" name="Text 23"/>
          <p:cNvSpPr/>
          <p:nvPr/>
        </p:nvSpPr>
        <p:spPr>
          <a:xfrm>
            <a:off x="658368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high</a:t>
            </a:r>
            <a:endParaRPr lang="en-US" sz="1000" dirty="0"/>
          </a:p>
        </p:txBody>
      </p:sp>
      <p:sp>
        <p:nvSpPr>
          <p:cNvPr id="26" name="Shape 24"/>
          <p:cNvSpPr/>
          <p:nvPr/>
        </p:nvSpPr>
        <p:spPr>
          <a:xfrm>
            <a:off x="640080" y="4023360"/>
            <a:ext cx="7863840" cy="822960"/>
          </a:xfrm>
          <a:prstGeom prst="rect">
            <a:avLst/>
          </a:prstGeom>
          <a:solidFill>
            <a:srgbClr val="1A2744"/>
          </a:solidFill>
          <a:ln/>
        </p:spPr>
        <p:txBody>
          <a:bodyPr/>
          <a:lstStyle/>
          <a:p>
            <a:endParaRPr lang="en-US"/>
          </a:p>
        </p:txBody>
      </p:sp>
      <p:sp>
        <p:nvSpPr>
          <p:cNvPr id="27" name="Text 25"/>
          <p:cNvSpPr/>
          <p:nvPr/>
        </p:nvSpPr>
        <p:spPr>
          <a:xfrm>
            <a:off x="914400" y="4023360"/>
            <a:ext cx="7315200" cy="822960"/>
          </a:xfrm>
          <a:prstGeom prst="rect">
            <a:avLst/>
          </a:prstGeom>
          <a:noFill/>
          <a:ln/>
        </p:spPr>
        <p:txBody>
          <a:bodyPr wrap="square"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Why chain?  </a:t>
            </a:r>
            <a:r>
              <a:rPr lang="en-US" sz="1200" dirty="0">
                <a:solidFill>
                  <a:srgbClr val="FFFFFF"/>
                </a:solidFill>
                <a:latin typeface="Segoe UI" pitchFamily="34" charset="0"/>
                <a:ea typeface="Segoe UI" pitchFamily="34" charset="-122"/>
                <a:cs typeface="Segoe UI" pitchFamily="34" charset="-120"/>
              </a:rPr>
              <a:t>Verify intermediate results · Different models/reasoning per step · Clear debugging surface · Prevent corner-cutting</a:t>
            </a:r>
            <a:endParaRPr lang="en-US" sz="1300" dirty="0"/>
          </a:p>
        </p:txBody>
      </p:sp>
    </p:spTree>
    <p:extLst>
      <p:ext uri="{BB962C8B-B14F-4D97-AF65-F5344CB8AC3E}">
        <p14:creationId xmlns:p14="http://schemas.microsoft.com/office/powerpoint/2010/main" val="3721559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Error Handling &amp; Retries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Production LLM calls fail. Plan for it.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Common Failures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Rate limits (429):</a:t>
            </a:r>
            <a:r>
              <a:rPr lang="en-US" sz="1200" dirty="0">
                <a:solidFill>
                  <a:srgbClr val="64748B"/>
                </a:solidFill>
                <a:latin typeface="Segoe UI" pitchFamily="34" charset="0"/>
                <a:ea typeface="Segoe UI" pitchFamily="34" charset="-122"/>
                <a:cs typeface="Segoe UI" pitchFamily="34" charset="-120"/>
              </a:rPr>
              <a:t> Back off exponentially. Use jitter to avoid thundering herds.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Timeouts:</a:t>
            </a:r>
            <a:r>
              <a:rPr lang="en-US" sz="1200" dirty="0">
                <a:solidFill>
                  <a:srgbClr val="64748B"/>
                </a:solidFill>
                <a:latin typeface="Segoe UI" pitchFamily="34" charset="0"/>
                <a:ea typeface="Segoe UI" pitchFamily="34" charset="-122"/>
                <a:cs typeface="Segoe UI" pitchFamily="34" charset="-120"/>
              </a:rPr>
              <a:t> Set aggressive timeouts (30–60s). Retry with the same prompt; non-determinism means a retry may succeed.</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Malformed output:</a:t>
            </a:r>
            <a:r>
              <a:rPr lang="en-US" sz="1200" dirty="0">
                <a:solidFill>
                  <a:srgbClr val="64748B"/>
                </a:solidFill>
                <a:latin typeface="Segoe UI" pitchFamily="34" charset="0"/>
                <a:ea typeface="Segoe UI" pitchFamily="34" charset="-122"/>
                <a:cs typeface="Segoe UI" pitchFamily="34" charset="-120"/>
              </a:rPr>
              <a:t> JSON didn't parse? Retry once. If it fails again, fall back to a simpler prompt or model.</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Robustness Patterns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Retry with backoff:</a:t>
            </a:r>
            <a:r>
              <a:rPr lang="en-US" sz="1200" dirty="0">
                <a:solidFill>
                  <a:srgbClr val="64748B"/>
                </a:solidFill>
                <a:latin typeface="Segoe UI" pitchFamily="34" charset="0"/>
                <a:ea typeface="Segoe UI" pitchFamily="34" charset="-122"/>
                <a:cs typeface="Segoe UI" pitchFamily="34" charset="-120"/>
              </a:rPr>
              <a:t> 1s → 2s → 4s with random jitter. Max 3 retries for most use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Model fallback:</a:t>
            </a:r>
            <a:r>
              <a:rPr lang="en-US" sz="1200" dirty="0">
                <a:solidFill>
                  <a:srgbClr val="64748B"/>
                </a:solidFill>
                <a:latin typeface="Segoe UI" pitchFamily="34" charset="0"/>
                <a:ea typeface="Segoe UI" pitchFamily="34" charset="-122"/>
                <a:cs typeface="Segoe UI" pitchFamily="34" charset="-120"/>
              </a:rPr>
              <a:t> If GPT-4o fails, fall back to GPT-4o-mini. Graceful degradation beats total failure.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Validation layer:</a:t>
            </a:r>
            <a:r>
              <a:rPr lang="en-US" sz="1200" dirty="0">
                <a:solidFill>
                  <a:srgbClr val="64748B"/>
                </a:solidFill>
                <a:latin typeface="Segoe UI" pitchFamily="34" charset="0"/>
                <a:ea typeface="Segoe UI" pitchFamily="34" charset="-122"/>
                <a:cs typeface="Segoe UI" pitchFamily="34" charset="-120"/>
              </a:rPr>
              <a:t> Always validate output before using it. Schema checks, length checks, safety checks.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Never trust raw LLM output in production. Always validate, always have a fallback.</a:t>
            </a:r>
          </a:p>
        </p:txBody>
      </p:sp>
    </p:spTree>
    <p:extLst>
      <p:ext uri="{BB962C8B-B14F-4D97-AF65-F5344CB8AC3E}">
        <p14:creationId xmlns:p14="http://schemas.microsoft.com/office/powerpoint/2010/main" val="1456741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endParaRP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Guardrail Models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Separate, lightweight models that check inputs and outputs for safety and compliance.</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How They Work</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Input guard:</a:t>
            </a:r>
            <a:r>
              <a:rPr lang="en-US" sz="1200" dirty="0">
                <a:solidFill>
                  <a:srgbClr val="64748B"/>
                </a:solidFill>
                <a:latin typeface="Segoe UI" pitchFamily="34" charset="0"/>
                <a:ea typeface="Segoe UI" pitchFamily="34" charset="-122"/>
                <a:cs typeface="Segoe UI" pitchFamily="34" charset="-120"/>
              </a:rPr>
              <a:t> Classifies user input before it reaches the main LLM. Blocks prompt injections, jailbreaks, and off-topic requests.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Output guard:</a:t>
            </a:r>
            <a:r>
              <a:rPr lang="en-US" sz="1200" dirty="0">
                <a:solidFill>
                  <a:srgbClr val="64748B"/>
                </a:solidFill>
                <a:latin typeface="Segoe UI" pitchFamily="34" charset="0"/>
                <a:ea typeface="Segoe UI" pitchFamily="34" charset="-122"/>
                <a:cs typeface="Segoe UI" pitchFamily="34" charset="-120"/>
              </a:rPr>
              <a:t> Scans the LLM's response before it reaches the user. Catches hallucinations, PII leaks, toxic content, and policy violations.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Architecture:</a:t>
            </a:r>
            <a:r>
              <a:rPr lang="en-US" sz="1200" dirty="0">
                <a:solidFill>
                  <a:srgbClr val="64748B"/>
                </a:solidFill>
                <a:latin typeface="Segoe UI" pitchFamily="34" charset="0"/>
                <a:ea typeface="Segoe UI" pitchFamily="34" charset="-122"/>
                <a:cs typeface="Segoe UI" pitchFamily="34" charset="-120"/>
              </a:rPr>
              <a:t> Typically small, fast classifiers (not full LLMs) that add minimal latency.</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Tools &amp; Approaches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Llama Guard:</a:t>
            </a:r>
            <a:r>
              <a:rPr lang="en-US" sz="1200" dirty="0">
                <a:solidFill>
                  <a:srgbClr val="64748B"/>
                </a:solidFill>
                <a:latin typeface="Segoe UI" pitchFamily="34" charset="0"/>
                <a:ea typeface="Segoe UI" pitchFamily="34" charset="-122"/>
                <a:cs typeface="Segoe UI" pitchFamily="34" charset="-120"/>
              </a:rPr>
              <a:t> Meta's open-source safety classifier built on Llama. Classifies both input and output against customizable policies.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NeMo Guardrails:</a:t>
            </a:r>
            <a:r>
              <a:rPr lang="en-US" sz="1200" dirty="0">
                <a:solidFill>
                  <a:srgbClr val="64748B"/>
                </a:solidFill>
                <a:latin typeface="Segoe UI" pitchFamily="34" charset="0"/>
                <a:ea typeface="Segoe UI" pitchFamily="34" charset="-122"/>
                <a:cs typeface="Segoe UI" pitchFamily="34" charset="-120"/>
              </a:rPr>
              <a:t> NVIDIA's programmable guardrail toolkit. Define rules in Colang for topic control and safety.</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OpenAI Moderation:</a:t>
            </a:r>
            <a:r>
              <a:rPr lang="en-US" sz="1200" dirty="0">
                <a:solidFill>
                  <a:srgbClr val="64748B"/>
                </a:solidFill>
                <a:latin typeface="Segoe UI" pitchFamily="34" charset="0"/>
                <a:ea typeface="Segoe UI" pitchFamily="34" charset="-122"/>
                <a:cs typeface="Segoe UI" pitchFamily="34" charset="-120"/>
              </a:rPr>
              <a:t> Free API endpoint that flags harmful content across categories (violence, self-harm, etc.).</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Guardrails are not optional in production. They're your last line of defense before the user.</a:t>
            </a:r>
          </a:p>
        </p:txBody>
      </p:sp>
    </p:spTree>
    <p:extLst>
      <p:ext uri="{BB962C8B-B14F-4D97-AF65-F5344CB8AC3E}">
        <p14:creationId xmlns:p14="http://schemas.microsoft.com/office/powerpoint/2010/main" val="2641259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914400"/>
            <a:ext cx="7772400" cy="2286000"/>
          </a:xfrm>
          <a:prstGeom prst="rect">
            <a:avLst/>
          </a:prstGeom>
          <a:noFill/>
          <a:ln/>
        </p:spPr>
        <p:txBody>
          <a:bodyPr wrap="square" lIns="0" tIns="0" rIns="0" bIns="0" rtlCol="0" anchor="ctr"/>
          <a:lstStyle/>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Start simple.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Escalate on failure.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Measure everything.</a:t>
            </a:r>
            <a:endParaRPr lang="en-US" sz="4400" dirty="0"/>
          </a:p>
        </p:txBody>
      </p:sp>
      <p:sp>
        <p:nvSpPr>
          <p:cNvPr id="4" name="Text 2"/>
          <p:cNvSpPr/>
          <p:nvPr/>
        </p:nvSpPr>
        <p:spPr>
          <a:xfrm>
            <a:off x="640080" y="3291840"/>
            <a:ext cx="7772400" cy="457200"/>
          </a:xfrm>
          <a:prstGeom prst="rect">
            <a:avLst/>
          </a:prstGeom>
          <a:noFill/>
          <a:ln/>
        </p:spPr>
        <p:txBody>
          <a:bodyPr wrap="square" lIns="0" tIns="0" rIns="0" bIns="0" rtlCol="0" anchor="ctr"/>
          <a:lstStyle/>
          <a:p>
            <a:pPr marL="0" indent="0">
              <a:buNone/>
            </a:pPr>
            <a:r>
              <a:rPr lang="en-US" sz="1600" i="1" dirty="0">
                <a:solidFill>
                  <a:srgbClr val="00BFA6"/>
                </a:solidFill>
                <a:latin typeface="Segoe UI" pitchFamily="34" charset="0"/>
                <a:ea typeface="Segoe UI" pitchFamily="34" charset="-122"/>
                <a:cs typeface="Segoe UI" pitchFamily="34" charset="-120"/>
              </a:rPr>
              <a:t>Patterns persist across model updates; knobs don't.</a:t>
            </a:r>
            <a:endParaRPr lang="en-US" sz="1600" dirty="0"/>
          </a:p>
        </p:txBody>
      </p:sp>
      <p:sp>
        <p:nvSpPr>
          <p:cNvPr id="5" name="Text 3"/>
          <p:cNvSpPr/>
          <p:nvPr/>
        </p:nvSpPr>
        <p:spPr>
          <a:xfrm>
            <a:off x="640080" y="4023360"/>
            <a:ext cx="7772400" cy="320040"/>
          </a:xfrm>
          <a:prstGeom prst="rect">
            <a:avLst/>
          </a:prstGeom>
          <a:noFill/>
          <a:ln/>
        </p:spPr>
        <p:txBody>
          <a:bodyPr wrap="square" lIns="0" tIns="0" rIns="0" bIns="0" rtlCol="0" anchor="ctr"/>
          <a:lstStyle/>
          <a:p>
            <a:pPr marL="0" indent="0">
              <a:buNone/>
            </a:pPr>
            <a:r>
              <a:rPr lang="en-US" sz="1000" dirty="0">
                <a:solidFill>
                  <a:srgbClr val="B8C4D6"/>
                </a:solidFill>
                <a:latin typeface="Segoe UI" pitchFamily="34" charset="0"/>
                <a:ea typeface="Segoe UI" pitchFamily="34" charset="-122"/>
                <a:cs typeface="Segoe UI" pitchFamily="34" charset="-120"/>
              </a:rPr>
              <a:t>Sources: Anthropic Prompting Best Practices · OpenAI GPT-5.x Guides · Google Gemini 3 Prompting Guide</a:t>
            </a:r>
            <a:endParaRPr lang="en-US" sz="1000" dirty="0"/>
          </a:p>
        </p:txBody>
      </p:sp>
      <p:sp>
        <p:nvSpPr>
          <p:cNvPr id="6" name="Text 4"/>
          <p:cNvSpPr/>
          <p:nvPr/>
        </p:nvSpPr>
        <p:spPr>
          <a:xfrm>
            <a:off x="640080" y="448056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95524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042B32-A543-8C4D-8F3A-DE93398EBD38}">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5831</TotalTime>
  <Words>2901</Words>
  <Application>Microsoft Macintosh PowerPoint</Application>
  <PresentationFormat>On-screen Show (16:9)</PresentationFormat>
  <Paragraphs>493</Paragraphs>
  <Slides>27</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Calibri</vt:lpstr>
      <vt:lpstr>Consolas</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Prompting Cookbook — Reusable Patterns for Modern LLMs</dc:title>
  <dc:subject>PptxGenJS Presentation</dc:subject>
  <dc:creator>Fabio Casati</dc:creator>
  <cp:lastModifiedBy>Casati, Fabio</cp:lastModifiedBy>
  <cp:revision>12</cp:revision>
  <dcterms:created xsi:type="dcterms:W3CDTF">2026-02-28T16:36:44Z</dcterms:created>
  <dcterms:modified xsi:type="dcterms:W3CDTF">2026-03-05T08:04:22Z</dcterms:modified>
</cp:coreProperties>
</file>