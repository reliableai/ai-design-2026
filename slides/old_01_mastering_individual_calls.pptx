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82" r:id="rId2"/>
    <p:sldId id="284" r:id="rId3"/>
    <p:sldId id="286" r:id="rId4"/>
    <p:sldId id="288" r:id="rId5"/>
    <p:sldId id="290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92" r:id="rId29"/>
    <p:sldId id="294" r:id="rId30"/>
    <p:sldId id="296" r:id="rId31"/>
    <p:sldId id="298" r:id="rId32"/>
    <p:sldId id="300" r:id="rId33"/>
    <p:sldId id="302" r:id="rId34"/>
    <p:sldId id="304" r:id="rId35"/>
    <p:sldId id="307" r:id="rId36"/>
    <p:sldId id="278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200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038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A39B6-4248-4F26-A2F3-921337ACD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09C021-7000-FB6D-F13B-591A0B0A9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1164F-3933-CD54-1F05-AF592AAFF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71A8A-C049-8B07-1468-F3E4058F3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452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C8E5-4CA3-2600-7579-F83FAC520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3E4F8B-29E2-50A1-4181-11065C44A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29B56-5D3F-ED6B-8F35-17C89EBEA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B555F-67D1-09EA-EDE9-6CFC29BFB4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1883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FE762-D2C4-7EFD-6C80-34D9A45E0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D7A622-993A-E6C6-898E-0EC2CD6069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2E8617-5AE7-C8A3-1509-C93EDF445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4865A-28CC-A4C3-05C2-3DEFEE9111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6980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B0671-053C-137E-B27E-F2276E65C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BA88E6-DA6A-6076-152C-25F9EB18B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765A86-887B-F62E-6CB4-2B107AC85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B7EA9-566A-F263-B3D5-590482A3B0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5014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50A44-5F45-1CA4-4A96-FE56B65A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9E8F8D-1F62-9950-6342-70557217E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D4DE0-1E28-DE74-5C4D-AB6B061F9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CE821-4774-39C2-394B-99639FC330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180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241F8F-EDD8-9CE3-BD72-D7A4ECBC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4A51BD-241B-C9FF-C22F-65BC4BE1B1E5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E8BA19-6762-77EA-B4DA-92206B306694}"/>
              </a:ext>
            </a:extLst>
          </p:cNvPr>
          <p:cNvSpPr/>
          <p:nvPr/>
        </p:nvSpPr>
        <p:spPr>
          <a:xfrm>
            <a:off x="640080" y="73152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Mastering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Individual Calls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LLMs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63330BC-2099-954A-A8E3-E07F1241A032}"/>
              </a:ext>
            </a:extLst>
          </p:cNvPr>
          <p:cNvSpPr/>
          <p:nvPr/>
        </p:nvSpPr>
        <p:spPr>
          <a:xfrm>
            <a:off x="64008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1" u="none" strike="noStrike" kern="1200" cap="none" spc="0" normalizeH="0" baseline="0" noProof="0" dirty="0">
              <a:ln>
                <a:noFill/>
              </a:ln>
              <a:solidFill>
                <a:srgbClr val="00BFA6"/>
              </a:solidFill>
              <a:effectLst/>
              <a:uLnTx/>
              <a:uFillTx/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803E927-0578-FFE0-92C5-C14D661C09E2}"/>
              </a:ext>
            </a:extLst>
          </p:cNvPr>
          <p:cNvSpPr/>
          <p:nvPr/>
        </p:nvSpPr>
        <p:spPr>
          <a:xfrm>
            <a:off x="64008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892A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Fabio Casati  ·  University of Trento</a:t>
            </a:r>
          </a:p>
        </p:txBody>
      </p:sp>
    </p:spTree>
    <p:extLst>
      <p:ext uri="{BB962C8B-B14F-4D97-AF65-F5344CB8AC3E}">
        <p14:creationId xmlns:p14="http://schemas.microsoft.com/office/powerpoint/2010/main" val="42896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4D5661-4B40-722B-C4ED-5BCA878FE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D46F34-637E-B933-EFD4-90C5308D8C58}"/>
              </a:ext>
            </a:extLst>
          </p:cNvPr>
          <p:cNvSpPr/>
          <p:nvPr/>
        </p:nvSpPr>
        <p:spPr>
          <a:xfrm>
            <a:off x="640080" y="365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Anatomy of an API Call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6D6E677-0C71-7ECB-3C07-6C2DD2C3D323}"/>
              </a:ext>
            </a:extLst>
          </p:cNvPr>
          <p:cNvSpPr/>
          <p:nvPr/>
        </p:nvSpPr>
        <p:spPr>
          <a:xfrm>
            <a:off x="640080" y="1188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2AE8DF7-D195-6327-2E04-EA4AE98A4B35}"/>
              </a:ext>
            </a:extLst>
          </p:cNvPr>
          <p:cNvSpPr/>
          <p:nvPr/>
        </p:nvSpPr>
        <p:spPr>
          <a:xfrm>
            <a:off x="640080" y="2011680"/>
            <a:ext cx="594360" cy="50292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815066-66A1-59FC-7349-946E9C4402DC}"/>
              </a:ext>
            </a:extLst>
          </p:cNvPr>
          <p:cNvSpPr/>
          <p:nvPr/>
        </p:nvSpPr>
        <p:spPr>
          <a:xfrm>
            <a:off x="640080" y="20116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512780C-AA96-81A6-6AFD-CC870C41D6E5}"/>
              </a:ext>
            </a:extLst>
          </p:cNvPr>
          <p:cNvSpPr/>
          <p:nvPr/>
        </p:nvSpPr>
        <p:spPr>
          <a:xfrm>
            <a:off x="1417320" y="1965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System Message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5CAB123-4FE1-DB89-629F-5D6E18170171}"/>
              </a:ext>
            </a:extLst>
          </p:cNvPr>
          <p:cNvSpPr/>
          <p:nvPr/>
        </p:nvSpPr>
        <p:spPr>
          <a:xfrm>
            <a:off x="1417320" y="22860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892A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Sets the persona, rules, and constraints the model follows throughout the conversation. Think of it as the model's "job description."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BFFC6FB-0B13-8F29-DD9D-196590B8FFA0}"/>
              </a:ext>
            </a:extLst>
          </p:cNvPr>
          <p:cNvSpPr/>
          <p:nvPr/>
        </p:nvSpPr>
        <p:spPr>
          <a:xfrm>
            <a:off x="640080" y="3017520"/>
            <a:ext cx="594360" cy="50292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5003E05-5BA1-6961-6269-B17BA975B0AE}"/>
              </a:ext>
            </a:extLst>
          </p:cNvPr>
          <p:cNvSpPr/>
          <p:nvPr/>
        </p:nvSpPr>
        <p:spPr>
          <a:xfrm>
            <a:off x="640080" y="30175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C49A927-356F-2767-527C-ED591F693561}"/>
              </a:ext>
            </a:extLst>
          </p:cNvPr>
          <p:cNvSpPr/>
          <p:nvPr/>
        </p:nvSpPr>
        <p:spPr>
          <a:xfrm>
            <a:off x="1417320" y="2971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User Message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EACD849-5B34-A795-3AB0-1F9D13B1A128}"/>
              </a:ext>
            </a:extLst>
          </p:cNvPr>
          <p:cNvSpPr/>
          <p:nvPr/>
        </p:nvSpPr>
        <p:spPr>
          <a:xfrm>
            <a:off x="1417320" y="32918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892A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actual task or question. Includes the input data, instructions, and any examples (few-shot) you want the model to follow.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A109285-1727-47EE-C4B8-E697F3E85715}"/>
              </a:ext>
            </a:extLst>
          </p:cNvPr>
          <p:cNvSpPr/>
          <p:nvPr/>
        </p:nvSpPr>
        <p:spPr>
          <a:xfrm>
            <a:off x="640080" y="4023360"/>
            <a:ext cx="594360" cy="50292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BE354B5-2949-CB76-4EE8-AC130CC561B1}"/>
              </a:ext>
            </a:extLst>
          </p:cNvPr>
          <p:cNvSpPr/>
          <p:nvPr/>
        </p:nvSpPr>
        <p:spPr>
          <a:xfrm>
            <a:off x="640080" y="40233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BE4EE10-AE50-F05D-BDFF-AE7DF48A5E66}"/>
              </a:ext>
            </a:extLst>
          </p:cNvPr>
          <p:cNvSpPr/>
          <p:nvPr/>
        </p:nvSpPr>
        <p:spPr>
          <a:xfrm>
            <a:off x="1417320" y="3977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3A140BD-46B2-DF48-011B-23D435027558}"/>
              </a:ext>
            </a:extLst>
          </p:cNvPr>
          <p:cNvSpPr/>
          <p:nvPr/>
        </p:nvSpPr>
        <p:spPr>
          <a:xfrm>
            <a:off x="1417320" y="4297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892A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Temperature, top_p, max_tokens, stop sequences, and more. These knobs control how the model generates its response.</a:t>
            </a:r>
          </a:p>
        </p:txBody>
      </p:sp>
    </p:spTree>
    <p:extLst>
      <p:ext uri="{BB962C8B-B14F-4D97-AF65-F5344CB8AC3E}">
        <p14:creationId xmlns:p14="http://schemas.microsoft.com/office/powerpoint/2010/main" val="3448257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32801E-E686-542A-1F2A-CF9CCF6FB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E40BB0-1B38-925F-7EC8-4597345C1C2E}"/>
              </a:ext>
            </a:extLst>
          </p:cNvPr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1D1FF9-7372-C0C1-F568-45C3E998AC3B}"/>
              </a:ext>
            </a:extLst>
          </p:cNvPr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141AF81-C944-C096-7963-B6EC72EC39F0}"/>
              </a:ext>
            </a:extLst>
          </p:cNvPr>
          <p:cNvSpPr/>
          <p:nvPr/>
        </p:nvSpPr>
        <p:spPr>
          <a:xfrm>
            <a:off x="12801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vs. User Messages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86327BF-975C-5EBC-CC52-2C291AB91B02}"/>
              </a:ext>
            </a:extLst>
          </p:cNvPr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Two distinct roles that frame every API call.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30EFBE5-6AD6-0D96-C576-A34A942B9B77}"/>
              </a:ext>
            </a:extLst>
          </p:cNvPr>
          <p:cNvSpPr/>
          <p:nvPr/>
        </p:nvSpPr>
        <p:spPr>
          <a:xfrm>
            <a:off x="640080" y="1463040"/>
            <a:ext cx="374904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0CB4942-437D-59BB-9CB0-9E4CE2CEB31C}"/>
              </a:ext>
            </a:extLst>
          </p:cNvPr>
          <p:cNvSpPr/>
          <p:nvPr/>
        </p:nvSpPr>
        <p:spPr>
          <a:xfrm>
            <a:off x="6400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FA30342-B31F-C6D0-25B3-407BAB092D2E}"/>
              </a:ext>
            </a:extLst>
          </p:cNvPr>
          <p:cNvSpPr/>
          <p:nvPr/>
        </p:nvSpPr>
        <p:spPr>
          <a:xfrm>
            <a:off x="9144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System Message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68878CB-A7DA-A452-2428-DD2CF5F83647}"/>
              </a:ext>
            </a:extLst>
          </p:cNvPr>
          <p:cNvSpPr/>
          <p:nvPr/>
        </p:nvSpPr>
        <p:spPr>
          <a:xfrm>
            <a:off x="9144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Defines the model's persona, tone, constraints, and output format.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Persists: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Across every turn in a conversation. Set once, shapes all replies.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Tip: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Put guardrails and formatting rules here so they can't be overridden by user input.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5B3C6E5-51B1-74D1-02CC-64A56B3506C3}"/>
              </a:ext>
            </a:extLst>
          </p:cNvPr>
          <p:cNvSpPr/>
          <p:nvPr/>
        </p:nvSpPr>
        <p:spPr>
          <a:xfrm>
            <a:off x="4754880" y="1463040"/>
            <a:ext cx="374904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44E2946-7BAA-8A1A-8D1E-F35C7D113C5E}"/>
              </a:ext>
            </a:extLst>
          </p:cNvPr>
          <p:cNvSpPr/>
          <p:nvPr/>
        </p:nvSpPr>
        <p:spPr>
          <a:xfrm>
            <a:off x="47548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F0A6A37-DDDB-C203-5B0B-FA3DBB723A11}"/>
              </a:ext>
            </a:extLst>
          </p:cNvPr>
          <p:cNvSpPr/>
          <p:nvPr/>
        </p:nvSpPr>
        <p:spPr>
          <a:xfrm>
            <a:off x="50292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User Message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B0A4125-7AF9-A935-ED0F-F11624E5CF52}"/>
              </a:ext>
            </a:extLst>
          </p:cNvPr>
          <p:cNvSpPr/>
          <p:nvPr/>
        </p:nvSpPr>
        <p:spPr>
          <a:xfrm>
            <a:off x="50292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The actual task, question, or input data for this specific request.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Changes: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Every turn. Each new request or follow-up goes here.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Tip: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Include few-shot examples, context, and delimiters in the user message for best results.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A650C77-0D39-5B62-BC49-AD2390830F5A}"/>
              </a:ext>
            </a:extLst>
          </p:cNvPr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029FB6A-FE08-CC40-23CE-BC5CEBB9CA41}"/>
              </a:ext>
            </a:extLst>
          </p:cNvPr>
          <p:cNvSpPr/>
          <p:nvPr/>
        </p:nvSpPr>
        <p:spPr>
          <a:xfrm>
            <a:off x="914400" y="4023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System = stable rules. User = variable input. Separate concerns cleanly.</a:t>
            </a:r>
          </a:p>
        </p:txBody>
      </p:sp>
    </p:spTree>
    <p:extLst>
      <p:ext uri="{BB962C8B-B14F-4D97-AF65-F5344CB8AC3E}">
        <p14:creationId xmlns:p14="http://schemas.microsoft.com/office/powerpoint/2010/main" val="2236817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A4F75-7BAF-24FB-275A-39A9502C0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8BADA7D-6BF7-250A-1DB4-F510BB0E8AB5}"/>
              </a:ext>
            </a:extLst>
          </p:cNvPr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68CA72-6BAB-758F-371C-5AD8FE9C6C0D}"/>
              </a:ext>
            </a:extLst>
          </p:cNvPr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EDEA2A0-0F1C-797D-2504-D1EB3E507A38}"/>
              </a:ext>
            </a:extLst>
          </p:cNvPr>
          <p:cNvSpPr/>
          <p:nvPr/>
        </p:nvSpPr>
        <p:spPr>
          <a:xfrm>
            <a:off x="12801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Temperature: The Creativity Dial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7C378B3-D93A-D628-FEDC-A6BE70B5CA21}"/>
              </a:ext>
            </a:extLst>
          </p:cNvPr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Controls randomness in token selection. Range: 0.0 (deterministic) to 2.0 (very random).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9A9474A-8283-81D8-F9FB-1DEA5DE149B1}"/>
              </a:ext>
            </a:extLst>
          </p:cNvPr>
          <p:cNvSpPr/>
          <p:nvPr/>
        </p:nvSpPr>
        <p:spPr>
          <a:xfrm>
            <a:off x="640080" y="1463040"/>
            <a:ext cx="374904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099ADE3-D1BA-B24E-1BD6-537266BFB0C3}"/>
              </a:ext>
            </a:extLst>
          </p:cNvPr>
          <p:cNvSpPr/>
          <p:nvPr/>
        </p:nvSpPr>
        <p:spPr>
          <a:xfrm>
            <a:off x="6400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9C0B778-D4E8-64C3-3BC7-53865CCA5419}"/>
              </a:ext>
            </a:extLst>
          </p:cNvPr>
          <p:cNvSpPr/>
          <p:nvPr/>
        </p:nvSpPr>
        <p:spPr>
          <a:xfrm>
            <a:off x="9144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Low Temperature (0.0 – 0.3)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1E4E992-087F-DAC3-F056-F698355C44EF}"/>
              </a:ext>
            </a:extLst>
          </p:cNvPr>
          <p:cNvSpPr/>
          <p:nvPr/>
        </p:nvSpPr>
        <p:spPr>
          <a:xfrm>
            <a:off x="9144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Behavior: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Picks the most likely token almost every time. Output is consistent and repeatable.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Classification, data extraction, code generation, factual Q&amp;A, structured output.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643FD0B-82E5-68C9-3D41-66B4FA8BA876}"/>
              </a:ext>
            </a:extLst>
          </p:cNvPr>
          <p:cNvSpPr/>
          <p:nvPr/>
        </p:nvSpPr>
        <p:spPr>
          <a:xfrm>
            <a:off x="4754880" y="1463040"/>
            <a:ext cx="374904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07C3EC0-9FD6-A984-FE2A-5AEDA2B70AA0}"/>
              </a:ext>
            </a:extLst>
          </p:cNvPr>
          <p:cNvSpPr/>
          <p:nvPr/>
        </p:nvSpPr>
        <p:spPr>
          <a:xfrm>
            <a:off x="47548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CE69D8F-B0AB-372F-A84F-C7326CC86D86}"/>
              </a:ext>
            </a:extLst>
          </p:cNvPr>
          <p:cNvSpPr/>
          <p:nvPr/>
        </p:nvSpPr>
        <p:spPr>
          <a:xfrm>
            <a:off x="50292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High Temperature (0.7 – 1.5)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27079D8-B344-8219-FFB4-C433A23406E4}"/>
              </a:ext>
            </a:extLst>
          </p:cNvPr>
          <p:cNvSpPr/>
          <p:nvPr/>
        </p:nvSpPr>
        <p:spPr>
          <a:xfrm>
            <a:off x="50292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Behavior: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Flattens the probability distribution, giving less-likely tokens a real chance. Output varies across runs.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Creative writing, brainstorming, dialogue, exploration, generating diverse options.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15B5BCD-2510-FFFE-8267-5347B11A9DF3}"/>
              </a:ext>
            </a:extLst>
          </p:cNvPr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8ED0D2D-1729-3CC7-9A1B-7DAF254AF41E}"/>
              </a:ext>
            </a:extLst>
          </p:cNvPr>
          <p:cNvSpPr/>
          <p:nvPr/>
        </p:nvSpPr>
        <p:spPr>
          <a:xfrm>
            <a:off x="914400" y="4023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Rule of thumb: start at 0.0 for precision tasks, 0.7 for creative tasks. Adjust from there.</a:t>
            </a:r>
          </a:p>
        </p:txBody>
      </p:sp>
    </p:spTree>
    <p:extLst>
      <p:ext uri="{BB962C8B-B14F-4D97-AF65-F5344CB8AC3E}">
        <p14:creationId xmlns:p14="http://schemas.microsoft.com/office/powerpoint/2010/main" val="3395885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A805BB-893F-CC83-EC5E-E30C518C3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90ADF3-A665-16D8-B9FA-8B107DD8D57F}"/>
              </a:ext>
            </a:extLst>
          </p:cNvPr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F0846B-9386-12C9-01CC-93D4BB05E653}"/>
              </a:ext>
            </a:extLst>
          </p:cNvPr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9CA1CEB-4923-3161-F35B-FE67DC189E8D}"/>
              </a:ext>
            </a:extLst>
          </p:cNvPr>
          <p:cNvSpPr/>
          <p:nvPr/>
        </p:nvSpPr>
        <p:spPr>
          <a:xfrm>
            <a:off x="12801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API Parameters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D18BC44-53E3-CD96-9D40-5FD0A7D00CB8}"/>
              </a:ext>
            </a:extLst>
          </p:cNvPr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Six knobs that control how the model generates its response.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3DCB13D-A0BF-8337-E273-78399927C63B}"/>
              </a:ext>
            </a:extLst>
          </p:cNvPr>
          <p:cNvSpPr/>
          <p:nvPr/>
        </p:nvSpPr>
        <p:spPr>
          <a:xfrm>
            <a:off x="640080" y="1463040"/>
            <a:ext cx="2560320" cy="109728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6963B0D-B8A6-4353-C0C8-A54062589ED3}"/>
              </a:ext>
            </a:extLst>
          </p:cNvPr>
          <p:cNvSpPr/>
          <p:nvPr/>
        </p:nvSpPr>
        <p:spPr>
          <a:xfrm>
            <a:off x="640080" y="1463040"/>
            <a:ext cx="54864" cy="10972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96B6622-FEAF-2976-7084-5E02412A5DCB}"/>
              </a:ext>
            </a:extLst>
          </p:cNvPr>
          <p:cNvSpPr/>
          <p:nvPr/>
        </p:nvSpPr>
        <p:spPr>
          <a:xfrm>
            <a:off x="82296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top_p (Nucleus)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68CBBD7-5CAE-BA81-0A3E-5CBE51C79D8F}"/>
              </a:ext>
            </a:extLst>
          </p:cNvPr>
          <p:cNvSpPr/>
          <p:nvPr/>
        </p:nvSpPr>
        <p:spPr>
          <a:xfrm>
            <a:off x="82296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Sample from the smallest set of tokens whose probability sums to p. Use either top_p or temperature, not both.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BACBF5A-7F05-21E7-B84B-AD6FE2B94290}"/>
              </a:ext>
            </a:extLst>
          </p:cNvPr>
          <p:cNvSpPr/>
          <p:nvPr/>
        </p:nvSpPr>
        <p:spPr>
          <a:xfrm>
            <a:off x="3429000" y="1463040"/>
            <a:ext cx="2560320" cy="109728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C71C022-C06E-3A9E-67AE-D2117A2C827D}"/>
              </a:ext>
            </a:extLst>
          </p:cNvPr>
          <p:cNvSpPr/>
          <p:nvPr/>
        </p:nvSpPr>
        <p:spPr>
          <a:xfrm>
            <a:off x="3429000" y="1463040"/>
            <a:ext cx="54864" cy="10972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7A1F333-796D-15D1-957D-41C38643B5B4}"/>
              </a:ext>
            </a:extLst>
          </p:cNvPr>
          <p:cNvSpPr/>
          <p:nvPr/>
        </p:nvSpPr>
        <p:spPr>
          <a:xfrm>
            <a:off x="361188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max_tokens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3FDF247-93AE-D793-DB0D-D0D1329D2B2F}"/>
              </a:ext>
            </a:extLst>
          </p:cNvPr>
          <p:cNvSpPr/>
          <p:nvPr/>
        </p:nvSpPr>
        <p:spPr>
          <a:xfrm>
            <a:off x="361188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Hard cap on output length. Set it high enough to avoid truncation, low enough to control cost. Always check finish_reason.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91FF2A6-BCF7-02DE-D1B4-AA3ECC518BD4}"/>
              </a:ext>
            </a:extLst>
          </p:cNvPr>
          <p:cNvSpPr/>
          <p:nvPr/>
        </p:nvSpPr>
        <p:spPr>
          <a:xfrm>
            <a:off x="6217920" y="1463040"/>
            <a:ext cx="2560320" cy="109728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3988658-F81A-D712-AF96-4E54EBF868C0}"/>
              </a:ext>
            </a:extLst>
          </p:cNvPr>
          <p:cNvSpPr/>
          <p:nvPr/>
        </p:nvSpPr>
        <p:spPr>
          <a:xfrm>
            <a:off x="6217920" y="1463040"/>
            <a:ext cx="54864" cy="10972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D02F6A6-8666-1E3B-31B4-C8FE92297D5D}"/>
              </a:ext>
            </a:extLst>
          </p:cNvPr>
          <p:cNvSpPr/>
          <p:nvPr/>
        </p:nvSpPr>
        <p:spPr>
          <a:xfrm>
            <a:off x="640080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stop sequences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FC64E8C-9AB8-E014-E887-9EC7CDC4D89E}"/>
              </a:ext>
            </a:extLst>
          </p:cNvPr>
          <p:cNvSpPr/>
          <p:nvPr/>
        </p:nvSpPr>
        <p:spPr>
          <a:xfrm>
            <a:off x="640080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Strings that halt generation (e.g., "\n\n", "END"). Essential for structured output and preventing runaway completions.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C393E32-C6D2-0AD4-1F33-2AB5507CFFD0}"/>
              </a:ext>
            </a:extLst>
          </p:cNvPr>
          <p:cNvSpPr/>
          <p:nvPr/>
        </p:nvSpPr>
        <p:spPr>
          <a:xfrm>
            <a:off x="640080" y="2834640"/>
            <a:ext cx="2560320" cy="109728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DD07AF6-FF2A-C980-90A5-22ED53FD7E83}"/>
              </a:ext>
            </a:extLst>
          </p:cNvPr>
          <p:cNvSpPr/>
          <p:nvPr/>
        </p:nvSpPr>
        <p:spPr>
          <a:xfrm>
            <a:off x="640080" y="2834640"/>
            <a:ext cx="54864" cy="10972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0BDCE10-8720-22FC-F09F-568834EDDA0D}"/>
              </a:ext>
            </a:extLst>
          </p:cNvPr>
          <p:cNvSpPr/>
          <p:nvPr/>
        </p:nvSpPr>
        <p:spPr>
          <a:xfrm>
            <a:off x="82296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frequency_penalty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8DBE495-D5D3-202F-BC77-A830A2DBDB49}"/>
              </a:ext>
            </a:extLst>
          </p:cNvPr>
          <p:cNvSpPr/>
          <p:nvPr/>
        </p:nvSpPr>
        <p:spPr>
          <a:xfrm>
            <a:off x="82296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Penalizes tokens proportional to how often they've appeared. Reduces repetition in long-form text.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84781F3-F756-6257-1217-D350480AA128}"/>
              </a:ext>
            </a:extLst>
          </p:cNvPr>
          <p:cNvSpPr/>
          <p:nvPr/>
        </p:nvSpPr>
        <p:spPr>
          <a:xfrm>
            <a:off x="3429000" y="2834640"/>
            <a:ext cx="2560320" cy="109728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E058196-62F7-6418-FC62-51D5ADD5578B}"/>
              </a:ext>
            </a:extLst>
          </p:cNvPr>
          <p:cNvSpPr/>
          <p:nvPr/>
        </p:nvSpPr>
        <p:spPr>
          <a:xfrm>
            <a:off x="3429000" y="2834640"/>
            <a:ext cx="54864" cy="10972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5631F3A-A351-AAFA-344F-8486D90D1AD7}"/>
              </a:ext>
            </a:extLst>
          </p:cNvPr>
          <p:cNvSpPr/>
          <p:nvPr/>
        </p:nvSpPr>
        <p:spPr>
          <a:xfrm>
            <a:off x="361188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presence_penalty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B18314B-7C87-027E-0B2F-6F8B2AB9E5DC}"/>
              </a:ext>
            </a:extLst>
          </p:cNvPr>
          <p:cNvSpPr/>
          <p:nvPr/>
        </p:nvSpPr>
        <p:spPr>
          <a:xfrm>
            <a:off x="361188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Flat penalty for any token that has appeared at all. Encourages the model to explore new topics.</a:t>
            </a: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70CA8A3-7401-B055-14F8-24FD4D4F50F5}"/>
              </a:ext>
            </a:extLst>
          </p:cNvPr>
          <p:cNvSpPr/>
          <p:nvPr/>
        </p:nvSpPr>
        <p:spPr>
          <a:xfrm>
            <a:off x="6217920" y="2834640"/>
            <a:ext cx="2560320" cy="109728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AB5BF90-C4B1-102F-3EE1-9B1ACC10A65B}"/>
              </a:ext>
            </a:extLst>
          </p:cNvPr>
          <p:cNvSpPr/>
          <p:nvPr/>
        </p:nvSpPr>
        <p:spPr>
          <a:xfrm>
            <a:off x="6217920" y="2834640"/>
            <a:ext cx="54864" cy="10972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35F7E34-23A7-9987-A0FC-ECD452FFBC70}"/>
              </a:ext>
            </a:extLst>
          </p:cNvPr>
          <p:cNvSpPr/>
          <p:nvPr/>
        </p:nvSpPr>
        <p:spPr>
          <a:xfrm>
            <a:off x="640080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seed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AFD995D-1703-9632-3D53-D2888C87744C}"/>
              </a:ext>
            </a:extLst>
          </p:cNvPr>
          <p:cNvSpPr/>
          <p:nvPr/>
        </p:nvSpPr>
        <p:spPr>
          <a:xfrm>
            <a:off x="640080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Fixed seed + low temperature = near-deterministic outputs. Critical for reproducible evals and debugging.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36F7111-5F51-793D-2294-BEDA2B586689}"/>
              </a:ext>
            </a:extLst>
          </p:cNvPr>
          <p:cNvSpPr/>
          <p:nvPr/>
        </p:nvSpPr>
        <p:spPr>
          <a:xfrm>
            <a:off x="64008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2744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Default values work for most cases. Tune one parameter at a time and measure the impact.</a:t>
            </a:r>
          </a:p>
        </p:txBody>
      </p:sp>
    </p:spTree>
    <p:extLst>
      <p:ext uri="{BB962C8B-B14F-4D97-AF65-F5344CB8AC3E}">
        <p14:creationId xmlns:p14="http://schemas.microsoft.com/office/powerpoint/2010/main" val="285520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Prompting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Cookbook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Patterns for Modern LLMs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reliableai.github.io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Fabio Casati  ·  University of Trento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Key Meta-Insight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94360" cy="50292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965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 Specificity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22860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Goldilocks zone between brittle over-specification and vague under-specification. Anthropic calls this "the right altitude."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594360" cy="50292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971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Follow Literally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2918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4.x does exactly what you ask — no more, no less. If you want thoroughness, ask for it. If you want brevity, specify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94360" cy="50292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977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Redundancy, Not Structure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4297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hedging and over-explanation. Keep output format, constraints, audience, and verification criteria.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Multi-Model?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techniques are universal, but vendor details differ.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" cy="22860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Are Durable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reduces ambiguity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reduce misinterpretation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reduces output variance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catches errors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737360"/>
            <a:ext cx="54864" cy="22860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Knobs Change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0" y="21945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strings update frequently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parameters evolve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reasoning.effort vs budget_tokens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check vendor docs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cookbook shows patterns for OpenAI GPT-5.x, Anthropic Claude 4.x, and Google Gemini 3. Where behavior diverges, we flag it.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vs API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 controls what you can see and enforce.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2560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 UI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prompt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by the product (hidden)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Controlled by the developer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Reasoning depth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picker or toggle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reasoning.effort / budget_tokens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outputs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Best-effort (ask and hope)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Enforced via JSON Schema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Prefilling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available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Anthropic: prefill assistant response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Product-managed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Developer-defined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Product-managed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Developer-managed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1371600" cy="36576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228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Recipe Index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 Migration / tuning loop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Universal prompt skeleton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836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Direct instruction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225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Role prompting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614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Few-shot pattern induction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Output-shape clamp + prefilling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639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Scope discipline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0782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Structured formatting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 Schema extraction (UI+API)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444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  Reasoning depth control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8836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Long-context placement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3225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Self-check / revise loop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7614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Evaluation-first prompting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Adversarial / red-team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6393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Plan → execute → verify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40782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Prompt chaining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45171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Multi-agent simulation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Appendices: prompt modules, API knobs, recipe combos, FAQ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Migration / Tuning Loop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moving a workflow to a newer model or seeing regressions after a model update.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74904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Approach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reasoning.effort and iterate: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→ low → medium → high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prompt identical, vary only the effort knob. Compare outputs at each level.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74904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Approach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with/without extended thinking: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thinking.budget_tokens: 5000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4.x tip: dial back emphatic language — "CRITICAL: You MUST..." may overtrigger.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"eval your eval" mindset: run controlled comparisons, don't guess.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Universal Prompt Skeleton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stable structure for almost any task.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560320" cy="109728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4864" cy="10972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stance (optional)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1463040"/>
            <a:ext cx="2560320" cy="109728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29000" y="1463040"/>
            <a:ext cx="54864" cy="10972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1188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One-sentence goal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560320" cy="109728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54864" cy="10972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Facts, input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2834640"/>
            <a:ext cx="2560320" cy="109728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2834640"/>
            <a:ext cx="54864" cy="10972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Audience, length, tone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29000" y="2834640"/>
            <a:ext cx="2560320" cy="109728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29000" y="2834640"/>
            <a:ext cx="54864" cy="10972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1188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FORMAT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1188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structure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2834640"/>
            <a:ext cx="2560320" cy="109728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17920" y="2834640"/>
            <a:ext cx="54864" cy="10972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prefers XML tags (&lt;context&gt;, &lt;instructions&gt;). OpenAI works with both XML and LABEL: sections.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Direct Instruction &amp; Role Prompting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749040" cy="34747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54864" cy="347472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365760" cy="32004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Instruction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baseline. Clear, literal instructions for simple tasks.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320040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 for a VP: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exactly 5 bullets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include 1 risk + 1 recommendation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Text: [paste]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output drifts, add Recipe 5 (output clamp).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749040" cy="34747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54864" cy="347472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0" y="1188720"/>
            <a:ext cx="365760" cy="32004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Prompting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0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 tone, vocabulary, depth. Does NOT improve factual correctness.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194560"/>
            <a:ext cx="320040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as a senior SRE.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Findings (major)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Missing evidence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Follow-ups (top 5)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takes personas very seriously — test for conflicts.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Few-Shot Pattern Induction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"Show, don't tell." All vendors rank few-shot as the single most effective technique after clarity.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4864" cy="4572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Curate, don't accumulate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diverse, canonical examples beat 10 edge cases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54864" cy="4572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format identical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mix formats in examples, the model will too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54864" cy="4572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834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pattern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behavior examples outperform "don't do this" examples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54864" cy="4572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input diversity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examples representing the range of inputs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54864" cy="4572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4114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small, iterate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343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with 2–3; add more only if the model fails to generalize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554480"/>
            <a:ext cx="3749040" cy="2926080"/>
          </a:xfrm>
          <a:prstGeom prst="rect">
            <a:avLst/>
          </a:prstGeom>
          <a:solidFill>
            <a:srgbClr val="23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155448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Ticket Routing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21031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"VPN disconnects" → NETWORK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"Can't reset password" → AUTH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"Charged twice" → BILLING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label: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"SSO login loops" → 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"Packet loss eu-west" → 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"Invoice wrong seats" → 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4.x pays very close attention to example details — review examples carefully.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 Clamp + Prefilling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length, structure, and format across runs.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749040" cy="23774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5a  Output-Shape Clamp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models. Constrain structure explicitly.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320040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with: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- 1 sentence overview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- 5 bullets: What / Why 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Risks / Next / Open Qs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other sections. No preamble.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749040" cy="23774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5b  Response Prefilling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API only. Provide the start of the response.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286000"/>
            <a:ext cx="320040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assistant: "| Feature |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PostgreSQL | MongoDB |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DynamoDB |\n|---|"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continues the table.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7863840" cy="8686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97764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prefilling uses: 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JSON (prefill with {)  ·  Skip pleasantries  ·  Lock into a framework  ·  Start with specific outline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Scope &amp; Structure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749040" cy="18288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54864" cy="18288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143000"/>
            <a:ext cx="365760" cy="27432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Discipline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explicit boundaries. "Fix this function" without scope may trigger a full refactor.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EXACTLY this and nothing else.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ambiguous, pick simplest valid interpretation.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749040" cy="18288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54864" cy="18288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0" y="1143000"/>
            <a:ext cx="365760" cy="27432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143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Formatting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554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Delimiters prevent the model from confusing instructions with data.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instructions from data.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long data first, instructions last.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63240"/>
          <a:ext cx="786384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XML tags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&lt;context&gt;...&lt;/context&gt;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Claude, OpenAI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LABEL: sections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ROLE: / CONSTRAINTS: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Quick UIs, Gemini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Markdown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## Instructions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readability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Triple quotes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"""content"""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vs instructions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 Extraction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practical difference between UI and API.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749040" cy="2926080"/>
          </a:xfrm>
          <a:prstGeom prst="rect">
            <a:avLst/>
          </a:prstGeom>
          <a:solidFill>
            <a:srgbClr val="23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749040" cy="54864"/>
          </a:xfrm>
          <a:prstGeom prst="rect">
            <a:avLst/>
          </a:prstGeom>
          <a:solidFill>
            <a:srgbClr val="8892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UI: Best-Effort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 into JSON with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exactly these keys: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party_name, jurisdiction,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effective_date,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termination_summary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unknown, set null.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extra keys.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749040" cy="2926080"/>
          </a:xfrm>
          <a:prstGeom prst="rect">
            <a:avLst/>
          </a:prstGeom>
          <a:solidFill>
            <a:srgbClr val="23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API: Enforced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OpenAI: </a:t>
            </a: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text.format with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strict: true → guaranteed shape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Anthropic: </a:t>
            </a: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Prefilling + tool-use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schemas → enforced structure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you're building a pipeline that parses model output, always use API-level enforcement.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Reasoning Depth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off latency/cost vs. correctness. Not all tasks need deep reasoning.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Anthropic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reasoning.effort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(none/low/med/high)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thinking.budget_tokens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(extended thinking)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selection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(Flash vs Pro)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Granular effort tuning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 multi-step;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interleaved thinking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model choice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2926080"/>
            <a:ext cx="3749040" cy="13716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54864" cy="13716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Calibration Principle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337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reasoning: 10/10 for complex tasks (math, code debugging). 3/10 for simple tasks (classification, formatting). Over-reasoning adds cost without quality.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2926080"/>
            <a:ext cx="3749040" cy="13716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2926080"/>
            <a:ext cx="54864" cy="13716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2920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Interleaved Thinking</a:t>
            </a:r>
            <a:endParaRPr lang="en-US" sz="1400" dirty="0"/>
          </a:p>
        </p:txBody>
      </p:sp>
      <p:sp>
        <p:nvSpPr>
          <p:cNvPr id="6" name="Text 11"/>
          <p:cNvSpPr/>
          <p:nvPr/>
        </p:nvSpPr>
        <p:spPr>
          <a:xfrm>
            <a:off x="5029200" y="3337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Anthropic-specific: Claude can reflect after receiving tool results before proceeding. Useful in agentic workflows for quality evaluation.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594360" cy="4114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1732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Long-Context Placement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place instructions relative to data significantly affects quality.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749040" cy="2560320"/>
          </a:xfrm>
          <a:prstGeom prst="rect">
            <a:avLst/>
          </a:prstGeom>
          <a:solidFill>
            <a:srgbClr val="23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74904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Placement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these questions: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Retention period?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Backup procedures?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[15,000 words of policy...]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749040" cy="2560320"/>
          </a:xfrm>
          <a:prstGeom prst="rect">
            <a:avLst/>
          </a:prstGeom>
          <a:solidFill>
            <a:srgbClr val="23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Placement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&lt;document&gt;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[15,000 words of policy...]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&lt;/document&gt;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Based on the document above: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Retention period?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Backup procedures?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Cite relevant section numbers.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rule: Long data first → instructions last → query at the very end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 Patterns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74904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54864" cy="32004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548640" cy="27432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Self-Check / Revise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Draft, then critique, then revise. Forces the model to allocate compute to verification.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Self-check criteria: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 accuracy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consistency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cases covered?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compliance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749040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54864" cy="32004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0" y="1188720"/>
            <a:ext cx="548640" cy="27432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1188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1500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Evaluation-First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1600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success before proposing solutions. The prompting equivalent of test-driven development.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proposing, do this: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4688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Define success metrics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Define baseline + thresholds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Propose 3 interventions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Predict impact + validation plan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Robustness &amp; Decomposition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749040" cy="3200400"/>
          </a:xfrm>
          <a:prstGeom prst="rect">
            <a:avLst/>
          </a:prstGeom>
          <a:solidFill>
            <a:srgbClr val="23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548640" cy="27432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/ Red-Team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does this fail in production?"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Propose a solution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Attack it: list 7 failure modes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(data, scaling, human process,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eval bias)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Redesign to address top 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failure modes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749040" cy="3200400"/>
          </a:xfrm>
          <a:prstGeom prst="rect">
            <a:avLst/>
          </a:prstGeom>
          <a:solidFill>
            <a:srgbClr val="23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0" y="1234440"/>
            <a:ext cx="548640" cy="27432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234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→ Execute → Verify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staging in a single interaction.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2148840"/>
            <a:ext cx="320040" cy="32004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short plan (≤8 bullets)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2834640"/>
            <a:ext cx="320040" cy="32004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the artifact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3520440"/>
            <a:ext cx="320040" cy="32004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3520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against requirements; fix violations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this isn't enough → Recipe 15 (prompt chaining)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594360" cy="4114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1732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Chaining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bridge between "prompting" and "building an AI system."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651760" cy="237744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265176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5 paper abstracts.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each: research question,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methodology, key finding.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as JSON array.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effort: low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520440" y="1417320"/>
            <a:ext cx="2651760" cy="237744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20440" y="1417320"/>
            <a:ext cx="265176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0332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332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03320" y="21488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methodology.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agreements,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contradictions, and gaps.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comparison.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03320" y="3474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effort: medium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0" y="1417320"/>
            <a:ext cx="2651760" cy="237744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0" y="1417320"/>
            <a:ext cx="265176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21488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500-word literature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review. Academic tone.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the key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unaddressed gap.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3474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effort: high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023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chain? 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intermediate results · Different models/reasoning per step · Clear debugging surface · Prevent corner-cutting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594360" cy="4114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1732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Multi-Agent Simulation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perspectives without a multi-agent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651760" cy="1463040"/>
          </a:xfrm>
          <a:prstGeom prst="rect">
            <a:avLst/>
          </a:prstGeom>
          <a:solidFill>
            <a:srgbClr val="23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265176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design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1463040"/>
            <a:ext cx="2651760" cy="1463040"/>
          </a:xfrm>
          <a:prstGeom prst="rect">
            <a:avLst/>
          </a:prstGeom>
          <a:solidFill>
            <a:srgbClr val="23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20440" y="1463040"/>
            <a:ext cx="265176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0332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0332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0332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reliability risks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463040"/>
            <a:ext cx="2651760" cy="1463040"/>
          </a:xfrm>
          <a:prstGeom prst="rect">
            <a:avLst/>
          </a:prstGeom>
          <a:solidFill>
            <a:srgbClr val="23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0" y="1463040"/>
            <a:ext cx="265176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attack vectors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200400"/>
            <a:ext cx="78638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56032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key decisions  ·  5 key risks  ·  Recommended plan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Recipe 3 (role prompting) + Recipe 13 (adversarial). Gemini may let strong personas dominate — test for balance.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Modules Library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Copy/paste blocks — the "spice rack" of the cookbook.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93192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4864" cy="9144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444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444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Ambiguity Guard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7556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ask Qs. Provide 2–3 interpretations, label assumptions, proceed with most likely.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93192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54864" cy="9144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444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1444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Discipline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7556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missing, use null. Never invent values. No extra keys.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468880"/>
            <a:ext cx="393192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2468880"/>
            <a:ext cx="54864" cy="9144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2542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Bar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852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until marginal value drops. 5+ sources. Resolve contradictions. Cite.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468880"/>
            <a:ext cx="393192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2468880"/>
            <a:ext cx="54864" cy="9144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2542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Scope Creep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2852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exactly what is requested. No extra features, sections, or commentary.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566160"/>
            <a:ext cx="393192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" y="3566160"/>
            <a:ext cx="54864" cy="9144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3639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3639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Work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39502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internal reasoning as needed. Keep final answer short and structured.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566160"/>
            <a:ext cx="393192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3566160"/>
            <a:ext cx="54864" cy="9144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83480" y="3639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3639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NOT to Use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39502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adding advanced technique: Is direct instruction enough? Is the cost justified?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Start with the simplest recipe that could work. Escalate only when you see concrete failures.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Recipe Combinations</a:t>
            </a:r>
            <a:endParaRPr lang="en-US" sz="3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2834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Reliable extraction pipeline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 (few-shot) + R8 (strict schema) + R11 (self-check)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analysis report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R3 (role) + R9 (high reasoning) + R14 (plan/execute/verify)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classifier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 (few-shot) + R5 (output clamp) + R8 (strict schema)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synthesis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R15 (prompt chaining) + R12 (eval-first)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Stress-testing a design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R13 (adversarial) + R16 (multi-agent)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7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 task, fast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 (direct) + R9 (fast reasoning) — and nothing else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Previews (future lectures)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R17 Web research with citations · R18 File-grounded / RAG · R19 Stateful work · R20 Memory-aware · R21 Multimodal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Knobs Cheat Sheet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749040" cy="3291840"/>
          </a:xfrm>
          <a:prstGeom prst="rect">
            <a:avLst/>
          </a:prstGeom>
          <a:solidFill>
            <a:srgbClr val="23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(Responses API)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reasoning.effort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none/low/med/high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text.format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json_schema (strict)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+ tool_choice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web/file search, etc.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previous_response_id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 turns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3749040" cy="3291840"/>
          </a:xfrm>
          <a:prstGeom prst="rect">
            <a:avLst/>
          </a:prstGeom>
          <a:solidFill>
            <a:srgbClr val="23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105156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(Messages API)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1645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thinking.budget_tokens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1874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thinking budget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240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468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(dev-controlled)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2834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 prefill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063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output format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Tool-use schemas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structured outputs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FAQ Highlights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7863840" cy="6858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54864" cy="6858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978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"Isn't prompt engineering mostly placebo now?"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252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than before — but structure, constraints, and schema enforcement still reduce ambiguity and output variance.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55648"/>
            <a:ext cx="786384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54864" cy="6858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7739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"Roles feel like cosplay. Do they help?"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0482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improve style and focus, not factual truth. Use roles for framing; use grounding for correctness.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51176"/>
            <a:ext cx="7863840" cy="6858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2551176"/>
            <a:ext cx="54864" cy="6858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569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not always set reasoning to max?"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8437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+ latency + diminishing returns. Deep reasoning on simple tasks adds cost without quality.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346704"/>
            <a:ext cx="786384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3346704"/>
            <a:ext cx="54864" cy="6858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364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 we still need chain-of-thought?"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6393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not explicitly. Use structured outputs + verification criteria. Only add explicit CoT for "jumping to conclusions" errors.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142232"/>
            <a:ext cx="7863840" cy="6858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" y="4142232"/>
            <a:ext cx="54864" cy="6858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I replace examples with longer instructions?"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Sometimes, but examples are higher-signal. An example demonstrates a decision boundary implicitly; instructions describe it explicitly.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Few-Shot Prompting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model what you want by providing examples in the prompt itself.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74904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Technique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examples. Relies entirely on the model's training.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One-shot: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 input–output pair shows the pattern.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(3–5):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examples lock in format, tone, and edge cases.</a:t>
            </a:r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74904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examples: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Cover typical cases AND edge cases.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format: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identical delimiters (Input: / Output:) in every example.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matters: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Place the most similar example last, closest to the actual task.</a:t>
            </a:r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is the single most reliable way to control output format without fine-tuning.</a:t>
            </a:r>
          </a:p>
        </p:txBody>
      </p:sp>
    </p:spTree>
    <p:extLst>
      <p:ext uri="{BB962C8B-B14F-4D97-AF65-F5344CB8AC3E}">
        <p14:creationId xmlns:p14="http://schemas.microsoft.com/office/powerpoint/2010/main" val="19405071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Chain of Thought (CoT)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the model to show its work before giving a final answer.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74904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generate tokens sequentially. When you force intermediate reasoning steps, each subsequent token is conditioned on better context.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model "thinks" by writing. No writing = no thinking. CoT gives the model scratch space.</a:t>
            </a:r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74904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 Variants</a:t>
            </a:r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CoT: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"Let's think step by step" to trigger reasoning.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CoT: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Prescribe steps: "First analyze X, then evaluate Y, finally conclude Z."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CoT: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 examples that include reasoning traces, not just answers.</a:t>
            </a:r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 is most impactful for math, logic, multi-step reasoning, and complex decision-making tasks.</a:t>
            </a:r>
          </a:p>
        </p:txBody>
      </p:sp>
    </p:spTree>
    <p:extLst>
      <p:ext uri="{BB962C8B-B14F-4D97-AF65-F5344CB8AC3E}">
        <p14:creationId xmlns:p14="http://schemas.microsoft.com/office/powerpoint/2010/main" val="18054807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 → Review → Re-answer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single-call self-critique pattern that catches errors before they reach the user.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74904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Draft: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Answer the question to the best of your ability.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Critique: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 your answer. List any errors, gaps, or unclear points.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Revise: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Produce the final, corrected answer incorporating the critique.</a:t>
            </a:r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74904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critique step forces the model to re-read its own output with a critical lens. Errors that slip through generation are often caught during review.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three steps happen in one API call. No orchestration code needed. Just structure the prompt to include all three phases.</a:t>
            </a:r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Especially powerful for factual tasks, math, and any output that can be objectively verified.</a:t>
            </a:r>
          </a:p>
        </p:txBody>
      </p:sp>
    </p:spTree>
    <p:extLst>
      <p:ext uri="{BB962C8B-B14F-4D97-AF65-F5344CB8AC3E}">
        <p14:creationId xmlns:p14="http://schemas.microsoft.com/office/powerpoint/2010/main" val="61545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Reflection Loops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self-improvement: ask the LLM to evaluate and iterate on its own output.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74904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1: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Generate initial answer.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2: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"Here is your previous answer. Rate it 1–10 on [criteria]. What would you improve?"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3: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"Apply those improvements and produce the final version."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calls 2–3 until quality plateaus or budget is reached.</a:t>
            </a:r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74904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</a:t>
            </a:r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High-stakes output: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Legal drafts, medical summaries, customer-facing content.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Latency-tolerant: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Batch processing, async workflows where extra calls are acceptable.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Answer-Review-Reanswer: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pattern is single-call; reflection loops use multiple calls for deeper iteration.</a:t>
            </a:r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max iteration count (2–3 rounds). Diminishing returns kick in fast.</a:t>
            </a:r>
          </a:p>
        </p:txBody>
      </p:sp>
    </p:spTree>
    <p:extLst>
      <p:ext uri="{BB962C8B-B14F-4D97-AF65-F5344CB8AC3E}">
        <p14:creationId xmlns:p14="http://schemas.microsoft.com/office/powerpoint/2010/main" val="17866960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Structure &amp; Formatting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organize a prompt matters as much as what you say in it.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74904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Delimiters &amp; Sections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 tags: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Wrap context, examples, and instructions in tags like &lt;context&gt;...&lt;/context&gt;. Models parse these reliably.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headers: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## sections to organize long prompts. Models respect heading hierarchy.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backticks: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Fence code or raw data to separate it from instructions.</a:t>
            </a:r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74904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Formatting</a:t>
            </a:r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mode: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response_format: {"type": "json_object"} for structured parsing. Always describe the schema in the prompt.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outputs: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Define a JSON schema and the API guarantees conformance. Eliminates parsing failures.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format spec: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"Respond in exactly 3 bullet points" works better than "be concise."</a:t>
            </a:r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structure reduces ambiguity. The model can only follow instructions it can parse.</a:t>
            </a:r>
          </a:p>
        </p:txBody>
      </p:sp>
    </p:spTree>
    <p:extLst>
      <p:ext uri="{BB962C8B-B14F-4D97-AF65-F5344CB8AC3E}">
        <p14:creationId xmlns:p14="http://schemas.microsoft.com/office/powerpoint/2010/main" val="6193135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Error Handling &amp; Retries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LLM calls fail. Plan for it.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74904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Failures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limits (429):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 off exponentially. Use jitter to avoid thundering herds.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Timeouts: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aggressive timeouts (30–60s). Retry with the same prompt; non-determinism means a retry may succeed.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Malformed output: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JSON didn't parse? Retry once. If it fails again, fall back to a simpler prompt or model.</a:t>
            </a:r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74904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Patterns</a:t>
            </a:r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with backoff: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1s → 2s → 4s with random jitter. Max 3 retries for most use cases.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fallback: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GPT-4o fails, fall back to GPT-4o-mini. Graceful degradation beats total failure.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layer: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Always validate output before using it. Schema checks, length checks, safety checks.</a:t>
            </a:r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trust raw LLM output in production. Always validate, always have a fallback.</a:t>
            </a:r>
          </a:p>
        </p:txBody>
      </p:sp>
    </p:spTree>
    <p:extLst>
      <p:ext uri="{BB962C8B-B14F-4D97-AF65-F5344CB8AC3E}">
        <p14:creationId xmlns:p14="http://schemas.microsoft.com/office/powerpoint/2010/main" val="24310729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Guardrail Models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Separate, lightweight models that check inputs and outputs for safety and compliance.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74904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They Work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guard: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Classifies user input before it reaches the main LLM. Blocks prompt injections, jailbreaks, and off-topic requests.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guard: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Scans the LLM's response before it reaches the user. Catches hallucinations, PII leaks, toxic content, and policy violations.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Typically small, fast classifiers (not full LLMs) that add minimal latency.</a:t>
            </a:r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74904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74904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Approaches</a:t>
            </a:r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Guard: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Meta's open-source safety classifier built on Llama. Classifies both input and output against customizable policies.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Guardrails: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NVIDIA's programmable guardrail toolkit. Define rules in Colang for topic control and safety.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Moderation: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Free API endpoint that flags harmful content across categories (violence, self-harm, etc.).</a:t>
            </a:r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are not optional in production. They're your last line of defense before the user.</a:t>
            </a:r>
          </a:p>
        </p:txBody>
      </p:sp>
    </p:spTree>
    <p:extLst>
      <p:ext uri="{BB962C8B-B14F-4D97-AF65-F5344CB8AC3E}">
        <p14:creationId xmlns:p14="http://schemas.microsoft.com/office/powerpoint/2010/main" val="35196464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Putting It All Together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Cheat sheet: recommended settings for common use cases.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6CEAEE-EF1C-EA4E-9DC9-CDC6D7C9AE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620395"/>
              </p:ext>
            </p:extLst>
          </p:nvPr>
        </p:nvGraphicFramePr>
        <p:xfrm>
          <a:off x="635000" y="1397000"/>
          <a:ext cx="7861300" cy="3666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325">
                  <a:extLst>
                    <a:ext uri="{9D8B030D-6E8A-4147-A177-3AD203B41FA5}">
                      <a16:colId xmlns:a16="http://schemas.microsoft.com/office/drawing/2014/main" val="1945898664"/>
                    </a:ext>
                  </a:extLst>
                </a:gridCol>
                <a:gridCol w="1965325">
                  <a:extLst>
                    <a:ext uri="{9D8B030D-6E8A-4147-A177-3AD203B41FA5}">
                      <a16:colId xmlns:a16="http://schemas.microsoft.com/office/drawing/2014/main" val="1205089387"/>
                    </a:ext>
                  </a:extLst>
                </a:gridCol>
                <a:gridCol w="1965325">
                  <a:extLst>
                    <a:ext uri="{9D8B030D-6E8A-4147-A177-3AD203B41FA5}">
                      <a16:colId xmlns:a16="http://schemas.microsoft.com/office/drawing/2014/main" val="31686609"/>
                    </a:ext>
                  </a:extLst>
                </a:gridCol>
                <a:gridCol w="1965325">
                  <a:extLst>
                    <a:ext uri="{9D8B030D-6E8A-4147-A177-3AD203B41FA5}">
                      <a16:colId xmlns:a16="http://schemas.microsoft.com/office/drawing/2014/main" val="1677975036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r>
                        <a:rPr lang="en-US"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Key Tip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01819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lang="en-US"/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Few-shot + 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Structured outputs guarantee schema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35435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lang="en-US"/>
                        <a:t>Creative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0.8–1.2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CoT + high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Explore freely; filter results after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283697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lang="en-US"/>
                        <a:t>Data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Few-shot + 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Delimit inputs; validate outputs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15922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lang="en-US"/>
                        <a:t>Code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0.0–0.2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CoT + structured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Include test cases as 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37860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lang="en-US"/>
                        <a:t>Q&amp;A /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0.0–0.3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CoT + reflection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Cite sources; add guardrails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459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47163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simple.</a:t>
            </a:r>
            <a:endParaRPr lang="en-US" sz="4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Escalate on failure.</a:t>
            </a:r>
            <a:endParaRPr lang="en-US" sz="4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Measure everything.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persist across model updates; knobs don't.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Anthropic Prompting Best Practices · OpenAI GPT-5.x Guides · Google Gemini 3 Prompting Guide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Fabio Casati  ·  University of Trento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2042B32-A543-8C4D-8F3A-DE93398EBD38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5582</TotalTime>
  <Words>3806</Words>
  <Application>Microsoft Macintosh PowerPoint</Application>
  <PresentationFormat>On-screen Show (16:9)</PresentationFormat>
  <Paragraphs>635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Aptos</vt:lpstr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Prompting Cookbook — Reusable Patterns for Modern LLMs</dc:title>
  <dc:subject>PptxGenJS Presentation</dc:subject>
  <dc:creator>Fabio Casati</dc:creator>
  <cp:lastModifiedBy>Casati, Fabio</cp:lastModifiedBy>
  <cp:revision>2</cp:revision>
  <dcterms:created xsi:type="dcterms:W3CDTF">2026-02-28T16:36:44Z</dcterms:created>
  <dcterms:modified xsi:type="dcterms:W3CDTF">2026-03-04T16:03:22Z</dcterms:modified>
</cp:coreProperties>
</file>